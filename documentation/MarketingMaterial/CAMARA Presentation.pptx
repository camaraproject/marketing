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27.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28.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docMetadata/LabelInfo.xml" ContentType="application/vnd.ms-office.classificationlabels+xml"/>
  <Override PartName="/ppt/revisionInfo.xml" ContentType="application/vnd.ms-powerpoint.revisioninfo+xml"/>
  <Override PartName="/ppt/authors.xml" ContentType="application/vnd.ms-powerpoint.author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4"/>
  </p:sldMasterIdLst>
  <p:notesMasterIdLst>
    <p:notesMasterId r:id="rId6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314" r:id="rId17"/>
    <p:sldId id="268" r:id="rId18"/>
    <p:sldId id="269" r:id="rId19"/>
    <p:sldId id="270" r:id="rId20"/>
    <p:sldId id="271" r:id="rId21"/>
    <p:sldId id="272" r:id="rId22"/>
    <p:sldId id="332" r:id="rId23"/>
    <p:sldId id="274" r:id="rId24"/>
    <p:sldId id="275" r:id="rId25"/>
    <p:sldId id="313" r:id="rId26"/>
    <p:sldId id="308" r:id="rId27"/>
    <p:sldId id="309" r:id="rId28"/>
    <p:sldId id="310" r:id="rId29"/>
    <p:sldId id="281" r:id="rId30"/>
    <p:sldId id="282" r:id="rId31"/>
    <p:sldId id="304" r:id="rId32"/>
    <p:sldId id="283" r:id="rId33"/>
    <p:sldId id="284" r:id="rId34"/>
    <p:sldId id="285" r:id="rId35"/>
    <p:sldId id="335" r:id="rId36"/>
    <p:sldId id="318" r:id="rId37"/>
    <p:sldId id="319" r:id="rId38"/>
    <p:sldId id="334" r:id="rId39"/>
    <p:sldId id="336" r:id="rId40"/>
    <p:sldId id="320" r:id="rId41"/>
    <p:sldId id="321" r:id="rId42"/>
    <p:sldId id="322" r:id="rId43"/>
    <p:sldId id="323" r:id="rId44"/>
    <p:sldId id="286" r:id="rId45"/>
    <p:sldId id="287" r:id="rId46"/>
    <p:sldId id="288" r:id="rId47"/>
    <p:sldId id="289" r:id="rId48"/>
    <p:sldId id="312" r:id="rId49"/>
    <p:sldId id="290" r:id="rId50"/>
    <p:sldId id="291" r:id="rId51"/>
    <p:sldId id="292" r:id="rId52"/>
    <p:sldId id="293" r:id="rId53"/>
    <p:sldId id="294" r:id="rId54"/>
    <p:sldId id="295" r:id="rId55"/>
    <p:sldId id="296" r:id="rId56"/>
    <p:sldId id="297" r:id="rId57"/>
    <p:sldId id="298" r:id="rId58"/>
    <p:sldId id="299" r:id="rId59"/>
    <p:sldId id="300" r:id="rId60"/>
    <p:sldId id="311" r:id="rId61"/>
    <p:sldId id="331" r:id="rId62"/>
    <p:sldId id="326" r:id="rId63"/>
    <p:sldId id="327" r:id="rId64"/>
    <p:sldId id="301" r:id="rId65"/>
    <p:sldId id="302" r:id="rId66"/>
    <p:sldId id="303" r:id="rId67"/>
  </p:sldIdLst>
  <p:sldSz cx="11522075" cy="6484938"/>
  <p:notesSz cx="7315200" cy="12344400"/>
  <p:embeddedFontLst>
    <p:embeddedFont>
      <p:font typeface="Montserrat ExtraBold" panose="00000900000000000000" pitchFamily="2" charset="0"/>
      <p:bold r:id="rId69"/>
      <p:boldItalic r:id="rId70"/>
    </p:embeddedFont>
    <p:embeddedFont>
      <p:font typeface="Montserrat Light" panose="00000400000000000000" pitchFamily="2" charset="0"/>
      <p:regular r:id="rId71"/>
      <p:italic r:id="rId72"/>
    </p:embeddedFont>
    <p:embeddedFont>
      <p:font typeface="Calibri" panose="020F0502020204030204" pitchFamily="34" charset="0"/>
      <p:regular r:id="rId73"/>
      <p:bold r:id="rId74"/>
      <p:italic r:id="rId75"/>
      <p:boldItalic r:id="rId76"/>
    </p:embeddedFont>
    <p:embeddedFont>
      <p:font typeface="Leelawadee UI Semilight" panose="020B0402040204020203" pitchFamily="34" charset="-34"/>
      <p:regular r:id="rId77"/>
    </p:embeddedFont>
    <p:embeddedFont>
      <p:font typeface="Montserrat SemiBold" panose="00000700000000000000" pitchFamily="2" charset="0"/>
      <p:bold r:id="rId78"/>
      <p:boldItalic r:id="rId79"/>
    </p:embeddedFont>
    <p:embeddedFont>
      <p:font typeface="Montserrat" panose="00000500000000000000" pitchFamily="2" charset="0"/>
      <p:regular r:id="rId80"/>
      <p:bold r:id="rId81"/>
      <p:italic r:id="rId82"/>
      <p:boldItalic r:id="rId83"/>
    </p:embeddedFont>
    <p:embeddedFont>
      <p:font typeface="Montserrat Medium" panose="00000600000000000000" pitchFamily="2" charset="0"/>
      <p:regular r:id="rId84"/>
      <p:italic r:id="rId85"/>
    </p:embeddedFont>
    <p:embeddedFont>
      <p:font typeface="Open Sans" panose="020B0604020202020204" charset="0"/>
      <p:regular r:id="rId86"/>
      <p:bold r:id="rId87"/>
      <p:italic r:id="rId88"/>
      <p:boldItalic r:id="rId8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7">
          <p15:clr>
            <a:srgbClr val="A4A3A4"/>
          </p15:clr>
        </p15:guide>
        <p15:guide id="2" pos="182">
          <p15:clr>
            <a:srgbClr val="A4A3A4"/>
          </p15:clr>
        </p15:guide>
        <p15:guide id="3" pos="1832">
          <p15:clr>
            <a:srgbClr val="A4A3A4"/>
          </p15:clr>
        </p15:guide>
        <p15:guide id="4" pos="1927">
          <p15:clr>
            <a:srgbClr val="A4A3A4"/>
          </p15:clr>
        </p15:guide>
        <p15:guide id="5" pos="3584">
          <p15:clr>
            <a:srgbClr val="A4A3A4"/>
          </p15:clr>
        </p15:guide>
        <p15:guide id="6" pos="3672">
          <p15:clr>
            <a:srgbClr val="A4A3A4"/>
          </p15:clr>
        </p15:guide>
        <p15:guide id="7" pos="5328">
          <p15:clr>
            <a:srgbClr val="A4A3A4"/>
          </p15:clr>
        </p15:guide>
        <p15:guide id="8" pos="5419">
          <p15:clr>
            <a:srgbClr val="A4A3A4"/>
          </p15:clr>
        </p15:guide>
        <p15:guide id="9" pos="7075">
          <p15:clr>
            <a:srgbClr val="A4A3A4"/>
          </p15:clr>
        </p15:guide>
        <p15:guide id="10" orient="horz" pos="322">
          <p15:clr>
            <a:srgbClr val="A4A3A4"/>
          </p15:clr>
        </p15:guide>
        <p15:guide id="11" orient="horz" pos="741">
          <p15:clr>
            <a:srgbClr val="A4A3A4"/>
          </p15:clr>
        </p15:guide>
        <p15:guide id="12" orient="horz" pos="1013">
          <p15:clr>
            <a:srgbClr val="A4A3A4"/>
          </p15:clr>
        </p15:guide>
        <p15:guide id="13" orient="horz" pos="3678">
          <p15:clr>
            <a:srgbClr val="A4A3A4"/>
          </p15:clr>
        </p15:guide>
        <p15:guide id="14" orient="horz" pos="3811">
          <p15:clr>
            <a:srgbClr val="A4A3A4"/>
          </p15:clr>
        </p15:guide>
        <p15:guide id="15" orient="horz" pos="3965">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1" roundtripDataSignature="AMtx7mi2oCHAm+ygtkKB2BVcrXQfY6CPew=="/>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E91F4C-DE4E-5E21-1782-0370BBF3D1F5}" name="Damker, Herbert" initials="HD" userId="S::Herbert.Damker@telekom.de::37ff36be-0e4d-42c3-ac06-7b904f0f6b2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9AD5"/>
    <a:srgbClr val="9DD2FC"/>
    <a:srgbClr val="0A8E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87EAD9-81B7-440D-BF20-E6327959BEAB}" v="17" dt="2025-11-27T17:14:14.1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82"/>
  </p:normalViewPr>
  <p:slideViewPr>
    <p:cSldViewPr snapToGrid="0">
      <p:cViewPr varScale="1">
        <p:scale>
          <a:sx n="111" d="100"/>
          <a:sy n="111" d="100"/>
        </p:scale>
        <p:origin x="654" y="-102"/>
      </p:cViewPr>
      <p:guideLst>
        <p:guide orient="horz" pos="227"/>
        <p:guide pos="182"/>
        <p:guide pos="1832"/>
        <p:guide pos="1927"/>
        <p:guide pos="3584"/>
        <p:guide pos="3672"/>
        <p:guide pos="5328"/>
        <p:guide pos="5419"/>
        <p:guide pos="7075"/>
        <p:guide orient="horz" pos="322"/>
        <p:guide orient="horz" pos="741"/>
        <p:guide orient="horz" pos="1013"/>
        <p:guide orient="horz" pos="3678"/>
        <p:guide orient="horz" pos="3811"/>
        <p:guide orient="horz" pos="396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notesMaster" Target="notesMasters/notesMaster1.xml"/><Relationship Id="rId76" Type="http://schemas.openxmlformats.org/officeDocument/2006/relationships/font" Target="fonts/font8.fntdata"/><Relationship Id="rId84" Type="http://schemas.openxmlformats.org/officeDocument/2006/relationships/font" Target="fonts/font16.fntdata"/><Relationship Id="rId89" Type="http://schemas.openxmlformats.org/officeDocument/2006/relationships/font" Target="fonts/font21.fntdata"/><Relationship Id="rId97"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font" Target="fonts/font3.fntdata"/><Relationship Id="rId92"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font" Target="fonts/font6.fntdata"/><Relationship Id="rId79" Type="http://schemas.openxmlformats.org/officeDocument/2006/relationships/font" Target="fonts/font11.fntdata"/><Relationship Id="rId87" Type="http://schemas.openxmlformats.org/officeDocument/2006/relationships/font" Target="fonts/font19.fntdata"/><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font" Target="fonts/font14.fntdata"/><Relationship Id="rId95"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font" Target="fonts/font1.fntdata"/><Relationship Id="rId77" Type="http://schemas.openxmlformats.org/officeDocument/2006/relationships/font" Target="fonts/font9.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font" Target="fonts/font4.fntdata"/><Relationship Id="rId80" Type="http://schemas.openxmlformats.org/officeDocument/2006/relationships/font" Target="fonts/font12.fntdata"/><Relationship Id="rId85" Type="http://schemas.openxmlformats.org/officeDocument/2006/relationships/font" Target="fonts/font17.fntdata"/><Relationship Id="rId93" Type="http://schemas.openxmlformats.org/officeDocument/2006/relationships/viewProps" Target="viewProps.xml"/><Relationship Id="rId98"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font" Target="fonts/font2.fntdata"/><Relationship Id="rId75" Type="http://schemas.openxmlformats.org/officeDocument/2006/relationships/font" Target="fonts/font7.fntdata"/><Relationship Id="rId83" Type="http://schemas.openxmlformats.org/officeDocument/2006/relationships/font" Target="fonts/font15.fntdata"/><Relationship Id="rId88" Type="http://schemas.openxmlformats.org/officeDocument/2006/relationships/font" Target="fonts/font20.fntdata"/><Relationship Id="rId91" Type="http://customschemas.google.com/relationships/presentationmetadata" Target="metadata"/><Relationship Id="rId9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font" Target="fonts/font5.fntdata"/><Relationship Id="rId78" Type="http://schemas.openxmlformats.org/officeDocument/2006/relationships/font" Target="fonts/font10.fntdata"/><Relationship Id="rId81" Type="http://schemas.openxmlformats.org/officeDocument/2006/relationships/font" Target="fonts/font13.fntdata"/><Relationship Id="rId86" Type="http://schemas.openxmlformats.org/officeDocument/2006/relationships/font" Target="fonts/font18.fntdata"/><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ümmerle, Markus" userId="edb588ad-b118-44cb-93b6-335b967c9009" providerId="ADAL" clId="{23DB3319-4C49-4F85-A827-0E09850C7500}"/>
    <pc:docChg chg="custSel modSld">
      <pc:chgData name="Kümmerle, Markus" userId="edb588ad-b118-44cb-93b6-335b967c9009" providerId="ADAL" clId="{23DB3319-4C49-4F85-A827-0E09850C7500}" dt="2024-12-18T13:42:41.302" v="18" actId="20577"/>
      <pc:docMkLst>
        <pc:docMk/>
      </pc:docMkLst>
      <pc:sldChg chg="addSp delSp modSp mod">
        <pc:chgData name="Kümmerle, Markus" userId="edb588ad-b118-44cb-93b6-335b967c9009" providerId="ADAL" clId="{23DB3319-4C49-4F85-A827-0E09850C7500}" dt="2024-12-18T13:42:41.302" v="18" actId="20577"/>
        <pc:sldMkLst>
          <pc:docMk/>
          <pc:sldMk cId="0" sldId="272"/>
        </pc:sldMkLst>
      </pc:sldChg>
      <pc:sldChg chg="addSp delSp modSp mod">
        <pc:chgData name="Kümmerle, Markus" userId="edb588ad-b118-44cb-93b6-335b967c9009" providerId="ADAL" clId="{23DB3319-4C49-4F85-A827-0E09850C7500}" dt="2024-12-18T13:41:09.476" v="4" actId="1076"/>
        <pc:sldMkLst>
          <pc:docMk/>
          <pc:sldMk cId="0" sldId="273"/>
        </pc:sldMkLst>
      </pc:sldChg>
    </pc:docChg>
  </pc:docChgLst>
  <pc:docChgLst>
    <pc:chgData name="Markus Kümmerle" userId="edb588ad-b118-44cb-93b6-335b967c9009" providerId="ADAL" clId="{9F87EAD9-81B7-440D-BF20-E6327959BEAB}"/>
    <pc:docChg chg="undo custSel modSld">
      <pc:chgData name="Markus Kümmerle" userId="edb588ad-b118-44cb-93b6-335b967c9009" providerId="ADAL" clId="{9F87EAD9-81B7-440D-BF20-E6327959BEAB}" dt="2025-01-24T13:26:59.448" v="353" actId="20577"/>
      <pc:docMkLst>
        <pc:docMk/>
      </pc:docMkLst>
      <pc:sldChg chg="modSp mod">
        <pc:chgData name="Markus Kümmerle" userId="edb588ad-b118-44cb-93b6-335b967c9009" providerId="ADAL" clId="{9F87EAD9-81B7-440D-BF20-E6327959BEAB}" dt="2025-01-24T09:18:01.010" v="9" actId="20577"/>
        <pc:sldMkLst>
          <pc:docMk/>
          <pc:sldMk cId="0" sldId="256"/>
        </pc:sldMkLst>
      </pc:sldChg>
      <pc:sldChg chg="addSp delSp modSp mod">
        <pc:chgData name="Markus Kümmerle" userId="edb588ad-b118-44cb-93b6-335b967c9009" providerId="ADAL" clId="{9F87EAD9-81B7-440D-BF20-E6327959BEAB}" dt="2025-01-24T13:18:50.591" v="248" actId="20577"/>
        <pc:sldMkLst>
          <pc:docMk/>
          <pc:sldMk cId="0" sldId="272"/>
        </pc:sldMkLst>
      </pc:sldChg>
      <pc:sldChg chg="addSp delSp modSp mod">
        <pc:chgData name="Markus Kümmerle" userId="edb588ad-b118-44cb-93b6-335b967c9009" providerId="ADAL" clId="{9F87EAD9-81B7-440D-BF20-E6327959BEAB}" dt="2025-01-24T09:23:01.398" v="14" actId="1076"/>
        <pc:sldMkLst>
          <pc:docMk/>
          <pc:sldMk cId="0" sldId="273"/>
        </pc:sldMkLst>
      </pc:sldChg>
      <pc:sldChg chg="modSp mod">
        <pc:chgData name="Markus Kümmerle" userId="edb588ad-b118-44cb-93b6-335b967c9009" providerId="ADAL" clId="{9F87EAD9-81B7-440D-BF20-E6327959BEAB}" dt="2025-01-24T13:06:16.752" v="144" actId="2711"/>
        <pc:sldMkLst>
          <pc:docMk/>
          <pc:sldMk cId="0" sldId="276"/>
        </pc:sldMkLst>
      </pc:sldChg>
      <pc:sldChg chg="modSp mod">
        <pc:chgData name="Markus Kümmerle" userId="edb588ad-b118-44cb-93b6-335b967c9009" providerId="ADAL" clId="{9F87EAD9-81B7-440D-BF20-E6327959BEAB}" dt="2025-01-24T13:06:44.345" v="150" actId="2711"/>
        <pc:sldMkLst>
          <pc:docMk/>
          <pc:sldMk cId="0" sldId="277"/>
        </pc:sldMkLst>
      </pc:sldChg>
      <pc:sldChg chg="addSp delSp modSp mod">
        <pc:chgData name="Markus Kümmerle" userId="edb588ad-b118-44cb-93b6-335b967c9009" providerId="ADAL" clId="{9F87EAD9-81B7-440D-BF20-E6327959BEAB}" dt="2025-01-24T13:13:02.833" v="238" actId="20577"/>
        <pc:sldMkLst>
          <pc:docMk/>
          <pc:sldMk cId="0" sldId="278"/>
        </pc:sldMkLst>
      </pc:sldChg>
      <pc:sldChg chg="addSp delSp modSp mod">
        <pc:chgData name="Markus Kümmerle" userId="edb588ad-b118-44cb-93b6-335b967c9009" providerId="ADAL" clId="{9F87EAD9-81B7-440D-BF20-E6327959BEAB}" dt="2025-01-24T13:20:48.686" v="328" actId="1038"/>
        <pc:sldMkLst>
          <pc:docMk/>
          <pc:sldMk cId="0" sldId="279"/>
        </pc:sldMkLst>
      </pc:sldChg>
      <pc:sldChg chg="addSp modSp mod">
        <pc:chgData name="Markus Kümmerle" userId="edb588ad-b118-44cb-93b6-335b967c9009" providerId="ADAL" clId="{9F87EAD9-81B7-440D-BF20-E6327959BEAB}" dt="2025-01-24T13:22:14.946" v="335" actId="1076"/>
        <pc:sldMkLst>
          <pc:docMk/>
          <pc:sldMk cId="0" sldId="280"/>
        </pc:sldMkLst>
      </pc:sldChg>
      <pc:sldChg chg="modSp mod">
        <pc:chgData name="Markus Kümmerle" userId="edb588ad-b118-44cb-93b6-335b967c9009" providerId="ADAL" clId="{9F87EAD9-81B7-440D-BF20-E6327959BEAB}" dt="2025-01-24T13:26:59.448" v="353" actId="20577"/>
        <pc:sldMkLst>
          <pc:docMk/>
          <pc:sldMk cId="0" sldId="285"/>
        </pc:sldMkLst>
      </pc:sldChg>
      <pc:sldChg chg="addSp delSp modSp mod">
        <pc:chgData name="Markus Kümmerle" userId="edb588ad-b118-44cb-93b6-335b967c9009" providerId="ADAL" clId="{9F87EAD9-81B7-440D-BF20-E6327959BEAB}" dt="2025-01-24T13:26:36.658" v="339" actId="1076"/>
        <pc:sldMkLst>
          <pc:docMk/>
          <pc:sldMk cId="2138978529" sldId="304"/>
        </pc:sldMkLst>
      </pc:sldChg>
    </pc:docChg>
  </pc:docChgLst>
  <pc:docChgLst>
    <pc:chgData name="Kümmerle, Markus" userId="edb588ad-b118-44cb-93b6-335b967c9009" providerId="ADAL" clId="{9F87EAD9-81B7-440D-BF20-E6327959BEAB}"/>
    <pc:docChg chg="undo custSel addSld delSld modSld modMainMaster">
      <pc:chgData name="Kümmerle, Markus" userId="edb588ad-b118-44cb-93b6-335b967c9009" providerId="ADAL" clId="{9F87EAD9-81B7-440D-BF20-E6327959BEAB}" dt="2025-11-27T17:24:41.093" v="4628" actId="1076"/>
      <pc:docMkLst>
        <pc:docMk/>
      </pc:docMkLst>
      <pc:sldChg chg="modSp mod">
        <pc:chgData name="Kümmerle, Markus" userId="edb588ad-b118-44cb-93b6-335b967c9009" providerId="ADAL" clId="{9F87EAD9-81B7-440D-BF20-E6327959BEAB}" dt="2025-11-27T17:21:26.007" v="4603" actId="20577"/>
        <pc:sldMkLst>
          <pc:docMk/>
          <pc:sldMk cId="0" sldId="256"/>
        </pc:sldMkLst>
        <pc:spChg chg="mod">
          <ac:chgData name="Kümmerle, Markus" userId="edb588ad-b118-44cb-93b6-335b967c9009" providerId="ADAL" clId="{9F87EAD9-81B7-440D-BF20-E6327959BEAB}" dt="2025-11-27T17:21:26.007" v="4603" actId="20577"/>
          <ac:spMkLst>
            <pc:docMk/>
            <pc:sldMk cId="0" sldId="256"/>
            <ac:spMk id="144" creationId="{00000000-0000-0000-0000-000000000000}"/>
          </ac:spMkLst>
        </pc:spChg>
      </pc:sldChg>
      <pc:sldChg chg="modSp mod">
        <pc:chgData name="Kümmerle, Markus" userId="edb588ad-b118-44cb-93b6-335b967c9009" providerId="ADAL" clId="{9F87EAD9-81B7-440D-BF20-E6327959BEAB}" dt="2025-10-09T11:42:50.763" v="4420" actId="20577"/>
        <pc:sldMkLst>
          <pc:docMk/>
          <pc:sldMk cId="0" sldId="257"/>
        </pc:sldMkLst>
        <pc:spChg chg="mod">
          <ac:chgData name="Kümmerle, Markus" userId="edb588ad-b118-44cb-93b6-335b967c9009" providerId="ADAL" clId="{9F87EAD9-81B7-440D-BF20-E6327959BEAB}" dt="2025-10-09T11:42:50.763" v="4420" actId="20577"/>
          <ac:spMkLst>
            <pc:docMk/>
            <pc:sldMk cId="0" sldId="257"/>
            <ac:spMk id="151" creationId="{00000000-0000-0000-0000-000000000000}"/>
          </ac:spMkLst>
        </pc:spChg>
      </pc:sldChg>
      <pc:sldChg chg="addSp delSp modSp mod">
        <pc:chgData name="Kümmerle, Markus" userId="edb588ad-b118-44cb-93b6-335b967c9009" providerId="ADAL" clId="{9F87EAD9-81B7-440D-BF20-E6327959BEAB}" dt="2025-05-16T14:23:54.826" v="3657" actId="1076"/>
        <pc:sldMkLst>
          <pc:docMk/>
          <pc:sldMk cId="0" sldId="261"/>
        </pc:sldMkLst>
      </pc:sldChg>
      <pc:sldChg chg="modSp mod">
        <pc:chgData name="Kümmerle, Markus" userId="edb588ad-b118-44cb-93b6-335b967c9009" providerId="ADAL" clId="{9F87EAD9-81B7-440D-BF20-E6327959BEAB}" dt="2025-05-16T13:51:54.831" v="3509" actId="20577"/>
        <pc:sldMkLst>
          <pc:docMk/>
          <pc:sldMk cId="0" sldId="262"/>
        </pc:sldMkLst>
      </pc:sldChg>
      <pc:sldChg chg="modSp mod">
        <pc:chgData name="Kümmerle, Markus" userId="edb588ad-b118-44cb-93b6-335b967c9009" providerId="ADAL" clId="{9F87EAD9-81B7-440D-BF20-E6327959BEAB}" dt="2025-05-16T14:08:12.041" v="3546" actId="20577"/>
        <pc:sldMkLst>
          <pc:docMk/>
          <pc:sldMk cId="0" sldId="263"/>
        </pc:sldMkLst>
      </pc:sldChg>
      <pc:sldChg chg="addSp modSp mod">
        <pc:chgData name="Kümmerle, Markus" userId="edb588ad-b118-44cb-93b6-335b967c9009" providerId="ADAL" clId="{9F87EAD9-81B7-440D-BF20-E6327959BEAB}" dt="2025-05-16T14:22:00.699" v="3642" actId="1076"/>
        <pc:sldMkLst>
          <pc:docMk/>
          <pc:sldMk cId="0" sldId="267"/>
        </pc:sldMkLst>
      </pc:sldChg>
      <pc:sldChg chg="modSp mod">
        <pc:chgData name="Kümmerle, Markus" userId="edb588ad-b118-44cb-93b6-335b967c9009" providerId="ADAL" clId="{9F87EAD9-81B7-440D-BF20-E6327959BEAB}" dt="2025-05-16T14:30:35.692" v="3675" actId="20577"/>
        <pc:sldMkLst>
          <pc:docMk/>
          <pc:sldMk cId="0" sldId="270"/>
        </pc:sldMkLst>
      </pc:sldChg>
      <pc:sldChg chg="addSp delSp modSp mod">
        <pc:chgData name="Kümmerle, Markus" userId="edb588ad-b118-44cb-93b6-335b967c9009" providerId="ADAL" clId="{9F87EAD9-81B7-440D-BF20-E6327959BEAB}" dt="2025-11-27T17:22:38.115" v="4611" actId="20577"/>
        <pc:sldMkLst>
          <pc:docMk/>
          <pc:sldMk cId="0" sldId="272"/>
        </pc:sldMkLst>
        <pc:spChg chg="mod">
          <ac:chgData name="Kümmerle, Markus" userId="edb588ad-b118-44cb-93b6-335b967c9009" providerId="ADAL" clId="{9F87EAD9-81B7-440D-BF20-E6327959BEAB}" dt="2025-11-27T17:22:38.115" v="4611" actId="20577"/>
          <ac:spMkLst>
            <pc:docMk/>
            <pc:sldMk cId="0" sldId="272"/>
            <ac:spMk id="441" creationId="{00000000-0000-0000-0000-000000000000}"/>
          </ac:spMkLst>
        </pc:spChg>
        <pc:picChg chg="add del mod">
          <ac:chgData name="Kümmerle, Markus" userId="edb588ad-b118-44cb-93b6-335b967c9009" providerId="ADAL" clId="{9F87EAD9-81B7-440D-BF20-E6327959BEAB}" dt="2025-11-27T17:18:54.047" v="4595" actId="478"/>
          <ac:picMkLst>
            <pc:docMk/>
            <pc:sldMk cId="0" sldId="272"/>
            <ac:picMk id="3" creationId="{E233DBE7-6A6F-4DF0-5CEB-FDD48F5CFBB8}"/>
          </ac:picMkLst>
        </pc:picChg>
        <pc:picChg chg="add mod">
          <ac:chgData name="Kümmerle, Markus" userId="edb588ad-b118-44cb-93b6-335b967c9009" providerId="ADAL" clId="{9F87EAD9-81B7-440D-BF20-E6327959BEAB}" dt="2025-11-27T17:19:13.059" v="4598" actId="1076"/>
          <ac:picMkLst>
            <pc:docMk/>
            <pc:sldMk cId="0" sldId="272"/>
            <ac:picMk id="4" creationId="{DB29FE27-38A5-C74C-BA14-107A4E758F65}"/>
          </ac:picMkLst>
        </pc:picChg>
      </pc:sldChg>
      <pc:sldChg chg="addSp delSp modSp del mod">
        <pc:chgData name="Kümmerle, Markus" userId="edb588ad-b118-44cb-93b6-335b967c9009" providerId="ADAL" clId="{9F87EAD9-81B7-440D-BF20-E6327959BEAB}" dt="2025-11-27T17:18:07.091" v="4594" actId="47"/>
        <pc:sldMkLst>
          <pc:docMk/>
          <pc:sldMk cId="0" sldId="273"/>
        </pc:sldMkLst>
      </pc:sldChg>
      <pc:sldChg chg="modSp mod">
        <pc:chgData name="Kümmerle, Markus" userId="edb588ad-b118-44cb-93b6-335b967c9009" providerId="ADAL" clId="{9F87EAD9-81B7-440D-BF20-E6327959BEAB}" dt="2025-05-16T14:46:45.092" v="3752" actId="20577"/>
        <pc:sldMkLst>
          <pc:docMk/>
          <pc:sldMk cId="0" sldId="274"/>
        </pc:sldMkLst>
      </pc:sldChg>
      <pc:sldChg chg="modSp mod">
        <pc:chgData name="Kümmerle, Markus" userId="edb588ad-b118-44cb-93b6-335b967c9009" providerId="ADAL" clId="{9F87EAD9-81B7-440D-BF20-E6327959BEAB}" dt="2025-05-16T14:49:05.422" v="3763" actId="20577"/>
        <pc:sldMkLst>
          <pc:docMk/>
          <pc:sldMk cId="0" sldId="275"/>
        </pc:sldMkLst>
      </pc:sldChg>
      <pc:sldChg chg="del">
        <pc:chgData name="Kümmerle, Markus" userId="edb588ad-b118-44cb-93b6-335b967c9009" providerId="ADAL" clId="{9F87EAD9-81B7-440D-BF20-E6327959BEAB}" dt="2025-02-07T16:31:50.099" v="168" actId="47"/>
        <pc:sldMkLst>
          <pc:docMk/>
          <pc:sldMk cId="0" sldId="276"/>
        </pc:sldMkLst>
      </pc:sldChg>
      <pc:sldChg chg="addSp delSp modSp del mod">
        <pc:chgData name="Kümmerle, Markus" userId="edb588ad-b118-44cb-93b6-335b967c9009" providerId="ADAL" clId="{9F87EAD9-81B7-440D-BF20-E6327959BEAB}" dt="2025-03-19T13:33:33.781" v="1773" actId="47"/>
        <pc:sldMkLst>
          <pc:docMk/>
          <pc:sldMk cId="0" sldId="277"/>
        </pc:sldMkLst>
      </pc:sldChg>
      <pc:sldChg chg="addSp delSp modSp del mod">
        <pc:chgData name="Kümmerle, Markus" userId="edb588ad-b118-44cb-93b6-335b967c9009" providerId="ADAL" clId="{9F87EAD9-81B7-440D-BF20-E6327959BEAB}" dt="2025-06-04T17:35:23.850" v="4119" actId="47"/>
        <pc:sldMkLst>
          <pc:docMk/>
          <pc:sldMk cId="0" sldId="278"/>
        </pc:sldMkLst>
      </pc:sldChg>
      <pc:sldChg chg="addSp delSp modSp del mod">
        <pc:chgData name="Kümmerle, Markus" userId="edb588ad-b118-44cb-93b6-335b967c9009" providerId="ADAL" clId="{9F87EAD9-81B7-440D-BF20-E6327959BEAB}" dt="2025-06-04T17:35:23.850" v="4119" actId="47"/>
        <pc:sldMkLst>
          <pc:docMk/>
          <pc:sldMk cId="0" sldId="279"/>
        </pc:sldMkLst>
      </pc:sldChg>
      <pc:sldChg chg="addSp delSp modSp del mod">
        <pc:chgData name="Kümmerle, Markus" userId="edb588ad-b118-44cb-93b6-335b967c9009" providerId="ADAL" clId="{9F87EAD9-81B7-440D-BF20-E6327959BEAB}" dt="2025-06-04T17:35:23.850" v="4119" actId="47"/>
        <pc:sldMkLst>
          <pc:docMk/>
          <pc:sldMk cId="0" sldId="280"/>
        </pc:sldMkLst>
      </pc:sldChg>
      <pc:sldChg chg="modSp mod">
        <pc:chgData name="Kümmerle, Markus" userId="edb588ad-b118-44cb-93b6-335b967c9009" providerId="ADAL" clId="{9F87EAD9-81B7-440D-BF20-E6327959BEAB}" dt="2025-02-22T15:15:13.228" v="1592" actId="20577"/>
        <pc:sldMkLst>
          <pc:docMk/>
          <pc:sldMk cId="0" sldId="285"/>
        </pc:sldMkLst>
      </pc:sldChg>
      <pc:sldChg chg="addSp delSp modSp mod">
        <pc:chgData name="Kümmerle, Markus" userId="edb588ad-b118-44cb-93b6-335b967c9009" providerId="ADAL" clId="{9F87EAD9-81B7-440D-BF20-E6327959BEAB}" dt="2025-05-16T15:21:01.702" v="4089" actId="1076"/>
        <pc:sldMkLst>
          <pc:docMk/>
          <pc:sldMk cId="0" sldId="287"/>
        </pc:sldMkLst>
      </pc:sldChg>
      <pc:sldChg chg="addSp delSp modSp mod">
        <pc:chgData name="Kümmerle, Markus" userId="edb588ad-b118-44cb-93b6-335b967c9009" providerId="ADAL" clId="{9F87EAD9-81B7-440D-BF20-E6327959BEAB}" dt="2025-05-16T15:23:00.362" v="4099" actId="1076"/>
        <pc:sldMkLst>
          <pc:docMk/>
          <pc:sldMk cId="0" sldId="288"/>
        </pc:sldMkLst>
      </pc:sldChg>
      <pc:sldChg chg="addSp delSp modSp mod">
        <pc:chgData name="Kümmerle, Markus" userId="edb588ad-b118-44cb-93b6-335b967c9009" providerId="ADAL" clId="{9F87EAD9-81B7-440D-BF20-E6327959BEAB}" dt="2025-05-16T15:26:40.782" v="4117" actId="1076"/>
        <pc:sldMkLst>
          <pc:docMk/>
          <pc:sldMk cId="0" sldId="289"/>
        </pc:sldMkLst>
      </pc:sldChg>
      <pc:sldChg chg="modSp mod modCm">
        <pc:chgData name="Kümmerle, Markus" userId="edb588ad-b118-44cb-93b6-335b967c9009" providerId="ADAL" clId="{9F87EAD9-81B7-440D-BF20-E6327959BEAB}" dt="2025-05-16T14:55:59.380" v="3902" actId="20577"/>
        <pc:sldMkLst>
          <pc:docMk/>
          <pc:sldMk cId="0" sldId="292"/>
        </pc:sldMkLst>
        <pc:extLst>
          <p:ext xmlns:p="http://schemas.openxmlformats.org/presentationml/2006/main" uri="{D6D511B9-2390-475A-947B-AFAB55BFBCF1}">
            <pc226:cmChg xmlns:pc226="http://schemas.microsoft.com/office/powerpoint/2022/06/main/command" chg="mod">
              <pc226:chgData name="Kümmerle, Markus" userId="edb588ad-b118-44cb-93b6-335b967c9009" providerId="ADAL" clId="{9F87EAD9-81B7-440D-BF20-E6327959BEAB}" dt="2025-05-16T14:55:59.380" v="3902" actId="20577"/>
              <pc2:cmMkLst xmlns:pc2="http://schemas.microsoft.com/office/powerpoint/2019/9/main/command">
                <pc:docMk/>
                <pc:sldMk cId="0" sldId="292"/>
                <pc2:cmMk id="{C7583F2D-AF85-4647-BCED-78B68859218D}"/>
              </pc2:cmMkLst>
            </pc226:cmChg>
          </p:ext>
        </pc:extLst>
      </pc:sldChg>
      <pc:sldChg chg="addSp delSp modSp mod">
        <pc:chgData name="Kümmerle, Markus" userId="edb588ad-b118-44cb-93b6-335b967c9009" providerId="ADAL" clId="{9F87EAD9-81B7-440D-BF20-E6327959BEAB}" dt="2025-05-16T14:58:15.285" v="3908"/>
        <pc:sldMkLst>
          <pc:docMk/>
          <pc:sldMk cId="0" sldId="293"/>
        </pc:sldMkLst>
      </pc:sldChg>
      <pc:sldChg chg="modSp mod">
        <pc:chgData name="Kümmerle, Markus" userId="edb588ad-b118-44cb-93b6-335b967c9009" providerId="ADAL" clId="{9F87EAD9-81B7-440D-BF20-E6327959BEAB}" dt="2025-05-16T14:59:27.262" v="3927" actId="20577"/>
        <pc:sldMkLst>
          <pc:docMk/>
          <pc:sldMk cId="0" sldId="295"/>
        </pc:sldMkLst>
      </pc:sldChg>
      <pc:sldChg chg="modSp mod">
        <pc:chgData name="Kümmerle, Markus" userId="edb588ad-b118-44cb-93b6-335b967c9009" providerId="ADAL" clId="{9F87EAD9-81B7-440D-BF20-E6327959BEAB}" dt="2025-05-16T15:00:41.342" v="3976" actId="20577"/>
        <pc:sldMkLst>
          <pc:docMk/>
          <pc:sldMk cId="0" sldId="296"/>
        </pc:sldMkLst>
      </pc:sldChg>
      <pc:sldChg chg="modSp mod">
        <pc:chgData name="Kümmerle, Markus" userId="edb588ad-b118-44cb-93b6-335b967c9009" providerId="ADAL" clId="{9F87EAD9-81B7-440D-BF20-E6327959BEAB}" dt="2025-08-05T13:26:36.769" v="4333" actId="208"/>
        <pc:sldMkLst>
          <pc:docMk/>
          <pc:sldMk cId="0" sldId="297"/>
        </pc:sldMkLst>
      </pc:sldChg>
      <pc:sldChg chg="modSp mod">
        <pc:chgData name="Kümmerle, Markus" userId="edb588ad-b118-44cb-93b6-335b967c9009" providerId="ADAL" clId="{9F87EAD9-81B7-440D-BF20-E6327959BEAB}" dt="2025-05-16T15:04:03.361" v="4079" actId="20577"/>
        <pc:sldMkLst>
          <pc:docMk/>
          <pc:sldMk cId="0" sldId="300"/>
        </pc:sldMkLst>
      </pc:sldChg>
      <pc:sldChg chg="modSp mod">
        <pc:chgData name="Kümmerle, Markus" userId="edb588ad-b118-44cb-93b6-335b967c9009" providerId="ADAL" clId="{9F87EAD9-81B7-440D-BF20-E6327959BEAB}" dt="2025-05-16T15:03:19.390" v="4036" actId="20577"/>
        <pc:sldMkLst>
          <pc:docMk/>
          <pc:sldMk cId="0" sldId="301"/>
        </pc:sldMkLst>
      </pc:sldChg>
      <pc:sldChg chg="modSp mod">
        <pc:chgData name="Kümmerle, Markus" userId="edb588ad-b118-44cb-93b6-335b967c9009" providerId="ADAL" clId="{9F87EAD9-81B7-440D-BF20-E6327959BEAB}" dt="2025-05-16T15:03:50.981" v="4070" actId="20577"/>
        <pc:sldMkLst>
          <pc:docMk/>
          <pc:sldMk cId="0" sldId="302"/>
        </pc:sldMkLst>
      </pc:sldChg>
      <pc:sldChg chg="addSp delSp modSp mod">
        <pc:chgData name="Kümmerle, Markus" userId="edb588ad-b118-44cb-93b6-335b967c9009" providerId="ADAL" clId="{9F87EAD9-81B7-440D-BF20-E6327959BEAB}" dt="2025-11-27T17:24:41.093" v="4628" actId="1076"/>
        <pc:sldMkLst>
          <pc:docMk/>
          <pc:sldMk cId="2138978529" sldId="304"/>
        </pc:sldMkLst>
        <pc:picChg chg="add del mod">
          <ac:chgData name="Kümmerle, Markus" userId="edb588ad-b118-44cb-93b6-335b967c9009" providerId="ADAL" clId="{9F87EAD9-81B7-440D-BF20-E6327959BEAB}" dt="2025-11-27T17:24:18.827" v="4614" actId="478"/>
          <ac:picMkLst>
            <pc:docMk/>
            <pc:sldMk cId="2138978529" sldId="304"/>
            <ac:picMk id="3" creationId="{ED890FCB-150C-EC30-054B-57900D276451}"/>
          </ac:picMkLst>
        </pc:picChg>
        <pc:picChg chg="add mod">
          <ac:chgData name="Kümmerle, Markus" userId="edb588ad-b118-44cb-93b6-335b967c9009" providerId="ADAL" clId="{9F87EAD9-81B7-440D-BF20-E6327959BEAB}" dt="2025-11-27T17:24:41.093" v="4628" actId="1076"/>
          <ac:picMkLst>
            <pc:docMk/>
            <pc:sldMk cId="2138978529" sldId="304"/>
            <ac:picMk id="4" creationId="{69E1785C-3BCF-C808-88AC-5B2DBB039618}"/>
          </ac:picMkLst>
        </pc:picChg>
      </pc:sldChg>
      <pc:sldChg chg="addSp delSp modSp add del mod">
        <pc:chgData name="Kümmerle, Markus" userId="edb588ad-b118-44cb-93b6-335b967c9009" providerId="ADAL" clId="{9F87EAD9-81B7-440D-BF20-E6327959BEAB}" dt="2025-06-04T17:35:23.850" v="4119" actId="47"/>
        <pc:sldMkLst>
          <pc:docMk/>
          <pc:sldMk cId="243027967" sldId="305"/>
        </pc:sldMkLst>
      </pc:sldChg>
      <pc:sldChg chg="delSp add del mod">
        <pc:chgData name="Kümmerle, Markus" userId="edb588ad-b118-44cb-93b6-335b967c9009" providerId="ADAL" clId="{9F87EAD9-81B7-440D-BF20-E6327959BEAB}" dt="2025-02-07T17:01:26.769" v="985" actId="47"/>
        <pc:sldMkLst>
          <pc:docMk/>
          <pc:sldMk cId="285673665" sldId="305"/>
        </pc:sldMkLst>
      </pc:sldChg>
      <pc:sldChg chg="add del">
        <pc:chgData name="Kümmerle, Markus" userId="edb588ad-b118-44cb-93b6-335b967c9009" providerId="ADAL" clId="{9F87EAD9-81B7-440D-BF20-E6327959BEAB}" dt="2025-10-16T09:37:34.150" v="4491" actId="47"/>
        <pc:sldMkLst>
          <pc:docMk/>
          <pc:sldMk cId="3019102821" sldId="305"/>
        </pc:sldMkLst>
      </pc:sldChg>
      <pc:sldChg chg="addSp delSp modSp add del mod">
        <pc:chgData name="Kümmerle, Markus" userId="edb588ad-b118-44cb-93b6-335b967c9009" providerId="ADAL" clId="{9F87EAD9-81B7-440D-BF20-E6327959BEAB}" dt="2025-06-04T17:35:23.850" v="4119" actId="47"/>
        <pc:sldMkLst>
          <pc:docMk/>
          <pc:sldMk cId="3962661313" sldId="306"/>
        </pc:sldMkLst>
      </pc:sldChg>
      <pc:sldChg chg="delSp modSp add del mod">
        <pc:chgData name="Kümmerle, Markus" userId="edb588ad-b118-44cb-93b6-335b967c9009" providerId="ADAL" clId="{9F87EAD9-81B7-440D-BF20-E6327959BEAB}" dt="2025-06-04T17:35:23.850" v="4119" actId="47"/>
        <pc:sldMkLst>
          <pc:docMk/>
          <pc:sldMk cId="1348869579" sldId="307"/>
        </pc:sldMkLst>
      </pc:sldChg>
      <pc:sldChg chg="add">
        <pc:chgData name="Kümmerle, Markus" userId="edb588ad-b118-44cb-93b6-335b967c9009" providerId="ADAL" clId="{9F87EAD9-81B7-440D-BF20-E6327959BEAB}" dt="2025-06-04T17:34:31.549" v="4118"/>
        <pc:sldMkLst>
          <pc:docMk/>
          <pc:sldMk cId="2243311192" sldId="308"/>
        </pc:sldMkLst>
      </pc:sldChg>
      <pc:sldChg chg="add">
        <pc:chgData name="Kümmerle, Markus" userId="edb588ad-b118-44cb-93b6-335b967c9009" providerId="ADAL" clId="{9F87EAD9-81B7-440D-BF20-E6327959BEAB}" dt="2025-06-04T17:34:31.549" v="4118"/>
        <pc:sldMkLst>
          <pc:docMk/>
          <pc:sldMk cId="1535481930" sldId="309"/>
        </pc:sldMkLst>
      </pc:sldChg>
      <pc:sldChg chg="add">
        <pc:chgData name="Kümmerle, Markus" userId="edb588ad-b118-44cb-93b6-335b967c9009" providerId="ADAL" clId="{9F87EAD9-81B7-440D-BF20-E6327959BEAB}" dt="2025-06-04T17:34:31.549" v="4118"/>
        <pc:sldMkLst>
          <pc:docMk/>
          <pc:sldMk cId="2197339939" sldId="310"/>
        </pc:sldMkLst>
      </pc:sldChg>
      <pc:sldChg chg="addSp delSp modSp add mod">
        <pc:chgData name="Kümmerle, Markus" userId="edb588ad-b118-44cb-93b6-335b967c9009" providerId="ADAL" clId="{9F87EAD9-81B7-440D-BF20-E6327959BEAB}" dt="2025-08-05T13:15:35.702" v="4303" actId="1076"/>
        <pc:sldMkLst>
          <pc:docMk/>
          <pc:sldMk cId="2468290853" sldId="311"/>
        </pc:sldMkLst>
      </pc:sldChg>
      <pc:sldChg chg="addSp delSp modSp add mod">
        <pc:chgData name="Kümmerle, Markus" userId="edb588ad-b118-44cb-93b6-335b967c9009" providerId="ADAL" clId="{9F87EAD9-81B7-440D-BF20-E6327959BEAB}" dt="2025-08-05T13:21:14.357" v="4312" actId="6549"/>
        <pc:sldMkLst>
          <pc:docMk/>
          <pc:sldMk cId="3161113337" sldId="312"/>
        </pc:sldMkLst>
      </pc:sldChg>
      <pc:sldChg chg="add">
        <pc:chgData name="Kümmerle, Markus" userId="edb588ad-b118-44cb-93b6-335b967c9009" providerId="ADAL" clId="{9F87EAD9-81B7-440D-BF20-E6327959BEAB}" dt="2025-10-09T11:37:56.238" v="4339"/>
        <pc:sldMkLst>
          <pc:docMk/>
          <pc:sldMk cId="1237189325" sldId="313"/>
        </pc:sldMkLst>
      </pc:sldChg>
      <pc:sldChg chg="add">
        <pc:chgData name="Kümmerle, Markus" userId="edb588ad-b118-44cb-93b6-335b967c9009" providerId="ADAL" clId="{9F87EAD9-81B7-440D-BF20-E6327959BEAB}" dt="2025-10-16T09:37:30.995" v="4490"/>
        <pc:sldMkLst>
          <pc:docMk/>
          <pc:sldMk cId="4141981802" sldId="314"/>
        </pc:sldMkLst>
      </pc:sldChg>
      <pc:sldChg chg="addSp delSp modSp add mod">
        <pc:chgData name="Kümmerle, Markus" userId="edb588ad-b118-44cb-93b6-335b967c9009" providerId="ADAL" clId="{9F87EAD9-81B7-440D-BF20-E6327959BEAB}" dt="2025-11-27T17:17:20.593" v="4593" actId="1036"/>
        <pc:sldMkLst>
          <pc:docMk/>
          <pc:sldMk cId="2243155006" sldId="315"/>
        </pc:sldMkLst>
        <pc:picChg chg="add mod">
          <ac:chgData name="Kümmerle, Markus" userId="edb588ad-b118-44cb-93b6-335b967c9009" providerId="ADAL" clId="{9F87EAD9-81B7-440D-BF20-E6327959BEAB}" dt="2025-11-27T17:17:20.593" v="4593" actId="1036"/>
          <ac:picMkLst>
            <pc:docMk/>
            <pc:sldMk cId="2243155006" sldId="315"/>
            <ac:picMk id="3" creationId="{2558DB59-6CAD-2D4C-557D-2940F2608F8E}"/>
          </ac:picMkLst>
        </pc:picChg>
        <pc:picChg chg="del">
          <ac:chgData name="Kümmerle, Markus" userId="edb588ad-b118-44cb-93b6-335b967c9009" providerId="ADAL" clId="{9F87EAD9-81B7-440D-BF20-E6327959BEAB}" dt="2025-11-27T17:14:16.070" v="4554" actId="478"/>
          <ac:picMkLst>
            <pc:docMk/>
            <pc:sldMk cId="2243155006" sldId="315"/>
            <ac:picMk id="4" creationId="{B9CF2488-EA65-B06E-1A64-CAAFF65BA982}"/>
          </ac:picMkLst>
        </pc:picChg>
        <pc:picChg chg="add mod">
          <ac:chgData name="Kümmerle, Markus" userId="edb588ad-b118-44cb-93b6-335b967c9009" providerId="ADAL" clId="{9F87EAD9-81B7-440D-BF20-E6327959BEAB}" dt="2025-11-27T17:17:20.593" v="4593" actId="1036"/>
          <ac:picMkLst>
            <pc:docMk/>
            <pc:sldMk cId="2243155006" sldId="315"/>
            <ac:picMk id="6" creationId="{5916B38B-FBC2-79B8-58AF-987BC4C637B8}"/>
          </ac:picMkLst>
        </pc:picChg>
      </pc:sldChg>
      <pc:sldMasterChg chg="addSp modSp mod">
        <pc:chgData name="Kümmerle, Markus" userId="edb588ad-b118-44cb-93b6-335b967c9009" providerId="ADAL" clId="{9F87EAD9-81B7-440D-BF20-E6327959BEAB}" dt="2025-02-22T15:03:38.619" v="1407"/>
        <pc:sldMasterMkLst>
          <pc:docMk/>
          <pc:sldMasterMk cId="0" sldId="2147483648"/>
        </pc:sldMasterMkLst>
      </pc:sldMasterChg>
    </pc:docChg>
  </pc:docChgLst>
  <pc:docChgLst>
    <pc:chgData name="Markus Kümmerle" userId="edb588ad-b118-44cb-93b6-335b967c9009" providerId="ADAL" clId="{23DB3319-4C49-4F85-A827-0E09850C7500}"/>
    <pc:docChg chg="undo custSel addSld modSld">
      <pc:chgData name="Markus Kümmerle" userId="edb588ad-b118-44cb-93b6-335b967c9009" providerId="ADAL" clId="{23DB3319-4C49-4F85-A827-0E09850C7500}" dt="2024-12-17T16:51:17.689" v="618" actId="20577"/>
      <pc:docMkLst>
        <pc:docMk/>
      </pc:docMkLst>
      <pc:sldChg chg="modSp mod">
        <pc:chgData name="Markus Kümmerle" userId="edb588ad-b118-44cb-93b6-335b967c9009" providerId="ADAL" clId="{23DB3319-4C49-4F85-A827-0E09850C7500}" dt="2024-12-17T13:34:55.804" v="3" actId="20577"/>
        <pc:sldMkLst>
          <pc:docMk/>
          <pc:sldMk cId="0" sldId="256"/>
        </pc:sldMkLst>
      </pc:sldChg>
      <pc:sldChg chg="modSp mod">
        <pc:chgData name="Markus Kümmerle" userId="edb588ad-b118-44cb-93b6-335b967c9009" providerId="ADAL" clId="{23DB3319-4C49-4F85-A827-0E09850C7500}" dt="2024-12-17T16:51:17.689" v="618" actId="20577"/>
        <pc:sldMkLst>
          <pc:docMk/>
          <pc:sldMk cId="0" sldId="257"/>
        </pc:sldMkLst>
      </pc:sldChg>
      <pc:sldChg chg="addSp delSp modSp mod">
        <pc:chgData name="Markus Kümmerle" userId="edb588ad-b118-44cb-93b6-335b967c9009" providerId="ADAL" clId="{23DB3319-4C49-4F85-A827-0E09850C7500}" dt="2024-12-17T13:47:23.303" v="178" actId="20577"/>
        <pc:sldMkLst>
          <pc:docMk/>
          <pc:sldMk cId="0" sldId="272"/>
        </pc:sldMkLst>
      </pc:sldChg>
      <pc:sldChg chg="addSp delSp modSp mod">
        <pc:chgData name="Markus Kümmerle" userId="edb588ad-b118-44cb-93b6-335b967c9009" providerId="ADAL" clId="{23DB3319-4C49-4F85-A827-0E09850C7500}" dt="2024-12-17T13:37:54.680" v="21" actId="1036"/>
        <pc:sldMkLst>
          <pc:docMk/>
          <pc:sldMk cId="0" sldId="273"/>
        </pc:sldMkLst>
      </pc:sldChg>
      <pc:sldChg chg="addSp modSp mod">
        <pc:chgData name="Markus Kümmerle" userId="edb588ad-b118-44cb-93b6-335b967c9009" providerId="ADAL" clId="{23DB3319-4C49-4F85-A827-0E09850C7500}" dt="2024-12-17T16:35:51.642" v="479" actId="20577"/>
        <pc:sldMkLst>
          <pc:docMk/>
          <pc:sldMk cId="0" sldId="278"/>
        </pc:sldMkLst>
      </pc:sldChg>
      <pc:sldChg chg="addSp delSp modSp mod">
        <pc:chgData name="Markus Kümmerle" userId="edb588ad-b118-44cb-93b6-335b967c9009" providerId="ADAL" clId="{23DB3319-4C49-4F85-A827-0E09850C7500}" dt="2024-12-17T16:39:28.539" v="509" actId="1035"/>
        <pc:sldMkLst>
          <pc:docMk/>
          <pc:sldMk cId="0" sldId="279"/>
        </pc:sldMkLst>
      </pc:sldChg>
      <pc:sldChg chg="addSp delSp modSp mod">
        <pc:chgData name="Markus Kümmerle" userId="edb588ad-b118-44cb-93b6-335b967c9009" providerId="ADAL" clId="{23DB3319-4C49-4F85-A827-0E09850C7500}" dt="2024-12-17T16:44:44.596" v="585" actId="1036"/>
        <pc:sldMkLst>
          <pc:docMk/>
          <pc:sldMk cId="0" sldId="280"/>
        </pc:sldMkLst>
      </pc:sldChg>
      <pc:sldChg chg="addSp delSp modSp add mod">
        <pc:chgData name="Markus Kümmerle" userId="edb588ad-b118-44cb-93b6-335b967c9009" providerId="ADAL" clId="{23DB3319-4C49-4F85-A827-0E09850C7500}" dt="2024-12-17T16:50:24.435" v="592" actId="1076"/>
        <pc:sldMkLst>
          <pc:docMk/>
          <pc:sldMk cId="2138978529" sldId="304"/>
        </pc:sldMkLst>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8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8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2" y="0"/>
            <a:ext cx="3169919" cy="617220"/>
          </a:xfrm>
          <a:prstGeom prst="rect">
            <a:avLst/>
          </a:prstGeom>
          <a:noFill/>
          <a:ln>
            <a:noFill/>
          </a:ln>
        </p:spPr>
        <p:txBody>
          <a:bodyPr spcFirstLastPara="1" wrap="square" lIns="107550" tIns="53775" rIns="107550" bIns="53775" anchor="t" anchorCtr="0">
            <a:noAutofit/>
          </a:bodyPr>
          <a:lstStyle>
            <a:lvl1pPr marR="0" lvl="0" algn="l" rtl="0">
              <a:spcBef>
                <a:spcPts val="0"/>
              </a:spcBef>
              <a:spcAft>
                <a:spcPts val="0"/>
              </a:spcAft>
              <a:buSzPts val="1400"/>
              <a:buNone/>
              <a:defRPr sz="1400" b="0" i="0" u="none" strike="noStrike" cap="none">
                <a:solidFill>
                  <a:schemeClr val="dk1"/>
                </a:solidFill>
                <a:latin typeface="Montserrat Light"/>
                <a:ea typeface="Montserrat Light"/>
                <a:cs typeface="Montserrat Light"/>
                <a:sym typeface="Montserrat Light"/>
              </a:defRPr>
            </a:lvl1pPr>
            <a:lvl2pPr marR="0" lvl="1"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2pPr>
            <a:lvl3pPr marR="0" lvl="2"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3pPr>
            <a:lvl4pPr marR="0" lvl="3"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4pPr>
            <a:lvl5pPr marR="0" lvl="4"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5pPr>
            <a:lvl6pPr marR="0" lvl="5"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6pPr>
            <a:lvl7pPr marR="0" lvl="6"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7pPr>
            <a:lvl8pPr marR="0" lvl="7"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8pPr>
            <a:lvl9pPr marR="0" lvl="8"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9pPr>
          </a:lstStyle>
          <a:p>
            <a:endParaRPr/>
          </a:p>
        </p:txBody>
      </p:sp>
      <p:sp>
        <p:nvSpPr>
          <p:cNvPr id="4" name="Google Shape;4;n"/>
          <p:cNvSpPr txBox="1">
            <a:spLocks noGrp="1"/>
          </p:cNvSpPr>
          <p:nvPr>
            <p:ph type="dt" idx="10"/>
          </p:nvPr>
        </p:nvSpPr>
        <p:spPr>
          <a:xfrm>
            <a:off x="4143589" y="0"/>
            <a:ext cx="3169919" cy="617220"/>
          </a:xfrm>
          <a:prstGeom prst="rect">
            <a:avLst/>
          </a:prstGeom>
          <a:noFill/>
          <a:ln>
            <a:noFill/>
          </a:ln>
        </p:spPr>
        <p:txBody>
          <a:bodyPr spcFirstLastPara="1" wrap="square" lIns="107550" tIns="53775" rIns="107550" bIns="53775" anchor="t" anchorCtr="0">
            <a:noAutofit/>
          </a:bodyPr>
          <a:lstStyle>
            <a:lvl1pPr marR="0" lvl="0" algn="r" rtl="0">
              <a:spcBef>
                <a:spcPts val="0"/>
              </a:spcBef>
              <a:spcAft>
                <a:spcPts val="0"/>
              </a:spcAft>
              <a:buSzPts val="1400"/>
              <a:buNone/>
              <a:defRPr sz="1400" b="0" i="0" u="none" strike="noStrike" cap="none">
                <a:solidFill>
                  <a:schemeClr val="dk1"/>
                </a:solidFill>
                <a:latin typeface="Montserrat Light"/>
                <a:ea typeface="Montserrat Light"/>
                <a:cs typeface="Montserrat Light"/>
                <a:sym typeface="Montserrat Light"/>
              </a:defRPr>
            </a:lvl1pPr>
            <a:lvl2pPr marR="0" lvl="1"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2pPr>
            <a:lvl3pPr marR="0" lvl="2"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3pPr>
            <a:lvl4pPr marR="0" lvl="3"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4pPr>
            <a:lvl5pPr marR="0" lvl="4"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5pPr>
            <a:lvl6pPr marR="0" lvl="5"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6pPr>
            <a:lvl7pPr marR="0" lvl="6"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7pPr>
            <a:lvl8pPr marR="0" lvl="7"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8pPr>
            <a:lvl9pPr marR="0" lvl="8"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9pPr>
          </a:lstStyle>
          <a:p>
            <a:endParaRPr/>
          </a:p>
        </p:txBody>
      </p:sp>
      <p:sp>
        <p:nvSpPr>
          <p:cNvPr id="5" name="Google Shape;5;n"/>
          <p:cNvSpPr>
            <a:spLocks noGrp="1" noRot="1" noChangeAspect="1"/>
          </p:cNvSpPr>
          <p:nvPr>
            <p:ph type="sldImg" idx="3"/>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Montserrat Light"/>
                <a:ea typeface="Montserrat Light"/>
                <a:cs typeface="Montserrat Light"/>
                <a:sym typeface="Montserrat Light"/>
              </a:defRPr>
            </a:lvl1pPr>
            <a:lvl2pPr marL="914400" marR="0" lvl="1" indent="-228600" algn="l" rtl="0">
              <a:spcBef>
                <a:spcPts val="0"/>
              </a:spcBef>
              <a:spcAft>
                <a:spcPts val="0"/>
              </a:spcAft>
              <a:buSzPts val="1400"/>
              <a:buNone/>
              <a:defRPr sz="1200" b="0" i="0" u="none" strike="noStrike" cap="none">
                <a:solidFill>
                  <a:schemeClr val="dk1"/>
                </a:solidFill>
                <a:latin typeface="Montserrat Light"/>
                <a:ea typeface="Montserrat Light"/>
                <a:cs typeface="Montserrat Light"/>
                <a:sym typeface="Montserrat Light"/>
              </a:defRPr>
            </a:lvl2pPr>
            <a:lvl3pPr marL="1371600" marR="0" lvl="2" indent="-228600" algn="l" rtl="0">
              <a:spcBef>
                <a:spcPts val="0"/>
              </a:spcBef>
              <a:spcAft>
                <a:spcPts val="0"/>
              </a:spcAft>
              <a:buSzPts val="1400"/>
              <a:buNone/>
              <a:defRPr sz="1200" b="0" i="0" u="none" strike="noStrike" cap="none">
                <a:solidFill>
                  <a:schemeClr val="dk1"/>
                </a:solidFill>
                <a:latin typeface="Montserrat Light"/>
                <a:ea typeface="Montserrat Light"/>
                <a:cs typeface="Montserrat Light"/>
                <a:sym typeface="Montserrat Light"/>
              </a:defRPr>
            </a:lvl3pPr>
            <a:lvl4pPr marL="1828800" marR="0" lvl="3" indent="-228600" algn="l" rtl="0">
              <a:spcBef>
                <a:spcPts val="0"/>
              </a:spcBef>
              <a:spcAft>
                <a:spcPts val="0"/>
              </a:spcAft>
              <a:buSzPts val="1400"/>
              <a:buNone/>
              <a:defRPr sz="1200" b="0" i="0" u="none" strike="noStrike" cap="none">
                <a:solidFill>
                  <a:schemeClr val="dk1"/>
                </a:solidFill>
                <a:latin typeface="Montserrat Light"/>
                <a:ea typeface="Montserrat Light"/>
                <a:cs typeface="Montserrat Light"/>
                <a:sym typeface="Montserrat Light"/>
              </a:defRPr>
            </a:lvl4pPr>
            <a:lvl5pPr marL="2286000" marR="0" lvl="4" indent="-228600" algn="l" rtl="0">
              <a:spcBef>
                <a:spcPts val="0"/>
              </a:spcBef>
              <a:spcAft>
                <a:spcPts val="0"/>
              </a:spcAft>
              <a:buSzPts val="1400"/>
              <a:buNone/>
              <a:defRPr sz="1200" b="0" i="0" u="none" strike="noStrike" cap="none">
                <a:solidFill>
                  <a:schemeClr val="dk1"/>
                </a:solidFill>
                <a:latin typeface="Montserrat Light"/>
                <a:ea typeface="Montserrat Light"/>
                <a:cs typeface="Montserrat Light"/>
                <a:sym typeface="Montserrat Light"/>
              </a:defRPr>
            </a:lvl5pPr>
            <a:lvl6pPr marL="2743200" marR="0" lvl="5" indent="-228600" algn="l" rtl="0">
              <a:spcBef>
                <a:spcPts val="0"/>
              </a:spcBef>
              <a:spcAft>
                <a:spcPts val="0"/>
              </a:spcAft>
              <a:buSzPts val="1400"/>
              <a:buNone/>
              <a:defRPr sz="1200" b="0" i="0" u="none" strike="noStrike" cap="none">
                <a:solidFill>
                  <a:schemeClr val="dk1"/>
                </a:solidFill>
                <a:latin typeface="Montserrat Light"/>
                <a:ea typeface="Montserrat Light"/>
                <a:cs typeface="Montserrat Light"/>
                <a:sym typeface="Montserrat Light"/>
              </a:defRPr>
            </a:lvl6pPr>
            <a:lvl7pPr marL="3200400" marR="0" lvl="6" indent="-228600" algn="l" rtl="0">
              <a:spcBef>
                <a:spcPts val="0"/>
              </a:spcBef>
              <a:spcAft>
                <a:spcPts val="0"/>
              </a:spcAft>
              <a:buSzPts val="1400"/>
              <a:buNone/>
              <a:defRPr sz="1200" b="0" i="0" u="none" strike="noStrike" cap="none">
                <a:solidFill>
                  <a:schemeClr val="dk1"/>
                </a:solidFill>
                <a:latin typeface="Montserrat Light"/>
                <a:ea typeface="Montserrat Light"/>
                <a:cs typeface="Montserrat Light"/>
                <a:sym typeface="Montserrat Light"/>
              </a:defRPr>
            </a:lvl7pPr>
            <a:lvl8pPr marL="3657600" marR="0" lvl="7" indent="-228600" algn="l" rtl="0">
              <a:spcBef>
                <a:spcPts val="0"/>
              </a:spcBef>
              <a:spcAft>
                <a:spcPts val="0"/>
              </a:spcAft>
              <a:buSzPts val="1400"/>
              <a:buNone/>
              <a:defRPr sz="1200" b="0" i="0" u="none" strike="noStrike" cap="none">
                <a:solidFill>
                  <a:schemeClr val="dk1"/>
                </a:solidFill>
                <a:latin typeface="Montserrat Light"/>
                <a:ea typeface="Montserrat Light"/>
                <a:cs typeface="Montserrat Light"/>
                <a:sym typeface="Montserrat Light"/>
              </a:defRPr>
            </a:lvl8pPr>
            <a:lvl9pPr marL="4114800" marR="0" lvl="8" indent="-228600" algn="l" rtl="0">
              <a:spcBef>
                <a:spcPts val="0"/>
              </a:spcBef>
              <a:spcAft>
                <a:spcPts val="0"/>
              </a:spcAft>
              <a:buSzPts val="1400"/>
              <a:buNone/>
              <a:defRPr sz="1200" b="0" i="0" u="none" strike="noStrike" cap="none">
                <a:solidFill>
                  <a:schemeClr val="dk1"/>
                </a:solidFill>
                <a:latin typeface="Montserrat Light"/>
                <a:ea typeface="Montserrat Light"/>
                <a:cs typeface="Montserrat Light"/>
                <a:sym typeface="Montserrat Light"/>
              </a:defRPr>
            </a:lvl9pPr>
          </a:lstStyle>
          <a:p>
            <a:endParaRPr/>
          </a:p>
        </p:txBody>
      </p:sp>
      <p:sp>
        <p:nvSpPr>
          <p:cNvPr id="7" name="Google Shape;7;n"/>
          <p:cNvSpPr txBox="1">
            <a:spLocks noGrp="1"/>
          </p:cNvSpPr>
          <p:nvPr>
            <p:ph type="ftr" idx="11"/>
          </p:nvPr>
        </p:nvSpPr>
        <p:spPr>
          <a:xfrm>
            <a:off x="2" y="11725039"/>
            <a:ext cx="3169919" cy="617220"/>
          </a:xfrm>
          <a:prstGeom prst="rect">
            <a:avLst/>
          </a:prstGeom>
          <a:noFill/>
          <a:ln>
            <a:noFill/>
          </a:ln>
        </p:spPr>
        <p:txBody>
          <a:bodyPr spcFirstLastPara="1" wrap="square" lIns="107550" tIns="53775" rIns="107550" bIns="53775" anchor="b" anchorCtr="0">
            <a:noAutofit/>
          </a:bodyPr>
          <a:lstStyle>
            <a:lvl1pPr marR="0" lvl="0" algn="l" rtl="0">
              <a:spcBef>
                <a:spcPts val="0"/>
              </a:spcBef>
              <a:spcAft>
                <a:spcPts val="0"/>
              </a:spcAft>
              <a:buSzPts val="1400"/>
              <a:buNone/>
              <a:defRPr sz="1400" b="0" i="0" u="none" strike="noStrike" cap="none">
                <a:solidFill>
                  <a:schemeClr val="dk1"/>
                </a:solidFill>
                <a:latin typeface="Montserrat Light"/>
                <a:ea typeface="Montserrat Light"/>
                <a:cs typeface="Montserrat Light"/>
                <a:sym typeface="Montserrat Light"/>
              </a:defRPr>
            </a:lvl1pPr>
            <a:lvl2pPr marR="0" lvl="1"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2pPr>
            <a:lvl3pPr marR="0" lvl="2"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3pPr>
            <a:lvl4pPr marR="0" lvl="3"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4pPr>
            <a:lvl5pPr marR="0" lvl="4"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5pPr>
            <a:lvl6pPr marR="0" lvl="5"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6pPr>
            <a:lvl7pPr marR="0" lvl="6"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7pPr>
            <a:lvl8pPr marR="0" lvl="7"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8pPr>
            <a:lvl9pPr marR="0" lvl="8" algn="l" rtl="0">
              <a:spcBef>
                <a:spcPts val="0"/>
              </a:spcBef>
              <a:spcAft>
                <a:spcPts val="0"/>
              </a:spcAft>
              <a:buSzPts val="1400"/>
              <a:buNone/>
              <a:defRPr sz="1800" b="0" i="0" u="none" strike="noStrike" cap="none">
                <a:solidFill>
                  <a:schemeClr val="dk1"/>
                </a:solidFill>
                <a:latin typeface="Montserrat Light"/>
                <a:ea typeface="Montserrat Light"/>
                <a:cs typeface="Montserrat Light"/>
                <a:sym typeface="Montserrat Light"/>
              </a:defRPr>
            </a:lvl9pPr>
          </a:lstStyle>
          <a:p>
            <a:endParaRPr/>
          </a:p>
        </p:txBody>
      </p:sp>
      <p:sp>
        <p:nvSpPr>
          <p:cNvPr id="8" name="Google Shape;8;n"/>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marR="0" lvl="0" indent="0" algn="r" rtl="0">
              <a:spcBef>
                <a:spcPts val="0"/>
              </a:spcBef>
              <a:spcAft>
                <a:spcPts val="0"/>
              </a:spcAft>
              <a:buNone/>
            </a:pPr>
            <a:fld id="{00000000-1234-1234-1234-123412341234}" type="slidenum">
              <a:rPr lang="en-US" sz="1400" b="0" i="0" u="none" strike="noStrike" cap="none">
                <a:solidFill>
                  <a:schemeClr val="dk1"/>
                </a:solidFill>
                <a:latin typeface="Montserrat Light"/>
                <a:ea typeface="Montserrat Light"/>
                <a:cs typeface="Montserrat Light"/>
                <a:sym typeface="Montserrat Light"/>
              </a:rPr>
              <a:t>‹Nr.›</a:t>
            </a:fld>
            <a:endParaRPr sz="1400" b="0" i="0" u="none" strike="noStrike" cap="none">
              <a:solidFill>
                <a:schemeClr val="dk1"/>
              </a:solidFill>
              <a:latin typeface="Montserrat Light"/>
              <a:ea typeface="Montserrat Light"/>
              <a:cs typeface="Montserrat Light"/>
              <a:sym typeface="Montserrat Light"/>
            </a:endParaRPr>
          </a:p>
        </p:txBody>
      </p:sp>
    </p:spTree>
    <p:extLst>
      <p:ext uri="{BB962C8B-B14F-4D97-AF65-F5344CB8AC3E}">
        <p14:creationId xmlns:p14="http://schemas.microsoft.com/office/powerpoint/2010/main" val="27327650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 name="Google Shape;140;p1: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141" name="Google Shape;141;p1: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1</a:t>
            </a:fld>
            <a:endParaRPr/>
          </a:p>
        </p:txBody>
      </p:sp>
    </p:spTree>
    <p:extLst>
      <p:ext uri="{BB962C8B-B14F-4D97-AF65-F5344CB8AC3E}">
        <p14:creationId xmlns:p14="http://schemas.microsoft.com/office/powerpoint/2010/main" val="643870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2: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 name="Google Shape;147;p2: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148" name="Google Shape;148;p2: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2117730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3: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3: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157" name="Google Shape;157;p3: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219634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4: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p4: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168" name="Google Shape;168;p4: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610261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5: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5: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190" name="Google Shape;190;p5: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41550476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6: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6: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198" name="Google Shape;198;p6: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8567705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7: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p7: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207" name="Google Shape;207;p7: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153178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8: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p8: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217" name="Google Shape;217;p8: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1367341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9: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p9: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248" name="Google Shape;248;p9: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05986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0: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p10: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258" name="Google Shape;258;p10: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41221343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1: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p11: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267" name="Google Shape;267;p11: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15905810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10bbb95dc3_0_87: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Google Shape;275;g310bbb95dc3_0_87:notes"/>
          <p:cNvSpPr txBox="1">
            <a:spLocks noGrp="1"/>
          </p:cNvSpPr>
          <p:nvPr>
            <p:ph type="body" idx="1"/>
          </p:nvPr>
        </p:nvSpPr>
        <p:spPr>
          <a:xfrm>
            <a:off x="731520" y="5863591"/>
            <a:ext cx="5852100" cy="555510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276" name="Google Shape;276;g310bbb95dc3_0_87:notes"/>
          <p:cNvSpPr txBox="1">
            <a:spLocks noGrp="1"/>
          </p:cNvSpPr>
          <p:nvPr>
            <p:ph type="sldNum" idx="12"/>
          </p:nvPr>
        </p:nvSpPr>
        <p:spPr>
          <a:xfrm>
            <a:off x="4143589" y="11725039"/>
            <a:ext cx="3169800" cy="61710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229770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xmlns="" id="{440AA0BB-CFCC-4C66-4F14-114E009B7404}"/>
            </a:ext>
          </a:extLst>
        </p:cNvPr>
        <p:cNvGrpSpPr/>
        <p:nvPr/>
      </p:nvGrpSpPr>
      <p:grpSpPr>
        <a:xfrm>
          <a:off x="0" y="0"/>
          <a:ext cx="0" cy="0"/>
          <a:chOff x="0" y="0"/>
          <a:chExt cx="0" cy="0"/>
        </a:xfrm>
      </p:grpSpPr>
      <p:sp>
        <p:nvSpPr>
          <p:cNvPr id="155" name="Google Shape;155;p3:notes">
            <a:extLst>
              <a:ext uri="{FF2B5EF4-FFF2-40B4-BE49-F238E27FC236}">
                <a16:creationId xmlns:a16="http://schemas.microsoft.com/office/drawing/2014/main" xmlns="" id="{8D5E4598-348B-0D34-5337-A44896EDAA7A}"/>
              </a:ext>
            </a:extLst>
          </p:cNvPr>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3:notes">
            <a:extLst>
              <a:ext uri="{FF2B5EF4-FFF2-40B4-BE49-F238E27FC236}">
                <a16:creationId xmlns:a16="http://schemas.microsoft.com/office/drawing/2014/main" xmlns="" id="{F00508E5-05B7-FEA5-5148-7F7EA9732E3A}"/>
              </a:ext>
            </a:extLst>
          </p:cNvPr>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157" name="Google Shape;157;p3:notes">
            <a:extLst>
              <a:ext uri="{FF2B5EF4-FFF2-40B4-BE49-F238E27FC236}">
                <a16:creationId xmlns:a16="http://schemas.microsoft.com/office/drawing/2014/main" xmlns="" id="{21042CA5-CAFE-4CF8-2E8D-44C4CC606A1A}"/>
              </a:ext>
            </a:extLst>
          </p:cNvPr>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055477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3: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13: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306" name="Google Shape;306;p13: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500775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4: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p14: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315" name="Google Shape;315;p14: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3700028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15: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8" name="Google Shape;398;p15: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399" name="Google Shape;399;p15: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30432678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6: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6" name="Google Shape;406;p16: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407" name="Google Shape;407;p16: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2878204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17: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7" name="Google Shape;437;p17: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438" name="Google Shape;438;p17: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30439310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a:extLst>
            <a:ext uri="{FF2B5EF4-FFF2-40B4-BE49-F238E27FC236}">
              <a16:creationId xmlns:a16="http://schemas.microsoft.com/office/drawing/2014/main" xmlns="" id="{EF30E302-AFE8-8F0C-D648-20AC5B86D3C1}"/>
            </a:ext>
          </a:extLst>
        </p:cNvPr>
        <p:cNvGrpSpPr/>
        <p:nvPr/>
      </p:nvGrpSpPr>
      <p:grpSpPr>
        <a:xfrm>
          <a:off x="0" y="0"/>
          <a:ext cx="0" cy="0"/>
          <a:chOff x="0" y="0"/>
          <a:chExt cx="0" cy="0"/>
        </a:xfrm>
      </p:grpSpPr>
      <p:sp>
        <p:nvSpPr>
          <p:cNvPr id="446" name="Google Shape;446;p18:notes">
            <a:extLst>
              <a:ext uri="{FF2B5EF4-FFF2-40B4-BE49-F238E27FC236}">
                <a16:creationId xmlns:a16="http://schemas.microsoft.com/office/drawing/2014/main" xmlns="" id="{AD50B379-0D08-6E58-44FB-7B4F78EBC7E7}"/>
              </a:ext>
            </a:extLst>
          </p:cNvPr>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7" name="Google Shape;447;p18:notes">
            <a:extLst>
              <a:ext uri="{FF2B5EF4-FFF2-40B4-BE49-F238E27FC236}">
                <a16:creationId xmlns:a16="http://schemas.microsoft.com/office/drawing/2014/main" xmlns="" id="{7C2E5C4F-6809-049F-7F9F-2DB3375D17E3}"/>
              </a:ext>
            </a:extLst>
          </p:cNvPr>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448" name="Google Shape;448;p18:notes">
            <a:extLst>
              <a:ext uri="{FF2B5EF4-FFF2-40B4-BE49-F238E27FC236}">
                <a16:creationId xmlns:a16="http://schemas.microsoft.com/office/drawing/2014/main" xmlns="" id="{0D38C6A9-FC42-D20F-5F74-A228D06C4829}"/>
              </a:ext>
            </a:extLst>
          </p:cNvPr>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6407122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19:notes"/>
          <p:cNvSpPr txBox="1">
            <a:spLocks noGrp="1"/>
          </p:cNvSpPr>
          <p:nvPr>
            <p:ph type="body" idx="1"/>
          </p:nvPr>
        </p:nvSpPr>
        <p:spPr>
          <a:xfrm>
            <a:off x="731520" y="5863591"/>
            <a:ext cx="5852160" cy="5554980"/>
          </a:xfrm>
          <a:prstGeom prst="rect">
            <a:avLst/>
          </a:prstGeom>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455" name="Google Shape;455;p19: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27691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20:notes"/>
          <p:cNvSpPr txBox="1">
            <a:spLocks noGrp="1"/>
          </p:cNvSpPr>
          <p:nvPr>
            <p:ph type="body" idx="1"/>
          </p:nvPr>
        </p:nvSpPr>
        <p:spPr>
          <a:xfrm>
            <a:off x="731520" y="5863591"/>
            <a:ext cx="5852160" cy="5554980"/>
          </a:xfrm>
          <a:prstGeom prst="rect">
            <a:avLst/>
          </a:prstGeom>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462" name="Google Shape;462;p20: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79540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xmlns="" id="{3C8338E7-4918-327A-D5DB-91C5C0CA3B83}"/>
            </a:ext>
          </a:extLst>
        </p:cNvPr>
        <p:cNvGrpSpPr/>
        <p:nvPr/>
      </p:nvGrpSpPr>
      <p:grpSpPr>
        <a:xfrm>
          <a:off x="0" y="0"/>
          <a:ext cx="0" cy="0"/>
          <a:chOff x="0" y="0"/>
          <a:chExt cx="0" cy="0"/>
        </a:xfrm>
      </p:grpSpPr>
      <p:sp>
        <p:nvSpPr>
          <p:cNvPr id="155" name="Google Shape;155;p3:notes">
            <a:extLst>
              <a:ext uri="{FF2B5EF4-FFF2-40B4-BE49-F238E27FC236}">
                <a16:creationId xmlns:a16="http://schemas.microsoft.com/office/drawing/2014/main" xmlns="" id="{8499B42F-DDEF-57F3-59CD-B8ED94795ECE}"/>
              </a:ext>
            </a:extLst>
          </p:cNvPr>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3:notes">
            <a:extLst>
              <a:ext uri="{FF2B5EF4-FFF2-40B4-BE49-F238E27FC236}">
                <a16:creationId xmlns:a16="http://schemas.microsoft.com/office/drawing/2014/main" xmlns="" id="{35BA174C-1C90-9883-A547-B8CAA80F877B}"/>
              </a:ext>
            </a:extLst>
          </p:cNvPr>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157" name="Google Shape;157;p3:notes">
            <a:extLst>
              <a:ext uri="{FF2B5EF4-FFF2-40B4-BE49-F238E27FC236}">
                <a16:creationId xmlns:a16="http://schemas.microsoft.com/office/drawing/2014/main" xmlns="" id="{3CAF114B-6B92-FC3C-59AE-B90AD577A87A}"/>
              </a:ext>
            </a:extLst>
          </p:cNvPr>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15674687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g3128783cbcc_0_230: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8" name="Google Shape;588;g3128783cbcc_0_230:notes"/>
          <p:cNvSpPr txBox="1">
            <a:spLocks noGrp="1"/>
          </p:cNvSpPr>
          <p:nvPr>
            <p:ph type="body" idx="1"/>
          </p:nvPr>
        </p:nvSpPr>
        <p:spPr>
          <a:xfrm>
            <a:off x="731520" y="5863591"/>
            <a:ext cx="5852100" cy="555510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dirty="0"/>
          </a:p>
        </p:txBody>
      </p:sp>
      <p:sp>
        <p:nvSpPr>
          <p:cNvPr id="589" name="Google Shape;589;g3128783cbcc_0_230:notes"/>
          <p:cNvSpPr txBox="1">
            <a:spLocks noGrp="1"/>
          </p:cNvSpPr>
          <p:nvPr>
            <p:ph type="sldNum" idx="12"/>
          </p:nvPr>
        </p:nvSpPr>
        <p:spPr>
          <a:xfrm>
            <a:off x="4143589" y="11725039"/>
            <a:ext cx="3169800" cy="61710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21240295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g3128783cbcc_0_230: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8" name="Google Shape;588;g3128783cbcc_0_230:notes"/>
          <p:cNvSpPr txBox="1">
            <a:spLocks noGrp="1"/>
          </p:cNvSpPr>
          <p:nvPr>
            <p:ph type="body" idx="1"/>
          </p:nvPr>
        </p:nvSpPr>
        <p:spPr>
          <a:xfrm>
            <a:off x="731520" y="5863591"/>
            <a:ext cx="5852100" cy="555510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dirty="0"/>
          </a:p>
        </p:txBody>
      </p:sp>
      <p:sp>
        <p:nvSpPr>
          <p:cNvPr id="589" name="Google Shape;589;g3128783cbcc_0_230:notes"/>
          <p:cNvSpPr txBox="1">
            <a:spLocks noGrp="1"/>
          </p:cNvSpPr>
          <p:nvPr>
            <p:ph type="sldNum" idx="12"/>
          </p:nvPr>
        </p:nvSpPr>
        <p:spPr>
          <a:xfrm>
            <a:off x="4143589" y="11725039"/>
            <a:ext cx="3169800" cy="61710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27634730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p25: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p25: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796" name="Google Shape;796;p25: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25746938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26: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p26: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832" name="Google Shape;832;p26: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4694858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p27: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3" name="Google Shape;863;p27: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864" name="Google Shape;864;p27: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9540743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p27: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3" name="Google Shape;863;p27: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864" name="Google Shape;864;p27: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2241083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p28: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p28: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873" name="Google Shape;873;p28: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37153365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p29: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p29: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881" name="Google Shape;881;p29: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37497338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p30: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9" name="Google Shape;899;p30: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900" name="Google Shape;900;p30: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12439265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a:extLst>
            <a:ext uri="{FF2B5EF4-FFF2-40B4-BE49-F238E27FC236}">
              <a16:creationId xmlns:a16="http://schemas.microsoft.com/office/drawing/2014/main" xmlns="" id="{0FDE437B-FEA0-F8E2-04D0-1BC7087454EA}"/>
            </a:ext>
          </a:extLst>
        </p:cNvPr>
        <p:cNvGrpSpPr/>
        <p:nvPr/>
      </p:nvGrpSpPr>
      <p:grpSpPr>
        <a:xfrm>
          <a:off x="0" y="0"/>
          <a:ext cx="0" cy="0"/>
          <a:chOff x="0" y="0"/>
          <a:chExt cx="0" cy="0"/>
        </a:xfrm>
      </p:grpSpPr>
      <p:sp>
        <p:nvSpPr>
          <p:cNvPr id="879" name="Google Shape;879;p29:notes">
            <a:extLst>
              <a:ext uri="{FF2B5EF4-FFF2-40B4-BE49-F238E27FC236}">
                <a16:creationId xmlns:a16="http://schemas.microsoft.com/office/drawing/2014/main" xmlns="" id="{E52755FD-A94F-0EAA-F3D5-0036512D1D9A}"/>
              </a:ext>
            </a:extLst>
          </p:cNvPr>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p29:notes">
            <a:extLst>
              <a:ext uri="{FF2B5EF4-FFF2-40B4-BE49-F238E27FC236}">
                <a16:creationId xmlns:a16="http://schemas.microsoft.com/office/drawing/2014/main" xmlns="" id="{E8CD24CE-F63C-1152-F976-E0509F5E5310}"/>
              </a:ext>
            </a:extLst>
          </p:cNvPr>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881" name="Google Shape;881;p29:notes">
            <a:extLst>
              <a:ext uri="{FF2B5EF4-FFF2-40B4-BE49-F238E27FC236}">
                <a16:creationId xmlns:a16="http://schemas.microsoft.com/office/drawing/2014/main" xmlns="" id="{F7560C42-0152-C756-F0B5-C1EBA2FA2812}"/>
              </a:ext>
            </a:extLst>
          </p:cNvPr>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34287977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5: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5:notes"/>
          <p:cNvSpPr txBox="1">
            <a:spLocks noGrp="1"/>
          </p:cNvSpPr>
          <p:nvPr>
            <p:ph type="body" idx="1"/>
          </p:nvPr>
        </p:nvSpPr>
        <p:spPr>
          <a:xfrm>
            <a:off x="731521" y="5863591"/>
            <a:ext cx="5852160" cy="5554980"/>
          </a:xfrm>
          <a:prstGeom prst="rect">
            <a:avLst/>
          </a:prstGeom>
          <a:noFill/>
          <a:ln>
            <a:noFill/>
          </a:ln>
        </p:spPr>
        <p:txBody>
          <a:bodyPr spcFirstLastPara="1" wrap="square" lIns="107539" tIns="53769" rIns="107539" bIns="53769" anchor="t" anchorCtr="0">
            <a:noAutofit/>
          </a:bodyPr>
          <a:lstStyle/>
          <a:p>
            <a:pPr marL="0" indent="0"/>
            <a:endParaRPr/>
          </a:p>
        </p:txBody>
      </p:sp>
      <p:sp>
        <p:nvSpPr>
          <p:cNvPr id="190" name="Google Shape;190;p5:notes"/>
          <p:cNvSpPr txBox="1">
            <a:spLocks noGrp="1"/>
          </p:cNvSpPr>
          <p:nvPr>
            <p:ph type="sldNum" idx="12"/>
          </p:nvPr>
        </p:nvSpPr>
        <p:spPr>
          <a:xfrm>
            <a:off x="4143589" y="11725039"/>
            <a:ext cx="3169919" cy="617220"/>
          </a:xfrm>
          <a:prstGeom prst="rect">
            <a:avLst/>
          </a:prstGeom>
          <a:noFill/>
          <a:ln>
            <a:noFill/>
          </a:ln>
        </p:spPr>
        <p:txBody>
          <a:bodyPr spcFirstLastPara="1" wrap="square" lIns="107539" tIns="53769" rIns="107539" bIns="53769" anchor="b" anchorCtr="0">
            <a:noAutofit/>
          </a:bodyPr>
          <a:lstStyle/>
          <a:p>
            <a:pPr algn="r"/>
            <a:fld id="{00000000-1234-1234-1234-123412341234}" type="slidenum">
              <a:rPr lang="en-US"/>
              <a:pPr algn="r"/>
              <a:t>33</a:t>
            </a:fld>
            <a:endParaRPr/>
          </a:p>
        </p:txBody>
      </p:sp>
    </p:spTree>
    <p:extLst>
      <p:ext uri="{BB962C8B-B14F-4D97-AF65-F5344CB8AC3E}">
        <p14:creationId xmlns:p14="http://schemas.microsoft.com/office/powerpoint/2010/main" val="27881345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5: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5:notes"/>
          <p:cNvSpPr txBox="1">
            <a:spLocks noGrp="1"/>
          </p:cNvSpPr>
          <p:nvPr>
            <p:ph type="body" idx="1"/>
          </p:nvPr>
        </p:nvSpPr>
        <p:spPr>
          <a:xfrm>
            <a:off x="731521" y="5863591"/>
            <a:ext cx="5852160" cy="5554980"/>
          </a:xfrm>
          <a:prstGeom prst="rect">
            <a:avLst/>
          </a:prstGeom>
          <a:noFill/>
          <a:ln>
            <a:noFill/>
          </a:ln>
        </p:spPr>
        <p:txBody>
          <a:bodyPr spcFirstLastPara="1" wrap="square" lIns="107539" tIns="53769" rIns="107539" bIns="53769" anchor="t" anchorCtr="0">
            <a:noAutofit/>
          </a:bodyPr>
          <a:lstStyle/>
          <a:p>
            <a:pPr marL="0" indent="0"/>
            <a:endParaRPr/>
          </a:p>
        </p:txBody>
      </p:sp>
      <p:sp>
        <p:nvSpPr>
          <p:cNvPr id="190" name="Google Shape;190;p5:notes"/>
          <p:cNvSpPr txBox="1">
            <a:spLocks noGrp="1"/>
          </p:cNvSpPr>
          <p:nvPr>
            <p:ph type="sldNum" idx="12"/>
          </p:nvPr>
        </p:nvSpPr>
        <p:spPr>
          <a:xfrm>
            <a:off x="4143589" y="11725039"/>
            <a:ext cx="3169919" cy="617220"/>
          </a:xfrm>
          <a:prstGeom prst="rect">
            <a:avLst/>
          </a:prstGeom>
          <a:noFill/>
          <a:ln>
            <a:noFill/>
          </a:ln>
        </p:spPr>
        <p:txBody>
          <a:bodyPr spcFirstLastPara="1" wrap="square" lIns="107539" tIns="53769" rIns="107539" bIns="53769" anchor="b" anchorCtr="0">
            <a:noAutofit/>
          </a:bodyPr>
          <a:lstStyle/>
          <a:p>
            <a:pPr algn="r"/>
            <a:fld id="{00000000-1234-1234-1234-123412341234}" type="slidenum">
              <a:rPr lang="en-US"/>
              <a:pPr algn="r"/>
              <a:t>34</a:t>
            </a:fld>
            <a:endParaRPr/>
          </a:p>
        </p:txBody>
      </p:sp>
    </p:spTree>
    <p:extLst>
      <p:ext uri="{BB962C8B-B14F-4D97-AF65-F5344CB8AC3E}">
        <p14:creationId xmlns:p14="http://schemas.microsoft.com/office/powerpoint/2010/main" val="27867387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5: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5:notes"/>
          <p:cNvSpPr txBox="1">
            <a:spLocks noGrp="1"/>
          </p:cNvSpPr>
          <p:nvPr>
            <p:ph type="body" idx="1"/>
          </p:nvPr>
        </p:nvSpPr>
        <p:spPr>
          <a:xfrm>
            <a:off x="731521" y="5863591"/>
            <a:ext cx="5852160" cy="5554980"/>
          </a:xfrm>
          <a:prstGeom prst="rect">
            <a:avLst/>
          </a:prstGeom>
          <a:noFill/>
          <a:ln>
            <a:noFill/>
          </a:ln>
        </p:spPr>
        <p:txBody>
          <a:bodyPr spcFirstLastPara="1" wrap="square" lIns="107539" tIns="53769" rIns="107539" bIns="53769" anchor="t" anchorCtr="0">
            <a:noAutofit/>
          </a:bodyPr>
          <a:lstStyle/>
          <a:p>
            <a:pPr marL="0" indent="0"/>
            <a:endParaRPr/>
          </a:p>
        </p:txBody>
      </p:sp>
      <p:sp>
        <p:nvSpPr>
          <p:cNvPr id="190" name="Google Shape;190;p5:notes"/>
          <p:cNvSpPr txBox="1">
            <a:spLocks noGrp="1"/>
          </p:cNvSpPr>
          <p:nvPr>
            <p:ph type="sldNum" idx="12"/>
          </p:nvPr>
        </p:nvSpPr>
        <p:spPr>
          <a:xfrm>
            <a:off x="4143589" y="11725039"/>
            <a:ext cx="3169919" cy="617220"/>
          </a:xfrm>
          <a:prstGeom prst="rect">
            <a:avLst/>
          </a:prstGeom>
          <a:noFill/>
          <a:ln>
            <a:noFill/>
          </a:ln>
        </p:spPr>
        <p:txBody>
          <a:bodyPr spcFirstLastPara="1" wrap="square" lIns="107539" tIns="53769" rIns="107539" bIns="53769" anchor="b" anchorCtr="0">
            <a:noAutofit/>
          </a:bodyPr>
          <a:lstStyle/>
          <a:p>
            <a:pPr algn="r"/>
            <a:fld id="{00000000-1234-1234-1234-123412341234}" type="slidenum">
              <a:rPr lang="en-US"/>
              <a:pPr algn="r"/>
              <a:t>35</a:t>
            </a:fld>
            <a:endParaRPr/>
          </a:p>
        </p:txBody>
      </p:sp>
    </p:spTree>
    <p:extLst>
      <p:ext uri="{BB962C8B-B14F-4D97-AF65-F5344CB8AC3E}">
        <p14:creationId xmlns:p14="http://schemas.microsoft.com/office/powerpoint/2010/main" val="30858287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5: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5:notes"/>
          <p:cNvSpPr txBox="1">
            <a:spLocks noGrp="1"/>
          </p:cNvSpPr>
          <p:nvPr>
            <p:ph type="body" idx="1"/>
          </p:nvPr>
        </p:nvSpPr>
        <p:spPr>
          <a:xfrm>
            <a:off x="731521" y="5863591"/>
            <a:ext cx="5852160" cy="5554980"/>
          </a:xfrm>
          <a:prstGeom prst="rect">
            <a:avLst/>
          </a:prstGeom>
          <a:noFill/>
          <a:ln>
            <a:noFill/>
          </a:ln>
        </p:spPr>
        <p:txBody>
          <a:bodyPr spcFirstLastPara="1" wrap="square" lIns="107539" tIns="53769" rIns="107539" bIns="53769" anchor="t" anchorCtr="0">
            <a:noAutofit/>
          </a:bodyPr>
          <a:lstStyle/>
          <a:p>
            <a:pPr marL="0" indent="0"/>
            <a:endParaRPr/>
          </a:p>
        </p:txBody>
      </p:sp>
      <p:sp>
        <p:nvSpPr>
          <p:cNvPr id="190" name="Google Shape;190;p5:notes"/>
          <p:cNvSpPr txBox="1">
            <a:spLocks noGrp="1"/>
          </p:cNvSpPr>
          <p:nvPr>
            <p:ph type="sldNum" idx="12"/>
          </p:nvPr>
        </p:nvSpPr>
        <p:spPr>
          <a:xfrm>
            <a:off x="4143589" y="11725039"/>
            <a:ext cx="3169919" cy="617220"/>
          </a:xfrm>
          <a:prstGeom prst="rect">
            <a:avLst/>
          </a:prstGeom>
          <a:noFill/>
          <a:ln>
            <a:noFill/>
          </a:ln>
        </p:spPr>
        <p:txBody>
          <a:bodyPr spcFirstLastPara="1" wrap="square" lIns="107539" tIns="53769" rIns="107539" bIns="53769" anchor="b" anchorCtr="0">
            <a:noAutofit/>
          </a:bodyPr>
          <a:lstStyle/>
          <a:p>
            <a:pPr algn="r"/>
            <a:fld id="{00000000-1234-1234-1234-123412341234}" type="slidenum">
              <a:rPr lang="en-US"/>
              <a:pPr algn="r"/>
              <a:t>37</a:t>
            </a:fld>
            <a:endParaRPr/>
          </a:p>
        </p:txBody>
      </p:sp>
    </p:spTree>
    <p:extLst>
      <p:ext uri="{BB962C8B-B14F-4D97-AF65-F5344CB8AC3E}">
        <p14:creationId xmlns:p14="http://schemas.microsoft.com/office/powerpoint/2010/main" val="32611911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5: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5:notes"/>
          <p:cNvSpPr txBox="1">
            <a:spLocks noGrp="1"/>
          </p:cNvSpPr>
          <p:nvPr>
            <p:ph type="body" idx="1"/>
          </p:nvPr>
        </p:nvSpPr>
        <p:spPr>
          <a:xfrm>
            <a:off x="731521" y="5863591"/>
            <a:ext cx="5852160" cy="5554980"/>
          </a:xfrm>
          <a:prstGeom prst="rect">
            <a:avLst/>
          </a:prstGeom>
          <a:noFill/>
          <a:ln>
            <a:noFill/>
          </a:ln>
        </p:spPr>
        <p:txBody>
          <a:bodyPr spcFirstLastPara="1" wrap="square" lIns="107539" tIns="53769" rIns="107539" bIns="53769" anchor="t" anchorCtr="0">
            <a:noAutofit/>
          </a:bodyPr>
          <a:lstStyle/>
          <a:p>
            <a:pPr marL="0" indent="0"/>
            <a:endParaRPr/>
          </a:p>
        </p:txBody>
      </p:sp>
      <p:sp>
        <p:nvSpPr>
          <p:cNvPr id="190" name="Google Shape;190;p5:notes"/>
          <p:cNvSpPr txBox="1">
            <a:spLocks noGrp="1"/>
          </p:cNvSpPr>
          <p:nvPr>
            <p:ph type="sldNum" idx="12"/>
          </p:nvPr>
        </p:nvSpPr>
        <p:spPr>
          <a:xfrm>
            <a:off x="4143589" y="11725039"/>
            <a:ext cx="3169919" cy="617220"/>
          </a:xfrm>
          <a:prstGeom prst="rect">
            <a:avLst/>
          </a:prstGeom>
          <a:noFill/>
          <a:ln>
            <a:noFill/>
          </a:ln>
        </p:spPr>
        <p:txBody>
          <a:bodyPr spcFirstLastPara="1" wrap="square" lIns="107539" tIns="53769" rIns="107539" bIns="53769" anchor="b" anchorCtr="0">
            <a:noAutofit/>
          </a:bodyPr>
          <a:lstStyle/>
          <a:p>
            <a:pPr algn="r"/>
            <a:fld id="{00000000-1234-1234-1234-123412341234}" type="slidenum">
              <a:rPr lang="en-US"/>
              <a:pPr algn="r"/>
              <a:t>38</a:t>
            </a:fld>
            <a:endParaRPr/>
          </a:p>
        </p:txBody>
      </p:sp>
    </p:spTree>
    <p:extLst>
      <p:ext uri="{BB962C8B-B14F-4D97-AF65-F5344CB8AC3E}">
        <p14:creationId xmlns:p14="http://schemas.microsoft.com/office/powerpoint/2010/main" val="5747401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5: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5:notes"/>
          <p:cNvSpPr txBox="1">
            <a:spLocks noGrp="1"/>
          </p:cNvSpPr>
          <p:nvPr>
            <p:ph type="body" idx="1"/>
          </p:nvPr>
        </p:nvSpPr>
        <p:spPr>
          <a:xfrm>
            <a:off x="731521" y="5863591"/>
            <a:ext cx="5852160" cy="5554980"/>
          </a:xfrm>
          <a:prstGeom prst="rect">
            <a:avLst/>
          </a:prstGeom>
          <a:noFill/>
          <a:ln>
            <a:noFill/>
          </a:ln>
        </p:spPr>
        <p:txBody>
          <a:bodyPr spcFirstLastPara="1" wrap="square" lIns="107539" tIns="53769" rIns="107539" bIns="53769" anchor="t" anchorCtr="0">
            <a:noAutofit/>
          </a:bodyPr>
          <a:lstStyle/>
          <a:p>
            <a:pPr marL="0" indent="0"/>
            <a:endParaRPr/>
          </a:p>
        </p:txBody>
      </p:sp>
      <p:sp>
        <p:nvSpPr>
          <p:cNvPr id="190" name="Google Shape;190;p5:notes"/>
          <p:cNvSpPr txBox="1">
            <a:spLocks noGrp="1"/>
          </p:cNvSpPr>
          <p:nvPr>
            <p:ph type="sldNum" idx="12"/>
          </p:nvPr>
        </p:nvSpPr>
        <p:spPr>
          <a:xfrm>
            <a:off x="4143589" y="11725039"/>
            <a:ext cx="3169919" cy="617220"/>
          </a:xfrm>
          <a:prstGeom prst="rect">
            <a:avLst/>
          </a:prstGeom>
          <a:noFill/>
          <a:ln>
            <a:noFill/>
          </a:ln>
        </p:spPr>
        <p:txBody>
          <a:bodyPr spcFirstLastPara="1" wrap="square" lIns="107539" tIns="53769" rIns="107539" bIns="53769" anchor="b" anchorCtr="0">
            <a:noAutofit/>
          </a:bodyPr>
          <a:lstStyle/>
          <a:p>
            <a:pPr algn="r"/>
            <a:fld id="{00000000-1234-1234-1234-123412341234}" type="slidenum">
              <a:rPr lang="en-US"/>
              <a:pPr algn="r"/>
              <a:t>39</a:t>
            </a:fld>
            <a:endParaRPr/>
          </a:p>
        </p:txBody>
      </p:sp>
    </p:spTree>
    <p:extLst>
      <p:ext uri="{BB962C8B-B14F-4D97-AF65-F5344CB8AC3E}">
        <p14:creationId xmlns:p14="http://schemas.microsoft.com/office/powerpoint/2010/main" val="9908567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5: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5:notes"/>
          <p:cNvSpPr txBox="1">
            <a:spLocks noGrp="1"/>
          </p:cNvSpPr>
          <p:nvPr>
            <p:ph type="body" idx="1"/>
          </p:nvPr>
        </p:nvSpPr>
        <p:spPr>
          <a:xfrm>
            <a:off x="731521" y="5863591"/>
            <a:ext cx="5852160" cy="5554980"/>
          </a:xfrm>
          <a:prstGeom prst="rect">
            <a:avLst/>
          </a:prstGeom>
          <a:noFill/>
          <a:ln>
            <a:noFill/>
          </a:ln>
        </p:spPr>
        <p:txBody>
          <a:bodyPr spcFirstLastPara="1" wrap="square" lIns="107539" tIns="53769" rIns="107539" bIns="53769" anchor="t" anchorCtr="0">
            <a:noAutofit/>
          </a:bodyPr>
          <a:lstStyle/>
          <a:p>
            <a:pPr marL="0" indent="0"/>
            <a:endParaRPr/>
          </a:p>
        </p:txBody>
      </p:sp>
      <p:sp>
        <p:nvSpPr>
          <p:cNvPr id="190" name="Google Shape;190;p5:notes"/>
          <p:cNvSpPr txBox="1">
            <a:spLocks noGrp="1"/>
          </p:cNvSpPr>
          <p:nvPr>
            <p:ph type="sldNum" idx="12"/>
          </p:nvPr>
        </p:nvSpPr>
        <p:spPr>
          <a:xfrm>
            <a:off x="4143589" y="11725039"/>
            <a:ext cx="3169919" cy="617220"/>
          </a:xfrm>
          <a:prstGeom prst="rect">
            <a:avLst/>
          </a:prstGeom>
          <a:noFill/>
          <a:ln>
            <a:noFill/>
          </a:ln>
        </p:spPr>
        <p:txBody>
          <a:bodyPr spcFirstLastPara="1" wrap="square" lIns="107539" tIns="53769" rIns="107539" bIns="53769" anchor="b" anchorCtr="0">
            <a:noAutofit/>
          </a:bodyPr>
          <a:lstStyle/>
          <a:p>
            <a:pPr algn="r"/>
            <a:fld id="{00000000-1234-1234-1234-123412341234}" type="slidenum">
              <a:rPr lang="en-US"/>
              <a:pPr algn="r"/>
              <a:t>40</a:t>
            </a:fld>
            <a:endParaRPr/>
          </a:p>
        </p:txBody>
      </p:sp>
    </p:spTree>
    <p:extLst>
      <p:ext uri="{BB962C8B-B14F-4D97-AF65-F5344CB8AC3E}">
        <p14:creationId xmlns:p14="http://schemas.microsoft.com/office/powerpoint/2010/main" val="15350932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p31: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2" name="Google Shape;932;p31: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933" name="Google Shape;933;p31: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23993734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p32:notes"/>
          <p:cNvSpPr txBox="1">
            <a:spLocks noGrp="1"/>
          </p:cNvSpPr>
          <p:nvPr>
            <p:ph type="body" idx="1"/>
          </p:nvPr>
        </p:nvSpPr>
        <p:spPr>
          <a:xfrm>
            <a:off x="731520" y="5863591"/>
            <a:ext cx="5852100" cy="555510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Clr>
                <a:schemeClr val="dk1"/>
              </a:buClr>
              <a:buSzPts val="1200"/>
              <a:buFont typeface="Montserrat Light"/>
              <a:buNone/>
            </a:pPr>
            <a:endParaRPr/>
          </a:p>
        </p:txBody>
      </p:sp>
      <p:sp>
        <p:nvSpPr>
          <p:cNvPr id="947" name="Google Shape;947;p32: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544858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p33: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Clr>
                <a:schemeClr val="dk1"/>
              </a:buClr>
              <a:buSzPts val="1200"/>
              <a:buFont typeface="Montserrat Light"/>
              <a:buNone/>
            </a:pPr>
            <a:endParaRPr/>
          </a:p>
        </p:txBody>
      </p:sp>
      <p:sp>
        <p:nvSpPr>
          <p:cNvPr id="955" name="Google Shape;955;p33: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748907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p34:notes"/>
          <p:cNvSpPr txBox="1">
            <a:spLocks noGrp="1"/>
          </p:cNvSpPr>
          <p:nvPr>
            <p:ph type="body" idx="1"/>
          </p:nvPr>
        </p:nvSpPr>
        <p:spPr>
          <a:xfrm>
            <a:off x="731520" y="5863591"/>
            <a:ext cx="5852100" cy="555510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Clr>
                <a:schemeClr val="dk1"/>
              </a:buClr>
              <a:buSzPts val="1200"/>
              <a:buFont typeface="Montserrat Light"/>
              <a:buNone/>
            </a:pPr>
            <a:endParaRPr/>
          </a:p>
        </p:txBody>
      </p:sp>
      <p:sp>
        <p:nvSpPr>
          <p:cNvPr id="963" name="Google Shape;963;p34: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263301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a:extLst>
            <a:ext uri="{FF2B5EF4-FFF2-40B4-BE49-F238E27FC236}">
              <a16:creationId xmlns:a16="http://schemas.microsoft.com/office/drawing/2014/main" xmlns="" id="{A40F772C-FEEA-C93E-2EEA-CE8E812D2576}"/>
            </a:ext>
          </a:extLst>
        </p:cNvPr>
        <p:cNvGrpSpPr/>
        <p:nvPr/>
      </p:nvGrpSpPr>
      <p:grpSpPr>
        <a:xfrm>
          <a:off x="0" y="0"/>
          <a:ext cx="0" cy="0"/>
          <a:chOff x="0" y="0"/>
          <a:chExt cx="0" cy="0"/>
        </a:xfrm>
      </p:grpSpPr>
      <p:sp>
        <p:nvSpPr>
          <p:cNvPr id="962" name="Google Shape;962;p34:notes">
            <a:extLst>
              <a:ext uri="{FF2B5EF4-FFF2-40B4-BE49-F238E27FC236}">
                <a16:creationId xmlns:a16="http://schemas.microsoft.com/office/drawing/2014/main" xmlns="" id="{63929A03-D684-A38E-57CD-83B1291100CC}"/>
              </a:ext>
            </a:extLst>
          </p:cNvPr>
          <p:cNvSpPr txBox="1">
            <a:spLocks noGrp="1"/>
          </p:cNvSpPr>
          <p:nvPr>
            <p:ph type="body" idx="1"/>
          </p:nvPr>
        </p:nvSpPr>
        <p:spPr>
          <a:xfrm>
            <a:off x="731520" y="5863591"/>
            <a:ext cx="5852100" cy="555510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Clr>
                <a:schemeClr val="dk1"/>
              </a:buClr>
              <a:buSzPts val="1200"/>
              <a:buFont typeface="Montserrat Light"/>
              <a:buNone/>
            </a:pPr>
            <a:endParaRPr/>
          </a:p>
        </p:txBody>
      </p:sp>
      <p:sp>
        <p:nvSpPr>
          <p:cNvPr id="963" name="Google Shape;963;p34:notes">
            <a:extLst>
              <a:ext uri="{FF2B5EF4-FFF2-40B4-BE49-F238E27FC236}">
                <a16:creationId xmlns:a16="http://schemas.microsoft.com/office/drawing/2014/main" xmlns="" id="{04E17E83-08E9-D954-4A17-6AB60B3E45D5}"/>
              </a:ext>
            </a:extLst>
          </p:cNvPr>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26121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p35: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2" name="Google Shape;972;p35: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973" name="Google Shape;973;p35: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46</a:t>
            </a:fld>
            <a:endParaRPr/>
          </a:p>
        </p:txBody>
      </p:sp>
    </p:spTree>
    <p:extLst>
      <p:ext uri="{BB962C8B-B14F-4D97-AF65-F5344CB8AC3E}">
        <p14:creationId xmlns:p14="http://schemas.microsoft.com/office/powerpoint/2010/main" val="13952750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p36: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0" name="Google Shape;980;p36: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981" name="Google Shape;981;p36: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47</a:t>
            </a:fld>
            <a:endParaRPr/>
          </a:p>
        </p:txBody>
      </p:sp>
    </p:spTree>
    <p:extLst>
      <p:ext uri="{BB962C8B-B14F-4D97-AF65-F5344CB8AC3E}">
        <p14:creationId xmlns:p14="http://schemas.microsoft.com/office/powerpoint/2010/main" val="424532442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p37: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0" name="Google Shape;990;p37: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991" name="Google Shape;991;p37: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48</a:t>
            </a:fld>
            <a:endParaRPr/>
          </a:p>
        </p:txBody>
      </p:sp>
    </p:spTree>
    <p:extLst>
      <p:ext uri="{BB962C8B-B14F-4D97-AF65-F5344CB8AC3E}">
        <p14:creationId xmlns:p14="http://schemas.microsoft.com/office/powerpoint/2010/main" val="37568586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p38: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p38: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1001" name="Google Shape;1001;p38: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49</a:t>
            </a:fld>
            <a:endParaRPr/>
          </a:p>
        </p:txBody>
      </p:sp>
    </p:spTree>
    <p:extLst>
      <p:ext uri="{BB962C8B-B14F-4D97-AF65-F5344CB8AC3E}">
        <p14:creationId xmlns:p14="http://schemas.microsoft.com/office/powerpoint/2010/main" val="27706024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p39: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p39: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1013" name="Google Shape;1013;p39: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50</a:t>
            </a:fld>
            <a:endParaRPr/>
          </a:p>
        </p:txBody>
      </p:sp>
    </p:spTree>
    <p:extLst>
      <p:ext uri="{BB962C8B-B14F-4D97-AF65-F5344CB8AC3E}">
        <p14:creationId xmlns:p14="http://schemas.microsoft.com/office/powerpoint/2010/main" val="255949258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p40: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2" name="Google Shape;1022;p40: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1023" name="Google Shape;1023;p40: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51</a:t>
            </a:fld>
            <a:endParaRPr/>
          </a:p>
        </p:txBody>
      </p:sp>
    </p:spTree>
    <p:extLst>
      <p:ext uri="{BB962C8B-B14F-4D97-AF65-F5344CB8AC3E}">
        <p14:creationId xmlns:p14="http://schemas.microsoft.com/office/powerpoint/2010/main" val="34749164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p41: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1" name="Google Shape;1031;p41: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1032" name="Google Shape;1032;p41: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52</a:t>
            </a:fld>
            <a:endParaRPr/>
          </a:p>
        </p:txBody>
      </p:sp>
    </p:spTree>
    <p:extLst>
      <p:ext uri="{BB962C8B-B14F-4D97-AF65-F5344CB8AC3E}">
        <p14:creationId xmlns:p14="http://schemas.microsoft.com/office/powerpoint/2010/main" val="51678060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p42: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5" name="Google Shape;1045;p42: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1046" name="Google Shape;1046;p42: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53</a:t>
            </a:fld>
            <a:endParaRPr/>
          </a:p>
        </p:txBody>
      </p:sp>
    </p:spTree>
    <p:extLst>
      <p:ext uri="{BB962C8B-B14F-4D97-AF65-F5344CB8AC3E}">
        <p14:creationId xmlns:p14="http://schemas.microsoft.com/office/powerpoint/2010/main" val="30682817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
        <p:cNvGrpSpPr/>
        <p:nvPr/>
      </p:nvGrpSpPr>
      <p:grpSpPr>
        <a:xfrm>
          <a:off x="0" y="0"/>
          <a:ext cx="0" cy="0"/>
          <a:chOff x="0" y="0"/>
          <a:chExt cx="0" cy="0"/>
        </a:xfrm>
      </p:grpSpPr>
      <p:sp>
        <p:nvSpPr>
          <p:cNvPr id="1100" name="Google Shape;1100;p43:notes"/>
          <p:cNvSpPr txBox="1">
            <a:spLocks noGrp="1"/>
          </p:cNvSpPr>
          <p:nvPr>
            <p:ph type="body" idx="1"/>
          </p:nvPr>
        </p:nvSpPr>
        <p:spPr>
          <a:xfrm>
            <a:off x="731520" y="5863591"/>
            <a:ext cx="5852100" cy="5555100"/>
          </a:xfrm>
          <a:prstGeom prst="rect">
            <a:avLst/>
          </a:prstGeom>
          <a:noFill/>
          <a:ln>
            <a:noFill/>
          </a:ln>
        </p:spPr>
        <p:txBody>
          <a:bodyPr spcFirstLastPara="1" wrap="square" lIns="107550" tIns="53775" rIns="107550" bIns="53775" anchor="t" anchorCtr="0">
            <a:noAutofit/>
          </a:bodyPr>
          <a:lstStyle/>
          <a:p>
            <a:pPr marL="0" lvl="0" indent="0" algn="l" rtl="0">
              <a:lnSpc>
                <a:spcPct val="100000"/>
              </a:lnSpc>
              <a:spcBef>
                <a:spcPts val="0"/>
              </a:spcBef>
              <a:spcAft>
                <a:spcPts val="0"/>
              </a:spcAft>
              <a:buClr>
                <a:schemeClr val="dk1"/>
              </a:buClr>
              <a:buSzPts val="1400"/>
              <a:buFont typeface="Montserrat Light"/>
              <a:buNone/>
            </a:pPr>
            <a:endParaRPr/>
          </a:p>
        </p:txBody>
      </p:sp>
      <p:sp>
        <p:nvSpPr>
          <p:cNvPr id="1101" name="Google Shape;1101;p43: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9525441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p44:notes"/>
          <p:cNvSpPr txBox="1">
            <a:spLocks noGrp="1"/>
          </p:cNvSpPr>
          <p:nvPr>
            <p:ph type="body" idx="1"/>
          </p:nvPr>
        </p:nvSpPr>
        <p:spPr>
          <a:xfrm>
            <a:off x="731520" y="5863591"/>
            <a:ext cx="5852100" cy="5555100"/>
          </a:xfrm>
          <a:prstGeom prst="rect">
            <a:avLst/>
          </a:prstGeom>
          <a:noFill/>
          <a:ln>
            <a:noFill/>
          </a:ln>
        </p:spPr>
        <p:txBody>
          <a:bodyPr spcFirstLastPara="1" wrap="square" lIns="107550" tIns="53775" rIns="107550" bIns="53775" anchor="t" anchorCtr="0">
            <a:noAutofit/>
          </a:bodyPr>
          <a:lstStyle/>
          <a:p>
            <a:pPr marL="0" lvl="0" indent="0" algn="l" rtl="0">
              <a:lnSpc>
                <a:spcPct val="100000"/>
              </a:lnSpc>
              <a:spcBef>
                <a:spcPts val="0"/>
              </a:spcBef>
              <a:spcAft>
                <a:spcPts val="0"/>
              </a:spcAft>
              <a:buClr>
                <a:schemeClr val="dk1"/>
              </a:buClr>
              <a:buSzPts val="1400"/>
              <a:buFont typeface="Montserrat Light"/>
              <a:buNone/>
            </a:pPr>
            <a:endParaRPr/>
          </a:p>
        </p:txBody>
      </p:sp>
      <p:sp>
        <p:nvSpPr>
          <p:cNvPr id="1109" name="Google Shape;1109;p44: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4070082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p45: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2" name="Google Shape;1122;p45:notes"/>
          <p:cNvSpPr txBox="1">
            <a:spLocks noGrp="1"/>
          </p:cNvSpPr>
          <p:nvPr>
            <p:ph type="body" idx="1"/>
          </p:nvPr>
        </p:nvSpPr>
        <p:spPr>
          <a:xfrm>
            <a:off x="731520" y="5863591"/>
            <a:ext cx="5852100" cy="555510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Clr>
                <a:schemeClr val="dk1"/>
              </a:buClr>
              <a:buSzPts val="1200"/>
              <a:buFont typeface="Montserrat Light"/>
              <a:buNone/>
            </a:pPr>
            <a:endParaRPr/>
          </a:p>
        </p:txBody>
      </p:sp>
      <p:sp>
        <p:nvSpPr>
          <p:cNvPr id="1123" name="Google Shape;1123;p45:notes"/>
          <p:cNvSpPr txBox="1">
            <a:spLocks noGrp="1"/>
          </p:cNvSpPr>
          <p:nvPr>
            <p:ph type="sldNum" idx="12"/>
          </p:nvPr>
        </p:nvSpPr>
        <p:spPr>
          <a:xfrm>
            <a:off x="4143589" y="11725039"/>
            <a:ext cx="3169800" cy="61710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Clr>
                <a:srgbClr val="000000"/>
              </a:buClr>
              <a:buSzPts val="1400"/>
              <a:buFont typeface="Montserrat Light"/>
              <a:buNone/>
            </a:pPr>
            <a:fld id="{00000000-1234-1234-1234-123412341234}" type="slidenum">
              <a:rPr lang="en-US"/>
              <a:t>56</a:t>
            </a:fld>
            <a:endParaRPr/>
          </a:p>
        </p:txBody>
      </p:sp>
    </p:spTree>
    <p:extLst>
      <p:ext uri="{BB962C8B-B14F-4D97-AF65-F5344CB8AC3E}">
        <p14:creationId xmlns:p14="http://schemas.microsoft.com/office/powerpoint/2010/main" val="380923112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a:extLst>
            <a:ext uri="{FF2B5EF4-FFF2-40B4-BE49-F238E27FC236}">
              <a16:creationId xmlns:a16="http://schemas.microsoft.com/office/drawing/2014/main" xmlns="" id="{5C6B1C8A-89A9-996D-5F58-EE964A7197E1}"/>
            </a:ext>
          </a:extLst>
        </p:cNvPr>
        <p:cNvGrpSpPr/>
        <p:nvPr/>
      </p:nvGrpSpPr>
      <p:grpSpPr>
        <a:xfrm>
          <a:off x="0" y="0"/>
          <a:ext cx="0" cy="0"/>
          <a:chOff x="0" y="0"/>
          <a:chExt cx="0" cy="0"/>
        </a:xfrm>
      </p:grpSpPr>
      <p:sp>
        <p:nvSpPr>
          <p:cNvPr id="1121" name="Google Shape;1121;p45:notes">
            <a:extLst>
              <a:ext uri="{FF2B5EF4-FFF2-40B4-BE49-F238E27FC236}">
                <a16:creationId xmlns:a16="http://schemas.microsoft.com/office/drawing/2014/main" xmlns="" id="{5D0585B1-AB89-7989-4645-AC3B918319B8}"/>
              </a:ext>
            </a:extLst>
          </p:cNvPr>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2" name="Google Shape;1122;p45:notes">
            <a:extLst>
              <a:ext uri="{FF2B5EF4-FFF2-40B4-BE49-F238E27FC236}">
                <a16:creationId xmlns:a16="http://schemas.microsoft.com/office/drawing/2014/main" xmlns="" id="{4784921A-6AA7-2027-D028-DA04868D6B5A}"/>
              </a:ext>
            </a:extLst>
          </p:cNvPr>
          <p:cNvSpPr txBox="1">
            <a:spLocks noGrp="1"/>
          </p:cNvSpPr>
          <p:nvPr>
            <p:ph type="body" idx="1"/>
          </p:nvPr>
        </p:nvSpPr>
        <p:spPr>
          <a:xfrm>
            <a:off x="731520" y="5863591"/>
            <a:ext cx="5852100" cy="555510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Clr>
                <a:schemeClr val="dk1"/>
              </a:buClr>
              <a:buSzPts val="1200"/>
              <a:buFont typeface="Montserrat Light"/>
              <a:buNone/>
            </a:pPr>
            <a:endParaRPr/>
          </a:p>
        </p:txBody>
      </p:sp>
      <p:sp>
        <p:nvSpPr>
          <p:cNvPr id="1123" name="Google Shape;1123;p45:notes">
            <a:extLst>
              <a:ext uri="{FF2B5EF4-FFF2-40B4-BE49-F238E27FC236}">
                <a16:creationId xmlns:a16="http://schemas.microsoft.com/office/drawing/2014/main" xmlns="" id="{D0E77FF6-34D2-5ADF-45C4-CB2539DB5E85}"/>
              </a:ext>
            </a:extLst>
          </p:cNvPr>
          <p:cNvSpPr txBox="1">
            <a:spLocks noGrp="1"/>
          </p:cNvSpPr>
          <p:nvPr>
            <p:ph type="sldNum" idx="12"/>
          </p:nvPr>
        </p:nvSpPr>
        <p:spPr>
          <a:xfrm>
            <a:off x="4143589" y="11725039"/>
            <a:ext cx="3169800" cy="61710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Clr>
                <a:srgbClr val="000000"/>
              </a:buClr>
              <a:buSzPts val="1400"/>
              <a:buFont typeface="Montserrat Light"/>
              <a:buNone/>
            </a:pPr>
            <a:fld id="{00000000-1234-1234-1234-123412341234}" type="slidenum">
              <a:rPr lang="en-US"/>
              <a:t>57</a:t>
            </a:fld>
            <a:endParaRPr/>
          </a:p>
        </p:txBody>
      </p:sp>
    </p:spTree>
    <p:extLst>
      <p:ext uri="{BB962C8B-B14F-4D97-AF65-F5344CB8AC3E}">
        <p14:creationId xmlns:p14="http://schemas.microsoft.com/office/powerpoint/2010/main" val="178915622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a:extLst>
            <a:ext uri="{FF2B5EF4-FFF2-40B4-BE49-F238E27FC236}">
              <a16:creationId xmlns:a16="http://schemas.microsoft.com/office/drawing/2014/main" xmlns="" id="{5BCC011F-0A5D-1CC4-24FA-5F07C75B2123}"/>
            </a:ext>
          </a:extLst>
        </p:cNvPr>
        <p:cNvGrpSpPr/>
        <p:nvPr/>
      </p:nvGrpSpPr>
      <p:grpSpPr>
        <a:xfrm>
          <a:off x="0" y="0"/>
          <a:ext cx="0" cy="0"/>
          <a:chOff x="0" y="0"/>
          <a:chExt cx="0" cy="0"/>
        </a:xfrm>
      </p:grpSpPr>
      <p:sp>
        <p:nvSpPr>
          <p:cNvPr id="1121" name="Google Shape;1121;p45:notes">
            <a:extLst>
              <a:ext uri="{FF2B5EF4-FFF2-40B4-BE49-F238E27FC236}">
                <a16:creationId xmlns:a16="http://schemas.microsoft.com/office/drawing/2014/main" xmlns="" id="{86698528-E864-5B45-012E-9843D20F9C85}"/>
              </a:ext>
            </a:extLst>
          </p:cNvPr>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2" name="Google Shape;1122;p45:notes">
            <a:extLst>
              <a:ext uri="{FF2B5EF4-FFF2-40B4-BE49-F238E27FC236}">
                <a16:creationId xmlns:a16="http://schemas.microsoft.com/office/drawing/2014/main" xmlns="" id="{A0577D43-9D32-D557-E530-B69DD26731E0}"/>
              </a:ext>
            </a:extLst>
          </p:cNvPr>
          <p:cNvSpPr txBox="1">
            <a:spLocks noGrp="1"/>
          </p:cNvSpPr>
          <p:nvPr>
            <p:ph type="body" idx="1"/>
          </p:nvPr>
        </p:nvSpPr>
        <p:spPr>
          <a:xfrm>
            <a:off x="731520" y="5863591"/>
            <a:ext cx="5852100" cy="555510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Clr>
                <a:schemeClr val="dk1"/>
              </a:buClr>
              <a:buSzPts val="1200"/>
              <a:buFont typeface="Montserrat Light"/>
              <a:buNone/>
            </a:pPr>
            <a:endParaRPr/>
          </a:p>
        </p:txBody>
      </p:sp>
      <p:sp>
        <p:nvSpPr>
          <p:cNvPr id="1123" name="Google Shape;1123;p45:notes">
            <a:extLst>
              <a:ext uri="{FF2B5EF4-FFF2-40B4-BE49-F238E27FC236}">
                <a16:creationId xmlns:a16="http://schemas.microsoft.com/office/drawing/2014/main" xmlns="" id="{FA8DA691-2977-47CD-FAB5-C6CBF0ED1FD6}"/>
              </a:ext>
            </a:extLst>
          </p:cNvPr>
          <p:cNvSpPr txBox="1">
            <a:spLocks noGrp="1"/>
          </p:cNvSpPr>
          <p:nvPr>
            <p:ph type="sldNum" idx="12"/>
          </p:nvPr>
        </p:nvSpPr>
        <p:spPr>
          <a:xfrm>
            <a:off x="4143589" y="11725039"/>
            <a:ext cx="3169800" cy="61710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Clr>
                <a:srgbClr val="000000"/>
              </a:buClr>
              <a:buSzPts val="1400"/>
              <a:buFont typeface="Montserrat Light"/>
              <a:buNone/>
            </a:pPr>
            <a:fld id="{00000000-1234-1234-1234-123412341234}" type="slidenum">
              <a:rPr lang="en-US"/>
              <a:t>58</a:t>
            </a:fld>
            <a:endParaRPr/>
          </a:p>
        </p:txBody>
      </p:sp>
    </p:spTree>
    <p:extLst>
      <p:ext uri="{BB962C8B-B14F-4D97-AF65-F5344CB8AC3E}">
        <p14:creationId xmlns:p14="http://schemas.microsoft.com/office/powerpoint/2010/main" val="362407782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a:extLst>
            <a:ext uri="{FF2B5EF4-FFF2-40B4-BE49-F238E27FC236}">
              <a16:creationId xmlns:a16="http://schemas.microsoft.com/office/drawing/2014/main" xmlns="" id="{657BCAD8-EE5F-D518-E946-D51CAD7081F9}"/>
            </a:ext>
          </a:extLst>
        </p:cNvPr>
        <p:cNvGrpSpPr/>
        <p:nvPr/>
      </p:nvGrpSpPr>
      <p:grpSpPr>
        <a:xfrm>
          <a:off x="0" y="0"/>
          <a:ext cx="0" cy="0"/>
          <a:chOff x="0" y="0"/>
          <a:chExt cx="0" cy="0"/>
        </a:xfrm>
      </p:grpSpPr>
      <p:sp>
        <p:nvSpPr>
          <p:cNvPr id="1121" name="Google Shape;1121;p45:notes">
            <a:extLst>
              <a:ext uri="{FF2B5EF4-FFF2-40B4-BE49-F238E27FC236}">
                <a16:creationId xmlns:a16="http://schemas.microsoft.com/office/drawing/2014/main" xmlns="" id="{620D5E05-B4D8-F7AC-D512-B014C31AC47F}"/>
              </a:ext>
            </a:extLst>
          </p:cNvPr>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2" name="Google Shape;1122;p45:notes">
            <a:extLst>
              <a:ext uri="{FF2B5EF4-FFF2-40B4-BE49-F238E27FC236}">
                <a16:creationId xmlns:a16="http://schemas.microsoft.com/office/drawing/2014/main" xmlns="" id="{AEA54AD1-BE2C-21C9-8C68-DBC57BF9E523}"/>
              </a:ext>
            </a:extLst>
          </p:cNvPr>
          <p:cNvSpPr txBox="1">
            <a:spLocks noGrp="1"/>
          </p:cNvSpPr>
          <p:nvPr>
            <p:ph type="body" idx="1"/>
          </p:nvPr>
        </p:nvSpPr>
        <p:spPr>
          <a:xfrm>
            <a:off x="731520" y="5863591"/>
            <a:ext cx="5852100" cy="555510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Clr>
                <a:schemeClr val="dk1"/>
              </a:buClr>
              <a:buSzPts val="1200"/>
              <a:buFont typeface="Montserrat Light"/>
              <a:buNone/>
            </a:pPr>
            <a:endParaRPr/>
          </a:p>
        </p:txBody>
      </p:sp>
      <p:sp>
        <p:nvSpPr>
          <p:cNvPr id="1123" name="Google Shape;1123;p45:notes">
            <a:extLst>
              <a:ext uri="{FF2B5EF4-FFF2-40B4-BE49-F238E27FC236}">
                <a16:creationId xmlns:a16="http://schemas.microsoft.com/office/drawing/2014/main" xmlns="" id="{4AA5E34A-43B6-8C47-C229-F66466A20FC7}"/>
              </a:ext>
            </a:extLst>
          </p:cNvPr>
          <p:cNvSpPr txBox="1">
            <a:spLocks noGrp="1"/>
          </p:cNvSpPr>
          <p:nvPr>
            <p:ph type="sldNum" idx="12"/>
          </p:nvPr>
        </p:nvSpPr>
        <p:spPr>
          <a:xfrm>
            <a:off x="4143589" y="11725039"/>
            <a:ext cx="3169800" cy="61710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Clr>
                <a:srgbClr val="000000"/>
              </a:buClr>
              <a:buSzPts val="1400"/>
              <a:buFont typeface="Montserrat Light"/>
              <a:buNone/>
            </a:pPr>
            <a:fld id="{00000000-1234-1234-1234-123412341234}" type="slidenum">
              <a:rPr lang="en-US"/>
              <a:t>59</a:t>
            </a:fld>
            <a:endParaRPr/>
          </a:p>
        </p:txBody>
      </p:sp>
    </p:spTree>
    <p:extLst>
      <p:ext uri="{BB962C8B-B14F-4D97-AF65-F5344CB8AC3E}">
        <p14:creationId xmlns:p14="http://schemas.microsoft.com/office/powerpoint/2010/main" val="203142934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a:extLst>
            <a:ext uri="{FF2B5EF4-FFF2-40B4-BE49-F238E27FC236}">
              <a16:creationId xmlns:a16="http://schemas.microsoft.com/office/drawing/2014/main" xmlns="" id="{D4EF36BD-8B07-E779-BDB2-8D099B843B18}"/>
            </a:ext>
          </a:extLst>
        </p:cNvPr>
        <p:cNvGrpSpPr/>
        <p:nvPr/>
      </p:nvGrpSpPr>
      <p:grpSpPr>
        <a:xfrm>
          <a:off x="0" y="0"/>
          <a:ext cx="0" cy="0"/>
          <a:chOff x="0" y="0"/>
          <a:chExt cx="0" cy="0"/>
        </a:xfrm>
      </p:grpSpPr>
      <p:sp>
        <p:nvSpPr>
          <p:cNvPr id="1121" name="Google Shape;1121;p45:notes">
            <a:extLst>
              <a:ext uri="{FF2B5EF4-FFF2-40B4-BE49-F238E27FC236}">
                <a16:creationId xmlns:a16="http://schemas.microsoft.com/office/drawing/2014/main" xmlns="" id="{473F0175-A8DF-03E7-971D-EE30C00B126C}"/>
              </a:ext>
            </a:extLst>
          </p:cNvPr>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2" name="Google Shape;1122;p45:notes">
            <a:extLst>
              <a:ext uri="{FF2B5EF4-FFF2-40B4-BE49-F238E27FC236}">
                <a16:creationId xmlns:a16="http://schemas.microsoft.com/office/drawing/2014/main" xmlns="" id="{688F6B11-DA71-B95C-7661-061CA34E805F}"/>
              </a:ext>
            </a:extLst>
          </p:cNvPr>
          <p:cNvSpPr txBox="1">
            <a:spLocks noGrp="1"/>
          </p:cNvSpPr>
          <p:nvPr>
            <p:ph type="body" idx="1"/>
          </p:nvPr>
        </p:nvSpPr>
        <p:spPr>
          <a:xfrm>
            <a:off x="731520" y="5863591"/>
            <a:ext cx="5852100" cy="555510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Clr>
                <a:schemeClr val="dk1"/>
              </a:buClr>
              <a:buSzPts val="1200"/>
              <a:buFont typeface="Montserrat Light"/>
              <a:buNone/>
            </a:pPr>
            <a:endParaRPr/>
          </a:p>
        </p:txBody>
      </p:sp>
      <p:sp>
        <p:nvSpPr>
          <p:cNvPr id="1123" name="Google Shape;1123;p45:notes">
            <a:extLst>
              <a:ext uri="{FF2B5EF4-FFF2-40B4-BE49-F238E27FC236}">
                <a16:creationId xmlns:a16="http://schemas.microsoft.com/office/drawing/2014/main" xmlns="" id="{7801268C-BF7A-FD42-6025-D77114DE0213}"/>
              </a:ext>
            </a:extLst>
          </p:cNvPr>
          <p:cNvSpPr txBox="1">
            <a:spLocks noGrp="1"/>
          </p:cNvSpPr>
          <p:nvPr>
            <p:ph type="sldNum" idx="12"/>
          </p:nvPr>
        </p:nvSpPr>
        <p:spPr>
          <a:xfrm>
            <a:off x="4143589" y="11725039"/>
            <a:ext cx="3169800" cy="61710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Clr>
                <a:srgbClr val="000000"/>
              </a:buClr>
              <a:buSzPts val="1400"/>
              <a:buFont typeface="Montserrat Light"/>
              <a:buNone/>
            </a:pPr>
            <a:fld id="{00000000-1234-1234-1234-123412341234}" type="slidenum">
              <a:rPr lang="en-US"/>
              <a:t>60</a:t>
            </a:fld>
            <a:endParaRPr/>
          </a:p>
        </p:txBody>
      </p:sp>
    </p:spTree>
    <p:extLst>
      <p:ext uri="{BB962C8B-B14F-4D97-AF65-F5344CB8AC3E}">
        <p14:creationId xmlns:p14="http://schemas.microsoft.com/office/powerpoint/2010/main" val="152938190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8"/>
        <p:cNvGrpSpPr/>
        <p:nvPr/>
      </p:nvGrpSpPr>
      <p:grpSpPr>
        <a:xfrm>
          <a:off x="0" y="0"/>
          <a:ext cx="0" cy="0"/>
          <a:chOff x="0" y="0"/>
          <a:chExt cx="0" cy="0"/>
        </a:xfrm>
      </p:grpSpPr>
      <p:sp>
        <p:nvSpPr>
          <p:cNvPr id="1129" name="Google Shape;1129;p46: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0" name="Google Shape;1130;p46: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1131" name="Google Shape;1131;p46: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61</a:t>
            </a:fld>
            <a:endParaRPr/>
          </a:p>
        </p:txBody>
      </p:sp>
    </p:spTree>
    <p:extLst>
      <p:ext uri="{BB962C8B-B14F-4D97-AF65-F5344CB8AC3E}">
        <p14:creationId xmlns:p14="http://schemas.microsoft.com/office/powerpoint/2010/main" val="415272542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1"/>
        <p:cNvGrpSpPr/>
        <p:nvPr/>
      </p:nvGrpSpPr>
      <p:grpSpPr>
        <a:xfrm>
          <a:off x="0" y="0"/>
          <a:ext cx="0" cy="0"/>
          <a:chOff x="0" y="0"/>
          <a:chExt cx="0" cy="0"/>
        </a:xfrm>
      </p:grpSpPr>
      <p:sp>
        <p:nvSpPr>
          <p:cNvPr id="1142" name="Google Shape;1142;p47: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3" name="Google Shape;1143;p47: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1144" name="Google Shape;1144;p47: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62</a:t>
            </a:fld>
            <a:endParaRPr/>
          </a:p>
        </p:txBody>
      </p:sp>
    </p:spTree>
    <p:extLst>
      <p:ext uri="{BB962C8B-B14F-4D97-AF65-F5344CB8AC3E}">
        <p14:creationId xmlns:p14="http://schemas.microsoft.com/office/powerpoint/2010/main" val="59842707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0"/>
        <p:cNvGrpSpPr/>
        <p:nvPr/>
      </p:nvGrpSpPr>
      <p:grpSpPr>
        <a:xfrm>
          <a:off x="0" y="0"/>
          <a:ext cx="0" cy="0"/>
          <a:chOff x="0" y="0"/>
          <a:chExt cx="0" cy="0"/>
        </a:xfrm>
      </p:grpSpPr>
      <p:sp>
        <p:nvSpPr>
          <p:cNvPr id="1151" name="Google Shape;1151;p48:notes"/>
          <p:cNvSpPr>
            <a:spLocks noGrp="1" noRot="1" noChangeAspect="1"/>
          </p:cNvSpPr>
          <p:nvPr>
            <p:ph type="sldImg" idx="2"/>
          </p:nvPr>
        </p:nvSpPr>
        <p:spPr>
          <a:xfrm>
            <a:off x="-454025" y="925513"/>
            <a:ext cx="8223250" cy="4629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2" name="Google Shape;1152;p48:notes"/>
          <p:cNvSpPr txBox="1">
            <a:spLocks noGrp="1"/>
          </p:cNvSpPr>
          <p:nvPr>
            <p:ph type="body" idx="1"/>
          </p:nvPr>
        </p:nvSpPr>
        <p:spPr>
          <a:xfrm>
            <a:off x="731520" y="5863591"/>
            <a:ext cx="5852160" cy="5554980"/>
          </a:xfrm>
          <a:prstGeom prst="rect">
            <a:avLst/>
          </a:prstGeom>
          <a:noFill/>
          <a:ln>
            <a:noFill/>
          </a:ln>
        </p:spPr>
        <p:txBody>
          <a:bodyPr spcFirstLastPara="1" wrap="square" lIns="107550" tIns="53775" rIns="107550" bIns="53775" anchor="t" anchorCtr="0">
            <a:noAutofit/>
          </a:bodyPr>
          <a:lstStyle/>
          <a:p>
            <a:pPr marL="0" lvl="0" indent="0" algn="l" rtl="0">
              <a:spcBef>
                <a:spcPts val="0"/>
              </a:spcBef>
              <a:spcAft>
                <a:spcPts val="0"/>
              </a:spcAft>
              <a:buNone/>
            </a:pPr>
            <a:endParaRPr/>
          </a:p>
        </p:txBody>
      </p:sp>
      <p:sp>
        <p:nvSpPr>
          <p:cNvPr id="1153" name="Google Shape;1153;p48:notes"/>
          <p:cNvSpPr txBox="1">
            <a:spLocks noGrp="1"/>
          </p:cNvSpPr>
          <p:nvPr>
            <p:ph type="sldNum" idx="12"/>
          </p:nvPr>
        </p:nvSpPr>
        <p:spPr>
          <a:xfrm>
            <a:off x="4143589" y="11725039"/>
            <a:ext cx="3169919" cy="617220"/>
          </a:xfrm>
          <a:prstGeom prst="rect">
            <a:avLst/>
          </a:prstGeom>
          <a:noFill/>
          <a:ln>
            <a:noFill/>
          </a:ln>
        </p:spPr>
        <p:txBody>
          <a:bodyPr spcFirstLastPara="1" wrap="square" lIns="107550" tIns="53775" rIns="107550" bIns="53775" anchor="b" anchorCtr="0">
            <a:noAutofit/>
          </a:bodyPr>
          <a:lstStyle/>
          <a:p>
            <a:pPr marL="0" lvl="0" indent="0" algn="r" rtl="0">
              <a:spcBef>
                <a:spcPts val="0"/>
              </a:spcBef>
              <a:spcAft>
                <a:spcPts val="0"/>
              </a:spcAft>
              <a:buNone/>
            </a:pPr>
            <a:fld id="{00000000-1234-1234-1234-123412341234}" type="slidenum">
              <a:rPr lang="en-US"/>
              <a:t>63</a:t>
            </a:fld>
            <a:endParaRPr/>
          </a:p>
        </p:txBody>
      </p:sp>
    </p:spTree>
    <p:extLst>
      <p:ext uri="{BB962C8B-B14F-4D97-AF65-F5344CB8AC3E}">
        <p14:creationId xmlns:p14="http://schemas.microsoft.com/office/powerpoint/2010/main" val="28975979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Blue">
  <p:cSld name="Title Slide Blue">
    <p:bg>
      <p:bgPr>
        <a:blipFill>
          <a:blip r:embed="rId2">
            <a:alphaModFix/>
          </a:blip>
          <a:stretch>
            <a:fillRect/>
          </a:stretch>
        </a:blipFill>
        <a:effectLst/>
      </p:bgPr>
    </p:bg>
    <p:spTree>
      <p:nvGrpSpPr>
        <p:cNvPr id="1" name="Shape 48"/>
        <p:cNvGrpSpPr/>
        <p:nvPr/>
      </p:nvGrpSpPr>
      <p:grpSpPr>
        <a:xfrm>
          <a:off x="0" y="0"/>
          <a:ext cx="0" cy="0"/>
          <a:chOff x="0" y="0"/>
          <a:chExt cx="0" cy="0"/>
        </a:xfrm>
      </p:grpSpPr>
      <p:sp>
        <p:nvSpPr>
          <p:cNvPr id="49" name="Google Shape;49;p50"/>
          <p:cNvSpPr txBox="1"/>
          <p:nvPr/>
        </p:nvSpPr>
        <p:spPr>
          <a:xfrm>
            <a:off x="4999758" y="6073627"/>
            <a:ext cx="1615148" cy="261931"/>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Montserrat Light"/>
              <a:ea typeface="Montserrat Light"/>
              <a:cs typeface="Montserrat Light"/>
              <a:sym typeface="Montserrat Light"/>
            </a:endParaRPr>
          </a:p>
        </p:txBody>
      </p:sp>
      <p:sp>
        <p:nvSpPr>
          <p:cNvPr id="50" name="Google Shape;50;p50"/>
          <p:cNvSpPr txBox="1">
            <a:spLocks noGrp="1"/>
          </p:cNvSpPr>
          <p:nvPr>
            <p:ph type="body" idx="1"/>
          </p:nvPr>
        </p:nvSpPr>
        <p:spPr>
          <a:xfrm>
            <a:off x="1324304" y="2834820"/>
            <a:ext cx="8886496" cy="2217600"/>
          </a:xfrm>
          <a:prstGeom prst="rect">
            <a:avLst/>
          </a:prstGeom>
          <a:noFill/>
          <a:ln>
            <a:noFill/>
          </a:ln>
        </p:spPr>
        <p:txBody>
          <a:bodyPr spcFirstLastPara="1" wrap="square" lIns="0" tIns="0" rIns="0" bIns="0" anchor="t" anchorCtr="0">
            <a:noAutofit/>
          </a:bodyPr>
          <a:lstStyle>
            <a:lvl1pPr marL="457200" lvl="0" indent="-228600" algn="l">
              <a:lnSpc>
                <a:spcPct val="104000"/>
              </a:lnSpc>
              <a:spcBef>
                <a:spcPts val="0"/>
              </a:spcBef>
              <a:spcAft>
                <a:spcPts val="0"/>
              </a:spcAft>
              <a:buClr>
                <a:schemeClr val="lt1"/>
              </a:buClr>
              <a:buSzPts val="4400"/>
              <a:buNone/>
              <a:defRPr sz="4400" b="0" i="0">
                <a:solidFill>
                  <a:schemeClr val="lt1"/>
                </a:solidFill>
                <a:latin typeface="Montserrat Light"/>
                <a:ea typeface="Montserrat Light"/>
                <a:cs typeface="Montserrat Light"/>
                <a:sym typeface="Montserrat Light"/>
              </a:defRPr>
            </a:lvl1pPr>
            <a:lvl2pPr marL="914400" lvl="1" indent="-308610" algn="l">
              <a:lnSpc>
                <a:spcPct val="104000"/>
              </a:lnSpc>
              <a:spcBef>
                <a:spcPts val="300"/>
              </a:spcBef>
              <a:spcAft>
                <a:spcPts val="0"/>
              </a:spcAft>
              <a:buSzPts val="1260"/>
              <a:buChar char="◼"/>
              <a:defRPr/>
            </a:lvl2pPr>
            <a:lvl3pPr marL="1371600" lvl="2" indent="-308610" algn="l">
              <a:lnSpc>
                <a:spcPct val="104000"/>
              </a:lnSpc>
              <a:spcBef>
                <a:spcPts val="300"/>
              </a:spcBef>
              <a:spcAft>
                <a:spcPts val="0"/>
              </a:spcAft>
              <a:buSzPts val="1260"/>
              <a:buChar char="◼"/>
              <a:defRPr/>
            </a:lvl3pPr>
            <a:lvl4pPr marL="1828800" lvl="3" indent="-308610" algn="l">
              <a:lnSpc>
                <a:spcPct val="104000"/>
              </a:lnSpc>
              <a:spcBef>
                <a:spcPts val="300"/>
              </a:spcBef>
              <a:spcAft>
                <a:spcPts val="0"/>
              </a:spcAft>
              <a:buSzPts val="1260"/>
              <a:buChar char="◼"/>
              <a:defRPr/>
            </a:lvl4pPr>
            <a:lvl5pPr marL="2286000" lvl="4" indent="-308610" algn="l">
              <a:lnSpc>
                <a:spcPct val="104000"/>
              </a:lnSpc>
              <a:spcBef>
                <a:spcPts val="300"/>
              </a:spcBef>
              <a:spcAft>
                <a:spcPts val="0"/>
              </a:spcAft>
              <a:buSzPts val="1260"/>
              <a:buChar char="◼"/>
              <a:defRPr/>
            </a:lvl5pPr>
            <a:lvl6pPr marL="2743200" lvl="5" indent="-308610" algn="l">
              <a:lnSpc>
                <a:spcPct val="104000"/>
              </a:lnSpc>
              <a:spcBef>
                <a:spcPts val="300"/>
              </a:spcBef>
              <a:spcAft>
                <a:spcPts val="0"/>
              </a:spcAft>
              <a:buSzPts val="1260"/>
              <a:buChar char="◼"/>
              <a:defRPr/>
            </a:lvl6pPr>
            <a:lvl7pPr marL="3200400" lvl="6" indent="-308610" algn="l">
              <a:lnSpc>
                <a:spcPct val="104000"/>
              </a:lnSpc>
              <a:spcBef>
                <a:spcPts val="300"/>
              </a:spcBef>
              <a:spcAft>
                <a:spcPts val="0"/>
              </a:spcAft>
              <a:buSzPts val="1260"/>
              <a:buChar char="◼"/>
              <a:defRPr/>
            </a:lvl7pPr>
            <a:lvl8pPr marL="3657600" lvl="7" indent="-308609" algn="l">
              <a:lnSpc>
                <a:spcPct val="104000"/>
              </a:lnSpc>
              <a:spcBef>
                <a:spcPts val="300"/>
              </a:spcBef>
              <a:spcAft>
                <a:spcPts val="0"/>
              </a:spcAft>
              <a:buSzPts val="1260"/>
              <a:buChar char="◼"/>
              <a:defRPr/>
            </a:lvl8pPr>
            <a:lvl9pPr marL="4114800" lvl="8" indent="-308609" algn="l">
              <a:lnSpc>
                <a:spcPct val="104000"/>
              </a:lnSpc>
              <a:spcBef>
                <a:spcPts val="300"/>
              </a:spcBef>
              <a:spcAft>
                <a:spcPts val="0"/>
              </a:spcAft>
              <a:buSzPts val="1260"/>
              <a:buChar char="◼"/>
              <a:defRPr/>
            </a:lvl9pPr>
          </a:lstStyle>
          <a:p>
            <a:endParaRPr/>
          </a:p>
        </p:txBody>
      </p:sp>
      <p:sp>
        <p:nvSpPr>
          <p:cNvPr id="51" name="Google Shape;51;p50"/>
          <p:cNvSpPr txBox="1">
            <a:spLocks noGrp="1"/>
          </p:cNvSpPr>
          <p:nvPr>
            <p:ph type="body" idx="2"/>
          </p:nvPr>
        </p:nvSpPr>
        <p:spPr>
          <a:xfrm>
            <a:off x="1324304" y="5484422"/>
            <a:ext cx="8886496" cy="299441"/>
          </a:xfrm>
          <a:prstGeom prst="rect">
            <a:avLst/>
          </a:prstGeom>
          <a:noFill/>
          <a:ln>
            <a:noFill/>
          </a:ln>
        </p:spPr>
        <p:txBody>
          <a:bodyPr spcFirstLastPara="1" wrap="square" lIns="0" tIns="0" rIns="0" bIns="0" anchor="t" anchorCtr="0">
            <a:spAutoFit/>
          </a:bodyPr>
          <a:lstStyle>
            <a:lvl1pPr marL="457200" lvl="0" indent="-228600" algn="l">
              <a:lnSpc>
                <a:spcPct val="104000"/>
              </a:lnSpc>
              <a:spcBef>
                <a:spcPts val="0"/>
              </a:spcBef>
              <a:spcAft>
                <a:spcPts val="0"/>
              </a:spcAft>
              <a:buClr>
                <a:schemeClr val="lt1"/>
              </a:buClr>
              <a:buSzPts val="2000"/>
              <a:buNone/>
              <a:defRPr sz="2000" b="0" i="0">
                <a:solidFill>
                  <a:schemeClr val="lt1"/>
                </a:solidFill>
                <a:latin typeface="Montserrat Light"/>
                <a:ea typeface="Montserrat Light"/>
                <a:cs typeface="Montserrat Light"/>
                <a:sym typeface="Montserrat Light"/>
              </a:defRPr>
            </a:lvl1pPr>
            <a:lvl2pPr marL="914400" lvl="1" indent="-308610" algn="l">
              <a:lnSpc>
                <a:spcPct val="104000"/>
              </a:lnSpc>
              <a:spcBef>
                <a:spcPts val="300"/>
              </a:spcBef>
              <a:spcAft>
                <a:spcPts val="0"/>
              </a:spcAft>
              <a:buSzPts val="1260"/>
              <a:buChar char="◼"/>
              <a:defRPr/>
            </a:lvl2pPr>
            <a:lvl3pPr marL="1371600" lvl="2" indent="-308610" algn="l">
              <a:lnSpc>
                <a:spcPct val="104000"/>
              </a:lnSpc>
              <a:spcBef>
                <a:spcPts val="300"/>
              </a:spcBef>
              <a:spcAft>
                <a:spcPts val="0"/>
              </a:spcAft>
              <a:buSzPts val="1260"/>
              <a:buChar char="◼"/>
              <a:defRPr/>
            </a:lvl3pPr>
            <a:lvl4pPr marL="1828800" lvl="3" indent="-308610" algn="l">
              <a:lnSpc>
                <a:spcPct val="104000"/>
              </a:lnSpc>
              <a:spcBef>
                <a:spcPts val="300"/>
              </a:spcBef>
              <a:spcAft>
                <a:spcPts val="0"/>
              </a:spcAft>
              <a:buSzPts val="1260"/>
              <a:buChar char="◼"/>
              <a:defRPr/>
            </a:lvl4pPr>
            <a:lvl5pPr marL="2286000" lvl="4" indent="-281939" algn="l">
              <a:lnSpc>
                <a:spcPct val="104000"/>
              </a:lnSpc>
              <a:spcBef>
                <a:spcPts val="300"/>
              </a:spcBef>
              <a:spcAft>
                <a:spcPts val="0"/>
              </a:spcAft>
              <a:buSzPts val="840"/>
              <a:buChar char="◼"/>
              <a:defRPr/>
            </a:lvl5pPr>
            <a:lvl6pPr marL="2743200" lvl="5" indent="-308610" algn="l">
              <a:lnSpc>
                <a:spcPct val="104000"/>
              </a:lnSpc>
              <a:spcBef>
                <a:spcPts val="300"/>
              </a:spcBef>
              <a:spcAft>
                <a:spcPts val="0"/>
              </a:spcAft>
              <a:buSzPts val="1260"/>
              <a:buChar char="◼"/>
              <a:defRPr/>
            </a:lvl6pPr>
            <a:lvl7pPr marL="3200400" lvl="6" indent="-308610" algn="l">
              <a:lnSpc>
                <a:spcPct val="104000"/>
              </a:lnSpc>
              <a:spcBef>
                <a:spcPts val="300"/>
              </a:spcBef>
              <a:spcAft>
                <a:spcPts val="0"/>
              </a:spcAft>
              <a:buSzPts val="1260"/>
              <a:buChar char="◼"/>
              <a:defRPr/>
            </a:lvl7pPr>
            <a:lvl8pPr marL="3657600" lvl="7" indent="-308609" algn="l">
              <a:lnSpc>
                <a:spcPct val="104000"/>
              </a:lnSpc>
              <a:spcBef>
                <a:spcPts val="300"/>
              </a:spcBef>
              <a:spcAft>
                <a:spcPts val="0"/>
              </a:spcAft>
              <a:buSzPts val="1260"/>
              <a:buChar char="◼"/>
              <a:defRPr/>
            </a:lvl8pPr>
            <a:lvl9pPr marL="4114800" lvl="8" indent="-308609" algn="l">
              <a:lnSpc>
                <a:spcPct val="104000"/>
              </a:lnSpc>
              <a:spcBef>
                <a:spcPts val="300"/>
              </a:spcBef>
              <a:spcAft>
                <a:spcPts val="0"/>
              </a:spcAft>
              <a:buSzPts val="1260"/>
              <a:buChar char="◼"/>
              <a:defRPr/>
            </a:lvl9pPr>
          </a:lstStyle>
          <a:p>
            <a:endParaRPr/>
          </a:p>
        </p:txBody>
      </p:sp>
      <p:grpSp>
        <p:nvGrpSpPr>
          <p:cNvPr id="52" name="Google Shape;52;p50"/>
          <p:cNvGrpSpPr/>
          <p:nvPr/>
        </p:nvGrpSpPr>
        <p:grpSpPr>
          <a:xfrm>
            <a:off x="-348582" y="-308570"/>
            <a:ext cx="12206900" cy="7126900"/>
            <a:chOff x="-348582" y="-308570"/>
            <a:chExt cx="12206900" cy="7126900"/>
          </a:xfrm>
        </p:grpSpPr>
        <p:grpSp>
          <p:nvGrpSpPr>
            <p:cNvPr id="53" name="Google Shape;53;p50"/>
            <p:cNvGrpSpPr/>
            <p:nvPr/>
          </p:nvGrpSpPr>
          <p:grpSpPr>
            <a:xfrm>
              <a:off x="-348582" y="362069"/>
              <a:ext cx="180000" cy="5931473"/>
              <a:chOff x="-348582" y="362069"/>
              <a:chExt cx="180000" cy="5931473"/>
            </a:xfrm>
          </p:grpSpPr>
          <p:cxnSp>
            <p:nvCxnSpPr>
              <p:cNvPr id="54" name="Google Shape;54;p50"/>
              <p:cNvCxnSpPr/>
              <p:nvPr/>
            </p:nvCxnSpPr>
            <p:spPr>
              <a:xfrm>
                <a:off x="-348582" y="362069"/>
                <a:ext cx="180000" cy="0"/>
              </a:xfrm>
              <a:prstGeom prst="straightConnector1">
                <a:avLst/>
              </a:prstGeom>
              <a:noFill/>
              <a:ln w="9525" cap="flat" cmpd="sng">
                <a:solidFill>
                  <a:schemeClr val="dk1"/>
                </a:solidFill>
                <a:prstDash val="solid"/>
                <a:round/>
                <a:headEnd type="none" w="sm" len="sm"/>
                <a:tailEnd type="none" w="sm" len="sm"/>
              </a:ln>
            </p:spPr>
          </p:cxnSp>
          <p:cxnSp>
            <p:nvCxnSpPr>
              <p:cNvPr id="55" name="Google Shape;55;p50"/>
              <p:cNvCxnSpPr/>
              <p:nvPr/>
            </p:nvCxnSpPr>
            <p:spPr>
              <a:xfrm>
                <a:off x="-348582" y="511175"/>
                <a:ext cx="180000" cy="0"/>
              </a:xfrm>
              <a:prstGeom prst="straightConnector1">
                <a:avLst/>
              </a:prstGeom>
              <a:noFill/>
              <a:ln w="9525" cap="flat" cmpd="sng">
                <a:solidFill>
                  <a:schemeClr val="dk1"/>
                </a:solidFill>
                <a:prstDash val="solid"/>
                <a:round/>
                <a:headEnd type="none" w="sm" len="sm"/>
                <a:tailEnd type="none" w="sm" len="sm"/>
              </a:ln>
            </p:spPr>
          </p:cxnSp>
          <p:cxnSp>
            <p:nvCxnSpPr>
              <p:cNvPr id="56" name="Google Shape;56;p50"/>
              <p:cNvCxnSpPr/>
              <p:nvPr/>
            </p:nvCxnSpPr>
            <p:spPr>
              <a:xfrm>
                <a:off x="-348582" y="1175972"/>
                <a:ext cx="180000" cy="0"/>
              </a:xfrm>
              <a:prstGeom prst="straightConnector1">
                <a:avLst/>
              </a:prstGeom>
              <a:noFill/>
              <a:ln w="9525" cap="flat" cmpd="sng">
                <a:solidFill>
                  <a:schemeClr val="dk1"/>
                </a:solidFill>
                <a:prstDash val="solid"/>
                <a:round/>
                <a:headEnd type="none" w="sm" len="sm"/>
                <a:tailEnd type="none" w="sm" len="sm"/>
              </a:ln>
            </p:spPr>
          </p:cxnSp>
          <p:cxnSp>
            <p:nvCxnSpPr>
              <p:cNvPr id="57" name="Google Shape;57;p50"/>
              <p:cNvCxnSpPr/>
              <p:nvPr/>
            </p:nvCxnSpPr>
            <p:spPr>
              <a:xfrm>
                <a:off x="-348582" y="1609200"/>
                <a:ext cx="180000" cy="0"/>
              </a:xfrm>
              <a:prstGeom prst="straightConnector1">
                <a:avLst/>
              </a:prstGeom>
              <a:noFill/>
              <a:ln w="9525" cap="flat" cmpd="sng">
                <a:solidFill>
                  <a:schemeClr val="dk1"/>
                </a:solidFill>
                <a:prstDash val="solid"/>
                <a:round/>
                <a:headEnd type="none" w="sm" len="sm"/>
                <a:tailEnd type="none" w="sm" len="sm"/>
              </a:ln>
            </p:spPr>
          </p:cxnSp>
          <p:cxnSp>
            <p:nvCxnSpPr>
              <p:cNvPr id="58" name="Google Shape;58;p50"/>
              <p:cNvCxnSpPr/>
              <p:nvPr/>
            </p:nvCxnSpPr>
            <p:spPr>
              <a:xfrm>
                <a:off x="-348582" y="5835651"/>
                <a:ext cx="180000" cy="0"/>
              </a:xfrm>
              <a:prstGeom prst="straightConnector1">
                <a:avLst/>
              </a:prstGeom>
              <a:noFill/>
              <a:ln w="9525" cap="flat" cmpd="sng">
                <a:solidFill>
                  <a:schemeClr val="dk1"/>
                </a:solidFill>
                <a:prstDash val="solid"/>
                <a:round/>
                <a:headEnd type="none" w="sm" len="sm"/>
                <a:tailEnd type="none" w="sm" len="sm"/>
              </a:ln>
            </p:spPr>
          </p:cxnSp>
          <p:cxnSp>
            <p:nvCxnSpPr>
              <p:cNvPr id="59" name="Google Shape;59;p50"/>
              <p:cNvCxnSpPr/>
              <p:nvPr/>
            </p:nvCxnSpPr>
            <p:spPr>
              <a:xfrm>
                <a:off x="-348582" y="6050859"/>
                <a:ext cx="180000" cy="0"/>
              </a:xfrm>
              <a:prstGeom prst="straightConnector1">
                <a:avLst/>
              </a:prstGeom>
              <a:noFill/>
              <a:ln w="9525" cap="flat" cmpd="sng">
                <a:solidFill>
                  <a:schemeClr val="dk1"/>
                </a:solidFill>
                <a:prstDash val="solid"/>
                <a:round/>
                <a:headEnd type="none" w="sm" len="sm"/>
                <a:tailEnd type="none" w="sm" len="sm"/>
              </a:ln>
            </p:spPr>
          </p:cxnSp>
          <p:cxnSp>
            <p:nvCxnSpPr>
              <p:cNvPr id="60" name="Google Shape;60;p50"/>
              <p:cNvCxnSpPr/>
              <p:nvPr/>
            </p:nvCxnSpPr>
            <p:spPr>
              <a:xfrm>
                <a:off x="-348582" y="6293542"/>
                <a:ext cx="180000" cy="0"/>
              </a:xfrm>
              <a:prstGeom prst="straightConnector1">
                <a:avLst/>
              </a:prstGeom>
              <a:noFill/>
              <a:ln w="9525" cap="flat" cmpd="sng">
                <a:solidFill>
                  <a:schemeClr val="dk1"/>
                </a:solidFill>
                <a:prstDash val="solid"/>
                <a:round/>
                <a:headEnd type="none" w="sm" len="sm"/>
                <a:tailEnd type="none" w="sm" len="sm"/>
              </a:ln>
            </p:spPr>
          </p:cxnSp>
        </p:grpSp>
        <p:grpSp>
          <p:nvGrpSpPr>
            <p:cNvPr id="61" name="Google Shape;61;p50"/>
            <p:cNvGrpSpPr/>
            <p:nvPr/>
          </p:nvGrpSpPr>
          <p:grpSpPr>
            <a:xfrm>
              <a:off x="11678318" y="362069"/>
              <a:ext cx="180000" cy="5931473"/>
              <a:chOff x="11678318" y="362069"/>
              <a:chExt cx="180000" cy="5931473"/>
            </a:xfrm>
          </p:grpSpPr>
          <p:cxnSp>
            <p:nvCxnSpPr>
              <p:cNvPr id="62" name="Google Shape;62;p50"/>
              <p:cNvCxnSpPr/>
              <p:nvPr/>
            </p:nvCxnSpPr>
            <p:spPr>
              <a:xfrm>
                <a:off x="11678318" y="362069"/>
                <a:ext cx="180000" cy="0"/>
              </a:xfrm>
              <a:prstGeom prst="straightConnector1">
                <a:avLst/>
              </a:prstGeom>
              <a:noFill/>
              <a:ln w="9525" cap="flat" cmpd="sng">
                <a:solidFill>
                  <a:schemeClr val="dk1"/>
                </a:solidFill>
                <a:prstDash val="solid"/>
                <a:round/>
                <a:headEnd type="none" w="sm" len="sm"/>
                <a:tailEnd type="none" w="sm" len="sm"/>
              </a:ln>
            </p:spPr>
          </p:cxnSp>
          <p:cxnSp>
            <p:nvCxnSpPr>
              <p:cNvPr id="63" name="Google Shape;63;p50"/>
              <p:cNvCxnSpPr/>
              <p:nvPr/>
            </p:nvCxnSpPr>
            <p:spPr>
              <a:xfrm>
                <a:off x="11678318" y="511175"/>
                <a:ext cx="180000" cy="0"/>
              </a:xfrm>
              <a:prstGeom prst="straightConnector1">
                <a:avLst/>
              </a:prstGeom>
              <a:noFill/>
              <a:ln w="9525" cap="flat" cmpd="sng">
                <a:solidFill>
                  <a:schemeClr val="dk1"/>
                </a:solidFill>
                <a:prstDash val="solid"/>
                <a:round/>
                <a:headEnd type="none" w="sm" len="sm"/>
                <a:tailEnd type="none" w="sm" len="sm"/>
              </a:ln>
            </p:spPr>
          </p:cxnSp>
          <p:cxnSp>
            <p:nvCxnSpPr>
              <p:cNvPr id="64" name="Google Shape;64;p50"/>
              <p:cNvCxnSpPr/>
              <p:nvPr/>
            </p:nvCxnSpPr>
            <p:spPr>
              <a:xfrm>
                <a:off x="11678318" y="1175972"/>
                <a:ext cx="180000" cy="0"/>
              </a:xfrm>
              <a:prstGeom prst="straightConnector1">
                <a:avLst/>
              </a:prstGeom>
              <a:noFill/>
              <a:ln w="9525" cap="flat" cmpd="sng">
                <a:solidFill>
                  <a:schemeClr val="dk1"/>
                </a:solidFill>
                <a:prstDash val="solid"/>
                <a:round/>
                <a:headEnd type="none" w="sm" len="sm"/>
                <a:tailEnd type="none" w="sm" len="sm"/>
              </a:ln>
            </p:spPr>
          </p:cxnSp>
          <p:cxnSp>
            <p:nvCxnSpPr>
              <p:cNvPr id="65" name="Google Shape;65;p50"/>
              <p:cNvCxnSpPr/>
              <p:nvPr/>
            </p:nvCxnSpPr>
            <p:spPr>
              <a:xfrm>
                <a:off x="11678318" y="1609200"/>
                <a:ext cx="180000" cy="0"/>
              </a:xfrm>
              <a:prstGeom prst="straightConnector1">
                <a:avLst/>
              </a:prstGeom>
              <a:noFill/>
              <a:ln w="9525" cap="flat" cmpd="sng">
                <a:solidFill>
                  <a:schemeClr val="dk1"/>
                </a:solidFill>
                <a:prstDash val="solid"/>
                <a:round/>
                <a:headEnd type="none" w="sm" len="sm"/>
                <a:tailEnd type="none" w="sm" len="sm"/>
              </a:ln>
            </p:spPr>
          </p:cxnSp>
          <p:cxnSp>
            <p:nvCxnSpPr>
              <p:cNvPr id="66" name="Google Shape;66;p50"/>
              <p:cNvCxnSpPr/>
              <p:nvPr/>
            </p:nvCxnSpPr>
            <p:spPr>
              <a:xfrm>
                <a:off x="11678318" y="5835651"/>
                <a:ext cx="180000" cy="0"/>
              </a:xfrm>
              <a:prstGeom prst="straightConnector1">
                <a:avLst/>
              </a:prstGeom>
              <a:noFill/>
              <a:ln w="9525" cap="flat" cmpd="sng">
                <a:solidFill>
                  <a:schemeClr val="dk1"/>
                </a:solidFill>
                <a:prstDash val="solid"/>
                <a:round/>
                <a:headEnd type="none" w="sm" len="sm"/>
                <a:tailEnd type="none" w="sm" len="sm"/>
              </a:ln>
            </p:spPr>
          </p:cxnSp>
          <p:cxnSp>
            <p:nvCxnSpPr>
              <p:cNvPr id="67" name="Google Shape;67;p50"/>
              <p:cNvCxnSpPr/>
              <p:nvPr/>
            </p:nvCxnSpPr>
            <p:spPr>
              <a:xfrm>
                <a:off x="11678318" y="6050859"/>
                <a:ext cx="180000" cy="0"/>
              </a:xfrm>
              <a:prstGeom prst="straightConnector1">
                <a:avLst/>
              </a:prstGeom>
              <a:noFill/>
              <a:ln w="9525" cap="flat" cmpd="sng">
                <a:solidFill>
                  <a:schemeClr val="dk1"/>
                </a:solidFill>
                <a:prstDash val="solid"/>
                <a:round/>
                <a:headEnd type="none" w="sm" len="sm"/>
                <a:tailEnd type="none" w="sm" len="sm"/>
              </a:ln>
            </p:spPr>
          </p:cxnSp>
          <p:cxnSp>
            <p:nvCxnSpPr>
              <p:cNvPr id="68" name="Google Shape;68;p50"/>
              <p:cNvCxnSpPr/>
              <p:nvPr/>
            </p:nvCxnSpPr>
            <p:spPr>
              <a:xfrm>
                <a:off x="11678318" y="6293542"/>
                <a:ext cx="180000" cy="0"/>
              </a:xfrm>
              <a:prstGeom prst="straightConnector1">
                <a:avLst/>
              </a:prstGeom>
              <a:noFill/>
              <a:ln w="9525" cap="flat" cmpd="sng">
                <a:solidFill>
                  <a:schemeClr val="dk1"/>
                </a:solidFill>
                <a:prstDash val="solid"/>
                <a:round/>
                <a:headEnd type="none" w="sm" len="sm"/>
                <a:tailEnd type="none" w="sm" len="sm"/>
              </a:ln>
            </p:spPr>
          </p:cxnSp>
        </p:grpSp>
        <p:grpSp>
          <p:nvGrpSpPr>
            <p:cNvPr id="69" name="Google Shape;69;p50"/>
            <p:cNvGrpSpPr/>
            <p:nvPr/>
          </p:nvGrpSpPr>
          <p:grpSpPr>
            <a:xfrm>
              <a:off x="288925" y="6638330"/>
              <a:ext cx="10944224" cy="180000"/>
              <a:chOff x="288925" y="6638330"/>
              <a:chExt cx="10944224" cy="180000"/>
            </a:xfrm>
          </p:grpSpPr>
          <p:cxnSp>
            <p:nvCxnSpPr>
              <p:cNvPr id="70" name="Google Shape;70;p50"/>
              <p:cNvCxnSpPr/>
              <p:nvPr/>
            </p:nvCxnSpPr>
            <p:spPr>
              <a:xfrm>
                <a:off x="288925" y="6638330"/>
                <a:ext cx="0" cy="180000"/>
              </a:xfrm>
              <a:prstGeom prst="straightConnector1">
                <a:avLst/>
              </a:prstGeom>
              <a:noFill/>
              <a:ln w="9525" cap="flat" cmpd="sng">
                <a:solidFill>
                  <a:schemeClr val="dk1"/>
                </a:solidFill>
                <a:prstDash val="solid"/>
                <a:round/>
                <a:headEnd type="none" w="sm" len="sm"/>
                <a:tailEnd type="none" w="sm" len="sm"/>
              </a:ln>
            </p:spPr>
          </p:cxnSp>
          <p:cxnSp>
            <p:nvCxnSpPr>
              <p:cNvPr id="71" name="Google Shape;71;p50"/>
              <p:cNvCxnSpPr/>
              <p:nvPr/>
            </p:nvCxnSpPr>
            <p:spPr>
              <a:xfrm>
                <a:off x="2911475" y="6638330"/>
                <a:ext cx="0" cy="180000"/>
              </a:xfrm>
              <a:prstGeom prst="straightConnector1">
                <a:avLst/>
              </a:prstGeom>
              <a:noFill/>
              <a:ln w="9525" cap="flat" cmpd="sng">
                <a:solidFill>
                  <a:schemeClr val="dk1"/>
                </a:solidFill>
                <a:prstDash val="solid"/>
                <a:round/>
                <a:headEnd type="none" w="sm" len="sm"/>
                <a:tailEnd type="none" w="sm" len="sm"/>
              </a:ln>
            </p:spPr>
          </p:cxnSp>
          <p:cxnSp>
            <p:nvCxnSpPr>
              <p:cNvPr id="72" name="Google Shape;72;p50"/>
              <p:cNvCxnSpPr/>
              <p:nvPr/>
            </p:nvCxnSpPr>
            <p:spPr>
              <a:xfrm>
                <a:off x="3061019" y="6638330"/>
                <a:ext cx="0" cy="180000"/>
              </a:xfrm>
              <a:prstGeom prst="straightConnector1">
                <a:avLst/>
              </a:prstGeom>
              <a:noFill/>
              <a:ln w="9525" cap="flat" cmpd="sng">
                <a:solidFill>
                  <a:schemeClr val="dk1"/>
                </a:solidFill>
                <a:prstDash val="solid"/>
                <a:round/>
                <a:headEnd type="none" w="sm" len="sm"/>
                <a:tailEnd type="none" w="sm" len="sm"/>
              </a:ln>
            </p:spPr>
          </p:cxnSp>
          <p:cxnSp>
            <p:nvCxnSpPr>
              <p:cNvPr id="73" name="Google Shape;73;p50"/>
              <p:cNvCxnSpPr/>
              <p:nvPr/>
            </p:nvCxnSpPr>
            <p:spPr>
              <a:xfrm>
                <a:off x="5689663" y="6638330"/>
                <a:ext cx="0" cy="180000"/>
              </a:xfrm>
              <a:prstGeom prst="straightConnector1">
                <a:avLst/>
              </a:prstGeom>
              <a:noFill/>
              <a:ln w="9525" cap="flat" cmpd="sng">
                <a:solidFill>
                  <a:schemeClr val="dk1"/>
                </a:solidFill>
                <a:prstDash val="solid"/>
                <a:round/>
                <a:headEnd type="none" w="sm" len="sm"/>
                <a:tailEnd type="none" w="sm" len="sm"/>
              </a:ln>
            </p:spPr>
          </p:cxnSp>
          <p:cxnSp>
            <p:nvCxnSpPr>
              <p:cNvPr id="74" name="Google Shape;74;p50"/>
              <p:cNvCxnSpPr/>
              <p:nvPr/>
            </p:nvCxnSpPr>
            <p:spPr>
              <a:xfrm>
                <a:off x="5829683" y="6638330"/>
                <a:ext cx="0" cy="180000"/>
              </a:xfrm>
              <a:prstGeom prst="straightConnector1">
                <a:avLst/>
              </a:prstGeom>
              <a:noFill/>
              <a:ln w="9525" cap="flat" cmpd="sng">
                <a:solidFill>
                  <a:schemeClr val="dk1"/>
                </a:solidFill>
                <a:prstDash val="solid"/>
                <a:round/>
                <a:headEnd type="none" w="sm" len="sm"/>
                <a:tailEnd type="none" w="sm" len="sm"/>
              </a:ln>
            </p:spPr>
          </p:cxnSp>
          <p:cxnSp>
            <p:nvCxnSpPr>
              <p:cNvPr id="75" name="Google Shape;75;p50"/>
              <p:cNvCxnSpPr/>
              <p:nvPr/>
            </p:nvCxnSpPr>
            <p:spPr>
              <a:xfrm>
                <a:off x="8459788" y="6638330"/>
                <a:ext cx="0" cy="180000"/>
              </a:xfrm>
              <a:prstGeom prst="straightConnector1">
                <a:avLst/>
              </a:prstGeom>
              <a:noFill/>
              <a:ln w="9525" cap="flat" cmpd="sng">
                <a:solidFill>
                  <a:schemeClr val="dk1"/>
                </a:solidFill>
                <a:prstDash val="solid"/>
                <a:round/>
                <a:headEnd type="none" w="sm" len="sm"/>
                <a:tailEnd type="none" w="sm" len="sm"/>
              </a:ln>
            </p:spPr>
          </p:cxnSp>
          <p:cxnSp>
            <p:nvCxnSpPr>
              <p:cNvPr id="76" name="Google Shape;76;p50"/>
              <p:cNvCxnSpPr/>
              <p:nvPr/>
            </p:nvCxnSpPr>
            <p:spPr>
              <a:xfrm>
                <a:off x="8602189" y="6638330"/>
                <a:ext cx="0" cy="180000"/>
              </a:xfrm>
              <a:prstGeom prst="straightConnector1">
                <a:avLst/>
              </a:prstGeom>
              <a:noFill/>
              <a:ln w="9525" cap="flat" cmpd="sng">
                <a:solidFill>
                  <a:schemeClr val="dk1"/>
                </a:solidFill>
                <a:prstDash val="solid"/>
                <a:round/>
                <a:headEnd type="none" w="sm" len="sm"/>
                <a:tailEnd type="none" w="sm" len="sm"/>
              </a:ln>
            </p:spPr>
          </p:cxnSp>
          <p:cxnSp>
            <p:nvCxnSpPr>
              <p:cNvPr id="77" name="Google Shape;77;p50"/>
              <p:cNvCxnSpPr/>
              <p:nvPr/>
            </p:nvCxnSpPr>
            <p:spPr>
              <a:xfrm>
                <a:off x="11233149" y="6638330"/>
                <a:ext cx="0" cy="180000"/>
              </a:xfrm>
              <a:prstGeom prst="straightConnector1">
                <a:avLst/>
              </a:prstGeom>
              <a:noFill/>
              <a:ln w="9525" cap="flat" cmpd="sng">
                <a:solidFill>
                  <a:schemeClr val="dk1"/>
                </a:solidFill>
                <a:prstDash val="solid"/>
                <a:round/>
                <a:headEnd type="none" w="sm" len="sm"/>
                <a:tailEnd type="none" w="sm" len="sm"/>
              </a:ln>
            </p:spPr>
          </p:cxnSp>
        </p:grpSp>
        <p:grpSp>
          <p:nvGrpSpPr>
            <p:cNvPr id="78" name="Google Shape;78;p50"/>
            <p:cNvGrpSpPr/>
            <p:nvPr/>
          </p:nvGrpSpPr>
          <p:grpSpPr>
            <a:xfrm>
              <a:off x="288925" y="-308570"/>
              <a:ext cx="10944224" cy="180000"/>
              <a:chOff x="288925" y="-308570"/>
              <a:chExt cx="10944224" cy="180000"/>
            </a:xfrm>
          </p:grpSpPr>
          <p:cxnSp>
            <p:nvCxnSpPr>
              <p:cNvPr id="79" name="Google Shape;79;p50"/>
              <p:cNvCxnSpPr/>
              <p:nvPr/>
            </p:nvCxnSpPr>
            <p:spPr>
              <a:xfrm>
                <a:off x="288925" y="-308570"/>
                <a:ext cx="0" cy="180000"/>
              </a:xfrm>
              <a:prstGeom prst="straightConnector1">
                <a:avLst/>
              </a:prstGeom>
              <a:noFill/>
              <a:ln w="9525" cap="flat" cmpd="sng">
                <a:solidFill>
                  <a:schemeClr val="dk1"/>
                </a:solidFill>
                <a:prstDash val="solid"/>
                <a:round/>
                <a:headEnd type="none" w="sm" len="sm"/>
                <a:tailEnd type="none" w="sm" len="sm"/>
              </a:ln>
            </p:spPr>
          </p:cxnSp>
          <p:cxnSp>
            <p:nvCxnSpPr>
              <p:cNvPr id="80" name="Google Shape;80;p50"/>
              <p:cNvCxnSpPr/>
              <p:nvPr/>
            </p:nvCxnSpPr>
            <p:spPr>
              <a:xfrm>
                <a:off x="2911475" y="-308570"/>
                <a:ext cx="0" cy="180000"/>
              </a:xfrm>
              <a:prstGeom prst="straightConnector1">
                <a:avLst/>
              </a:prstGeom>
              <a:noFill/>
              <a:ln w="9525" cap="flat" cmpd="sng">
                <a:solidFill>
                  <a:schemeClr val="dk1"/>
                </a:solidFill>
                <a:prstDash val="solid"/>
                <a:round/>
                <a:headEnd type="none" w="sm" len="sm"/>
                <a:tailEnd type="none" w="sm" len="sm"/>
              </a:ln>
            </p:spPr>
          </p:cxnSp>
          <p:cxnSp>
            <p:nvCxnSpPr>
              <p:cNvPr id="81" name="Google Shape;81;p50"/>
              <p:cNvCxnSpPr/>
              <p:nvPr/>
            </p:nvCxnSpPr>
            <p:spPr>
              <a:xfrm>
                <a:off x="3061019" y="-308570"/>
                <a:ext cx="0" cy="180000"/>
              </a:xfrm>
              <a:prstGeom prst="straightConnector1">
                <a:avLst/>
              </a:prstGeom>
              <a:noFill/>
              <a:ln w="9525" cap="flat" cmpd="sng">
                <a:solidFill>
                  <a:schemeClr val="dk1"/>
                </a:solidFill>
                <a:prstDash val="solid"/>
                <a:round/>
                <a:headEnd type="none" w="sm" len="sm"/>
                <a:tailEnd type="none" w="sm" len="sm"/>
              </a:ln>
            </p:spPr>
          </p:cxnSp>
          <p:cxnSp>
            <p:nvCxnSpPr>
              <p:cNvPr id="82" name="Google Shape;82;p50"/>
              <p:cNvCxnSpPr/>
              <p:nvPr/>
            </p:nvCxnSpPr>
            <p:spPr>
              <a:xfrm>
                <a:off x="5689663" y="-308570"/>
                <a:ext cx="0" cy="180000"/>
              </a:xfrm>
              <a:prstGeom prst="straightConnector1">
                <a:avLst/>
              </a:prstGeom>
              <a:noFill/>
              <a:ln w="9525" cap="flat" cmpd="sng">
                <a:solidFill>
                  <a:schemeClr val="dk1"/>
                </a:solidFill>
                <a:prstDash val="solid"/>
                <a:round/>
                <a:headEnd type="none" w="sm" len="sm"/>
                <a:tailEnd type="none" w="sm" len="sm"/>
              </a:ln>
            </p:spPr>
          </p:cxnSp>
          <p:cxnSp>
            <p:nvCxnSpPr>
              <p:cNvPr id="83" name="Google Shape;83;p50"/>
              <p:cNvCxnSpPr/>
              <p:nvPr/>
            </p:nvCxnSpPr>
            <p:spPr>
              <a:xfrm>
                <a:off x="5829683" y="-308570"/>
                <a:ext cx="0" cy="180000"/>
              </a:xfrm>
              <a:prstGeom prst="straightConnector1">
                <a:avLst/>
              </a:prstGeom>
              <a:noFill/>
              <a:ln w="9525" cap="flat" cmpd="sng">
                <a:solidFill>
                  <a:schemeClr val="dk1"/>
                </a:solidFill>
                <a:prstDash val="solid"/>
                <a:round/>
                <a:headEnd type="none" w="sm" len="sm"/>
                <a:tailEnd type="none" w="sm" len="sm"/>
              </a:ln>
            </p:spPr>
          </p:cxnSp>
          <p:cxnSp>
            <p:nvCxnSpPr>
              <p:cNvPr id="84" name="Google Shape;84;p50"/>
              <p:cNvCxnSpPr/>
              <p:nvPr/>
            </p:nvCxnSpPr>
            <p:spPr>
              <a:xfrm>
                <a:off x="8459788" y="-308570"/>
                <a:ext cx="0" cy="180000"/>
              </a:xfrm>
              <a:prstGeom prst="straightConnector1">
                <a:avLst/>
              </a:prstGeom>
              <a:noFill/>
              <a:ln w="9525" cap="flat" cmpd="sng">
                <a:solidFill>
                  <a:schemeClr val="dk1"/>
                </a:solidFill>
                <a:prstDash val="solid"/>
                <a:round/>
                <a:headEnd type="none" w="sm" len="sm"/>
                <a:tailEnd type="none" w="sm" len="sm"/>
              </a:ln>
            </p:spPr>
          </p:cxnSp>
          <p:cxnSp>
            <p:nvCxnSpPr>
              <p:cNvPr id="85" name="Google Shape;85;p50"/>
              <p:cNvCxnSpPr/>
              <p:nvPr/>
            </p:nvCxnSpPr>
            <p:spPr>
              <a:xfrm>
                <a:off x="8602189" y="-308570"/>
                <a:ext cx="0" cy="180000"/>
              </a:xfrm>
              <a:prstGeom prst="straightConnector1">
                <a:avLst/>
              </a:prstGeom>
              <a:noFill/>
              <a:ln w="9525" cap="flat" cmpd="sng">
                <a:solidFill>
                  <a:schemeClr val="dk1"/>
                </a:solidFill>
                <a:prstDash val="solid"/>
                <a:round/>
                <a:headEnd type="none" w="sm" len="sm"/>
                <a:tailEnd type="none" w="sm" len="sm"/>
              </a:ln>
            </p:spPr>
          </p:cxnSp>
          <p:cxnSp>
            <p:nvCxnSpPr>
              <p:cNvPr id="86" name="Google Shape;86;p50"/>
              <p:cNvCxnSpPr/>
              <p:nvPr/>
            </p:nvCxnSpPr>
            <p:spPr>
              <a:xfrm>
                <a:off x="11233149" y="-308570"/>
                <a:ext cx="0" cy="180000"/>
              </a:xfrm>
              <a:prstGeom prst="straightConnector1">
                <a:avLst/>
              </a:prstGeom>
              <a:noFill/>
              <a:ln w="9525" cap="flat" cmpd="sng">
                <a:solidFill>
                  <a:schemeClr val="dk1"/>
                </a:solidFill>
                <a:prstDash val="solid"/>
                <a:round/>
                <a:headEnd type="none" w="sm" len="sm"/>
                <a:tailEnd type="none" w="sm" len="sm"/>
              </a:ln>
            </p:spPr>
          </p:cxnSp>
        </p:grpSp>
      </p:grpSp>
      <p:sp>
        <p:nvSpPr>
          <p:cNvPr id="87" name="Google Shape;87;p50"/>
          <p:cNvSpPr/>
          <p:nvPr/>
        </p:nvSpPr>
        <p:spPr>
          <a:xfrm>
            <a:off x="0" y="0"/>
            <a:ext cx="11522075" cy="146742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ontserrat Light"/>
              <a:ea typeface="Montserrat Light"/>
              <a:cs typeface="Montserrat Light"/>
              <a:sym typeface="Montserrat Light"/>
            </a:endParaRPr>
          </a:p>
        </p:txBody>
      </p:sp>
      <p:pic>
        <p:nvPicPr>
          <p:cNvPr id="88" name="Google Shape;88;p50"/>
          <p:cNvPicPr preferRelativeResize="0"/>
          <p:nvPr/>
        </p:nvPicPr>
        <p:blipFill rotWithShape="1">
          <a:blip r:embed="rId3">
            <a:alphaModFix/>
          </a:blip>
          <a:srcRect/>
          <a:stretch/>
        </p:blipFill>
        <p:spPr>
          <a:xfrm>
            <a:off x="-1" y="739523"/>
            <a:ext cx="11522075" cy="1467434"/>
          </a:xfrm>
          <a:prstGeom prst="rect">
            <a:avLst/>
          </a:prstGeom>
          <a:noFill/>
          <a:ln>
            <a:noFill/>
          </a:ln>
        </p:spPr>
      </p:pic>
      <p:pic>
        <p:nvPicPr>
          <p:cNvPr id="89" name="Google Shape;89;p50"/>
          <p:cNvPicPr preferRelativeResize="0"/>
          <p:nvPr/>
        </p:nvPicPr>
        <p:blipFill rotWithShape="1">
          <a:blip r:embed="rId4">
            <a:alphaModFix/>
          </a:blip>
          <a:srcRect/>
          <a:stretch/>
        </p:blipFill>
        <p:spPr>
          <a:xfrm>
            <a:off x="288000" y="409180"/>
            <a:ext cx="5105651" cy="98294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xt 1 Column">
  <p:cSld name="Text 1 Column">
    <p:bg>
      <p:bgPr>
        <a:solidFill>
          <a:schemeClr val="lt1"/>
        </a:solidFill>
        <a:effectLst/>
      </p:bgPr>
    </p:bg>
    <p:spTree>
      <p:nvGrpSpPr>
        <p:cNvPr id="1" name="Shape 90"/>
        <p:cNvGrpSpPr/>
        <p:nvPr/>
      </p:nvGrpSpPr>
      <p:grpSpPr>
        <a:xfrm>
          <a:off x="0" y="0"/>
          <a:ext cx="0" cy="0"/>
          <a:chOff x="0" y="0"/>
          <a:chExt cx="0" cy="0"/>
        </a:xfrm>
      </p:grpSpPr>
      <p:pic>
        <p:nvPicPr>
          <p:cNvPr id="91" name="Google Shape;91;p51"/>
          <p:cNvPicPr preferRelativeResize="0"/>
          <p:nvPr/>
        </p:nvPicPr>
        <p:blipFill rotWithShape="1">
          <a:blip r:embed="rId2">
            <a:alphaModFix/>
          </a:blip>
          <a:srcRect/>
          <a:stretch/>
        </p:blipFill>
        <p:spPr>
          <a:xfrm>
            <a:off x="7776754" y="470208"/>
            <a:ext cx="3482228" cy="670403"/>
          </a:xfrm>
          <a:prstGeom prst="rect">
            <a:avLst/>
          </a:prstGeom>
          <a:noFill/>
          <a:ln>
            <a:noFill/>
          </a:ln>
        </p:spPr>
      </p:pic>
      <p:pic>
        <p:nvPicPr>
          <p:cNvPr id="92" name="Google Shape;92;p51"/>
          <p:cNvPicPr preferRelativeResize="0"/>
          <p:nvPr/>
        </p:nvPicPr>
        <p:blipFill rotWithShape="1">
          <a:blip r:embed="rId3">
            <a:alphaModFix/>
          </a:blip>
          <a:srcRect/>
          <a:stretch/>
        </p:blipFill>
        <p:spPr>
          <a:xfrm>
            <a:off x="0" y="0"/>
            <a:ext cx="7921869" cy="1689463"/>
          </a:xfrm>
          <a:prstGeom prst="rect">
            <a:avLst/>
          </a:prstGeom>
          <a:noFill/>
          <a:ln>
            <a:noFill/>
          </a:ln>
        </p:spPr>
      </p:pic>
      <p:sp>
        <p:nvSpPr>
          <p:cNvPr id="93" name="Google Shape;93;p51"/>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Montserrat Light"/>
              <a:buNone/>
              <a:defRPr sz="2800" b="0" i="0" u="none" strike="noStrike" cap="none">
                <a:solidFill>
                  <a:schemeClr val="lt1"/>
                </a:solidFill>
                <a:latin typeface="Montserrat Light"/>
                <a:ea typeface="Montserrat Light"/>
                <a:cs typeface="Montserrat Light"/>
                <a:sym typeface="Montserrat Ligh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4" name="Google Shape;94;p51"/>
          <p:cNvSpPr txBox="1">
            <a:spLocks noGrp="1"/>
          </p:cNvSpPr>
          <p:nvPr>
            <p:ph type="body" idx="1"/>
          </p:nvPr>
        </p:nvSpPr>
        <p:spPr>
          <a:xfrm>
            <a:off x="444373" y="1890346"/>
            <a:ext cx="10944225" cy="4124383"/>
          </a:xfrm>
          <a:prstGeom prst="rect">
            <a:avLst/>
          </a:prstGeom>
          <a:noFill/>
          <a:ln>
            <a:noFill/>
          </a:ln>
        </p:spPr>
        <p:txBody>
          <a:bodyPr spcFirstLastPara="1" wrap="square" lIns="0" tIns="0" rIns="0" bIns="0" anchor="t" anchorCtr="0">
            <a:noAutofit/>
          </a:bodyPr>
          <a:lstStyle>
            <a:lvl1pPr marL="457200" lvl="0" indent="-228600" algn="l">
              <a:lnSpc>
                <a:spcPct val="104000"/>
              </a:lnSpc>
              <a:spcBef>
                <a:spcPts val="1200"/>
              </a:spcBef>
              <a:spcAft>
                <a:spcPts val="0"/>
              </a:spcAft>
              <a:buClr>
                <a:schemeClr val="dk2"/>
              </a:buClr>
              <a:buSzPts val="1500"/>
              <a:buNone/>
              <a:defRPr sz="1500" b="0" i="0">
                <a:solidFill>
                  <a:schemeClr val="dk2"/>
                </a:solidFill>
                <a:latin typeface="Montserrat Light"/>
                <a:ea typeface="Montserrat Light"/>
                <a:cs typeface="Montserrat Light"/>
                <a:sym typeface="Montserrat Light"/>
              </a:defRPr>
            </a:lvl1pPr>
            <a:lvl2pPr marL="914400" lvl="1" indent="-295275" algn="l">
              <a:lnSpc>
                <a:spcPct val="104000"/>
              </a:lnSpc>
              <a:spcBef>
                <a:spcPts val="300"/>
              </a:spcBef>
              <a:spcAft>
                <a:spcPts val="0"/>
              </a:spcAft>
              <a:buSzPts val="1050"/>
              <a:buChar char="◼"/>
              <a:defRPr sz="1500" b="0" i="0">
                <a:solidFill>
                  <a:schemeClr val="dk2"/>
                </a:solidFill>
                <a:latin typeface="Montserrat Light"/>
                <a:ea typeface="Montserrat Light"/>
                <a:cs typeface="Montserrat Light"/>
                <a:sym typeface="Montserrat Light"/>
              </a:defRPr>
            </a:lvl2pPr>
            <a:lvl3pPr marL="1371600" lvl="2" indent="-295275" algn="l">
              <a:lnSpc>
                <a:spcPct val="104000"/>
              </a:lnSpc>
              <a:spcBef>
                <a:spcPts val="300"/>
              </a:spcBef>
              <a:spcAft>
                <a:spcPts val="0"/>
              </a:spcAft>
              <a:buSzPts val="1050"/>
              <a:buChar char="◼"/>
              <a:defRPr sz="1500" b="0" i="0">
                <a:solidFill>
                  <a:schemeClr val="dk2"/>
                </a:solidFill>
                <a:latin typeface="Montserrat Light"/>
                <a:ea typeface="Montserrat Light"/>
                <a:cs typeface="Montserrat Light"/>
                <a:sym typeface="Montserrat Light"/>
              </a:defRPr>
            </a:lvl3pPr>
            <a:lvl4pPr marL="1828800" lvl="3" indent="-295275" algn="l">
              <a:lnSpc>
                <a:spcPct val="104000"/>
              </a:lnSpc>
              <a:spcBef>
                <a:spcPts val="300"/>
              </a:spcBef>
              <a:spcAft>
                <a:spcPts val="0"/>
              </a:spcAft>
              <a:buSzPts val="1050"/>
              <a:buChar char="◼"/>
              <a:defRPr sz="1500" b="0" i="0">
                <a:solidFill>
                  <a:schemeClr val="dk2"/>
                </a:solidFill>
                <a:latin typeface="Montserrat Light"/>
                <a:ea typeface="Montserrat Light"/>
                <a:cs typeface="Montserrat Light"/>
                <a:sym typeface="Montserrat Light"/>
              </a:defRPr>
            </a:lvl4pPr>
            <a:lvl5pPr marL="2286000" lvl="4" indent="-295275" algn="l">
              <a:lnSpc>
                <a:spcPct val="104000"/>
              </a:lnSpc>
              <a:spcBef>
                <a:spcPts val="300"/>
              </a:spcBef>
              <a:spcAft>
                <a:spcPts val="0"/>
              </a:spcAft>
              <a:buSzPts val="1050"/>
              <a:buChar char="◼"/>
              <a:defRPr sz="1500" b="0" i="0">
                <a:solidFill>
                  <a:schemeClr val="dk2"/>
                </a:solidFill>
                <a:latin typeface="Montserrat Light"/>
                <a:ea typeface="Montserrat Light"/>
                <a:cs typeface="Montserrat Light"/>
                <a:sym typeface="Montserrat Light"/>
              </a:defRPr>
            </a:lvl5pPr>
            <a:lvl6pPr marL="2743200" lvl="5" indent="-308610" algn="l">
              <a:lnSpc>
                <a:spcPct val="104000"/>
              </a:lnSpc>
              <a:spcBef>
                <a:spcPts val="300"/>
              </a:spcBef>
              <a:spcAft>
                <a:spcPts val="0"/>
              </a:spcAft>
              <a:buSzPts val="1260"/>
              <a:buChar char="◼"/>
              <a:defRPr/>
            </a:lvl6pPr>
            <a:lvl7pPr marL="3200400" lvl="6" indent="-308610" algn="l">
              <a:lnSpc>
                <a:spcPct val="104000"/>
              </a:lnSpc>
              <a:spcBef>
                <a:spcPts val="300"/>
              </a:spcBef>
              <a:spcAft>
                <a:spcPts val="0"/>
              </a:spcAft>
              <a:buSzPts val="1260"/>
              <a:buChar char="◼"/>
              <a:defRPr/>
            </a:lvl7pPr>
            <a:lvl8pPr marL="3657600" lvl="7" indent="-308609" algn="l">
              <a:lnSpc>
                <a:spcPct val="104000"/>
              </a:lnSpc>
              <a:spcBef>
                <a:spcPts val="300"/>
              </a:spcBef>
              <a:spcAft>
                <a:spcPts val="0"/>
              </a:spcAft>
              <a:buSzPts val="1260"/>
              <a:buChar char="◼"/>
              <a:defRPr/>
            </a:lvl8pPr>
            <a:lvl9pPr marL="4114800" lvl="8" indent="-308609" algn="l">
              <a:lnSpc>
                <a:spcPct val="104000"/>
              </a:lnSpc>
              <a:spcBef>
                <a:spcPts val="300"/>
              </a:spcBef>
              <a:spcAft>
                <a:spcPts val="0"/>
              </a:spcAft>
              <a:buSzPts val="126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xt 1 Column">
  <p:cSld name="1_Text 1 Column">
    <p:bg>
      <p:bgPr>
        <a:solidFill>
          <a:schemeClr val="lt1"/>
        </a:solidFill>
        <a:effectLst/>
      </p:bgPr>
    </p:bg>
    <p:spTree>
      <p:nvGrpSpPr>
        <p:cNvPr id="1" name="Shape 95"/>
        <p:cNvGrpSpPr/>
        <p:nvPr/>
      </p:nvGrpSpPr>
      <p:grpSpPr>
        <a:xfrm>
          <a:off x="0" y="0"/>
          <a:ext cx="0" cy="0"/>
          <a:chOff x="0" y="0"/>
          <a:chExt cx="0" cy="0"/>
        </a:xfrm>
      </p:grpSpPr>
      <p:pic>
        <p:nvPicPr>
          <p:cNvPr id="96" name="Google Shape;96;p52"/>
          <p:cNvPicPr preferRelativeResize="0"/>
          <p:nvPr/>
        </p:nvPicPr>
        <p:blipFill rotWithShape="1">
          <a:blip r:embed="rId2">
            <a:alphaModFix/>
          </a:blip>
          <a:srcRect/>
          <a:stretch/>
        </p:blipFill>
        <p:spPr>
          <a:xfrm>
            <a:off x="7776754" y="470208"/>
            <a:ext cx="3482228" cy="670403"/>
          </a:xfrm>
          <a:prstGeom prst="rect">
            <a:avLst/>
          </a:prstGeom>
          <a:noFill/>
          <a:ln>
            <a:noFill/>
          </a:ln>
        </p:spPr>
      </p:pic>
      <p:pic>
        <p:nvPicPr>
          <p:cNvPr id="97" name="Google Shape;97;p52"/>
          <p:cNvPicPr preferRelativeResize="0"/>
          <p:nvPr/>
        </p:nvPicPr>
        <p:blipFill rotWithShape="1">
          <a:blip r:embed="rId3">
            <a:alphaModFix/>
          </a:blip>
          <a:srcRect/>
          <a:stretch/>
        </p:blipFill>
        <p:spPr>
          <a:xfrm>
            <a:off x="0" y="0"/>
            <a:ext cx="7921869" cy="1689463"/>
          </a:xfrm>
          <a:prstGeom prst="rect">
            <a:avLst/>
          </a:prstGeom>
          <a:noFill/>
          <a:ln>
            <a:noFill/>
          </a:ln>
        </p:spPr>
      </p:pic>
      <p:sp>
        <p:nvSpPr>
          <p:cNvPr id="98" name="Google Shape;98;p52"/>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Montserrat Light"/>
              <a:buNone/>
              <a:defRPr sz="2800" b="0" i="0" u="none" strike="noStrike" cap="none">
                <a:solidFill>
                  <a:schemeClr val="lt1"/>
                </a:solidFill>
                <a:latin typeface="Montserrat Light"/>
                <a:ea typeface="Montserrat Light"/>
                <a:cs typeface="Montserrat Light"/>
                <a:sym typeface="Montserrat Light"/>
              </a:defRPr>
            </a:lvl1pPr>
            <a:lvl2pPr lvl="1">
              <a:spcBef>
                <a:spcPts val="0"/>
              </a:spcBef>
              <a:spcAft>
                <a:spcPts val="0"/>
              </a:spcAft>
              <a:buSzPts val="1400"/>
              <a:buFont typeface="Arial"/>
              <a:buNone/>
              <a:defRPr sz="1800"/>
            </a:lvl2pPr>
            <a:lvl3pPr lvl="2">
              <a:spcBef>
                <a:spcPts val="0"/>
              </a:spcBef>
              <a:spcAft>
                <a:spcPts val="0"/>
              </a:spcAft>
              <a:buSzPts val="1400"/>
              <a:buFont typeface="Arial"/>
              <a:buNone/>
              <a:defRPr sz="1800"/>
            </a:lvl3pPr>
            <a:lvl4pPr lvl="3">
              <a:spcBef>
                <a:spcPts val="0"/>
              </a:spcBef>
              <a:spcAft>
                <a:spcPts val="0"/>
              </a:spcAft>
              <a:buSzPts val="1400"/>
              <a:buFont typeface="Arial"/>
              <a:buNone/>
              <a:defRPr sz="1800"/>
            </a:lvl4pPr>
            <a:lvl5pPr lvl="4">
              <a:spcBef>
                <a:spcPts val="0"/>
              </a:spcBef>
              <a:spcAft>
                <a:spcPts val="0"/>
              </a:spcAft>
              <a:buSzPts val="1400"/>
              <a:buFont typeface="Arial"/>
              <a:buNone/>
              <a:defRPr sz="1800"/>
            </a:lvl5pPr>
            <a:lvl6pPr lvl="5">
              <a:spcBef>
                <a:spcPts val="0"/>
              </a:spcBef>
              <a:spcAft>
                <a:spcPts val="0"/>
              </a:spcAft>
              <a:buSzPts val="1400"/>
              <a:buFont typeface="Arial"/>
              <a:buNone/>
              <a:defRPr sz="1800"/>
            </a:lvl6pPr>
            <a:lvl7pPr lvl="6">
              <a:spcBef>
                <a:spcPts val="0"/>
              </a:spcBef>
              <a:spcAft>
                <a:spcPts val="0"/>
              </a:spcAft>
              <a:buSzPts val="1400"/>
              <a:buFont typeface="Arial"/>
              <a:buNone/>
              <a:defRPr sz="1800"/>
            </a:lvl7pPr>
            <a:lvl8pPr lvl="7">
              <a:spcBef>
                <a:spcPts val="0"/>
              </a:spcBef>
              <a:spcAft>
                <a:spcPts val="0"/>
              </a:spcAft>
              <a:buSzPts val="1400"/>
              <a:buFont typeface="Arial"/>
              <a:buNone/>
              <a:defRPr sz="1800"/>
            </a:lvl8pPr>
            <a:lvl9pPr lvl="8">
              <a:spcBef>
                <a:spcPts val="0"/>
              </a:spcBef>
              <a:spcAft>
                <a:spcPts val="0"/>
              </a:spcAft>
              <a:buSzPts val="1400"/>
              <a:buFont typeface="Arial"/>
              <a:buNone/>
              <a:defRPr sz="1800"/>
            </a:lvl9pPr>
          </a:lstStyle>
          <a:p>
            <a:endParaRPr/>
          </a:p>
        </p:txBody>
      </p:sp>
      <p:sp>
        <p:nvSpPr>
          <p:cNvPr id="99" name="Google Shape;99;p52"/>
          <p:cNvSpPr txBox="1">
            <a:spLocks noGrp="1"/>
          </p:cNvSpPr>
          <p:nvPr>
            <p:ph type="body" idx="1"/>
          </p:nvPr>
        </p:nvSpPr>
        <p:spPr>
          <a:xfrm>
            <a:off x="444373" y="1890346"/>
            <a:ext cx="10944225" cy="4124383"/>
          </a:xfrm>
          <a:prstGeom prst="rect">
            <a:avLst/>
          </a:prstGeom>
          <a:noFill/>
          <a:ln>
            <a:noFill/>
          </a:ln>
        </p:spPr>
        <p:txBody>
          <a:bodyPr spcFirstLastPara="1" wrap="square" lIns="0" tIns="0" rIns="0" bIns="0" anchor="t" anchorCtr="0">
            <a:noAutofit/>
          </a:bodyPr>
          <a:lstStyle>
            <a:lvl1pPr marL="457200" lvl="0" indent="-228600" algn="l">
              <a:lnSpc>
                <a:spcPct val="104000"/>
              </a:lnSpc>
              <a:spcBef>
                <a:spcPts val="1200"/>
              </a:spcBef>
              <a:spcAft>
                <a:spcPts val="0"/>
              </a:spcAft>
              <a:buClr>
                <a:schemeClr val="dk2"/>
              </a:buClr>
              <a:buSzPts val="1500"/>
              <a:buNone/>
              <a:defRPr sz="1500" b="0" i="0">
                <a:solidFill>
                  <a:schemeClr val="dk2"/>
                </a:solidFill>
                <a:latin typeface="Montserrat Light"/>
                <a:ea typeface="Montserrat Light"/>
                <a:cs typeface="Montserrat Light"/>
                <a:sym typeface="Montserrat Light"/>
              </a:defRPr>
            </a:lvl1pPr>
            <a:lvl2pPr marL="914400" lvl="1" indent="-295275" algn="l">
              <a:lnSpc>
                <a:spcPct val="104000"/>
              </a:lnSpc>
              <a:spcBef>
                <a:spcPts val="300"/>
              </a:spcBef>
              <a:spcAft>
                <a:spcPts val="0"/>
              </a:spcAft>
              <a:buSzPts val="1050"/>
              <a:buChar char="◼"/>
              <a:defRPr sz="1500" b="0" i="0">
                <a:solidFill>
                  <a:schemeClr val="dk2"/>
                </a:solidFill>
                <a:latin typeface="Montserrat Light"/>
                <a:ea typeface="Montserrat Light"/>
                <a:cs typeface="Montserrat Light"/>
                <a:sym typeface="Montserrat Light"/>
              </a:defRPr>
            </a:lvl2pPr>
            <a:lvl3pPr marL="1371600" lvl="2" indent="-295275" algn="l">
              <a:lnSpc>
                <a:spcPct val="104000"/>
              </a:lnSpc>
              <a:spcBef>
                <a:spcPts val="300"/>
              </a:spcBef>
              <a:spcAft>
                <a:spcPts val="0"/>
              </a:spcAft>
              <a:buSzPts val="1050"/>
              <a:buChar char="◼"/>
              <a:defRPr sz="1500" b="0" i="0">
                <a:solidFill>
                  <a:schemeClr val="dk2"/>
                </a:solidFill>
                <a:latin typeface="Montserrat Light"/>
                <a:ea typeface="Montserrat Light"/>
                <a:cs typeface="Montserrat Light"/>
                <a:sym typeface="Montserrat Light"/>
              </a:defRPr>
            </a:lvl3pPr>
            <a:lvl4pPr marL="1828800" lvl="3" indent="-295275" algn="l">
              <a:lnSpc>
                <a:spcPct val="104000"/>
              </a:lnSpc>
              <a:spcBef>
                <a:spcPts val="300"/>
              </a:spcBef>
              <a:spcAft>
                <a:spcPts val="0"/>
              </a:spcAft>
              <a:buSzPts val="1050"/>
              <a:buChar char="◼"/>
              <a:defRPr sz="1500" b="0" i="0">
                <a:solidFill>
                  <a:schemeClr val="dk2"/>
                </a:solidFill>
                <a:latin typeface="Montserrat Light"/>
                <a:ea typeface="Montserrat Light"/>
                <a:cs typeface="Montserrat Light"/>
                <a:sym typeface="Montserrat Light"/>
              </a:defRPr>
            </a:lvl4pPr>
            <a:lvl5pPr marL="2286000" lvl="4" indent="-295275" algn="l">
              <a:lnSpc>
                <a:spcPct val="104000"/>
              </a:lnSpc>
              <a:spcBef>
                <a:spcPts val="300"/>
              </a:spcBef>
              <a:spcAft>
                <a:spcPts val="0"/>
              </a:spcAft>
              <a:buSzPts val="1050"/>
              <a:buChar char="◼"/>
              <a:defRPr sz="1500" b="0" i="0">
                <a:solidFill>
                  <a:schemeClr val="dk2"/>
                </a:solidFill>
                <a:latin typeface="Montserrat Light"/>
                <a:ea typeface="Montserrat Light"/>
                <a:cs typeface="Montserrat Light"/>
                <a:sym typeface="Montserrat Light"/>
              </a:defRPr>
            </a:lvl5pPr>
            <a:lvl6pPr marL="2743200" lvl="5" indent="-308610" algn="l">
              <a:lnSpc>
                <a:spcPct val="104000"/>
              </a:lnSpc>
              <a:spcBef>
                <a:spcPts val="300"/>
              </a:spcBef>
              <a:spcAft>
                <a:spcPts val="0"/>
              </a:spcAft>
              <a:buSzPts val="1260"/>
              <a:buChar char="◼"/>
              <a:defRPr/>
            </a:lvl6pPr>
            <a:lvl7pPr marL="3200400" lvl="6" indent="-308610" algn="l">
              <a:lnSpc>
                <a:spcPct val="104000"/>
              </a:lnSpc>
              <a:spcBef>
                <a:spcPts val="300"/>
              </a:spcBef>
              <a:spcAft>
                <a:spcPts val="0"/>
              </a:spcAft>
              <a:buSzPts val="1260"/>
              <a:buChar char="◼"/>
              <a:defRPr/>
            </a:lvl7pPr>
            <a:lvl8pPr marL="3657600" lvl="7" indent="-308609" algn="l">
              <a:lnSpc>
                <a:spcPct val="104000"/>
              </a:lnSpc>
              <a:spcBef>
                <a:spcPts val="300"/>
              </a:spcBef>
              <a:spcAft>
                <a:spcPts val="0"/>
              </a:spcAft>
              <a:buSzPts val="1260"/>
              <a:buChar char="◼"/>
              <a:defRPr/>
            </a:lvl8pPr>
            <a:lvl9pPr marL="4114800" lvl="8" indent="-308609" algn="l">
              <a:lnSpc>
                <a:spcPct val="104000"/>
              </a:lnSpc>
              <a:spcBef>
                <a:spcPts val="300"/>
              </a:spcBef>
              <a:spcAft>
                <a:spcPts val="0"/>
              </a:spcAft>
              <a:buSzPts val="126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1_Title Slide Blue">
  <p:cSld name="1_Title Slide Blue">
    <p:bg>
      <p:bgPr>
        <a:blipFill>
          <a:blip r:embed="rId2">
            <a:alphaModFix/>
          </a:blip>
          <a:stretch>
            <a:fillRect/>
          </a:stretch>
        </a:blipFill>
        <a:effectLst/>
      </p:bgPr>
    </p:bg>
    <p:spTree>
      <p:nvGrpSpPr>
        <p:cNvPr id="1" name="Shape 100"/>
        <p:cNvGrpSpPr/>
        <p:nvPr/>
      </p:nvGrpSpPr>
      <p:grpSpPr>
        <a:xfrm>
          <a:off x="0" y="0"/>
          <a:ext cx="0" cy="0"/>
          <a:chOff x="0" y="0"/>
          <a:chExt cx="0" cy="0"/>
        </a:xfrm>
      </p:grpSpPr>
      <p:sp>
        <p:nvSpPr>
          <p:cNvPr id="101" name="Google Shape;101;p53"/>
          <p:cNvSpPr txBox="1"/>
          <p:nvPr/>
        </p:nvSpPr>
        <p:spPr>
          <a:xfrm>
            <a:off x="4999758" y="6073627"/>
            <a:ext cx="1615148" cy="261931"/>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Montserrat Light"/>
              <a:ea typeface="Montserrat Light"/>
              <a:cs typeface="Montserrat Light"/>
              <a:sym typeface="Montserrat Light"/>
            </a:endParaRPr>
          </a:p>
        </p:txBody>
      </p:sp>
      <p:sp>
        <p:nvSpPr>
          <p:cNvPr id="102" name="Google Shape;102;p53"/>
          <p:cNvSpPr txBox="1">
            <a:spLocks noGrp="1"/>
          </p:cNvSpPr>
          <p:nvPr>
            <p:ph type="body" idx="1"/>
          </p:nvPr>
        </p:nvSpPr>
        <p:spPr>
          <a:xfrm>
            <a:off x="1324304" y="1175971"/>
            <a:ext cx="8937296" cy="4107227"/>
          </a:xfrm>
          <a:prstGeom prst="rect">
            <a:avLst/>
          </a:prstGeom>
          <a:noFill/>
          <a:ln>
            <a:noFill/>
          </a:ln>
        </p:spPr>
        <p:txBody>
          <a:bodyPr spcFirstLastPara="1" wrap="square" lIns="0" tIns="0" rIns="0" bIns="0" anchor="ctr" anchorCtr="0">
            <a:noAutofit/>
          </a:bodyPr>
          <a:lstStyle>
            <a:lvl1pPr marL="457200" lvl="0" indent="-228600" algn="l">
              <a:lnSpc>
                <a:spcPct val="104000"/>
              </a:lnSpc>
              <a:spcBef>
                <a:spcPts val="0"/>
              </a:spcBef>
              <a:spcAft>
                <a:spcPts val="0"/>
              </a:spcAft>
              <a:buClr>
                <a:schemeClr val="lt1"/>
              </a:buClr>
              <a:buSzPts val="4400"/>
              <a:buNone/>
              <a:defRPr sz="4400" b="0" i="0">
                <a:solidFill>
                  <a:schemeClr val="lt1"/>
                </a:solidFill>
                <a:latin typeface="Montserrat Light"/>
                <a:ea typeface="Montserrat Light"/>
                <a:cs typeface="Montserrat Light"/>
                <a:sym typeface="Montserrat Light"/>
              </a:defRPr>
            </a:lvl1pPr>
            <a:lvl2pPr marL="914400" lvl="1" indent="-308610" algn="l">
              <a:lnSpc>
                <a:spcPct val="104000"/>
              </a:lnSpc>
              <a:spcBef>
                <a:spcPts val="300"/>
              </a:spcBef>
              <a:spcAft>
                <a:spcPts val="0"/>
              </a:spcAft>
              <a:buSzPts val="1260"/>
              <a:buChar char="◼"/>
              <a:defRPr/>
            </a:lvl2pPr>
            <a:lvl3pPr marL="1371600" lvl="2" indent="-308610" algn="l">
              <a:lnSpc>
                <a:spcPct val="104000"/>
              </a:lnSpc>
              <a:spcBef>
                <a:spcPts val="300"/>
              </a:spcBef>
              <a:spcAft>
                <a:spcPts val="0"/>
              </a:spcAft>
              <a:buSzPts val="1260"/>
              <a:buChar char="◼"/>
              <a:defRPr/>
            </a:lvl3pPr>
            <a:lvl4pPr marL="1828800" lvl="3" indent="-308610" algn="l">
              <a:lnSpc>
                <a:spcPct val="104000"/>
              </a:lnSpc>
              <a:spcBef>
                <a:spcPts val="300"/>
              </a:spcBef>
              <a:spcAft>
                <a:spcPts val="0"/>
              </a:spcAft>
              <a:buSzPts val="1260"/>
              <a:buChar char="◼"/>
              <a:defRPr/>
            </a:lvl4pPr>
            <a:lvl5pPr marL="2286000" lvl="4" indent="-308610" algn="l">
              <a:lnSpc>
                <a:spcPct val="104000"/>
              </a:lnSpc>
              <a:spcBef>
                <a:spcPts val="300"/>
              </a:spcBef>
              <a:spcAft>
                <a:spcPts val="0"/>
              </a:spcAft>
              <a:buSzPts val="1260"/>
              <a:buChar char="◼"/>
              <a:defRPr/>
            </a:lvl5pPr>
            <a:lvl6pPr marL="2743200" lvl="5" indent="-308610" algn="l">
              <a:lnSpc>
                <a:spcPct val="104000"/>
              </a:lnSpc>
              <a:spcBef>
                <a:spcPts val="300"/>
              </a:spcBef>
              <a:spcAft>
                <a:spcPts val="0"/>
              </a:spcAft>
              <a:buSzPts val="1260"/>
              <a:buChar char="◼"/>
              <a:defRPr/>
            </a:lvl6pPr>
            <a:lvl7pPr marL="3200400" lvl="6" indent="-308610" algn="l">
              <a:lnSpc>
                <a:spcPct val="104000"/>
              </a:lnSpc>
              <a:spcBef>
                <a:spcPts val="300"/>
              </a:spcBef>
              <a:spcAft>
                <a:spcPts val="0"/>
              </a:spcAft>
              <a:buSzPts val="1260"/>
              <a:buChar char="◼"/>
              <a:defRPr/>
            </a:lvl7pPr>
            <a:lvl8pPr marL="3657600" lvl="7" indent="-308609" algn="l">
              <a:lnSpc>
                <a:spcPct val="104000"/>
              </a:lnSpc>
              <a:spcBef>
                <a:spcPts val="300"/>
              </a:spcBef>
              <a:spcAft>
                <a:spcPts val="0"/>
              </a:spcAft>
              <a:buSzPts val="1260"/>
              <a:buChar char="◼"/>
              <a:defRPr/>
            </a:lvl8pPr>
            <a:lvl9pPr marL="4114800" lvl="8" indent="-308609" algn="l">
              <a:lnSpc>
                <a:spcPct val="104000"/>
              </a:lnSpc>
              <a:spcBef>
                <a:spcPts val="300"/>
              </a:spcBef>
              <a:spcAft>
                <a:spcPts val="0"/>
              </a:spcAft>
              <a:buSzPts val="1260"/>
              <a:buChar char="◼"/>
              <a:defRPr/>
            </a:lvl9pPr>
          </a:lstStyle>
          <a:p>
            <a:endParaRPr/>
          </a:p>
        </p:txBody>
      </p:sp>
      <p:grpSp>
        <p:nvGrpSpPr>
          <p:cNvPr id="103" name="Google Shape;103;p53"/>
          <p:cNvGrpSpPr/>
          <p:nvPr/>
        </p:nvGrpSpPr>
        <p:grpSpPr>
          <a:xfrm>
            <a:off x="-348582" y="-308570"/>
            <a:ext cx="12206900" cy="7126900"/>
            <a:chOff x="-348582" y="-308570"/>
            <a:chExt cx="12206900" cy="7126900"/>
          </a:xfrm>
        </p:grpSpPr>
        <p:grpSp>
          <p:nvGrpSpPr>
            <p:cNvPr id="104" name="Google Shape;104;p53"/>
            <p:cNvGrpSpPr/>
            <p:nvPr/>
          </p:nvGrpSpPr>
          <p:grpSpPr>
            <a:xfrm>
              <a:off x="-348582" y="362069"/>
              <a:ext cx="180000" cy="5931473"/>
              <a:chOff x="-348582" y="362069"/>
              <a:chExt cx="180000" cy="5931473"/>
            </a:xfrm>
          </p:grpSpPr>
          <p:cxnSp>
            <p:nvCxnSpPr>
              <p:cNvPr id="105" name="Google Shape;105;p53"/>
              <p:cNvCxnSpPr/>
              <p:nvPr/>
            </p:nvCxnSpPr>
            <p:spPr>
              <a:xfrm>
                <a:off x="-348582" y="362069"/>
                <a:ext cx="180000" cy="0"/>
              </a:xfrm>
              <a:prstGeom prst="straightConnector1">
                <a:avLst/>
              </a:prstGeom>
              <a:noFill/>
              <a:ln w="9525" cap="flat" cmpd="sng">
                <a:solidFill>
                  <a:schemeClr val="dk1"/>
                </a:solidFill>
                <a:prstDash val="solid"/>
                <a:round/>
                <a:headEnd type="none" w="sm" len="sm"/>
                <a:tailEnd type="none" w="sm" len="sm"/>
              </a:ln>
            </p:spPr>
          </p:cxnSp>
          <p:cxnSp>
            <p:nvCxnSpPr>
              <p:cNvPr id="106" name="Google Shape;106;p53"/>
              <p:cNvCxnSpPr/>
              <p:nvPr/>
            </p:nvCxnSpPr>
            <p:spPr>
              <a:xfrm>
                <a:off x="-348582" y="511175"/>
                <a:ext cx="180000" cy="0"/>
              </a:xfrm>
              <a:prstGeom prst="straightConnector1">
                <a:avLst/>
              </a:prstGeom>
              <a:noFill/>
              <a:ln w="9525" cap="flat" cmpd="sng">
                <a:solidFill>
                  <a:schemeClr val="dk1"/>
                </a:solidFill>
                <a:prstDash val="solid"/>
                <a:round/>
                <a:headEnd type="none" w="sm" len="sm"/>
                <a:tailEnd type="none" w="sm" len="sm"/>
              </a:ln>
            </p:spPr>
          </p:cxnSp>
          <p:cxnSp>
            <p:nvCxnSpPr>
              <p:cNvPr id="107" name="Google Shape;107;p53"/>
              <p:cNvCxnSpPr/>
              <p:nvPr/>
            </p:nvCxnSpPr>
            <p:spPr>
              <a:xfrm>
                <a:off x="-348582" y="1175972"/>
                <a:ext cx="180000" cy="0"/>
              </a:xfrm>
              <a:prstGeom prst="straightConnector1">
                <a:avLst/>
              </a:prstGeom>
              <a:noFill/>
              <a:ln w="9525" cap="flat" cmpd="sng">
                <a:solidFill>
                  <a:schemeClr val="dk1"/>
                </a:solidFill>
                <a:prstDash val="solid"/>
                <a:round/>
                <a:headEnd type="none" w="sm" len="sm"/>
                <a:tailEnd type="none" w="sm" len="sm"/>
              </a:ln>
            </p:spPr>
          </p:cxnSp>
          <p:cxnSp>
            <p:nvCxnSpPr>
              <p:cNvPr id="108" name="Google Shape;108;p53"/>
              <p:cNvCxnSpPr/>
              <p:nvPr/>
            </p:nvCxnSpPr>
            <p:spPr>
              <a:xfrm>
                <a:off x="-348582" y="1609200"/>
                <a:ext cx="180000" cy="0"/>
              </a:xfrm>
              <a:prstGeom prst="straightConnector1">
                <a:avLst/>
              </a:prstGeom>
              <a:noFill/>
              <a:ln w="9525" cap="flat" cmpd="sng">
                <a:solidFill>
                  <a:schemeClr val="dk1"/>
                </a:solidFill>
                <a:prstDash val="solid"/>
                <a:round/>
                <a:headEnd type="none" w="sm" len="sm"/>
                <a:tailEnd type="none" w="sm" len="sm"/>
              </a:ln>
            </p:spPr>
          </p:cxnSp>
          <p:cxnSp>
            <p:nvCxnSpPr>
              <p:cNvPr id="109" name="Google Shape;109;p53"/>
              <p:cNvCxnSpPr/>
              <p:nvPr/>
            </p:nvCxnSpPr>
            <p:spPr>
              <a:xfrm>
                <a:off x="-348582" y="5835651"/>
                <a:ext cx="180000" cy="0"/>
              </a:xfrm>
              <a:prstGeom prst="straightConnector1">
                <a:avLst/>
              </a:prstGeom>
              <a:noFill/>
              <a:ln w="9525" cap="flat" cmpd="sng">
                <a:solidFill>
                  <a:schemeClr val="dk1"/>
                </a:solidFill>
                <a:prstDash val="solid"/>
                <a:round/>
                <a:headEnd type="none" w="sm" len="sm"/>
                <a:tailEnd type="none" w="sm" len="sm"/>
              </a:ln>
            </p:spPr>
          </p:cxnSp>
          <p:cxnSp>
            <p:nvCxnSpPr>
              <p:cNvPr id="110" name="Google Shape;110;p53"/>
              <p:cNvCxnSpPr/>
              <p:nvPr/>
            </p:nvCxnSpPr>
            <p:spPr>
              <a:xfrm>
                <a:off x="-348582" y="6050859"/>
                <a:ext cx="180000" cy="0"/>
              </a:xfrm>
              <a:prstGeom prst="straightConnector1">
                <a:avLst/>
              </a:prstGeom>
              <a:noFill/>
              <a:ln w="9525" cap="flat" cmpd="sng">
                <a:solidFill>
                  <a:schemeClr val="dk1"/>
                </a:solidFill>
                <a:prstDash val="solid"/>
                <a:round/>
                <a:headEnd type="none" w="sm" len="sm"/>
                <a:tailEnd type="none" w="sm" len="sm"/>
              </a:ln>
            </p:spPr>
          </p:cxnSp>
          <p:cxnSp>
            <p:nvCxnSpPr>
              <p:cNvPr id="111" name="Google Shape;111;p53"/>
              <p:cNvCxnSpPr/>
              <p:nvPr/>
            </p:nvCxnSpPr>
            <p:spPr>
              <a:xfrm>
                <a:off x="-348582" y="6293542"/>
                <a:ext cx="180000" cy="0"/>
              </a:xfrm>
              <a:prstGeom prst="straightConnector1">
                <a:avLst/>
              </a:prstGeom>
              <a:noFill/>
              <a:ln w="9525" cap="flat" cmpd="sng">
                <a:solidFill>
                  <a:schemeClr val="dk1"/>
                </a:solidFill>
                <a:prstDash val="solid"/>
                <a:round/>
                <a:headEnd type="none" w="sm" len="sm"/>
                <a:tailEnd type="none" w="sm" len="sm"/>
              </a:ln>
            </p:spPr>
          </p:cxnSp>
        </p:grpSp>
        <p:grpSp>
          <p:nvGrpSpPr>
            <p:cNvPr id="112" name="Google Shape;112;p53"/>
            <p:cNvGrpSpPr/>
            <p:nvPr/>
          </p:nvGrpSpPr>
          <p:grpSpPr>
            <a:xfrm>
              <a:off x="11678318" y="362069"/>
              <a:ext cx="180000" cy="5931473"/>
              <a:chOff x="11678318" y="362069"/>
              <a:chExt cx="180000" cy="5931473"/>
            </a:xfrm>
          </p:grpSpPr>
          <p:cxnSp>
            <p:nvCxnSpPr>
              <p:cNvPr id="113" name="Google Shape;113;p53"/>
              <p:cNvCxnSpPr/>
              <p:nvPr/>
            </p:nvCxnSpPr>
            <p:spPr>
              <a:xfrm>
                <a:off x="11678318" y="362069"/>
                <a:ext cx="180000" cy="0"/>
              </a:xfrm>
              <a:prstGeom prst="straightConnector1">
                <a:avLst/>
              </a:prstGeom>
              <a:noFill/>
              <a:ln w="9525" cap="flat" cmpd="sng">
                <a:solidFill>
                  <a:schemeClr val="dk1"/>
                </a:solidFill>
                <a:prstDash val="solid"/>
                <a:round/>
                <a:headEnd type="none" w="sm" len="sm"/>
                <a:tailEnd type="none" w="sm" len="sm"/>
              </a:ln>
            </p:spPr>
          </p:cxnSp>
          <p:cxnSp>
            <p:nvCxnSpPr>
              <p:cNvPr id="114" name="Google Shape;114;p53"/>
              <p:cNvCxnSpPr/>
              <p:nvPr/>
            </p:nvCxnSpPr>
            <p:spPr>
              <a:xfrm>
                <a:off x="11678318" y="511175"/>
                <a:ext cx="180000" cy="0"/>
              </a:xfrm>
              <a:prstGeom prst="straightConnector1">
                <a:avLst/>
              </a:prstGeom>
              <a:noFill/>
              <a:ln w="9525" cap="flat" cmpd="sng">
                <a:solidFill>
                  <a:schemeClr val="dk1"/>
                </a:solidFill>
                <a:prstDash val="solid"/>
                <a:round/>
                <a:headEnd type="none" w="sm" len="sm"/>
                <a:tailEnd type="none" w="sm" len="sm"/>
              </a:ln>
            </p:spPr>
          </p:cxnSp>
          <p:cxnSp>
            <p:nvCxnSpPr>
              <p:cNvPr id="115" name="Google Shape;115;p53"/>
              <p:cNvCxnSpPr/>
              <p:nvPr/>
            </p:nvCxnSpPr>
            <p:spPr>
              <a:xfrm>
                <a:off x="11678318" y="1175972"/>
                <a:ext cx="180000" cy="0"/>
              </a:xfrm>
              <a:prstGeom prst="straightConnector1">
                <a:avLst/>
              </a:prstGeom>
              <a:noFill/>
              <a:ln w="9525" cap="flat" cmpd="sng">
                <a:solidFill>
                  <a:schemeClr val="dk1"/>
                </a:solidFill>
                <a:prstDash val="solid"/>
                <a:round/>
                <a:headEnd type="none" w="sm" len="sm"/>
                <a:tailEnd type="none" w="sm" len="sm"/>
              </a:ln>
            </p:spPr>
          </p:cxnSp>
          <p:cxnSp>
            <p:nvCxnSpPr>
              <p:cNvPr id="116" name="Google Shape;116;p53"/>
              <p:cNvCxnSpPr/>
              <p:nvPr/>
            </p:nvCxnSpPr>
            <p:spPr>
              <a:xfrm>
                <a:off x="11678318" y="1609200"/>
                <a:ext cx="180000" cy="0"/>
              </a:xfrm>
              <a:prstGeom prst="straightConnector1">
                <a:avLst/>
              </a:prstGeom>
              <a:noFill/>
              <a:ln w="9525" cap="flat" cmpd="sng">
                <a:solidFill>
                  <a:schemeClr val="dk1"/>
                </a:solidFill>
                <a:prstDash val="solid"/>
                <a:round/>
                <a:headEnd type="none" w="sm" len="sm"/>
                <a:tailEnd type="none" w="sm" len="sm"/>
              </a:ln>
            </p:spPr>
          </p:cxnSp>
          <p:cxnSp>
            <p:nvCxnSpPr>
              <p:cNvPr id="117" name="Google Shape;117;p53"/>
              <p:cNvCxnSpPr/>
              <p:nvPr/>
            </p:nvCxnSpPr>
            <p:spPr>
              <a:xfrm>
                <a:off x="11678318" y="5835651"/>
                <a:ext cx="180000" cy="0"/>
              </a:xfrm>
              <a:prstGeom prst="straightConnector1">
                <a:avLst/>
              </a:prstGeom>
              <a:noFill/>
              <a:ln w="9525" cap="flat" cmpd="sng">
                <a:solidFill>
                  <a:schemeClr val="dk1"/>
                </a:solidFill>
                <a:prstDash val="solid"/>
                <a:round/>
                <a:headEnd type="none" w="sm" len="sm"/>
                <a:tailEnd type="none" w="sm" len="sm"/>
              </a:ln>
            </p:spPr>
          </p:cxnSp>
          <p:cxnSp>
            <p:nvCxnSpPr>
              <p:cNvPr id="118" name="Google Shape;118;p53"/>
              <p:cNvCxnSpPr/>
              <p:nvPr/>
            </p:nvCxnSpPr>
            <p:spPr>
              <a:xfrm>
                <a:off x="11678318" y="6050859"/>
                <a:ext cx="180000" cy="0"/>
              </a:xfrm>
              <a:prstGeom prst="straightConnector1">
                <a:avLst/>
              </a:prstGeom>
              <a:noFill/>
              <a:ln w="9525" cap="flat" cmpd="sng">
                <a:solidFill>
                  <a:schemeClr val="dk1"/>
                </a:solidFill>
                <a:prstDash val="solid"/>
                <a:round/>
                <a:headEnd type="none" w="sm" len="sm"/>
                <a:tailEnd type="none" w="sm" len="sm"/>
              </a:ln>
            </p:spPr>
          </p:cxnSp>
          <p:cxnSp>
            <p:nvCxnSpPr>
              <p:cNvPr id="119" name="Google Shape;119;p53"/>
              <p:cNvCxnSpPr/>
              <p:nvPr/>
            </p:nvCxnSpPr>
            <p:spPr>
              <a:xfrm>
                <a:off x="11678318" y="6293542"/>
                <a:ext cx="180000" cy="0"/>
              </a:xfrm>
              <a:prstGeom prst="straightConnector1">
                <a:avLst/>
              </a:prstGeom>
              <a:noFill/>
              <a:ln w="9525" cap="flat" cmpd="sng">
                <a:solidFill>
                  <a:schemeClr val="dk1"/>
                </a:solidFill>
                <a:prstDash val="solid"/>
                <a:round/>
                <a:headEnd type="none" w="sm" len="sm"/>
                <a:tailEnd type="none" w="sm" len="sm"/>
              </a:ln>
            </p:spPr>
          </p:cxnSp>
        </p:grpSp>
        <p:grpSp>
          <p:nvGrpSpPr>
            <p:cNvPr id="120" name="Google Shape;120;p53"/>
            <p:cNvGrpSpPr/>
            <p:nvPr/>
          </p:nvGrpSpPr>
          <p:grpSpPr>
            <a:xfrm>
              <a:off x="288925" y="6638330"/>
              <a:ext cx="10944224" cy="180000"/>
              <a:chOff x="288925" y="6638330"/>
              <a:chExt cx="10944224" cy="180000"/>
            </a:xfrm>
          </p:grpSpPr>
          <p:cxnSp>
            <p:nvCxnSpPr>
              <p:cNvPr id="121" name="Google Shape;121;p53"/>
              <p:cNvCxnSpPr/>
              <p:nvPr/>
            </p:nvCxnSpPr>
            <p:spPr>
              <a:xfrm>
                <a:off x="288925" y="6638330"/>
                <a:ext cx="0" cy="180000"/>
              </a:xfrm>
              <a:prstGeom prst="straightConnector1">
                <a:avLst/>
              </a:prstGeom>
              <a:noFill/>
              <a:ln w="9525" cap="flat" cmpd="sng">
                <a:solidFill>
                  <a:schemeClr val="dk1"/>
                </a:solidFill>
                <a:prstDash val="solid"/>
                <a:round/>
                <a:headEnd type="none" w="sm" len="sm"/>
                <a:tailEnd type="none" w="sm" len="sm"/>
              </a:ln>
            </p:spPr>
          </p:cxnSp>
          <p:cxnSp>
            <p:nvCxnSpPr>
              <p:cNvPr id="122" name="Google Shape;122;p53"/>
              <p:cNvCxnSpPr/>
              <p:nvPr/>
            </p:nvCxnSpPr>
            <p:spPr>
              <a:xfrm>
                <a:off x="2911475" y="6638330"/>
                <a:ext cx="0" cy="180000"/>
              </a:xfrm>
              <a:prstGeom prst="straightConnector1">
                <a:avLst/>
              </a:prstGeom>
              <a:noFill/>
              <a:ln w="9525" cap="flat" cmpd="sng">
                <a:solidFill>
                  <a:schemeClr val="dk1"/>
                </a:solidFill>
                <a:prstDash val="solid"/>
                <a:round/>
                <a:headEnd type="none" w="sm" len="sm"/>
                <a:tailEnd type="none" w="sm" len="sm"/>
              </a:ln>
            </p:spPr>
          </p:cxnSp>
          <p:cxnSp>
            <p:nvCxnSpPr>
              <p:cNvPr id="123" name="Google Shape;123;p53"/>
              <p:cNvCxnSpPr/>
              <p:nvPr/>
            </p:nvCxnSpPr>
            <p:spPr>
              <a:xfrm>
                <a:off x="3061019" y="6638330"/>
                <a:ext cx="0" cy="180000"/>
              </a:xfrm>
              <a:prstGeom prst="straightConnector1">
                <a:avLst/>
              </a:prstGeom>
              <a:noFill/>
              <a:ln w="9525" cap="flat" cmpd="sng">
                <a:solidFill>
                  <a:schemeClr val="dk1"/>
                </a:solidFill>
                <a:prstDash val="solid"/>
                <a:round/>
                <a:headEnd type="none" w="sm" len="sm"/>
                <a:tailEnd type="none" w="sm" len="sm"/>
              </a:ln>
            </p:spPr>
          </p:cxnSp>
          <p:cxnSp>
            <p:nvCxnSpPr>
              <p:cNvPr id="124" name="Google Shape;124;p53"/>
              <p:cNvCxnSpPr/>
              <p:nvPr/>
            </p:nvCxnSpPr>
            <p:spPr>
              <a:xfrm>
                <a:off x="5689663" y="6638330"/>
                <a:ext cx="0" cy="180000"/>
              </a:xfrm>
              <a:prstGeom prst="straightConnector1">
                <a:avLst/>
              </a:prstGeom>
              <a:noFill/>
              <a:ln w="9525" cap="flat" cmpd="sng">
                <a:solidFill>
                  <a:schemeClr val="dk1"/>
                </a:solidFill>
                <a:prstDash val="solid"/>
                <a:round/>
                <a:headEnd type="none" w="sm" len="sm"/>
                <a:tailEnd type="none" w="sm" len="sm"/>
              </a:ln>
            </p:spPr>
          </p:cxnSp>
          <p:cxnSp>
            <p:nvCxnSpPr>
              <p:cNvPr id="125" name="Google Shape;125;p53"/>
              <p:cNvCxnSpPr/>
              <p:nvPr/>
            </p:nvCxnSpPr>
            <p:spPr>
              <a:xfrm>
                <a:off x="5829683" y="6638330"/>
                <a:ext cx="0" cy="180000"/>
              </a:xfrm>
              <a:prstGeom prst="straightConnector1">
                <a:avLst/>
              </a:prstGeom>
              <a:noFill/>
              <a:ln w="9525" cap="flat" cmpd="sng">
                <a:solidFill>
                  <a:schemeClr val="dk1"/>
                </a:solidFill>
                <a:prstDash val="solid"/>
                <a:round/>
                <a:headEnd type="none" w="sm" len="sm"/>
                <a:tailEnd type="none" w="sm" len="sm"/>
              </a:ln>
            </p:spPr>
          </p:cxnSp>
          <p:cxnSp>
            <p:nvCxnSpPr>
              <p:cNvPr id="126" name="Google Shape;126;p53"/>
              <p:cNvCxnSpPr/>
              <p:nvPr/>
            </p:nvCxnSpPr>
            <p:spPr>
              <a:xfrm>
                <a:off x="8459788" y="6638330"/>
                <a:ext cx="0" cy="180000"/>
              </a:xfrm>
              <a:prstGeom prst="straightConnector1">
                <a:avLst/>
              </a:prstGeom>
              <a:noFill/>
              <a:ln w="9525" cap="flat" cmpd="sng">
                <a:solidFill>
                  <a:schemeClr val="dk1"/>
                </a:solidFill>
                <a:prstDash val="solid"/>
                <a:round/>
                <a:headEnd type="none" w="sm" len="sm"/>
                <a:tailEnd type="none" w="sm" len="sm"/>
              </a:ln>
            </p:spPr>
          </p:cxnSp>
          <p:cxnSp>
            <p:nvCxnSpPr>
              <p:cNvPr id="127" name="Google Shape;127;p53"/>
              <p:cNvCxnSpPr/>
              <p:nvPr/>
            </p:nvCxnSpPr>
            <p:spPr>
              <a:xfrm>
                <a:off x="8602189" y="6638330"/>
                <a:ext cx="0" cy="180000"/>
              </a:xfrm>
              <a:prstGeom prst="straightConnector1">
                <a:avLst/>
              </a:prstGeom>
              <a:noFill/>
              <a:ln w="9525" cap="flat" cmpd="sng">
                <a:solidFill>
                  <a:schemeClr val="dk1"/>
                </a:solidFill>
                <a:prstDash val="solid"/>
                <a:round/>
                <a:headEnd type="none" w="sm" len="sm"/>
                <a:tailEnd type="none" w="sm" len="sm"/>
              </a:ln>
            </p:spPr>
          </p:cxnSp>
          <p:cxnSp>
            <p:nvCxnSpPr>
              <p:cNvPr id="128" name="Google Shape;128;p53"/>
              <p:cNvCxnSpPr/>
              <p:nvPr/>
            </p:nvCxnSpPr>
            <p:spPr>
              <a:xfrm>
                <a:off x="11233149" y="6638330"/>
                <a:ext cx="0" cy="180000"/>
              </a:xfrm>
              <a:prstGeom prst="straightConnector1">
                <a:avLst/>
              </a:prstGeom>
              <a:noFill/>
              <a:ln w="9525" cap="flat" cmpd="sng">
                <a:solidFill>
                  <a:schemeClr val="dk1"/>
                </a:solidFill>
                <a:prstDash val="solid"/>
                <a:round/>
                <a:headEnd type="none" w="sm" len="sm"/>
                <a:tailEnd type="none" w="sm" len="sm"/>
              </a:ln>
            </p:spPr>
          </p:cxnSp>
        </p:grpSp>
        <p:grpSp>
          <p:nvGrpSpPr>
            <p:cNvPr id="129" name="Google Shape;129;p53"/>
            <p:cNvGrpSpPr/>
            <p:nvPr/>
          </p:nvGrpSpPr>
          <p:grpSpPr>
            <a:xfrm>
              <a:off x="288925" y="-308570"/>
              <a:ext cx="10944224" cy="180000"/>
              <a:chOff x="288925" y="-308570"/>
              <a:chExt cx="10944224" cy="180000"/>
            </a:xfrm>
          </p:grpSpPr>
          <p:cxnSp>
            <p:nvCxnSpPr>
              <p:cNvPr id="130" name="Google Shape;130;p53"/>
              <p:cNvCxnSpPr/>
              <p:nvPr/>
            </p:nvCxnSpPr>
            <p:spPr>
              <a:xfrm>
                <a:off x="288925" y="-308570"/>
                <a:ext cx="0" cy="180000"/>
              </a:xfrm>
              <a:prstGeom prst="straightConnector1">
                <a:avLst/>
              </a:prstGeom>
              <a:noFill/>
              <a:ln w="9525" cap="flat" cmpd="sng">
                <a:solidFill>
                  <a:schemeClr val="dk1"/>
                </a:solidFill>
                <a:prstDash val="solid"/>
                <a:round/>
                <a:headEnd type="none" w="sm" len="sm"/>
                <a:tailEnd type="none" w="sm" len="sm"/>
              </a:ln>
            </p:spPr>
          </p:cxnSp>
          <p:cxnSp>
            <p:nvCxnSpPr>
              <p:cNvPr id="131" name="Google Shape;131;p53"/>
              <p:cNvCxnSpPr/>
              <p:nvPr/>
            </p:nvCxnSpPr>
            <p:spPr>
              <a:xfrm>
                <a:off x="2911475" y="-308570"/>
                <a:ext cx="0" cy="180000"/>
              </a:xfrm>
              <a:prstGeom prst="straightConnector1">
                <a:avLst/>
              </a:prstGeom>
              <a:noFill/>
              <a:ln w="9525" cap="flat" cmpd="sng">
                <a:solidFill>
                  <a:schemeClr val="dk1"/>
                </a:solidFill>
                <a:prstDash val="solid"/>
                <a:round/>
                <a:headEnd type="none" w="sm" len="sm"/>
                <a:tailEnd type="none" w="sm" len="sm"/>
              </a:ln>
            </p:spPr>
          </p:cxnSp>
          <p:cxnSp>
            <p:nvCxnSpPr>
              <p:cNvPr id="132" name="Google Shape;132;p53"/>
              <p:cNvCxnSpPr/>
              <p:nvPr/>
            </p:nvCxnSpPr>
            <p:spPr>
              <a:xfrm>
                <a:off x="3061019" y="-308570"/>
                <a:ext cx="0" cy="180000"/>
              </a:xfrm>
              <a:prstGeom prst="straightConnector1">
                <a:avLst/>
              </a:prstGeom>
              <a:noFill/>
              <a:ln w="9525" cap="flat" cmpd="sng">
                <a:solidFill>
                  <a:schemeClr val="dk1"/>
                </a:solidFill>
                <a:prstDash val="solid"/>
                <a:round/>
                <a:headEnd type="none" w="sm" len="sm"/>
                <a:tailEnd type="none" w="sm" len="sm"/>
              </a:ln>
            </p:spPr>
          </p:cxnSp>
          <p:cxnSp>
            <p:nvCxnSpPr>
              <p:cNvPr id="133" name="Google Shape;133;p53"/>
              <p:cNvCxnSpPr/>
              <p:nvPr/>
            </p:nvCxnSpPr>
            <p:spPr>
              <a:xfrm>
                <a:off x="5689663" y="-308570"/>
                <a:ext cx="0" cy="180000"/>
              </a:xfrm>
              <a:prstGeom prst="straightConnector1">
                <a:avLst/>
              </a:prstGeom>
              <a:noFill/>
              <a:ln w="9525" cap="flat" cmpd="sng">
                <a:solidFill>
                  <a:schemeClr val="dk1"/>
                </a:solidFill>
                <a:prstDash val="solid"/>
                <a:round/>
                <a:headEnd type="none" w="sm" len="sm"/>
                <a:tailEnd type="none" w="sm" len="sm"/>
              </a:ln>
            </p:spPr>
          </p:cxnSp>
          <p:cxnSp>
            <p:nvCxnSpPr>
              <p:cNvPr id="134" name="Google Shape;134;p53"/>
              <p:cNvCxnSpPr/>
              <p:nvPr/>
            </p:nvCxnSpPr>
            <p:spPr>
              <a:xfrm>
                <a:off x="5829683" y="-308570"/>
                <a:ext cx="0" cy="180000"/>
              </a:xfrm>
              <a:prstGeom prst="straightConnector1">
                <a:avLst/>
              </a:prstGeom>
              <a:noFill/>
              <a:ln w="9525" cap="flat" cmpd="sng">
                <a:solidFill>
                  <a:schemeClr val="dk1"/>
                </a:solidFill>
                <a:prstDash val="solid"/>
                <a:round/>
                <a:headEnd type="none" w="sm" len="sm"/>
                <a:tailEnd type="none" w="sm" len="sm"/>
              </a:ln>
            </p:spPr>
          </p:cxnSp>
          <p:cxnSp>
            <p:nvCxnSpPr>
              <p:cNvPr id="135" name="Google Shape;135;p53"/>
              <p:cNvCxnSpPr/>
              <p:nvPr/>
            </p:nvCxnSpPr>
            <p:spPr>
              <a:xfrm>
                <a:off x="8459788" y="-308570"/>
                <a:ext cx="0" cy="180000"/>
              </a:xfrm>
              <a:prstGeom prst="straightConnector1">
                <a:avLst/>
              </a:prstGeom>
              <a:noFill/>
              <a:ln w="9525" cap="flat" cmpd="sng">
                <a:solidFill>
                  <a:schemeClr val="dk1"/>
                </a:solidFill>
                <a:prstDash val="solid"/>
                <a:round/>
                <a:headEnd type="none" w="sm" len="sm"/>
                <a:tailEnd type="none" w="sm" len="sm"/>
              </a:ln>
            </p:spPr>
          </p:cxnSp>
          <p:cxnSp>
            <p:nvCxnSpPr>
              <p:cNvPr id="136" name="Google Shape;136;p53"/>
              <p:cNvCxnSpPr/>
              <p:nvPr/>
            </p:nvCxnSpPr>
            <p:spPr>
              <a:xfrm>
                <a:off x="8602189" y="-308570"/>
                <a:ext cx="0" cy="180000"/>
              </a:xfrm>
              <a:prstGeom prst="straightConnector1">
                <a:avLst/>
              </a:prstGeom>
              <a:noFill/>
              <a:ln w="9525" cap="flat" cmpd="sng">
                <a:solidFill>
                  <a:schemeClr val="dk1"/>
                </a:solidFill>
                <a:prstDash val="solid"/>
                <a:round/>
                <a:headEnd type="none" w="sm" len="sm"/>
                <a:tailEnd type="none" w="sm" len="sm"/>
              </a:ln>
            </p:spPr>
          </p:cxnSp>
          <p:cxnSp>
            <p:nvCxnSpPr>
              <p:cNvPr id="137" name="Google Shape;137;p53"/>
              <p:cNvCxnSpPr/>
              <p:nvPr/>
            </p:nvCxnSpPr>
            <p:spPr>
              <a:xfrm>
                <a:off x="11233149" y="-308570"/>
                <a:ext cx="0" cy="180000"/>
              </a:xfrm>
              <a:prstGeom prst="straightConnector1">
                <a:avLst/>
              </a:prstGeom>
              <a:noFill/>
              <a:ln w="9525" cap="flat" cmpd="sng">
                <a:solidFill>
                  <a:schemeClr val="dk1"/>
                </a:solidFill>
                <a:prstDash val="solid"/>
                <a:round/>
                <a:headEnd type="none" w="sm" len="sm"/>
                <a:tailEnd type="none" w="sm" len="sm"/>
              </a:ln>
            </p:spPr>
          </p:cxn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vmlDrawing" Target="../drawings/vmlDrawing1.v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xmlns="" id="{0637E85C-A4C0-7DFB-95FC-E1D959E7B547}"/>
              </a:ext>
            </a:extLst>
          </p:cNvPr>
          <p:cNvGraphicFramePr>
            <a:graphicFrameLocks/>
          </p:cNvGraphicFramePr>
          <p:nvPr userDrawn="1">
            <p:custDataLst>
              <p:tags r:id="rId7"/>
            </p:custDataLst>
            <p:extLst>
              <p:ext uri="{D42A27DB-BD31-4B8C-83A1-F6EECF244321}">
                <p14:modId xmlns:p14="http://schemas.microsoft.com/office/powerpoint/2010/main" val="11976305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30" name="thinkcell Folie" r:id="rId8" imgW="532" imgH="533" progId="TCLayout.ActiveDocument.1">
                  <p:embed/>
                </p:oleObj>
              </mc:Choice>
              <mc:Fallback>
                <p:oleObj name="thinkcell Folie" r:id="rId8" imgW="532" imgH="533" progId="TCLayout.ActiveDocument.1">
                  <p:embed/>
                  <p:pic>
                    <p:nvPicPr>
                      <p:cNvPr id="2" name="think-cell data - do not delete" hidden="1">
                        <a:extLst>
                          <a:ext uri="{FF2B5EF4-FFF2-40B4-BE49-F238E27FC236}">
                            <a16:creationId xmlns:a16="http://schemas.microsoft.com/office/drawing/2014/main" xmlns="" id="{0637E85C-A4C0-7DFB-95FC-E1D959E7B54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10" name="Google Shape;10;p49"/>
          <p:cNvSpPr txBox="1">
            <a:spLocks noGrp="1"/>
          </p:cNvSpPr>
          <p:nvPr>
            <p:ph type="body" idx="1"/>
          </p:nvPr>
        </p:nvSpPr>
        <p:spPr>
          <a:xfrm>
            <a:off x="444373" y="1509913"/>
            <a:ext cx="10789702" cy="4325738"/>
          </a:xfrm>
          <a:prstGeom prst="rect">
            <a:avLst/>
          </a:prstGeom>
          <a:noFill/>
          <a:ln>
            <a:noFill/>
          </a:ln>
        </p:spPr>
        <p:txBody>
          <a:bodyPr spcFirstLastPara="1" wrap="square" lIns="0" tIns="0" rIns="0" bIns="0" anchor="t" anchorCtr="0">
            <a:noAutofit/>
          </a:bodyPr>
          <a:lstStyle>
            <a:lvl1pPr marL="457200" marR="0" lvl="0" indent="-228600" algn="l" rtl="0">
              <a:lnSpc>
                <a:spcPct val="104000"/>
              </a:lnSpc>
              <a:spcBef>
                <a:spcPts val="1200"/>
              </a:spcBef>
              <a:spcAft>
                <a:spcPts val="0"/>
              </a:spcAft>
              <a:buClr>
                <a:srgbClr val="004750"/>
              </a:buClr>
              <a:buSzPts val="1200"/>
              <a:buFont typeface="Montserrat Light"/>
              <a:buNone/>
              <a:defRPr sz="1200" b="0" i="0" u="none" strike="noStrike" cap="none">
                <a:solidFill>
                  <a:srgbClr val="004750"/>
                </a:solidFill>
                <a:latin typeface="Montserrat Light"/>
                <a:ea typeface="Montserrat Light"/>
                <a:cs typeface="Montserrat Light"/>
                <a:sym typeface="Montserrat Light"/>
              </a:defRPr>
            </a:lvl1pPr>
            <a:lvl2pPr marL="914400" marR="0" lvl="1" indent="-281940" algn="l" rtl="0">
              <a:lnSpc>
                <a:spcPct val="104000"/>
              </a:lnSpc>
              <a:spcBef>
                <a:spcPts val="300"/>
              </a:spcBef>
              <a:spcAft>
                <a:spcPts val="0"/>
              </a:spcAft>
              <a:buClr>
                <a:schemeClr val="dk1"/>
              </a:buClr>
              <a:buSzPts val="840"/>
              <a:buFont typeface="Noto Sans Symbols"/>
              <a:buChar char="◼"/>
              <a:defRPr sz="1200" b="0" i="0" u="none" strike="noStrike" cap="none">
                <a:solidFill>
                  <a:srgbClr val="004750"/>
                </a:solidFill>
                <a:latin typeface="Montserrat Light"/>
                <a:ea typeface="Montserrat Light"/>
                <a:cs typeface="Montserrat Light"/>
                <a:sym typeface="Montserrat Light"/>
              </a:defRPr>
            </a:lvl2pPr>
            <a:lvl3pPr marL="1371600" marR="0" lvl="2" indent="-281939" algn="l" rtl="0">
              <a:lnSpc>
                <a:spcPct val="104000"/>
              </a:lnSpc>
              <a:spcBef>
                <a:spcPts val="300"/>
              </a:spcBef>
              <a:spcAft>
                <a:spcPts val="0"/>
              </a:spcAft>
              <a:buClr>
                <a:schemeClr val="dk1"/>
              </a:buClr>
              <a:buSzPts val="840"/>
              <a:buFont typeface="Noto Sans Symbols"/>
              <a:buChar char="◼"/>
              <a:defRPr sz="1200" b="0" i="0" u="none" strike="noStrike" cap="none">
                <a:solidFill>
                  <a:srgbClr val="004750"/>
                </a:solidFill>
                <a:latin typeface="Montserrat Light"/>
                <a:ea typeface="Montserrat Light"/>
                <a:cs typeface="Montserrat Light"/>
                <a:sym typeface="Montserrat Light"/>
              </a:defRPr>
            </a:lvl3pPr>
            <a:lvl4pPr marL="1828800" marR="0" lvl="3" indent="-281939" algn="l" rtl="0">
              <a:lnSpc>
                <a:spcPct val="104000"/>
              </a:lnSpc>
              <a:spcBef>
                <a:spcPts val="300"/>
              </a:spcBef>
              <a:spcAft>
                <a:spcPts val="0"/>
              </a:spcAft>
              <a:buClr>
                <a:schemeClr val="dk1"/>
              </a:buClr>
              <a:buSzPts val="840"/>
              <a:buFont typeface="Noto Sans Symbols"/>
              <a:buChar char="◼"/>
              <a:defRPr sz="1200" b="0" i="0" u="none" strike="noStrike" cap="none">
                <a:solidFill>
                  <a:srgbClr val="004750"/>
                </a:solidFill>
                <a:latin typeface="Montserrat Light"/>
                <a:ea typeface="Montserrat Light"/>
                <a:cs typeface="Montserrat Light"/>
                <a:sym typeface="Montserrat Light"/>
              </a:defRPr>
            </a:lvl4pPr>
            <a:lvl5pPr marL="2286000" marR="0" lvl="4" indent="-281939" algn="l" rtl="0">
              <a:lnSpc>
                <a:spcPct val="104000"/>
              </a:lnSpc>
              <a:spcBef>
                <a:spcPts val="300"/>
              </a:spcBef>
              <a:spcAft>
                <a:spcPts val="0"/>
              </a:spcAft>
              <a:buClr>
                <a:schemeClr val="dk1"/>
              </a:buClr>
              <a:buSzPts val="840"/>
              <a:buFont typeface="Noto Sans Symbols"/>
              <a:buChar char="◼"/>
              <a:defRPr sz="1200" b="0" i="0" u="none" strike="noStrike" cap="none">
                <a:solidFill>
                  <a:srgbClr val="004750"/>
                </a:solidFill>
                <a:latin typeface="Montserrat Light"/>
                <a:ea typeface="Montserrat Light"/>
                <a:cs typeface="Montserrat Light"/>
                <a:sym typeface="Montserrat Light"/>
              </a:defRPr>
            </a:lvl5pPr>
            <a:lvl6pPr marL="2743200" marR="0" lvl="5" indent="-281939" algn="l" rtl="0">
              <a:lnSpc>
                <a:spcPct val="104000"/>
              </a:lnSpc>
              <a:spcBef>
                <a:spcPts val="300"/>
              </a:spcBef>
              <a:spcAft>
                <a:spcPts val="0"/>
              </a:spcAft>
              <a:buClr>
                <a:schemeClr val="dk1"/>
              </a:buClr>
              <a:buSzPts val="840"/>
              <a:buFont typeface="Noto Sans Symbols"/>
              <a:buChar char="◼"/>
              <a:defRPr sz="1200" b="0" i="0" u="none" strike="noStrike" cap="none">
                <a:solidFill>
                  <a:srgbClr val="004750"/>
                </a:solidFill>
                <a:latin typeface="Montserrat Light"/>
                <a:ea typeface="Montserrat Light"/>
                <a:cs typeface="Montserrat Light"/>
                <a:sym typeface="Montserrat Light"/>
              </a:defRPr>
            </a:lvl6pPr>
            <a:lvl7pPr marL="3200400" marR="0" lvl="6" indent="-281939" algn="l" rtl="0">
              <a:lnSpc>
                <a:spcPct val="104000"/>
              </a:lnSpc>
              <a:spcBef>
                <a:spcPts val="300"/>
              </a:spcBef>
              <a:spcAft>
                <a:spcPts val="0"/>
              </a:spcAft>
              <a:buClr>
                <a:schemeClr val="dk1"/>
              </a:buClr>
              <a:buSzPts val="840"/>
              <a:buFont typeface="Noto Sans Symbols"/>
              <a:buChar char="◼"/>
              <a:defRPr sz="1200" b="0" i="0" u="none" strike="noStrike" cap="none">
                <a:solidFill>
                  <a:srgbClr val="004750"/>
                </a:solidFill>
                <a:latin typeface="Montserrat Light"/>
                <a:ea typeface="Montserrat Light"/>
                <a:cs typeface="Montserrat Light"/>
                <a:sym typeface="Montserrat Light"/>
              </a:defRPr>
            </a:lvl7pPr>
            <a:lvl8pPr marL="3657600" marR="0" lvl="7" indent="-281940" algn="l" rtl="0">
              <a:lnSpc>
                <a:spcPct val="104000"/>
              </a:lnSpc>
              <a:spcBef>
                <a:spcPts val="300"/>
              </a:spcBef>
              <a:spcAft>
                <a:spcPts val="0"/>
              </a:spcAft>
              <a:buClr>
                <a:schemeClr val="dk1"/>
              </a:buClr>
              <a:buSzPts val="840"/>
              <a:buFont typeface="Noto Sans Symbols"/>
              <a:buChar char="◼"/>
              <a:defRPr sz="1200" b="0" i="0" u="none" strike="noStrike" cap="none">
                <a:solidFill>
                  <a:srgbClr val="004750"/>
                </a:solidFill>
                <a:latin typeface="Montserrat Light"/>
                <a:ea typeface="Montserrat Light"/>
                <a:cs typeface="Montserrat Light"/>
                <a:sym typeface="Montserrat Light"/>
              </a:defRPr>
            </a:lvl8pPr>
            <a:lvl9pPr marL="4114800" marR="0" lvl="8" indent="-281940" algn="l" rtl="0">
              <a:lnSpc>
                <a:spcPct val="104000"/>
              </a:lnSpc>
              <a:spcBef>
                <a:spcPts val="300"/>
              </a:spcBef>
              <a:spcAft>
                <a:spcPts val="0"/>
              </a:spcAft>
              <a:buClr>
                <a:schemeClr val="dk1"/>
              </a:buClr>
              <a:buSzPts val="840"/>
              <a:buFont typeface="Noto Sans Symbols"/>
              <a:buChar char="◼"/>
              <a:defRPr sz="1200" b="0" i="0" u="none" strike="noStrike" cap="none">
                <a:solidFill>
                  <a:srgbClr val="004750"/>
                </a:solidFill>
                <a:latin typeface="Montserrat Light"/>
                <a:ea typeface="Montserrat Light"/>
                <a:cs typeface="Montserrat Light"/>
                <a:sym typeface="Montserrat Light"/>
              </a:defRPr>
            </a:lvl9pPr>
          </a:lstStyle>
          <a:p>
            <a:endParaRPr/>
          </a:p>
        </p:txBody>
      </p:sp>
      <p:sp>
        <p:nvSpPr>
          <p:cNvPr id="11" name="Google Shape;11;p49"/>
          <p:cNvSpPr txBox="1"/>
          <p:nvPr/>
        </p:nvSpPr>
        <p:spPr>
          <a:xfrm>
            <a:off x="10412349" y="6149685"/>
            <a:ext cx="820800" cy="17640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fld id="{00000000-1234-1234-1234-123412341234}" type="slidenum">
              <a:rPr lang="en-US" sz="1200" b="1" i="0" u="none" strike="noStrike" cap="none">
                <a:solidFill>
                  <a:srgbClr val="3A9BF3"/>
                </a:solidFill>
                <a:latin typeface="Montserrat"/>
                <a:ea typeface="Montserrat"/>
                <a:cs typeface="Montserrat"/>
                <a:sym typeface="Montserrat"/>
              </a:rPr>
              <a:t>‹Nr.›</a:t>
            </a:fld>
            <a:endParaRPr sz="1200" b="1" i="0" u="none" strike="noStrike" cap="none">
              <a:solidFill>
                <a:srgbClr val="3A9BF3"/>
              </a:solidFill>
              <a:latin typeface="Montserrat"/>
              <a:ea typeface="Montserrat"/>
              <a:cs typeface="Montserrat"/>
              <a:sym typeface="Montserrat"/>
            </a:endParaRPr>
          </a:p>
        </p:txBody>
      </p:sp>
      <p:grpSp>
        <p:nvGrpSpPr>
          <p:cNvPr id="12" name="Google Shape;12;p49"/>
          <p:cNvGrpSpPr/>
          <p:nvPr/>
        </p:nvGrpSpPr>
        <p:grpSpPr>
          <a:xfrm>
            <a:off x="-348582" y="-308570"/>
            <a:ext cx="12206900" cy="7126900"/>
            <a:chOff x="-348582" y="-308570"/>
            <a:chExt cx="12206900" cy="7126900"/>
          </a:xfrm>
        </p:grpSpPr>
        <p:grpSp>
          <p:nvGrpSpPr>
            <p:cNvPr id="13" name="Google Shape;13;p49"/>
            <p:cNvGrpSpPr/>
            <p:nvPr/>
          </p:nvGrpSpPr>
          <p:grpSpPr>
            <a:xfrm>
              <a:off x="-348582" y="362069"/>
              <a:ext cx="180000" cy="5931473"/>
              <a:chOff x="-348582" y="362069"/>
              <a:chExt cx="180000" cy="5931473"/>
            </a:xfrm>
          </p:grpSpPr>
          <p:cxnSp>
            <p:nvCxnSpPr>
              <p:cNvPr id="14" name="Google Shape;14;p49"/>
              <p:cNvCxnSpPr/>
              <p:nvPr/>
            </p:nvCxnSpPr>
            <p:spPr>
              <a:xfrm>
                <a:off x="-348582" y="362069"/>
                <a:ext cx="180000" cy="0"/>
              </a:xfrm>
              <a:prstGeom prst="straightConnector1">
                <a:avLst/>
              </a:prstGeom>
              <a:noFill/>
              <a:ln w="9525" cap="flat" cmpd="sng">
                <a:solidFill>
                  <a:schemeClr val="dk1"/>
                </a:solidFill>
                <a:prstDash val="solid"/>
                <a:round/>
                <a:headEnd type="none" w="sm" len="sm"/>
                <a:tailEnd type="none" w="sm" len="sm"/>
              </a:ln>
            </p:spPr>
          </p:cxnSp>
          <p:cxnSp>
            <p:nvCxnSpPr>
              <p:cNvPr id="15" name="Google Shape;15;p49"/>
              <p:cNvCxnSpPr/>
              <p:nvPr/>
            </p:nvCxnSpPr>
            <p:spPr>
              <a:xfrm>
                <a:off x="-348582" y="511175"/>
                <a:ext cx="180000" cy="0"/>
              </a:xfrm>
              <a:prstGeom prst="straightConnector1">
                <a:avLst/>
              </a:prstGeom>
              <a:noFill/>
              <a:ln w="9525" cap="flat" cmpd="sng">
                <a:solidFill>
                  <a:schemeClr val="dk1"/>
                </a:solidFill>
                <a:prstDash val="solid"/>
                <a:round/>
                <a:headEnd type="none" w="sm" len="sm"/>
                <a:tailEnd type="none" w="sm" len="sm"/>
              </a:ln>
            </p:spPr>
          </p:cxnSp>
          <p:cxnSp>
            <p:nvCxnSpPr>
              <p:cNvPr id="16" name="Google Shape;16;p49"/>
              <p:cNvCxnSpPr/>
              <p:nvPr/>
            </p:nvCxnSpPr>
            <p:spPr>
              <a:xfrm>
                <a:off x="-348582" y="1175972"/>
                <a:ext cx="180000" cy="0"/>
              </a:xfrm>
              <a:prstGeom prst="straightConnector1">
                <a:avLst/>
              </a:prstGeom>
              <a:noFill/>
              <a:ln w="9525" cap="flat" cmpd="sng">
                <a:solidFill>
                  <a:schemeClr val="dk1"/>
                </a:solidFill>
                <a:prstDash val="solid"/>
                <a:round/>
                <a:headEnd type="none" w="sm" len="sm"/>
                <a:tailEnd type="none" w="sm" len="sm"/>
              </a:ln>
            </p:spPr>
          </p:cxnSp>
          <p:cxnSp>
            <p:nvCxnSpPr>
              <p:cNvPr id="17" name="Google Shape;17;p49"/>
              <p:cNvCxnSpPr/>
              <p:nvPr/>
            </p:nvCxnSpPr>
            <p:spPr>
              <a:xfrm>
                <a:off x="-348582" y="1609200"/>
                <a:ext cx="180000" cy="0"/>
              </a:xfrm>
              <a:prstGeom prst="straightConnector1">
                <a:avLst/>
              </a:prstGeom>
              <a:noFill/>
              <a:ln w="9525" cap="flat" cmpd="sng">
                <a:solidFill>
                  <a:schemeClr val="dk1"/>
                </a:solidFill>
                <a:prstDash val="solid"/>
                <a:round/>
                <a:headEnd type="none" w="sm" len="sm"/>
                <a:tailEnd type="none" w="sm" len="sm"/>
              </a:ln>
            </p:spPr>
          </p:cxnSp>
          <p:cxnSp>
            <p:nvCxnSpPr>
              <p:cNvPr id="18" name="Google Shape;18;p49"/>
              <p:cNvCxnSpPr/>
              <p:nvPr/>
            </p:nvCxnSpPr>
            <p:spPr>
              <a:xfrm>
                <a:off x="-348582" y="5835651"/>
                <a:ext cx="180000" cy="0"/>
              </a:xfrm>
              <a:prstGeom prst="straightConnector1">
                <a:avLst/>
              </a:prstGeom>
              <a:noFill/>
              <a:ln w="9525" cap="flat" cmpd="sng">
                <a:solidFill>
                  <a:schemeClr val="dk1"/>
                </a:solidFill>
                <a:prstDash val="solid"/>
                <a:round/>
                <a:headEnd type="none" w="sm" len="sm"/>
                <a:tailEnd type="none" w="sm" len="sm"/>
              </a:ln>
            </p:spPr>
          </p:cxnSp>
          <p:cxnSp>
            <p:nvCxnSpPr>
              <p:cNvPr id="19" name="Google Shape;19;p49"/>
              <p:cNvCxnSpPr/>
              <p:nvPr/>
            </p:nvCxnSpPr>
            <p:spPr>
              <a:xfrm>
                <a:off x="-348582" y="6050859"/>
                <a:ext cx="180000" cy="0"/>
              </a:xfrm>
              <a:prstGeom prst="straightConnector1">
                <a:avLst/>
              </a:prstGeom>
              <a:noFill/>
              <a:ln w="9525" cap="flat" cmpd="sng">
                <a:solidFill>
                  <a:schemeClr val="dk1"/>
                </a:solidFill>
                <a:prstDash val="solid"/>
                <a:round/>
                <a:headEnd type="none" w="sm" len="sm"/>
                <a:tailEnd type="none" w="sm" len="sm"/>
              </a:ln>
            </p:spPr>
          </p:cxnSp>
          <p:cxnSp>
            <p:nvCxnSpPr>
              <p:cNvPr id="20" name="Google Shape;20;p49"/>
              <p:cNvCxnSpPr/>
              <p:nvPr/>
            </p:nvCxnSpPr>
            <p:spPr>
              <a:xfrm>
                <a:off x="-348582" y="6293542"/>
                <a:ext cx="180000" cy="0"/>
              </a:xfrm>
              <a:prstGeom prst="straightConnector1">
                <a:avLst/>
              </a:prstGeom>
              <a:noFill/>
              <a:ln w="9525" cap="flat" cmpd="sng">
                <a:solidFill>
                  <a:schemeClr val="dk1"/>
                </a:solidFill>
                <a:prstDash val="solid"/>
                <a:round/>
                <a:headEnd type="none" w="sm" len="sm"/>
                <a:tailEnd type="none" w="sm" len="sm"/>
              </a:ln>
            </p:spPr>
          </p:cxnSp>
        </p:grpSp>
        <p:grpSp>
          <p:nvGrpSpPr>
            <p:cNvPr id="21" name="Google Shape;21;p49"/>
            <p:cNvGrpSpPr/>
            <p:nvPr/>
          </p:nvGrpSpPr>
          <p:grpSpPr>
            <a:xfrm>
              <a:off x="11678318" y="362069"/>
              <a:ext cx="180000" cy="5931473"/>
              <a:chOff x="11678318" y="362069"/>
              <a:chExt cx="180000" cy="5931473"/>
            </a:xfrm>
          </p:grpSpPr>
          <p:cxnSp>
            <p:nvCxnSpPr>
              <p:cNvPr id="22" name="Google Shape;22;p49"/>
              <p:cNvCxnSpPr/>
              <p:nvPr/>
            </p:nvCxnSpPr>
            <p:spPr>
              <a:xfrm>
                <a:off x="11678318" y="362069"/>
                <a:ext cx="180000" cy="0"/>
              </a:xfrm>
              <a:prstGeom prst="straightConnector1">
                <a:avLst/>
              </a:prstGeom>
              <a:noFill/>
              <a:ln w="9525" cap="flat" cmpd="sng">
                <a:solidFill>
                  <a:schemeClr val="dk1"/>
                </a:solidFill>
                <a:prstDash val="solid"/>
                <a:round/>
                <a:headEnd type="none" w="sm" len="sm"/>
                <a:tailEnd type="none" w="sm" len="sm"/>
              </a:ln>
            </p:spPr>
          </p:cxnSp>
          <p:cxnSp>
            <p:nvCxnSpPr>
              <p:cNvPr id="23" name="Google Shape;23;p49"/>
              <p:cNvCxnSpPr/>
              <p:nvPr/>
            </p:nvCxnSpPr>
            <p:spPr>
              <a:xfrm>
                <a:off x="11678318" y="511175"/>
                <a:ext cx="180000" cy="0"/>
              </a:xfrm>
              <a:prstGeom prst="straightConnector1">
                <a:avLst/>
              </a:prstGeom>
              <a:noFill/>
              <a:ln w="9525" cap="flat" cmpd="sng">
                <a:solidFill>
                  <a:schemeClr val="dk1"/>
                </a:solidFill>
                <a:prstDash val="solid"/>
                <a:round/>
                <a:headEnd type="none" w="sm" len="sm"/>
                <a:tailEnd type="none" w="sm" len="sm"/>
              </a:ln>
            </p:spPr>
          </p:cxnSp>
          <p:cxnSp>
            <p:nvCxnSpPr>
              <p:cNvPr id="24" name="Google Shape;24;p49"/>
              <p:cNvCxnSpPr/>
              <p:nvPr/>
            </p:nvCxnSpPr>
            <p:spPr>
              <a:xfrm>
                <a:off x="11678318" y="1175972"/>
                <a:ext cx="180000" cy="0"/>
              </a:xfrm>
              <a:prstGeom prst="straightConnector1">
                <a:avLst/>
              </a:prstGeom>
              <a:noFill/>
              <a:ln w="9525" cap="flat" cmpd="sng">
                <a:solidFill>
                  <a:schemeClr val="dk1"/>
                </a:solidFill>
                <a:prstDash val="solid"/>
                <a:round/>
                <a:headEnd type="none" w="sm" len="sm"/>
                <a:tailEnd type="none" w="sm" len="sm"/>
              </a:ln>
            </p:spPr>
          </p:cxnSp>
          <p:cxnSp>
            <p:nvCxnSpPr>
              <p:cNvPr id="25" name="Google Shape;25;p49"/>
              <p:cNvCxnSpPr/>
              <p:nvPr/>
            </p:nvCxnSpPr>
            <p:spPr>
              <a:xfrm>
                <a:off x="11678318" y="1609200"/>
                <a:ext cx="180000" cy="0"/>
              </a:xfrm>
              <a:prstGeom prst="straightConnector1">
                <a:avLst/>
              </a:prstGeom>
              <a:noFill/>
              <a:ln w="9525" cap="flat" cmpd="sng">
                <a:solidFill>
                  <a:schemeClr val="dk1"/>
                </a:solidFill>
                <a:prstDash val="solid"/>
                <a:round/>
                <a:headEnd type="none" w="sm" len="sm"/>
                <a:tailEnd type="none" w="sm" len="sm"/>
              </a:ln>
            </p:spPr>
          </p:cxnSp>
          <p:cxnSp>
            <p:nvCxnSpPr>
              <p:cNvPr id="26" name="Google Shape;26;p49"/>
              <p:cNvCxnSpPr/>
              <p:nvPr/>
            </p:nvCxnSpPr>
            <p:spPr>
              <a:xfrm>
                <a:off x="11678318" y="5835651"/>
                <a:ext cx="180000" cy="0"/>
              </a:xfrm>
              <a:prstGeom prst="straightConnector1">
                <a:avLst/>
              </a:prstGeom>
              <a:noFill/>
              <a:ln w="9525" cap="flat" cmpd="sng">
                <a:solidFill>
                  <a:schemeClr val="dk1"/>
                </a:solidFill>
                <a:prstDash val="solid"/>
                <a:round/>
                <a:headEnd type="none" w="sm" len="sm"/>
                <a:tailEnd type="none" w="sm" len="sm"/>
              </a:ln>
            </p:spPr>
          </p:cxnSp>
          <p:cxnSp>
            <p:nvCxnSpPr>
              <p:cNvPr id="27" name="Google Shape;27;p49"/>
              <p:cNvCxnSpPr/>
              <p:nvPr/>
            </p:nvCxnSpPr>
            <p:spPr>
              <a:xfrm>
                <a:off x="11678318" y="6050859"/>
                <a:ext cx="180000" cy="0"/>
              </a:xfrm>
              <a:prstGeom prst="straightConnector1">
                <a:avLst/>
              </a:prstGeom>
              <a:noFill/>
              <a:ln w="9525" cap="flat" cmpd="sng">
                <a:solidFill>
                  <a:schemeClr val="dk1"/>
                </a:solidFill>
                <a:prstDash val="solid"/>
                <a:round/>
                <a:headEnd type="none" w="sm" len="sm"/>
                <a:tailEnd type="none" w="sm" len="sm"/>
              </a:ln>
            </p:spPr>
          </p:cxnSp>
          <p:cxnSp>
            <p:nvCxnSpPr>
              <p:cNvPr id="28" name="Google Shape;28;p49"/>
              <p:cNvCxnSpPr/>
              <p:nvPr/>
            </p:nvCxnSpPr>
            <p:spPr>
              <a:xfrm>
                <a:off x="11678318" y="6293542"/>
                <a:ext cx="180000" cy="0"/>
              </a:xfrm>
              <a:prstGeom prst="straightConnector1">
                <a:avLst/>
              </a:prstGeom>
              <a:noFill/>
              <a:ln w="9525" cap="flat" cmpd="sng">
                <a:solidFill>
                  <a:schemeClr val="dk1"/>
                </a:solidFill>
                <a:prstDash val="solid"/>
                <a:round/>
                <a:headEnd type="none" w="sm" len="sm"/>
                <a:tailEnd type="none" w="sm" len="sm"/>
              </a:ln>
            </p:spPr>
          </p:cxnSp>
        </p:grpSp>
        <p:grpSp>
          <p:nvGrpSpPr>
            <p:cNvPr id="29" name="Google Shape;29;p49"/>
            <p:cNvGrpSpPr/>
            <p:nvPr/>
          </p:nvGrpSpPr>
          <p:grpSpPr>
            <a:xfrm>
              <a:off x="288925" y="6638330"/>
              <a:ext cx="10944224" cy="180000"/>
              <a:chOff x="288925" y="6638330"/>
              <a:chExt cx="10944224" cy="180000"/>
            </a:xfrm>
          </p:grpSpPr>
          <p:cxnSp>
            <p:nvCxnSpPr>
              <p:cNvPr id="30" name="Google Shape;30;p49"/>
              <p:cNvCxnSpPr/>
              <p:nvPr/>
            </p:nvCxnSpPr>
            <p:spPr>
              <a:xfrm>
                <a:off x="288925" y="6638330"/>
                <a:ext cx="0" cy="180000"/>
              </a:xfrm>
              <a:prstGeom prst="straightConnector1">
                <a:avLst/>
              </a:prstGeom>
              <a:noFill/>
              <a:ln w="9525" cap="flat" cmpd="sng">
                <a:solidFill>
                  <a:schemeClr val="dk1"/>
                </a:solidFill>
                <a:prstDash val="solid"/>
                <a:round/>
                <a:headEnd type="none" w="sm" len="sm"/>
                <a:tailEnd type="none" w="sm" len="sm"/>
              </a:ln>
            </p:spPr>
          </p:cxnSp>
          <p:cxnSp>
            <p:nvCxnSpPr>
              <p:cNvPr id="31" name="Google Shape;31;p49"/>
              <p:cNvCxnSpPr/>
              <p:nvPr/>
            </p:nvCxnSpPr>
            <p:spPr>
              <a:xfrm>
                <a:off x="2911475" y="6638330"/>
                <a:ext cx="0" cy="180000"/>
              </a:xfrm>
              <a:prstGeom prst="straightConnector1">
                <a:avLst/>
              </a:prstGeom>
              <a:noFill/>
              <a:ln w="9525" cap="flat" cmpd="sng">
                <a:solidFill>
                  <a:schemeClr val="dk1"/>
                </a:solidFill>
                <a:prstDash val="solid"/>
                <a:round/>
                <a:headEnd type="none" w="sm" len="sm"/>
                <a:tailEnd type="none" w="sm" len="sm"/>
              </a:ln>
            </p:spPr>
          </p:cxnSp>
          <p:cxnSp>
            <p:nvCxnSpPr>
              <p:cNvPr id="32" name="Google Shape;32;p49"/>
              <p:cNvCxnSpPr/>
              <p:nvPr/>
            </p:nvCxnSpPr>
            <p:spPr>
              <a:xfrm>
                <a:off x="3061019" y="6638330"/>
                <a:ext cx="0" cy="180000"/>
              </a:xfrm>
              <a:prstGeom prst="straightConnector1">
                <a:avLst/>
              </a:prstGeom>
              <a:noFill/>
              <a:ln w="9525" cap="flat" cmpd="sng">
                <a:solidFill>
                  <a:schemeClr val="dk1"/>
                </a:solidFill>
                <a:prstDash val="solid"/>
                <a:round/>
                <a:headEnd type="none" w="sm" len="sm"/>
                <a:tailEnd type="none" w="sm" len="sm"/>
              </a:ln>
            </p:spPr>
          </p:cxnSp>
          <p:cxnSp>
            <p:nvCxnSpPr>
              <p:cNvPr id="33" name="Google Shape;33;p49"/>
              <p:cNvCxnSpPr/>
              <p:nvPr/>
            </p:nvCxnSpPr>
            <p:spPr>
              <a:xfrm>
                <a:off x="5689663" y="6638330"/>
                <a:ext cx="0" cy="180000"/>
              </a:xfrm>
              <a:prstGeom prst="straightConnector1">
                <a:avLst/>
              </a:prstGeom>
              <a:noFill/>
              <a:ln w="9525" cap="flat" cmpd="sng">
                <a:solidFill>
                  <a:schemeClr val="dk1"/>
                </a:solidFill>
                <a:prstDash val="solid"/>
                <a:round/>
                <a:headEnd type="none" w="sm" len="sm"/>
                <a:tailEnd type="none" w="sm" len="sm"/>
              </a:ln>
            </p:spPr>
          </p:cxnSp>
          <p:cxnSp>
            <p:nvCxnSpPr>
              <p:cNvPr id="34" name="Google Shape;34;p49"/>
              <p:cNvCxnSpPr/>
              <p:nvPr/>
            </p:nvCxnSpPr>
            <p:spPr>
              <a:xfrm>
                <a:off x="5829683" y="6638330"/>
                <a:ext cx="0" cy="180000"/>
              </a:xfrm>
              <a:prstGeom prst="straightConnector1">
                <a:avLst/>
              </a:prstGeom>
              <a:noFill/>
              <a:ln w="9525" cap="flat" cmpd="sng">
                <a:solidFill>
                  <a:schemeClr val="dk1"/>
                </a:solidFill>
                <a:prstDash val="solid"/>
                <a:round/>
                <a:headEnd type="none" w="sm" len="sm"/>
                <a:tailEnd type="none" w="sm" len="sm"/>
              </a:ln>
            </p:spPr>
          </p:cxnSp>
          <p:cxnSp>
            <p:nvCxnSpPr>
              <p:cNvPr id="35" name="Google Shape;35;p49"/>
              <p:cNvCxnSpPr/>
              <p:nvPr/>
            </p:nvCxnSpPr>
            <p:spPr>
              <a:xfrm>
                <a:off x="8459788" y="6638330"/>
                <a:ext cx="0" cy="180000"/>
              </a:xfrm>
              <a:prstGeom prst="straightConnector1">
                <a:avLst/>
              </a:prstGeom>
              <a:noFill/>
              <a:ln w="9525" cap="flat" cmpd="sng">
                <a:solidFill>
                  <a:schemeClr val="dk1"/>
                </a:solidFill>
                <a:prstDash val="solid"/>
                <a:round/>
                <a:headEnd type="none" w="sm" len="sm"/>
                <a:tailEnd type="none" w="sm" len="sm"/>
              </a:ln>
            </p:spPr>
          </p:cxnSp>
          <p:cxnSp>
            <p:nvCxnSpPr>
              <p:cNvPr id="36" name="Google Shape;36;p49"/>
              <p:cNvCxnSpPr/>
              <p:nvPr/>
            </p:nvCxnSpPr>
            <p:spPr>
              <a:xfrm>
                <a:off x="8602189" y="6638330"/>
                <a:ext cx="0" cy="180000"/>
              </a:xfrm>
              <a:prstGeom prst="straightConnector1">
                <a:avLst/>
              </a:prstGeom>
              <a:noFill/>
              <a:ln w="9525" cap="flat" cmpd="sng">
                <a:solidFill>
                  <a:schemeClr val="dk1"/>
                </a:solidFill>
                <a:prstDash val="solid"/>
                <a:round/>
                <a:headEnd type="none" w="sm" len="sm"/>
                <a:tailEnd type="none" w="sm" len="sm"/>
              </a:ln>
            </p:spPr>
          </p:cxnSp>
          <p:cxnSp>
            <p:nvCxnSpPr>
              <p:cNvPr id="37" name="Google Shape;37;p49"/>
              <p:cNvCxnSpPr/>
              <p:nvPr/>
            </p:nvCxnSpPr>
            <p:spPr>
              <a:xfrm>
                <a:off x="11233149" y="6638330"/>
                <a:ext cx="0" cy="180000"/>
              </a:xfrm>
              <a:prstGeom prst="straightConnector1">
                <a:avLst/>
              </a:prstGeom>
              <a:noFill/>
              <a:ln w="9525" cap="flat" cmpd="sng">
                <a:solidFill>
                  <a:schemeClr val="dk1"/>
                </a:solidFill>
                <a:prstDash val="solid"/>
                <a:round/>
                <a:headEnd type="none" w="sm" len="sm"/>
                <a:tailEnd type="none" w="sm" len="sm"/>
              </a:ln>
            </p:spPr>
          </p:cxnSp>
        </p:grpSp>
        <p:grpSp>
          <p:nvGrpSpPr>
            <p:cNvPr id="38" name="Google Shape;38;p49"/>
            <p:cNvGrpSpPr/>
            <p:nvPr/>
          </p:nvGrpSpPr>
          <p:grpSpPr>
            <a:xfrm>
              <a:off x="288925" y="-308570"/>
              <a:ext cx="10944224" cy="180000"/>
              <a:chOff x="288925" y="-308570"/>
              <a:chExt cx="10944224" cy="180000"/>
            </a:xfrm>
          </p:grpSpPr>
          <p:cxnSp>
            <p:nvCxnSpPr>
              <p:cNvPr id="39" name="Google Shape;39;p49"/>
              <p:cNvCxnSpPr/>
              <p:nvPr/>
            </p:nvCxnSpPr>
            <p:spPr>
              <a:xfrm>
                <a:off x="288925" y="-308570"/>
                <a:ext cx="0" cy="180000"/>
              </a:xfrm>
              <a:prstGeom prst="straightConnector1">
                <a:avLst/>
              </a:prstGeom>
              <a:noFill/>
              <a:ln w="9525" cap="flat" cmpd="sng">
                <a:solidFill>
                  <a:schemeClr val="dk1"/>
                </a:solidFill>
                <a:prstDash val="solid"/>
                <a:round/>
                <a:headEnd type="none" w="sm" len="sm"/>
                <a:tailEnd type="none" w="sm" len="sm"/>
              </a:ln>
            </p:spPr>
          </p:cxnSp>
          <p:cxnSp>
            <p:nvCxnSpPr>
              <p:cNvPr id="40" name="Google Shape;40;p49"/>
              <p:cNvCxnSpPr/>
              <p:nvPr/>
            </p:nvCxnSpPr>
            <p:spPr>
              <a:xfrm>
                <a:off x="2911475" y="-308570"/>
                <a:ext cx="0" cy="180000"/>
              </a:xfrm>
              <a:prstGeom prst="straightConnector1">
                <a:avLst/>
              </a:prstGeom>
              <a:noFill/>
              <a:ln w="9525" cap="flat" cmpd="sng">
                <a:solidFill>
                  <a:schemeClr val="dk1"/>
                </a:solidFill>
                <a:prstDash val="solid"/>
                <a:round/>
                <a:headEnd type="none" w="sm" len="sm"/>
                <a:tailEnd type="none" w="sm" len="sm"/>
              </a:ln>
            </p:spPr>
          </p:cxnSp>
          <p:cxnSp>
            <p:nvCxnSpPr>
              <p:cNvPr id="41" name="Google Shape;41;p49"/>
              <p:cNvCxnSpPr/>
              <p:nvPr/>
            </p:nvCxnSpPr>
            <p:spPr>
              <a:xfrm>
                <a:off x="3061019" y="-308570"/>
                <a:ext cx="0" cy="180000"/>
              </a:xfrm>
              <a:prstGeom prst="straightConnector1">
                <a:avLst/>
              </a:prstGeom>
              <a:noFill/>
              <a:ln w="9525" cap="flat" cmpd="sng">
                <a:solidFill>
                  <a:schemeClr val="dk1"/>
                </a:solidFill>
                <a:prstDash val="solid"/>
                <a:round/>
                <a:headEnd type="none" w="sm" len="sm"/>
                <a:tailEnd type="none" w="sm" len="sm"/>
              </a:ln>
            </p:spPr>
          </p:cxnSp>
          <p:cxnSp>
            <p:nvCxnSpPr>
              <p:cNvPr id="42" name="Google Shape;42;p49"/>
              <p:cNvCxnSpPr/>
              <p:nvPr/>
            </p:nvCxnSpPr>
            <p:spPr>
              <a:xfrm>
                <a:off x="5689663" y="-308570"/>
                <a:ext cx="0" cy="180000"/>
              </a:xfrm>
              <a:prstGeom prst="straightConnector1">
                <a:avLst/>
              </a:prstGeom>
              <a:noFill/>
              <a:ln w="9525" cap="flat" cmpd="sng">
                <a:solidFill>
                  <a:schemeClr val="dk1"/>
                </a:solidFill>
                <a:prstDash val="solid"/>
                <a:round/>
                <a:headEnd type="none" w="sm" len="sm"/>
                <a:tailEnd type="none" w="sm" len="sm"/>
              </a:ln>
            </p:spPr>
          </p:cxnSp>
          <p:cxnSp>
            <p:nvCxnSpPr>
              <p:cNvPr id="43" name="Google Shape;43;p49"/>
              <p:cNvCxnSpPr/>
              <p:nvPr/>
            </p:nvCxnSpPr>
            <p:spPr>
              <a:xfrm>
                <a:off x="5829683" y="-308570"/>
                <a:ext cx="0" cy="180000"/>
              </a:xfrm>
              <a:prstGeom prst="straightConnector1">
                <a:avLst/>
              </a:prstGeom>
              <a:noFill/>
              <a:ln w="9525" cap="flat" cmpd="sng">
                <a:solidFill>
                  <a:schemeClr val="dk1"/>
                </a:solidFill>
                <a:prstDash val="solid"/>
                <a:round/>
                <a:headEnd type="none" w="sm" len="sm"/>
                <a:tailEnd type="none" w="sm" len="sm"/>
              </a:ln>
            </p:spPr>
          </p:cxnSp>
          <p:cxnSp>
            <p:nvCxnSpPr>
              <p:cNvPr id="44" name="Google Shape;44;p49"/>
              <p:cNvCxnSpPr/>
              <p:nvPr/>
            </p:nvCxnSpPr>
            <p:spPr>
              <a:xfrm>
                <a:off x="8459788" y="-308570"/>
                <a:ext cx="0" cy="180000"/>
              </a:xfrm>
              <a:prstGeom prst="straightConnector1">
                <a:avLst/>
              </a:prstGeom>
              <a:noFill/>
              <a:ln w="9525" cap="flat" cmpd="sng">
                <a:solidFill>
                  <a:schemeClr val="dk1"/>
                </a:solidFill>
                <a:prstDash val="solid"/>
                <a:round/>
                <a:headEnd type="none" w="sm" len="sm"/>
                <a:tailEnd type="none" w="sm" len="sm"/>
              </a:ln>
            </p:spPr>
          </p:cxnSp>
          <p:cxnSp>
            <p:nvCxnSpPr>
              <p:cNvPr id="45" name="Google Shape;45;p49"/>
              <p:cNvCxnSpPr/>
              <p:nvPr/>
            </p:nvCxnSpPr>
            <p:spPr>
              <a:xfrm>
                <a:off x="8602189" y="-308570"/>
                <a:ext cx="0" cy="180000"/>
              </a:xfrm>
              <a:prstGeom prst="straightConnector1">
                <a:avLst/>
              </a:prstGeom>
              <a:noFill/>
              <a:ln w="9525" cap="flat" cmpd="sng">
                <a:solidFill>
                  <a:schemeClr val="dk1"/>
                </a:solidFill>
                <a:prstDash val="solid"/>
                <a:round/>
                <a:headEnd type="none" w="sm" len="sm"/>
                <a:tailEnd type="none" w="sm" len="sm"/>
              </a:ln>
            </p:spPr>
          </p:cxnSp>
          <p:cxnSp>
            <p:nvCxnSpPr>
              <p:cNvPr id="46" name="Google Shape;46;p49"/>
              <p:cNvCxnSpPr/>
              <p:nvPr/>
            </p:nvCxnSpPr>
            <p:spPr>
              <a:xfrm>
                <a:off x="11233149" y="-308570"/>
                <a:ext cx="0" cy="180000"/>
              </a:xfrm>
              <a:prstGeom prst="straightConnector1">
                <a:avLst/>
              </a:prstGeom>
              <a:noFill/>
              <a:ln w="9525" cap="flat" cmpd="sng">
                <a:solidFill>
                  <a:schemeClr val="dk1"/>
                </a:solidFill>
                <a:prstDash val="solid"/>
                <a:round/>
                <a:headEnd type="none" w="sm" len="sm"/>
                <a:tailEnd type="none" w="sm" len="sm"/>
              </a:ln>
            </p:spPr>
          </p:cxnSp>
        </p:grpSp>
      </p:grpSp>
      <p:sp>
        <p:nvSpPr>
          <p:cNvPr id="47" name="Google Shape;47;p49"/>
          <p:cNvSpPr txBox="1"/>
          <p:nvPr/>
        </p:nvSpPr>
        <p:spPr>
          <a:xfrm>
            <a:off x="444373" y="413152"/>
            <a:ext cx="10944225" cy="784516"/>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4750"/>
              </a:buClr>
              <a:buSzPts val="2800"/>
              <a:buFont typeface="Montserrat Light"/>
              <a:buNone/>
            </a:pPr>
            <a:endParaRPr sz="2800" b="1" i="0" u="none" strike="noStrike" cap="none">
              <a:solidFill>
                <a:srgbClr val="004750"/>
              </a:solidFill>
              <a:latin typeface="Montserrat Light"/>
              <a:ea typeface="Montserrat Light"/>
              <a:cs typeface="Montserrat Light"/>
              <a:sym typeface="Montserrat Light"/>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camaraproject/Governance/blob/main/documentation/The-Ecosystem-for-Open-Gateway-NaaS-API-development.pdf"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image" Target="../media/image28.png"/><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image" Target="../media/image27.png"/><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notesSlide" Target="../notesSlides/notesSlide13.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slideLayout" Target="../slideLayouts/slideLayout2.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camaraproject"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3" Type="http://schemas.openxmlformats.org/officeDocument/2006/relationships/image" Target="../media/image31.png"/><Relationship Id="rId21" Type="http://schemas.openxmlformats.org/officeDocument/2006/relationships/image" Target="../media/image48.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 Type="http://schemas.openxmlformats.org/officeDocument/2006/relationships/notesSlide" Target="../notesSlides/notesSlide17.xml"/><Relationship Id="rId16" Type="http://schemas.openxmlformats.org/officeDocument/2006/relationships/image" Target="../media/image44.png"/><Relationship Id="rId20"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1.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0.png"/><Relationship Id="rId10" Type="http://schemas.openxmlformats.org/officeDocument/2006/relationships/image" Target="../media/image38.png"/><Relationship Id="rId19" Type="http://schemas.openxmlformats.org/officeDocument/2006/relationships/image" Target="../media/image14.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49.png"/></Relationships>
</file>

<file path=ppt/slides/_rels/slide1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17" Type="http://schemas.openxmlformats.org/officeDocument/2006/relationships/image" Target="../media/image167.png"/><Relationship Id="rId21" Type="http://schemas.openxmlformats.org/officeDocument/2006/relationships/image" Target="../media/image71.png"/><Relationship Id="rId42" Type="http://schemas.openxmlformats.org/officeDocument/2006/relationships/image" Target="../media/image92.png"/><Relationship Id="rId47" Type="http://schemas.openxmlformats.org/officeDocument/2006/relationships/image" Target="../media/image97.png"/><Relationship Id="rId63" Type="http://schemas.openxmlformats.org/officeDocument/2006/relationships/image" Target="../media/image113.png"/><Relationship Id="rId68" Type="http://schemas.openxmlformats.org/officeDocument/2006/relationships/image" Target="../media/image118.png"/><Relationship Id="rId84" Type="http://schemas.openxmlformats.org/officeDocument/2006/relationships/image" Target="../media/image134.png"/><Relationship Id="rId89" Type="http://schemas.openxmlformats.org/officeDocument/2006/relationships/image" Target="../media/image139.png"/><Relationship Id="rId112" Type="http://schemas.openxmlformats.org/officeDocument/2006/relationships/image" Target="../media/image162.png"/><Relationship Id="rId133" Type="http://schemas.openxmlformats.org/officeDocument/2006/relationships/image" Target="../media/image183.png"/><Relationship Id="rId138" Type="http://schemas.openxmlformats.org/officeDocument/2006/relationships/image" Target="../media/image188.png"/><Relationship Id="rId154" Type="http://schemas.openxmlformats.org/officeDocument/2006/relationships/image" Target="../media/image204.png"/><Relationship Id="rId159" Type="http://schemas.openxmlformats.org/officeDocument/2006/relationships/image" Target="../media/image209.png"/><Relationship Id="rId175" Type="http://schemas.openxmlformats.org/officeDocument/2006/relationships/image" Target="../media/image225.png"/><Relationship Id="rId170" Type="http://schemas.openxmlformats.org/officeDocument/2006/relationships/image" Target="../media/image220.png"/><Relationship Id="rId191" Type="http://schemas.openxmlformats.org/officeDocument/2006/relationships/image" Target="../media/image241.png"/><Relationship Id="rId196" Type="http://schemas.openxmlformats.org/officeDocument/2006/relationships/image" Target="../media/image246.png"/><Relationship Id="rId16" Type="http://schemas.openxmlformats.org/officeDocument/2006/relationships/image" Target="../media/image66.png"/><Relationship Id="rId107" Type="http://schemas.openxmlformats.org/officeDocument/2006/relationships/image" Target="../media/image157.png"/><Relationship Id="rId11" Type="http://schemas.openxmlformats.org/officeDocument/2006/relationships/image" Target="../media/image61.png"/><Relationship Id="rId32" Type="http://schemas.openxmlformats.org/officeDocument/2006/relationships/image" Target="../media/image82.png"/><Relationship Id="rId37" Type="http://schemas.openxmlformats.org/officeDocument/2006/relationships/image" Target="../media/image87.png"/><Relationship Id="rId53" Type="http://schemas.openxmlformats.org/officeDocument/2006/relationships/image" Target="../media/image103.png"/><Relationship Id="rId58" Type="http://schemas.openxmlformats.org/officeDocument/2006/relationships/image" Target="../media/image108.png"/><Relationship Id="rId74" Type="http://schemas.openxmlformats.org/officeDocument/2006/relationships/image" Target="../media/image124.png"/><Relationship Id="rId79" Type="http://schemas.openxmlformats.org/officeDocument/2006/relationships/image" Target="../media/image129.png"/><Relationship Id="rId102" Type="http://schemas.openxmlformats.org/officeDocument/2006/relationships/image" Target="../media/image152.png"/><Relationship Id="rId123" Type="http://schemas.openxmlformats.org/officeDocument/2006/relationships/image" Target="../media/image173.png"/><Relationship Id="rId128" Type="http://schemas.openxmlformats.org/officeDocument/2006/relationships/image" Target="../media/image178.png"/><Relationship Id="rId144" Type="http://schemas.openxmlformats.org/officeDocument/2006/relationships/image" Target="../media/image194.png"/><Relationship Id="rId149" Type="http://schemas.openxmlformats.org/officeDocument/2006/relationships/image" Target="../media/image199.png"/><Relationship Id="rId5" Type="http://schemas.openxmlformats.org/officeDocument/2006/relationships/image" Target="../media/image55.png"/><Relationship Id="rId90" Type="http://schemas.openxmlformats.org/officeDocument/2006/relationships/image" Target="../media/image140.png"/><Relationship Id="rId95" Type="http://schemas.openxmlformats.org/officeDocument/2006/relationships/image" Target="../media/image145.png"/><Relationship Id="rId160" Type="http://schemas.openxmlformats.org/officeDocument/2006/relationships/image" Target="../media/image210.png"/><Relationship Id="rId165" Type="http://schemas.openxmlformats.org/officeDocument/2006/relationships/image" Target="../media/image215.png"/><Relationship Id="rId181" Type="http://schemas.openxmlformats.org/officeDocument/2006/relationships/image" Target="../media/image231.png"/><Relationship Id="rId186" Type="http://schemas.openxmlformats.org/officeDocument/2006/relationships/image" Target="../media/image236.png"/><Relationship Id="rId22" Type="http://schemas.openxmlformats.org/officeDocument/2006/relationships/image" Target="../media/image72.png"/><Relationship Id="rId27" Type="http://schemas.openxmlformats.org/officeDocument/2006/relationships/image" Target="../media/image77.png"/><Relationship Id="rId43" Type="http://schemas.openxmlformats.org/officeDocument/2006/relationships/image" Target="../media/image93.png"/><Relationship Id="rId48" Type="http://schemas.openxmlformats.org/officeDocument/2006/relationships/image" Target="../media/image98.png"/><Relationship Id="rId64" Type="http://schemas.openxmlformats.org/officeDocument/2006/relationships/image" Target="../media/image114.png"/><Relationship Id="rId69" Type="http://schemas.openxmlformats.org/officeDocument/2006/relationships/image" Target="../media/image119.png"/><Relationship Id="rId113" Type="http://schemas.openxmlformats.org/officeDocument/2006/relationships/image" Target="../media/image163.png"/><Relationship Id="rId118" Type="http://schemas.openxmlformats.org/officeDocument/2006/relationships/image" Target="../media/image168.png"/><Relationship Id="rId134" Type="http://schemas.openxmlformats.org/officeDocument/2006/relationships/image" Target="../media/image184.png"/><Relationship Id="rId139" Type="http://schemas.openxmlformats.org/officeDocument/2006/relationships/image" Target="../media/image189.png"/><Relationship Id="rId80" Type="http://schemas.openxmlformats.org/officeDocument/2006/relationships/image" Target="../media/image130.png"/><Relationship Id="rId85" Type="http://schemas.openxmlformats.org/officeDocument/2006/relationships/image" Target="../media/image135.png"/><Relationship Id="rId150" Type="http://schemas.openxmlformats.org/officeDocument/2006/relationships/image" Target="../media/image200.png"/><Relationship Id="rId155" Type="http://schemas.openxmlformats.org/officeDocument/2006/relationships/image" Target="../media/image205.png"/><Relationship Id="rId171" Type="http://schemas.openxmlformats.org/officeDocument/2006/relationships/image" Target="../media/image221.png"/><Relationship Id="rId176" Type="http://schemas.openxmlformats.org/officeDocument/2006/relationships/image" Target="../media/image226.png"/><Relationship Id="rId192" Type="http://schemas.openxmlformats.org/officeDocument/2006/relationships/image" Target="../media/image242.png"/><Relationship Id="rId12" Type="http://schemas.openxmlformats.org/officeDocument/2006/relationships/image" Target="../media/image62.png"/><Relationship Id="rId17" Type="http://schemas.openxmlformats.org/officeDocument/2006/relationships/image" Target="../media/image67.png"/><Relationship Id="rId33" Type="http://schemas.openxmlformats.org/officeDocument/2006/relationships/image" Target="../media/image83.png"/><Relationship Id="rId38" Type="http://schemas.openxmlformats.org/officeDocument/2006/relationships/image" Target="../media/image88.png"/><Relationship Id="rId59" Type="http://schemas.openxmlformats.org/officeDocument/2006/relationships/image" Target="../media/image109.png"/><Relationship Id="rId103" Type="http://schemas.openxmlformats.org/officeDocument/2006/relationships/image" Target="../media/image153.png"/><Relationship Id="rId108" Type="http://schemas.openxmlformats.org/officeDocument/2006/relationships/image" Target="../media/image158.png"/><Relationship Id="rId124" Type="http://schemas.openxmlformats.org/officeDocument/2006/relationships/image" Target="../media/image174.png"/><Relationship Id="rId129" Type="http://schemas.openxmlformats.org/officeDocument/2006/relationships/image" Target="../media/image179.png"/><Relationship Id="rId54" Type="http://schemas.openxmlformats.org/officeDocument/2006/relationships/image" Target="../media/image104.png"/><Relationship Id="rId70" Type="http://schemas.openxmlformats.org/officeDocument/2006/relationships/image" Target="../media/image120.png"/><Relationship Id="rId75" Type="http://schemas.openxmlformats.org/officeDocument/2006/relationships/image" Target="../media/image125.png"/><Relationship Id="rId91" Type="http://schemas.openxmlformats.org/officeDocument/2006/relationships/image" Target="../media/image141.png"/><Relationship Id="rId96" Type="http://schemas.openxmlformats.org/officeDocument/2006/relationships/image" Target="../media/image146.png"/><Relationship Id="rId140" Type="http://schemas.openxmlformats.org/officeDocument/2006/relationships/image" Target="../media/image190.png"/><Relationship Id="rId145" Type="http://schemas.openxmlformats.org/officeDocument/2006/relationships/image" Target="../media/image195.png"/><Relationship Id="rId161" Type="http://schemas.openxmlformats.org/officeDocument/2006/relationships/image" Target="../media/image211.png"/><Relationship Id="rId166" Type="http://schemas.openxmlformats.org/officeDocument/2006/relationships/image" Target="../media/image216.png"/><Relationship Id="rId182" Type="http://schemas.openxmlformats.org/officeDocument/2006/relationships/image" Target="../media/image232.png"/><Relationship Id="rId187" Type="http://schemas.openxmlformats.org/officeDocument/2006/relationships/image" Target="../media/image237.png"/><Relationship Id="rId1" Type="http://schemas.openxmlformats.org/officeDocument/2006/relationships/slideLayout" Target="../slideLayouts/slideLayout2.xml"/><Relationship Id="rId6" Type="http://schemas.openxmlformats.org/officeDocument/2006/relationships/image" Target="../media/image56.png"/><Relationship Id="rId23" Type="http://schemas.openxmlformats.org/officeDocument/2006/relationships/image" Target="../media/image73.png"/><Relationship Id="rId28" Type="http://schemas.openxmlformats.org/officeDocument/2006/relationships/image" Target="../media/image78.png"/><Relationship Id="rId49" Type="http://schemas.openxmlformats.org/officeDocument/2006/relationships/image" Target="../media/image99.png"/><Relationship Id="rId114" Type="http://schemas.openxmlformats.org/officeDocument/2006/relationships/image" Target="../media/image164.png"/><Relationship Id="rId119" Type="http://schemas.openxmlformats.org/officeDocument/2006/relationships/image" Target="../media/image169.png"/><Relationship Id="rId44" Type="http://schemas.openxmlformats.org/officeDocument/2006/relationships/image" Target="../media/image94.png"/><Relationship Id="rId60" Type="http://schemas.openxmlformats.org/officeDocument/2006/relationships/image" Target="../media/image110.png"/><Relationship Id="rId65" Type="http://schemas.openxmlformats.org/officeDocument/2006/relationships/image" Target="../media/image115.png"/><Relationship Id="rId81" Type="http://schemas.openxmlformats.org/officeDocument/2006/relationships/image" Target="../media/image131.png"/><Relationship Id="rId86" Type="http://schemas.openxmlformats.org/officeDocument/2006/relationships/image" Target="../media/image136.png"/><Relationship Id="rId130" Type="http://schemas.openxmlformats.org/officeDocument/2006/relationships/image" Target="../media/image180.png"/><Relationship Id="rId135" Type="http://schemas.openxmlformats.org/officeDocument/2006/relationships/image" Target="../media/image185.png"/><Relationship Id="rId151" Type="http://schemas.openxmlformats.org/officeDocument/2006/relationships/image" Target="../media/image201.png"/><Relationship Id="rId156" Type="http://schemas.openxmlformats.org/officeDocument/2006/relationships/image" Target="../media/image206.png"/><Relationship Id="rId177" Type="http://schemas.openxmlformats.org/officeDocument/2006/relationships/image" Target="../media/image227.png"/><Relationship Id="rId172" Type="http://schemas.openxmlformats.org/officeDocument/2006/relationships/image" Target="../media/image222.png"/><Relationship Id="rId193" Type="http://schemas.openxmlformats.org/officeDocument/2006/relationships/image" Target="../media/image243.png"/><Relationship Id="rId13" Type="http://schemas.openxmlformats.org/officeDocument/2006/relationships/image" Target="../media/image63.png"/><Relationship Id="rId18" Type="http://schemas.openxmlformats.org/officeDocument/2006/relationships/image" Target="../media/image68.png"/><Relationship Id="rId39" Type="http://schemas.openxmlformats.org/officeDocument/2006/relationships/image" Target="../media/image89.png"/><Relationship Id="rId109" Type="http://schemas.openxmlformats.org/officeDocument/2006/relationships/image" Target="../media/image159.png"/><Relationship Id="rId34" Type="http://schemas.openxmlformats.org/officeDocument/2006/relationships/image" Target="../media/image84.png"/><Relationship Id="rId50" Type="http://schemas.openxmlformats.org/officeDocument/2006/relationships/image" Target="../media/image100.png"/><Relationship Id="rId55" Type="http://schemas.openxmlformats.org/officeDocument/2006/relationships/image" Target="../media/image105.png"/><Relationship Id="rId76" Type="http://schemas.openxmlformats.org/officeDocument/2006/relationships/image" Target="../media/image126.png"/><Relationship Id="rId97" Type="http://schemas.openxmlformats.org/officeDocument/2006/relationships/image" Target="../media/image147.png"/><Relationship Id="rId104" Type="http://schemas.openxmlformats.org/officeDocument/2006/relationships/image" Target="../media/image154.png"/><Relationship Id="rId120" Type="http://schemas.openxmlformats.org/officeDocument/2006/relationships/image" Target="../media/image170.png"/><Relationship Id="rId125" Type="http://schemas.openxmlformats.org/officeDocument/2006/relationships/image" Target="../media/image175.png"/><Relationship Id="rId141" Type="http://schemas.openxmlformats.org/officeDocument/2006/relationships/image" Target="../media/image191.png"/><Relationship Id="rId146" Type="http://schemas.openxmlformats.org/officeDocument/2006/relationships/image" Target="../media/image196.png"/><Relationship Id="rId167" Type="http://schemas.openxmlformats.org/officeDocument/2006/relationships/image" Target="../media/image217.png"/><Relationship Id="rId188" Type="http://schemas.openxmlformats.org/officeDocument/2006/relationships/image" Target="../media/image238.png"/><Relationship Id="rId7" Type="http://schemas.openxmlformats.org/officeDocument/2006/relationships/image" Target="../media/image57.png"/><Relationship Id="rId71" Type="http://schemas.openxmlformats.org/officeDocument/2006/relationships/image" Target="../media/image121.png"/><Relationship Id="rId92" Type="http://schemas.openxmlformats.org/officeDocument/2006/relationships/image" Target="../media/image142.png"/><Relationship Id="rId162" Type="http://schemas.openxmlformats.org/officeDocument/2006/relationships/image" Target="../media/image212.png"/><Relationship Id="rId183" Type="http://schemas.openxmlformats.org/officeDocument/2006/relationships/image" Target="../media/image233.png"/><Relationship Id="rId2" Type="http://schemas.openxmlformats.org/officeDocument/2006/relationships/notesSlide" Target="../notesSlides/notesSlide19.xml"/><Relationship Id="rId29" Type="http://schemas.openxmlformats.org/officeDocument/2006/relationships/image" Target="../media/image79.png"/><Relationship Id="rId24" Type="http://schemas.openxmlformats.org/officeDocument/2006/relationships/image" Target="../media/image74.png"/><Relationship Id="rId40" Type="http://schemas.openxmlformats.org/officeDocument/2006/relationships/image" Target="../media/image90.png"/><Relationship Id="rId45" Type="http://schemas.openxmlformats.org/officeDocument/2006/relationships/image" Target="../media/image95.png"/><Relationship Id="rId66" Type="http://schemas.openxmlformats.org/officeDocument/2006/relationships/image" Target="../media/image116.png"/><Relationship Id="rId87" Type="http://schemas.openxmlformats.org/officeDocument/2006/relationships/image" Target="../media/image137.png"/><Relationship Id="rId110" Type="http://schemas.openxmlformats.org/officeDocument/2006/relationships/image" Target="../media/image160.png"/><Relationship Id="rId115" Type="http://schemas.openxmlformats.org/officeDocument/2006/relationships/image" Target="../media/image165.png"/><Relationship Id="rId131" Type="http://schemas.openxmlformats.org/officeDocument/2006/relationships/image" Target="../media/image181.png"/><Relationship Id="rId136" Type="http://schemas.openxmlformats.org/officeDocument/2006/relationships/image" Target="../media/image186.png"/><Relationship Id="rId157" Type="http://schemas.openxmlformats.org/officeDocument/2006/relationships/image" Target="../media/image207.png"/><Relationship Id="rId178" Type="http://schemas.openxmlformats.org/officeDocument/2006/relationships/image" Target="../media/image228.png"/><Relationship Id="rId61" Type="http://schemas.openxmlformats.org/officeDocument/2006/relationships/image" Target="../media/image111.png"/><Relationship Id="rId82" Type="http://schemas.openxmlformats.org/officeDocument/2006/relationships/image" Target="../media/image132.png"/><Relationship Id="rId152" Type="http://schemas.openxmlformats.org/officeDocument/2006/relationships/image" Target="../media/image202.png"/><Relationship Id="rId173" Type="http://schemas.openxmlformats.org/officeDocument/2006/relationships/image" Target="../media/image223.png"/><Relationship Id="rId194" Type="http://schemas.openxmlformats.org/officeDocument/2006/relationships/image" Target="../media/image244.png"/><Relationship Id="rId19" Type="http://schemas.openxmlformats.org/officeDocument/2006/relationships/image" Target="../media/image69.png"/><Relationship Id="rId14" Type="http://schemas.openxmlformats.org/officeDocument/2006/relationships/image" Target="../media/image64.png"/><Relationship Id="rId30" Type="http://schemas.openxmlformats.org/officeDocument/2006/relationships/image" Target="../media/image80.png"/><Relationship Id="rId35" Type="http://schemas.openxmlformats.org/officeDocument/2006/relationships/image" Target="../media/image85.png"/><Relationship Id="rId56" Type="http://schemas.openxmlformats.org/officeDocument/2006/relationships/image" Target="../media/image106.png"/><Relationship Id="rId77" Type="http://schemas.openxmlformats.org/officeDocument/2006/relationships/image" Target="../media/image127.png"/><Relationship Id="rId100" Type="http://schemas.openxmlformats.org/officeDocument/2006/relationships/image" Target="../media/image150.png"/><Relationship Id="rId105" Type="http://schemas.openxmlformats.org/officeDocument/2006/relationships/image" Target="../media/image155.png"/><Relationship Id="rId126" Type="http://schemas.openxmlformats.org/officeDocument/2006/relationships/image" Target="../media/image176.png"/><Relationship Id="rId147" Type="http://schemas.openxmlformats.org/officeDocument/2006/relationships/image" Target="../media/image197.png"/><Relationship Id="rId168" Type="http://schemas.openxmlformats.org/officeDocument/2006/relationships/image" Target="../media/image218.png"/><Relationship Id="rId8" Type="http://schemas.openxmlformats.org/officeDocument/2006/relationships/image" Target="../media/image58.png"/><Relationship Id="rId51" Type="http://schemas.openxmlformats.org/officeDocument/2006/relationships/image" Target="../media/image101.png"/><Relationship Id="rId72" Type="http://schemas.openxmlformats.org/officeDocument/2006/relationships/image" Target="../media/image122.png"/><Relationship Id="rId93" Type="http://schemas.openxmlformats.org/officeDocument/2006/relationships/image" Target="../media/image143.png"/><Relationship Id="rId98" Type="http://schemas.openxmlformats.org/officeDocument/2006/relationships/image" Target="../media/image148.png"/><Relationship Id="rId121" Type="http://schemas.openxmlformats.org/officeDocument/2006/relationships/image" Target="../media/image171.png"/><Relationship Id="rId142" Type="http://schemas.openxmlformats.org/officeDocument/2006/relationships/image" Target="../media/image192.png"/><Relationship Id="rId163" Type="http://schemas.openxmlformats.org/officeDocument/2006/relationships/image" Target="../media/image213.png"/><Relationship Id="rId184" Type="http://schemas.openxmlformats.org/officeDocument/2006/relationships/image" Target="../media/image234.png"/><Relationship Id="rId189" Type="http://schemas.openxmlformats.org/officeDocument/2006/relationships/image" Target="../media/image239.png"/><Relationship Id="rId3" Type="http://schemas.openxmlformats.org/officeDocument/2006/relationships/image" Target="../media/image53.png"/><Relationship Id="rId25" Type="http://schemas.openxmlformats.org/officeDocument/2006/relationships/image" Target="../media/image75.png"/><Relationship Id="rId46" Type="http://schemas.openxmlformats.org/officeDocument/2006/relationships/image" Target="../media/image96.png"/><Relationship Id="rId67" Type="http://schemas.openxmlformats.org/officeDocument/2006/relationships/image" Target="../media/image117.png"/><Relationship Id="rId116" Type="http://schemas.openxmlformats.org/officeDocument/2006/relationships/image" Target="../media/image166.png"/><Relationship Id="rId137" Type="http://schemas.openxmlformats.org/officeDocument/2006/relationships/image" Target="../media/image187.png"/><Relationship Id="rId158" Type="http://schemas.openxmlformats.org/officeDocument/2006/relationships/image" Target="../media/image208.png"/><Relationship Id="rId20" Type="http://schemas.openxmlformats.org/officeDocument/2006/relationships/image" Target="../media/image70.png"/><Relationship Id="rId41" Type="http://schemas.openxmlformats.org/officeDocument/2006/relationships/image" Target="../media/image91.png"/><Relationship Id="rId62" Type="http://schemas.openxmlformats.org/officeDocument/2006/relationships/image" Target="../media/image112.png"/><Relationship Id="rId83" Type="http://schemas.openxmlformats.org/officeDocument/2006/relationships/image" Target="../media/image133.png"/><Relationship Id="rId88" Type="http://schemas.openxmlformats.org/officeDocument/2006/relationships/image" Target="../media/image138.png"/><Relationship Id="rId111" Type="http://schemas.openxmlformats.org/officeDocument/2006/relationships/image" Target="../media/image161.png"/><Relationship Id="rId132" Type="http://schemas.openxmlformats.org/officeDocument/2006/relationships/image" Target="../media/image182.png"/><Relationship Id="rId153" Type="http://schemas.openxmlformats.org/officeDocument/2006/relationships/image" Target="../media/image203.png"/><Relationship Id="rId174" Type="http://schemas.openxmlformats.org/officeDocument/2006/relationships/image" Target="../media/image224.png"/><Relationship Id="rId179" Type="http://schemas.openxmlformats.org/officeDocument/2006/relationships/image" Target="../media/image229.png"/><Relationship Id="rId195" Type="http://schemas.openxmlformats.org/officeDocument/2006/relationships/image" Target="../media/image245.png"/><Relationship Id="rId190" Type="http://schemas.openxmlformats.org/officeDocument/2006/relationships/image" Target="../media/image240.png"/><Relationship Id="rId15" Type="http://schemas.openxmlformats.org/officeDocument/2006/relationships/image" Target="../media/image65.png"/><Relationship Id="rId36" Type="http://schemas.openxmlformats.org/officeDocument/2006/relationships/image" Target="../media/image86.png"/><Relationship Id="rId57" Type="http://schemas.openxmlformats.org/officeDocument/2006/relationships/image" Target="../media/image107.png"/><Relationship Id="rId106" Type="http://schemas.openxmlformats.org/officeDocument/2006/relationships/image" Target="../media/image156.png"/><Relationship Id="rId127" Type="http://schemas.openxmlformats.org/officeDocument/2006/relationships/image" Target="../media/image177.png"/><Relationship Id="rId10" Type="http://schemas.openxmlformats.org/officeDocument/2006/relationships/image" Target="../media/image60.png"/><Relationship Id="rId31" Type="http://schemas.openxmlformats.org/officeDocument/2006/relationships/image" Target="../media/image81.png"/><Relationship Id="rId52" Type="http://schemas.openxmlformats.org/officeDocument/2006/relationships/image" Target="../media/image102.png"/><Relationship Id="rId73" Type="http://schemas.openxmlformats.org/officeDocument/2006/relationships/image" Target="../media/image123.png"/><Relationship Id="rId78" Type="http://schemas.openxmlformats.org/officeDocument/2006/relationships/image" Target="../media/image128.png"/><Relationship Id="rId94" Type="http://schemas.openxmlformats.org/officeDocument/2006/relationships/image" Target="../media/image144.png"/><Relationship Id="rId99" Type="http://schemas.openxmlformats.org/officeDocument/2006/relationships/image" Target="../media/image149.png"/><Relationship Id="rId101" Type="http://schemas.openxmlformats.org/officeDocument/2006/relationships/image" Target="../media/image151.png"/><Relationship Id="rId122" Type="http://schemas.openxmlformats.org/officeDocument/2006/relationships/image" Target="../media/image172.png"/><Relationship Id="rId143" Type="http://schemas.openxmlformats.org/officeDocument/2006/relationships/image" Target="../media/image193.png"/><Relationship Id="rId148" Type="http://schemas.openxmlformats.org/officeDocument/2006/relationships/image" Target="../media/image198.png"/><Relationship Id="rId164" Type="http://schemas.openxmlformats.org/officeDocument/2006/relationships/image" Target="../media/image214.png"/><Relationship Id="rId169" Type="http://schemas.openxmlformats.org/officeDocument/2006/relationships/image" Target="../media/image219.png"/><Relationship Id="rId185" Type="http://schemas.openxmlformats.org/officeDocument/2006/relationships/image" Target="../media/image235.png"/><Relationship Id="rId4" Type="http://schemas.openxmlformats.org/officeDocument/2006/relationships/image" Target="../media/image54.png"/><Relationship Id="rId9" Type="http://schemas.openxmlformats.org/officeDocument/2006/relationships/image" Target="../media/image59.png"/><Relationship Id="rId180" Type="http://schemas.openxmlformats.org/officeDocument/2006/relationships/image" Target="../media/image230.png"/><Relationship Id="rId26" Type="http://schemas.openxmlformats.org/officeDocument/2006/relationships/image" Target="../media/image7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248.png"/><Relationship Id="rId3" Type="http://schemas.openxmlformats.org/officeDocument/2006/relationships/slideLayout" Target="../slideLayouts/slideLayout2.xml"/><Relationship Id="rId7" Type="http://schemas.openxmlformats.org/officeDocument/2006/relationships/hyperlink" Target="https://camaraproject.org/api-overview/" TargetMode="External"/><Relationship Id="rId2" Type="http://schemas.openxmlformats.org/officeDocument/2006/relationships/tags" Target="../tags/tag24.xml"/><Relationship Id="rId1" Type="http://schemas.openxmlformats.org/officeDocument/2006/relationships/vmlDrawing" Target="../drawings/vmlDrawing2.v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49.png"/><Relationship Id="rId2" Type="http://schemas.openxmlformats.org/officeDocument/2006/relationships/tags" Target="../tags/tag25.xml"/><Relationship Id="rId1" Type="http://schemas.openxmlformats.org/officeDocument/2006/relationships/vmlDrawing" Target="../drawings/vmlDrawing3.v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xml"/><Relationship Id="rId1" Type="http://schemas.openxmlformats.org/officeDocument/2006/relationships/vmlDrawing" Target="../drawings/vmlDrawing4.vml"/><Relationship Id="rId6" Type="http://schemas.openxmlformats.org/officeDocument/2006/relationships/image" Target="../media/image1.emf"/><Relationship Id="rId5" Type="http://schemas.openxmlformats.org/officeDocument/2006/relationships/oleObject" Target="../embeddings/oleObject4.bin"/><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8" Type="http://schemas.openxmlformats.org/officeDocument/2006/relationships/image" Target="../media/image255.png"/><Relationship Id="rId13" Type="http://schemas.openxmlformats.org/officeDocument/2006/relationships/image" Target="../media/image260.png"/><Relationship Id="rId18" Type="http://schemas.openxmlformats.org/officeDocument/2006/relationships/image" Target="../media/image265.png"/><Relationship Id="rId26" Type="http://schemas.openxmlformats.org/officeDocument/2006/relationships/image" Target="../media/image273.png"/><Relationship Id="rId3" Type="http://schemas.openxmlformats.org/officeDocument/2006/relationships/image" Target="../media/image250.png"/><Relationship Id="rId21" Type="http://schemas.openxmlformats.org/officeDocument/2006/relationships/image" Target="../media/image268.png"/><Relationship Id="rId7" Type="http://schemas.openxmlformats.org/officeDocument/2006/relationships/image" Target="../media/image254.png"/><Relationship Id="rId12" Type="http://schemas.openxmlformats.org/officeDocument/2006/relationships/image" Target="../media/image259.png"/><Relationship Id="rId17" Type="http://schemas.openxmlformats.org/officeDocument/2006/relationships/image" Target="../media/image264.png"/><Relationship Id="rId25" Type="http://schemas.openxmlformats.org/officeDocument/2006/relationships/image" Target="../media/image272.png"/><Relationship Id="rId2" Type="http://schemas.openxmlformats.org/officeDocument/2006/relationships/notesSlide" Target="../notesSlides/notesSlide26.xml"/><Relationship Id="rId16" Type="http://schemas.openxmlformats.org/officeDocument/2006/relationships/image" Target="../media/image263.png"/><Relationship Id="rId20" Type="http://schemas.openxmlformats.org/officeDocument/2006/relationships/image" Target="../media/image267.png"/><Relationship Id="rId1" Type="http://schemas.openxmlformats.org/officeDocument/2006/relationships/slideLayout" Target="../slideLayouts/slideLayout2.xml"/><Relationship Id="rId6" Type="http://schemas.openxmlformats.org/officeDocument/2006/relationships/image" Target="../media/image253.png"/><Relationship Id="rId11" Type="http://schemas.openxmlformats.org/officeDocument/2006/relationships/image" Target="../media/image258.png"/><Relationship Id="rId24" Type="http://schemas.openxmlformats.org/officeDocument/2006/relationships/image" Target="../media/image271.png"/><Relationship Id="rId5" Type="http://schemas.openxmlformats.org/officeDocument/2006/relationships/image" Target="../media/image252.png"/><Relationship Id="rId15" Type="http://schemas.openxmlformats.org/officeDocument/2006/relationships/image" Target="../media/image262.png"/><Relationship Id="rId23" Type="http://schemas.openxmlformats.org/officeDocument/2006/relationships/image" Target="../media/image270.png"/><Relationship Id="rId10" Type="http://schemas.openxmlformats.org/officeDocument/2006/relationships/image" Target="../media/image257.png"/><Relationship Id="rId19" Type="http://schemas.openxmlformats.org/officeDocument/2006/relationships/image" Target="../media/image266.png"/><Relationship Id="rId4" Type="http://schemas.openxmlformats.org/officeDocument/2006/relationships/image" Target="../media/image251.png"/><Relationship Id="rId9" Type="http://schemas.openxmlformats.org/officeDocument/2006/relationships/image" Target="../media/image256.png"/><Relationship Id="rId14" Type="http://schemas.openxmlformats.org/officeDocument/2006/relationships/image" Target="../media/image261.png"/><Relationship Id="rId22" Type="http://schemas.openxmlformats.org/officeDocument/2006/relationships/image" Target="../media/image269.png"/><Relationship Id="rId27" Type="http://schemas.openxmlformats.org/officeDocument/2006/relationships/hyperlink" Target="https://camaraproject.org/resources/"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open-gateway.gsma.com/"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74.png"/></Relationships>
</file>

<file path=ppt/slides/_rels/slide28.xml.rels><?xml version="1.0" encoding="UTF-8" standalone="yes"?>
<Relationships xmlns="http://schemas.openxmlformats.org/package/2006/relationships"><Relationship Id="rId3" Type="http://schemas.openxmlformats.org/officeDocument/2006/relationships/image" Target="../media/image27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281.png"/><Relationship Id="rId3" Type="http://schemas.openxmlformats.org/officeDocument/2006/relationships/image" Target="../media/image276.png"/><Relationship Id="rId7" Type="http://schemas.openxmlformats.org/officeDocument/2006/relationships/image" Target="../media/image280.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79.png"/><Relationship Id="rId5" Type="http://schemas.openxmlformats.org/officeDocument/2006/relationships/image" Target="../media/image278.png"/><Relationship Id="rId4" Type="http://schemas.openxmlformats.org/officeDocument/2006/relationships/image" Target="../media/image277.png"/></Relationships>
</file>

<file path=ppt/slides/_rels/slide31.xml.rels><?xml version="1.0" encoding="UTF-8" standalone="yes"?>
<Relationships xmlns="http://schemas.openxmlformats.org/package/2006/relationships"><Relationship Id="rId3" Type="http://schemas.openxmlformats.org/officeDocument/2006/relationships/image" Target="../media/image282.png"/><Relationship Id="rId7" Type="http://schemas.openxmlformats.org/officeDocument/2006/relationships/image" Target="../media/image286.jpe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85.jpeg"/><Relationship Id="rId5" Type="http://schemas.openxmlformats.org/officeDocument/2006/relationships/image" Target="../media/image284.jpg"/><Relationship Id="rId4" Type="http://schemas.openxmlformats.org/officeDocument/2006/relationships/image" Target="../media/image283.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88.png"/><Relationship Id="rId2" Type="http://schemas.openxmlformats.org/officeDocument/2006/relationships/tags" Target="../tags/tag27.xml"/><Relationship Id="rId1" Type="http://schemas.openxmlformats.org/officeDocument/2006/relationships/vmlDrawing" Target="../drawings/vmlDrawing5.vml"/><Relationship Id="rId6" Type="http://schemas.openxmlformats.org/officeDocument/2006/relationships/image" Target="../media/image287.emf"/><Relationship Id="rId5" Type="http://schemas.openxmlformats.org/officeDocument/2006/relationships/oleObject" Target="../embeddings/oleObject5.bin"/><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image" Target="../media/image289.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9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9.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xml"/><Relationship Id="rId1" Type="http://schemas.openxmlformats.org/officeDocument/2006/relationships/vmlDrawing" Target="../drawings/vmlDrawing6.vml"/><Relationship Id="rId5" Type="http://schemas.openxmlformats.org/officeDocument/2006/relationships/image" Target="../media/image287.emf"/><Relationship Id="rId4" Type="http://schemas.openxmlformats.org/officeDocument/2006/relationships/oleObject" Target="../embeddings/oleObject6.bin"/></Relationships>
</file>

<file path=ppt/slides/_rels/slide37.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4.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95.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96.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hyperlink" Target="https://camaraproject.org/api-overview/"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299.png"/><Relationship Id="rId5" Type="http://schemas.openxmlformats.org/officeDocument/2006/relationships/image" Target="../media/image298.png"/><Relationship Id="rId4" Type="http://schemas.openxmlformats.org/officeDocument/2006/relationships/image" Target="../media/image297.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mailto:all+subscribe@lists.camaraproject.org"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hyperlink" Target="https://github.com/camaraproject" TargetMode="External"/><Relationship Id="rId4" Type="http://schemas.openxmlformats.org/officeDocument/2006/relationships/image" Target="../media/image300.png"/></Relationships>
</file>

<file path=ppt/slides/_rels/slide48.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302.png"/></Relationships>
</file>

<file path=ppt/slides/_rels/slide49.xml.rels><?xml version="1.0" encoding="UTF-8" standalone="yes"?>
<Relationships xmlns="http://schemas.openxmlformats.org/package/2006/relationships"><Relationship Id="rId3" Type="http://schemas.openxmlformats.org/officeDocument/2006/relationships/image" Target="../media/image303.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305.png"/><Relationship Id="rId4" Type="http://schemas.openxmlformats.org/officeDocument/2006/relationships/image" Target="../media/image304.png"/></Relationships>
</file>

<file path=ppt/slides/_rels/slide50.xml.rels><?xml version="1.0" encoding="UTF-8" standalone="yes"?>
<Relationships xmlns="http://schemas.openxmlformats.org/package/2006/relationships"><Relationship Id="rId3" Type="http://schemas.openxmlformats.org/officeDocument/2006/relationships/image" Target="../media/image306.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hyperlink" Target="https://www.open-gateway.com/operators-map" TargetMode="External"/></Relationships>
</file>

<file path=ppt/slides/_rels/slide51.xml.rels><?xml version="1.0" encoding="UTF-8" standalone="yes"?>
<Relationships xmlns="http://schemas.openxmlformats.org/package/2006/relationships"><Relationship Id="rId3" Type="http://schemas.openxmlformats.org/officeDocument/2006/relationships/image" Target="../media/image307.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15.png"/><Relationship Id="rId4" Type="http://schemas.openxmlformats.org/officeDocument/2006/relationships/image" Target="../media/image308.png"/></Relationships>
</file>

<file path=ppt/slides/_rels/slide53.xml.rels><?xml version="1.0" encoding="UTF-8" standalone="yes"?>
<Relationships xmlns="http://schemas.openxmlformats.org/package/2006/relationships"><Relationship Id="rId8" Type="http://schemas.openxmlformats.org/officeDocument/2006/relationships/image" Target="../media/image314.png"/><Relationship Id="rId3" Type="http://schemas.openxmlformats.org/officeDocument/2006/relationships/image" Target="../media/image309.png"/><Relationship Id="rId7" Type="http://schemas.openxmlformats.org/officeDocument/2006/relationships/image" Target="../media/image313.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312.png"/><Relationship Id="rId5" Type="http://schemas.openxmlformats.org/officeDocument/2006/relationships/image" Target="../media/image311.png"/><Relationship Id="rId4" Type="http://schemas.openxmlformats.org/officeDocument/2006/relationships/image" Target="../media/image310.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hyperlink" Target="https://enrollment.lfx.linuxfoundation.org/?project=camarafund" TargetMode="External"/><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315.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16.png"/><Relationship Id="rId7" Type="http://schemas.openxmlformats.org/officeDocument/2006/relationships/hyperlink" Target="https://enrollment.lfx.linuxfoundation.org/?project=camarafund" TargetMode="External"/><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hyperlink" Target="mailto:adm@lists.camaraproject.org" TargetMode="External"/><Relationship Id="rId5" Type="http://schemas.openxmlformats.org/officeDocument/2006/relationships/hyperlink" Target="mailto:all+subscribe@lists.camaraproject.org" TargetMode="External"/><Relationship Id="rId4" Type="http://schemas.openxmlformats.org/officeDocument/2006/relationships/hyperlink" Target="https://github.com/camaraproject" TargetMode="External"/></Relationships>
</file>

<file path=ppt/slides/_rels/slide63.xml.rels><?xml version="1.0" encoding="UTF-8" standalone="yes"?>
<Relationships xmlns="http://schemas.openxmlformats.org/package/2006/relationships"><Relationship Id="rId3" Type="http://schemas.openxmlformats.org/officeDocument/2006/relationships/image" Target="../media/image317.pn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
          <p:cNvSpPr txBox="1">
            <a:spLocks noGrp="1"/>
          </p:cNvSpPr>
          <p:nvPr>
            <p:ph type="body" idx="1"/>
          </p:nvPr>
        </p:nvSpPr>
        <p:spPr>
          <a:xfrm>
            <a:off x="1324304" y="2834820"/>
            <a:ext cx="8886496" cy="2217600"/>
          </a:xfrm>
          <a:prstGeom prst="rect">
            <a:avLst/>
          </a:prstGeom>
          <a:noFill/>
          <a:ln>
            <a:noFill/>
          </a:ln>
        </p:spPr>
        <p:txBody>
          <a:bodyPr spcFirstLastPara="1" wrap="square" lIns="0" tIns="0" rIns="0" bIns="0" anchor="ctr" anchorCtr="0">
            <a:noAutofit/>
          </a:bodyPr>
          <a:lstStyle/>
          <a:p>
            <a:pPr marL="0" lvl="0" indent="0" algn="l" rtl="0">
              <a:lnSpc>
                <a:spcPct val="104000"/>
              </a:lnSpc>
              <a:spcBef>
                <a:spcPts val="0"/>
              </a:spcBef>
              <a:spcAft>
                <a:spcPts val="0"/>
              </a:spcAft>
              <a:buClr>
                <a:schemeClr val="lt1"/>
              </a:buClr>
              <a:buSzPts val="4400"/>
              <a:buNone/>
            </a:pPr>
            <a:r>
              <a:rPr lang="en-US" dirty="0">
                <a:latin typeface="Montserrat Medium"/>
                <a:ea typeface="Montserrat Medium"/>
                <a:cs typeface="Montserrat Medium"/>
                <a:sym typeface="Montserrat Medium"/>
              </a:rPr>
              <a:t>Presentation</a:t>
            </a:r>
            <a:endParaRPr dirty="0">
              <a:latin typeface="Montserrat Medium"/>
              <a:ea typeface="Montserrat Medium"/>
              <a:cs typeface="Montserrat Medium"/>
              <a:sym typeface="Montserrat Medium"/>
            </a:endParaRPr>
          </a:p>
        </p:txBody>
      </p:sp>
      <p:sp>
        <p:nvSpPr>
          <p:cNvPr id="144" name="Google Shape;144;p1"/>
          <p:cNvSpPr txBox="1">
            <a:spLocks noGrp="1"/>
          </p:cNvSpPr>
          <p:nvPr>
            <p:ph type="body" idx="2"/>
          </p:nvPr>
        </p:nvSpPr>
        <p:spPr>
          <a:xfrm>
            <a:off x="1324304" y="5484422"/>
            <a:ext cx="8886496" cy="320088"/>
          </a:xfrm>
          <a:prstGeom prst="rect">
            <a:avLst/>
          </a:prstGeom>
          <a:noFill/>
          <a:ln>
            <a:noFill/>
          </a:ln>
        </p:spPr>
        <p:txBody>
          <a:bodyPr spcFirstLastPara="1" wrap="square" lIns="0" tIns="0" rIns="0" bIns="0" anchor="t" anchorCtr="0">
            <a:spAutoFit/>
          </a:bodyPr>
          <a:lstStyle/>
          <a:p>
            <a:pPr marL="0" lvl="0" indent="0" algn="l" rtl="0">
              <a:lnSpc>
                <a:spcPct val="104000"/>
              </a:lnSpc>
              <a:spcBef>
                <a:spcPts val="0"/>
              </a:spcBef>
              <a:spcAft>
                <a:spcPts val="0"/>
              </a:spcAft>
              <a:buClr>
                <a:schemeClr val="lt1"/>
              </a:buClr>
              <a:buSzPts val="2000"/>
              <a:buNone/>
            </a:pPr>
            <a:r>
              <a:rPr lang="en-US" dirty="0" smtClean="0"/>
              <a:t>31.10.2026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Content of the CAMARA</a:t>
            </a:r>
            <a:br>
              <a:rPr lang="en-US"/>
            </a:br>
            <a:r>
              <a:rPr lang="en-US"/>
              <a:t>presentation</a:t>
            </a:r>
            <a:endParaRPr/>
          </a:p>
        </p:txBody>
      </p:sp>
      <p:sp>
        <p:nvSpPr>
          <p:cNvPr id="151" name="Google Shape;151;p2"/>
          <p:cNvSpPr txBox="1">
            <a:spLocks noGrp="1"/>
          </p:cNvSpPr>
          <p:nvPr>
            <p:ph type="body" idx="1"/>
          </p:nvPr>
        </p:nvSpPr>
        <p:spPr>
          <a:xfrm>
            <a:off x="444373" y="1890346"/>
            <a:ext cx="10944225" cy="4124383"/>
          </a:xfrm>
          <a:prstGeom prst="rect">
            <a:avLst/>
          </a:prstGeom>
          <a:noFill/>
          <a:ln>
            <a:noFill/>
          </a:ln>
        </p:spPr>
        <p:txBody>
          <a:bodyPr spcFirstLastPara="1" wrap="square" lIns="0" tIns="0" rIns="0" bIns="0" anchor="t" anchorCtr="0">
            <a:noAutofit/>
          </a:bodyPr>
          <a:lstStyle/>
          <a:p>
            <a:pPr marL="171450" lvl="0" indent="-171450" algn="l" rtl="0">
              <a:lnSpc>
                <a:spcPct val="104000"/>
              </a:lnSpc>
              <a:spcBef>
                <a:spcPts val="0"/>
              </a:spcBef>
              <a:spcAft>
                <a:spcPts val="0"/>
              </a:spcAft>
              <a:buClr>
                <a:srgbClr val="3A9BF3"/>
              </a:buClr>
              <a:buSzPts val="1200"/>
              <a:buFont typeface="Montserrat"/>
              <a:buChar char="•"/>
            </a:pPr>
            <a:r>
              <a:rPr lang="en-US" sz="1200" b="1" dirty="0">
                <a:solidFill>
                  <a:srgbClr val="3A9BF3"/>
                </a:solidFill>
                <a:latin typeface="Montserrat"/>
                <a:ea typeface="Montserrat"/>
                <a:cs typeface="Montserrat"/>
                <a:sym typeface="Montserrat"/>
              </a:rPr>
              <a:t>#3</a:t>
            </a:r>
            <a:r>
              <a:rPr lang="en-US" sz="1200" dirty="0">
                <a:latin typeface="Montserrat Medium"/>
                <a:ea typeface="Montserrat Medium"/>
                <a:cs typeface="Montserrat Medium"/>
                <a:sym typeface="Montserrat Medium"/>
              </a:rPr>
              <a:t>	CAMARA Mission</a:t>
            </a:r>
            <a:endParaRPr dirty="0"/>
          </a:p>
          <a:p>
            <a:pPr marL="171450" lvl="0" indent="-171450" algn="l" rtl="0">
              <a:lnSpc>
                <a:spcPct val="104000"/>
              </a:lnSpc>
              <a:spcBef>
                <a:spcPts val="1200"/>
              </a:spcBef>
              <a:spcAft>
                <a:spcPts val="0"/>
              </a:spcAft>
              <a:buClr>
                <a:srgbClr val="3A9BF3"/>
              </a:buClr>
              <a:buSzPts val="1200"/>
              <a:buFont typeface="Montserrat"/>
              <a:buChar char="•"/>
            </a:pPr>
            <a:r>
              <a:rPr lang="en-US" sz="1200" b="1" dirty="0">
                <a:solidFill>
                  <a:srgbClr val="3A9BF3"/>
                </a:solidFill>
                <a:latin typeface="Montserrat"/>
                <a:ea typeface="Montserrat"/>
                <a:cs typeface="Montserrat"/>
                <a:sym typeface="Montserrat"/>
              </a:rPr>
              <a:t>#4-#7</a:t>
            </a:r>
            <a:r>
              <a:rPr lang="en-US" sz="1200" dirty="0">
                <a:latin typeface="Montserrat Medium"/>
                <a:ea typeface="Montserrat Medium"/>
                <a:cs typeface="Montserrat Medium"/>
                <a:sym typeface="Montserrat Medium"/>
              </a:rPr>
              <a:t>	CAMARA Motivation – Key problems we try to solve</a:t>
            </a:r>
            <a:endParaRPr dirty="0"/>
          </a:p>
          <a:p>
            <a:pPr marL="171450" lvl="0" indent="-171450" algn="l" rtl="0">
              <a:lnSpc>
                <a:spcPct val="104000"/>
              </a:lnSpc>
              <a:spcBef>
                <a:spcPts val="1200"/>
              </a:spcBef>
              <a:spcAft>
                <a:spcPts val="0"/>
              </a:spcAft>
              <a:buClr>
                <a:srgbClr val="3A9BF3"/>
              </a:buClr>
              <a:buSzPts val="1200"/>
              <a:buFont typeface="Montserrat"/>
              <a:buChar char="•"/>
            </a:pPr>
            <a:r>
              <a:rPr lang="en-US" sz="1200" b="1" dirty="0">
                <a:solidFill>
                  <a:srgbClr val="3A9BF3"/>
                </a:solidFill>
                <a:latin typeface="Montserrat"/>
                <a:ea typeface="Montserrat"/>
                <a:cs typeface="Montserrat"/>
                <a:sym typeface="Montserrat"/>
              </a:rPr>
              <a:t>#8-#15</a:t>
            </a:r>
            <a:r>
              <a:rPr lang="en-US" sz="1200" dirty="0">
                <a:latin typeface="Montserrat Medium"/>
                <a:ea typeface="Montserrat Medium"/>
                <a:cs typeface="Montserrat Medium"/>
                <a:sym typeface="Montserrat Medium"/>
              </a:rPr>
              <a:t>	CAMARA Scope, Collaboration with Open Gateway and TM Forum, API Distribution Options</a:t>
            </a:r>
            <a:endParaRPr dirty="0"/>
          </a:p>
          <a:p>
            <a:pPr marL="171450" lvl="0" indent="-171450" algn="l" rtl="0">
              <a:lnSpc>
                <a:spcPct val="104000"/>
              </a:lnSpc>
              <a:spcBef>
                <a:spcPts val="1200"/>
              </a:spcBef>
              <a:spcAft>
                <a:spcPts val="0"/>
              </a:spcAft>
              <a:buClr>
                <a:srgbClr val="3A9BF3"/>
              </a:buClr>
              <a:buSzPts val="1200"/>
              <a:buFont typeface="Montserrat"/>
              <a:buChar char="•"/>
            </a:pPr>
            <a:r>
              <a:rPr lang="en-US" sz="1200" b="1" dirty="0">
                <a:solidFill>
                  <a:srgbClr val="3A9BF3"/>
                </a:solidFill>
                <a:latin typeface="Montserrat"/>
                <a:ea typeface="Montserrat"/>
                <a:cs typeface="Montserrat"/>
                <a:sym typeface="Montserrat"/>
              </a:rPr>
              <a:t>#16	</a:t>
            </a:r>
            <a:r>
              <a:rPr lang="en-US" sz="1200" dirty="0">
                <a:latin typeface="Montserrat Medium"/>
                <a:ea typeface="Montserrat Medium"/>
                <a:cs typeface="Montserrat Medium"/>
                <a:sym typeface="Montserrat Medium"/>
              </a:rPr>
              <a:t>What is different now in comparison to former API exposure trials?</a:t>
            </a:r>
            <a:endParaRPr dirty="0"/>
          </a:p>
          <a:p>
            <a:pPr marL="171450" lvl="0" indent="-171450" algn="l" rtl="0">
              <a:lnSpc>
                <a:spcPct val="104000"/>
              </a:lnSpc>
              <a:spcBef>
                <a:spcPts val="1200"/>
              </a:spcBef>
              <a:spcAft>
                <a:spcPts val="0"/>
              </a:spcAft>
              <a:buClr>
                <a:srgbClr val="3A9BF3"/>
              </a:buClr>
              <a:buSzPts val="1200"/>
              <a:buFont typeface="Montserrat"/>
              <a:buChar char="•"/>
            </a:pPr>
            <a:r>
              <a:rPr lang="en-US" sz="1200" b="1" dirty="0">
                <a:solidFill>
                  <a:srgbClr val="3A9BF3"/>
                </a:solidFill>
                <a:latin typeface="Montserrat"/>
                <a:ea typeface="Montserrat"/>
                <a:cs typeface="Montserrat"/>
                <a:sym typeface="Montserrat"/>
              </a:rPr>
              <a:t>#17-#19</a:t>
            </a:r>
            <a:r>
              <a:rPr lang="en-US" sz="1200" dirty="0">
                <a:latin typeface="Montserrat Medium"/>
                <a:ea typeface="Montserrat Medium"/>
                <a:cs typeface="Montserrat Medium"/>
                <a:sym typeface="Montserrat Medium"/>
              </a:rPr>
              <a:t>	History, Logos &amp; Current Figures – Where we started and where we are now</a:t>
            </a:r>
            <a:endParaRPr dirty="0"/>
          </a:p>
          <a:p>
            <a:pPr marL="171450" lvl="0" indent="-171450" algn="l" rtl="0">
              <a:lnSpc>
                <a:spcPct val="104000"/>
              </a:lnSpc>
              <a:spcBef>
                <a:spcPts val="1200"/>
              </a:spcBef>
              <a:spcAft>
                <a:spcPts val="0"/>
              </a:spcAft>
              <a:buClr>
                <a:srgbClr val="3A9BF3"/>
              </a:buClr>
              <a:buSzPts val="1200"/>
              <a:buFont typeface="Montserrat"/>
              <a:buChar char="•"/>
            </a:pPr>
            <a:r>
              <a:rPr lang="en-US" sz="1200" b="1" dirty="0">
                <a:solidFill>
                  <a:srgbClr val="3A9BF3"/>
                </a:solidFill>
                <a:latin typeface="Montserrat"/>
                <a:ea typeface="Montserrat"/>
                <a:cs typeface="Montserrat"/>
                <a:sym typeface="Montserrat"/>
              </a:rPr>
              <a:t>#20-#28</a:t>
            </a:r>
            <a:r>
              <a:rPr lang="en-US" sz="1200" dirty="0">
                <a:latin typeface="Montserrat Medium"/>
                <a:ea typeface="Montserrat Medium"/>
                <a:cs typeface="Montserrat Medium"/>
                <a:sym typeface="Montserrat Medium"/>
              </a:rPr>
              <a:t>	Current Meta Release, CAMARA APIs, Showcases, Public Launch Status</a:t>
            </a:r>
            <a:endParaRPr dirty="0"/>
          </a:p>
          <a:p>
            <a:pPr marL="171450" lvl="0" indent="-171450" algn="l" rtl="0">
              <a:lnSpc>
                <a:spcPct val="104000"/>
              </a:lnSpc>
              <a:spcBef>
                <a:spcPts val="1200"/>
              </a:spcBef>
              <a:spcAft>
                <a:spcPts val="0"/>
              </a:spcAft>
              <a:buClr>
                <a:srgbClr val="3A9BF3"/>
              </a:buClr>
              <a:buSzPts val="1200"/>
              <a:buFont typeface="Montserrat"/>
              <a:buChar char="•"/>
            </a:pPr>
            <a:r>
              <a:rPr lang="en-US" sz="1200" b="1" dirty="0">
                <a:solidFill>
                  <a:srgbClr val="3A9BF3"/>
                </a:solidFill>
                <a:latin typeface="Montserrat"/>
                <a:ea typeface="Montserrat"/>
                <a:cs typeface="Montserrat"/>
                <a:sym typeface="Montserrat"/>
              </a:rPr>
              <a:t>#29-#32</a:t>
            </a:r>
            <a:r>
              <a:rPr lang="en-US" sz="1200" dirty="0">
                <a:latin typeface="Montserrat Medium"/>
                <a:ea typeface="Montserrat Medium"/>
                <a:cs typeface="Montserrat Medium"/>
                <a:sym typeface="Montserrat Medium"/>
              </a:rPr>
              <a:t>	5G network capabilities, Potential Business Use Cases</a:t>
            </a:r>
            <a:endParaRPr dirty="0"/>
          </a:p>
          <a:p>
            <a:pPr marL="171450" indent="-171450">
              <a:buClr>
                <a:srgbClr val="3A9BF3"/>
              </a:buClr>
              <a:buSzPts val="1200"/>
              <a:buFont typeface="Montserrat"/>
              <a:buChar char="•"/>
            </a:pPr>
            <a:r>
              <a:rPr lang="en-US" sz="1200" b="1" dirty="0">
                <a:solidFill>
                  <a:srgbClr val="3A9BF3"/>
                </a:solidFill>
                <a:latin typeface="Montserrat"/>
                <a:ea typeface="Montserrat"/>
                <a:cs typeface="Montserrat"/>
                <a:sym typeface="Montserrat"/>
              </a:rPr>
              <a:t>#33-</a:t>
            </a:r>
            <a:r>
              <a:rPr lang="en-US" sz="1200" b="1" dirty="0" smtClean="0">
                <a:solidFill>
                  <a:srgbClr val="3A9BF3"/>
                </a:solidFill>
                <a:latin typeface="Montserrat"/>
                <a:ea typeface="Montserrat"/>
                <a:cs typeface="Montserrat"/>
                <a:sym typeface="Montserrat"/>
              </a:rPr>
              <a:t>#40</a:t>
            </a:r>
            <a:r>
              <a:rPr lang="en-US" sz="1200" dirty="0">
                <a:latin typeface="Montserrat Medium"/>
                <a:ea typeface="Montserrat Medium"/>
                <a:cs typeface="Montserrat Medium"/>
                <a:sym typeface="Montserrat Medium"/>
              </a:rPr>
              <a:t>	The API ecosystem – Current status and challenges / Prepare for Agentic AI</a:t>
            </a:r>
            <a:endParaRPr lang="en-US" sz="1200" dirty="0"/>
          </a:p>
          <a:p>
            <a:pPr marL="171450" lvl="0" indent="-171450" algn="l" rtl="0">
              <a:lnSpc>
                <a:spcPct val="104000"/>
              </a:lnSpc>
              <a:spcBef>
                <a:spcPts val="1200"/>
              </a:spcBef>
              <a:spcAft>
                <a:spcPts val="0"/>
              </a:spcAft>
              <a:buClr>
                <a:srgbClr val="3A9BF3"/>
              </a:buClr>
              <a:buSzPts val="1200"/>
              <a:buFont typeface="Montserrat"/>
              <a:buChar char="•"/>
            </a:pPr>
            <a:r>
              <a:rPr lang="en-US" sz="1200" b="1" dirty="0">
                <a:solidFill>
                  <a:srgbClr val="3A9BF3"/>
                </a:solidFill>
                <a:latin typeface="Montserrat"/>
                <a:ea typeface="Montserrat"/>
                <a:cs typeface="Montserrat"/>
                <a:sym typeface="Montserrat"/>
              </a:rPr>
              <a:t>#</a:t>
            </a:r>
            <a:r>
              <a:rPr lang="en-US" sz="1200" b="1" dirty="0" smtClean="0">
                <a:solidFill>
                  <a:srgbClr val="3A9BF3"/>
                </a:solidFill>
                <a:latin typeface="Montserrat"/>
                <a:ea typeface="Montserrat"/>
                <a:cs typeface="Montserrat"/>
                <a:sym typeface="Montserrat"/>
              </a:rPr>
              <a:t>41-</a:t>
            </a:r>
            <a:r>
              <a:rPr lang="en-US" sz="1200" b="1" dirty="0">
                <a:solidFill>
                  <a:srgbClr val="3A9BF3"/>
                </a:solidFill>
                <a:latin typeface="Montserrat"/>
                <a:ea typeface="Montserrat"/>
                <a:cs typeface="Montserrat"/>
                <a:sym typeface="Montserrat"/>
              </a:rPr>
              <a:t>#</a:t>
            </a:r>
            <a:r>
              <a:rPr lang="en-US" sz="1200" b="1" dirty="0" smtClean="0">
                <a:solidFill>
                  <a:srgbClr val="3A9BF3"/>
                </a:solidFill>
                <a:latin typeface="Montserrat"/>
                <a:ea typeface="Montserrat"/>
                <a:cs typeface="Montserrat"/>
                <a:sym typeface="Montserrat"/>
              </a:rPr>
              <a:t>45</a:t>
            </a:r>
            <a:r>
              <a:rPr lang="en-US" sz="1200" dirty="0">
                <a:latin typeface="Montserrat Medium"/>
                <a:ea typeface="Montserrat Medium"/>
                <a:cs typeface="Montserrat Medium"/>
                <a:sym typeface="Montserrat Medium"/>
              </a:rPr>
              <a:t>	Benefit for developers to use CAMARA APIs &amp; Getting Started</a:t>
            </a:r>
            <a:endParaRPr dirty="0"/>
          </a:p>
          <a:p>
            <a:pPr marL="171450" lvl="0" indent="-171450" algn="l" rtl="0">
              <a:lnSpc>
                <a:spcPct val="104000"/>
              </a:lnSpc>
              <a:spcBef>
                <a:spcPts val="1200"/>
              </a:spcBef>
              <a:spcAft>
                <a:spcPts val="0"/>
              </a:spcAft>
              <a:buClr>
                <a:srgbClr val="3A9BF3"/>
              </a:buClr>
              <a:buSzPts val="1200"/>
              <a:buFont typeface="Montserrat"/>
              <a:buChar char="•"/>
            </a:pPr>
            <a:r>
              <a:rPr lang="en-US" sz="1200" b="1" dirty="0">
                <a:solidFill>
                  <a:srgbClr val="3A9BF3"/>
                </a:solidFill>
                <a:latin typeface="Montserrat"/>
                <a:ea typeface="Montserrat"/>
                <a:cs typeface="Montserrat"/>
                <a:sym typeface="Montserrat"/>
              </a:rPr>
              <a:t>#</a:t>
            </a:r>
            <a:r>
              <a:rPr lang="en-US" sz="1200" b="1" dirty="0" smtClean="0">
                <a:solidFill>
                  <a:srgbClr val="3A9BF3"/>
                </a:solidFill>
                <a:latin typeface="Montserrat"/>
                <a:ea typeface="Montserrat"/>
                <a:cs typeface="Montserrat"/>
                <a:sym typeface="Montserrat"/>
              </a:rPr>
              <a:t>46-#</a:t>
            </a:r>
            <a:r>
              <a:rPr lang="en-US" sz="1200" b="1" dirty="0" smtClean="0">
                <a:solidFill>
                  <a:srgbClr val="3A9BF3"/>
                </a:solidFill>
                <a:latin typeface="Montserrat"/>
                <a:ea typeface="Montserrat"/>
                <a:cs typeface="Montserrat"/>
                <a:sym typeface="Montserrat"/>
              </a:rPr>
              <a:t>50</a:t>
            </a:r>
            <a:r>
              <a:rPr lang="en-US" sz="1200" dirty="0">
                <a:latin typeface="Montserrat Medium"/>
                <a:ea typeface="Montserrat Medium"/>
                <a:cs typeface="Montserrat Medium"/>
                <a:sym typeface="Montserrat Medium"/>
              </a:rPr>
              <a:t>	Benefit for developers to work in CAMARA &amp; Joining CAMARA as Developer</a:t>
            </a:r>
            <a:endParaRPr dirty="0"/>
          </a:p>
          <a:p>
            <a:pPr marL="171450" lvl="0" indent="-171450" algn="l" rtl="0">
              <a:lnSpc>
                <a:spcPct val="104000"/>
              </a:lnSpc>
              <a:spcBef>
                <a:spcPts val="1200"/>
              </a:spcBef>
              <a:spcAft>
                <a:spcPts val="0"/>
              </a:spcAft>
              <a:buClr>
                <a:srgbClr val="3A9BF3"/>
              </a:buClr>
              <a:buSzPts val="1200"/>
              <a:buFont typeface="Montserrat"/>
              <a:buChar char="•"/>
            </a:pPr>
            <a:r>
              <a:rPr lang="en-US" sz="1200" b="1" dirty="0">
                <a:solidFill>
                  <a:srgbClr val="3A9BF3"/>
                </a:solidFill>
                <a:latin typeface="Montserrat"/>
                <a:ea typeface="Montserrat"/>
                <a:cs typeface="Montserrat"/>
                <a:sym typeface="Montserrat"/>
              </a:rPr>
              <a:t>#</a:t>
            </a:r>
            <a:r>
              <a:rPr lang="en-US" sz="1200" b="1" dirty="0" smtClean="0">
                <a:solidFill>
                  <a:srgbClr val="3A9BF3"/>
                </a:solidFill>
                <a:latin typeface="Montserrat"/>
                <a:ea typeface="Montserrat"/>
                <a:cs typeface="Montserrat"/>
                <a:sym typeface="Montserrat"/>
              </a:rPr>
              <a:t>51-</a:t>
            </a:r>
            <a:r>
              <a:rPr lang="en-US" sz="1200" b="1" dirty="0">
                <a:solidFill>
                  <a:srgbClr val="3A9BF3"/>
                </a:solidFill>
                <a:latin typeface="Montserrat"/>
                <a:ea typeface="Montserrat"/>
                <a:cs typeface="Montserrat"/>
                <a:sym typeface="Montserrat"/>
              </a:rPr>
              <a:t>#</a:t>
            </a:r>
            <a:r>
              <a:rPr lang="en-US" sz="1200" b="1" dirty="0" smtClean="0">
                <a:solidFill>
                  <a:srgbClr val="3A9BF3"/>
                </a:solidFill>
                <a:latin typeface="Montserrat"/>
                <a:ea typeface="Montserrat"/>
                <a:cs typeface="Montserrat"/>
                <a:sym typeface="Montserrat"/>
              </a:rPr>
              <a:t>53</a:t>
            </a:r>
            <a:r>
              <a:rPr lang="en-US" sz="1200" dirty="0">
                <a:latin typeface="Montserrat Medium"/>
                <a:ea typeface="Montserrat Medium"/>
                <a:cs typeface="Montserrat Medium"/>
                <a:sym typeface="Montserrat Medium"/>
              </a:rPr>
              <a:t>	Benefit for operators to implement CAMARA APIs in their networks &amp; Getting Started</a:t>
            </a:r>
            <a:endParaRPr dirty="0"/>
          </a:p>
          <a:p>
            <a:pPr marL="171450" lvl="0" indent="-171450" algn="l" rtl="0">
              <a:lnSpc>
                <a:spcPct val="104000"/>
              </a:lnSpc>
              <a:spcBef>
                <a:spcPts val="1200"/>
              </a:spcBef>
              <a:spcAft>
                <a:spcPts val="0"/>
              </a:spcAft>
              <a:buClr>
                <a:srgbClr val="3A9BF3"/>
              </a:buClr>
              <a:buSzPts val="1200"/>
              <a:buFont typeface="Montserrat"/>
              <a:buChar char="•"/>
            </a:pPr>
            <a:r>
              <a:rPr lang="en-US" sz="1200" b="1" dirty="0">
                <a:solidFill>
                  <a:srgbClr val="3A9BF3"/>
                </a:solidFill>
                <a:latin typeface="Montserrat"/>
                <a:ea typeface="Montserrat"/>
                <a:cs typeface="Montserrat"/>
                <a:sym typeface="Montserrat"/>
              </a:rPr>
              <a:t>#</a:t>
            </a:r>
            <a:r>
              <a:rPr lang="en-US" sz="1200" b="1" dirty="0" smtClean="0">
                <a:solidFill>
                  <a:srgbClr val="3A9BF3"/>
                </a:solidFill>
                <a:latin typeface="Montserrat"/>
                <a:ea typeface="Montserrat"/>
                <a:cs typeface="Montserrat"/>
                <a:sym typeface="Montserrat"/>
              </a:rPr>
              <a:t>54-#</a:t>
            </a:r>
            <a:r>
              <a:rPr lang="en-US" sz="1200" b="1" dirty="0" smtClean="0">
                <a:solidFill>
                  <a:srgbClr val="3A9BF3"/>
                </a:solidFill>
                <a:latin typeface="Montserrat"/>
                <a:ea typeface="Montserrat"/>
                <a:cs typeface="Montserrat"/>
                <a:sym typeface="Montserrat"/>
              </a:rPr>
              <a:t>60</a:t>
            </a:r>
            <a:r>
              <a:rPr lang="en-US" sz="1200" dirty="0">
                <a:latin typeface="Montserrat Medium"/>
                <a:ea typeface="Montserrat Medium"/>
                <a:cs typeface="Montserrat Medium"/>
                <a:sym typeface="Montserrat Medium"/>
              </a:rPr>
              <a:t>	Benefit for operators to work in CAMARA &amp; Getting Started</a:t>
            </a:r>
            <a:endParaRPr dirty="0"/>
          </a:p>
          <a:p>
            <a:pPr marL="171450" lvl="0" indent="-171450" algn="l" rtl="0">
              <a:lnSpc>
                <a:spcPct val="104000"/>
              </a:lnSpc>
              <a:spcBef>
                <a:spcPts val="1200"/>
              </a:spcBef>
              <a:spcAft>
                <a:spcPts val="0"/>
              </a:spcAft>
              <a:buClr>
                <a:srgbClr val="3A9BF3"/>
              </a:buClr>
              <a:buSzPts val="1200"/>
              <a:buFont typeface="Montserrat"/>
              <a:buChar char="•"/>
            </a:pPr>
            <a:r>
              <a:rPr lang="en-US" sz="1200" b="1" dirty="0">
                <a:solidFill>
                  <a:srgbClr val="3A9BF3"/>
                </a:solidFill>
                <a:latin typeface="Montserrat"/>
                <a:ea typeface="Montserrat"/>
                <a:cs typeface="Montserrat"/>
                <a:sym typeface="Montserrat"/>
              </a:rPr>
              <a:t>#</a:t>
            </a:r>
            <a:r>
              <a:rPr lang="en-US" sz="1200" b="1" dirty="0" smtClean="0">
                <a:solidFill>
                  <a:srgbClr val="3A9BF3"/>
                </a:solidFill>
                <a:latin typeface="Montserrat"/>
                <a:ea typeface="Montserrat"/>
                <a:cs typeface="Montserrat"/>
                <a:sym typeface="Montserrat"/>
              </a:rPr>
              <a:t>61-</a:t>
            </a:r>
            <a:r>
              <a:rPr lang="en-US" sz="1200" b="1" dirty="0">
                <a:solidFill>
                  <a:srgbClr val="3A9BF3"/>
                </a:solidFill>
                <a:latin typeface="Montserrat"/>
                <a:ea typeface="Montserrat"/>
                <a:cs typeface="Montserrat"/>
                <a:sym typeface="Montserrat"/>
              </a:rPr>
              <a:t>#</a:t>
            </a:r>
            <a:r>
              <a:rPr lang="en-US" sz="1200" b="1" dirty="0" smtClean="0">
                <a:solidFill>
                  <a:srgbClr val="3A9BF3"/>
                </a:solidFill>
                <a:latin typeface="Montserrat"/>
                <a:ea typeface="Montserrat"/>
                <a:cs typeface="Montserrat"/>
                <a:sym typeface="Montserrat"/>
              </a:rPr>
              <a:t>62</a:t>
            </a:r>
            <a:r>
              <a:rPr lang="en-US" sz="1200" dirty="0">
                <a:latin typeface="Montserrat Medium"/>
                <a:ea typeface="Montserrat Medium"/>
                <a:cs typeface="Montserrat Medium"/>
                <a:sym typeface="Montserrat Medium"/>
              </a:rPr>
              <a:t>	Where are we going next, Contacts</a:t>
            </a:r>
            <a:endParaRPr sz="1200" dirty="0">
              <a:latin typeface="Montserrat Medium"/>
              <a:ea typeface="Montserrat Medium"/>
              <a:cs typeface="Montserrat Medium"/>
              <a:sym typeface="Montserrat Medium"/>
            </a:endParaRPr>
          </a:p>
        </p:txBody>
      </p:sp>
      <p:pic>
        <p:nvPicPr>
          <p:cNvPr id="152" name="Google Shape;152;p2" descr="Ein Bild, das Grafiken, Logo, Symbol, Screenshot enthält.&#10;&#10;Automatisch generierte Beschreibung"/>
          <p:cNvPicPr preferRelativeResize="0"/>
          <p:nvPr/>
        </p:nvPicPr>
        <p:blipFill rotWithShape="1">
          <a:blip r:embed="rId3">
            <a:alphaModFix/>
          </a:blip>
          <a:srcRect/>
          <a:stretch/>
        </p:blipFill>
        <p:spPr>
          <a:xfrm>
            <a:off x="8686909" y="3017991"/>
            <a:ext cx="2138575" cy="213860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pic>
        <p:nvPicPr>
          <p:cNvPr id="159" name="Google Shape;159;p3"/>
          <p:cNvPicPr preferRelativeResize="0"/>
          <p:nvPr/>
        </p:nvPicPr>
        <p:blipFill rotWithShape="1">
          <a:blip r:embed="rId3">
            <a:alphaModFix amt="15000"/>
          </a:blip>
          <a:srcRect/>
          <a:stretch/>
        </p:blipFill>
        <p:spPr>
          <a:xfrm>
            <a:off x="0" y="1748901"/>
            <a:ext cx="11522075" cy="4730316"/>
          </a:xfrm>
          <a:prstGeom prst="rect">
            <a:avLst/>
          </a:prstGeom>
          <a:noFill/>
          <a:ln>
            <a:noFill/>
          </a:ln>
        </p:spPr>
      </p:pic>
      <p:sp>
        <p:nvSpPr>
          <p:cNvPr id="160" name="Google Shape;160;p3"/>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APIs enabling seamless access to</a:t>
            </a:r>
            <a:br>
              <a:rPr lang="en-US"/>
            </a:br>
            <a:r>
              <a:rPr lang="en-US"/>
              <a:t>Telco network capabilities</a:t>
            </a:r>
            <a:endParaRPr/>
          </a:p>
        </p:txBody>
      </p:sp>
      <p:sp>
        <p:nvSpPr>
          <p:cNvPr id="161" name="Google Shape;161;p3"/>
          <p:cNvSpPr txBox="1">
            <a:spLocks noGrp="1"/>
          </p:cNvSpPr>
          <p:nvPr>
            <p:ph type="body" idx="1"/>
          </p:nvPr>
        </p:nvSpPr>
        <p:spPr>
          <a:xfrm>
            <a:off x="599800" y="2448725"/>
            <a:ext cx="10179600" cy="2224800"/>
          </a:xfrm>
          <a:prstGeom prst="rect">
            <a:avLst/>
          </a:prstGeom>
          <a:noFill/>
          <a:ln>
            <a:noFill/>
          </a:ln>
        </p:spPr>
        <p:txBody>
          <a:bodyPr spcFirstLastPara="1" wrap="square" lIns="0" tIns="0" rIns="0" bIns="0" anchor="t" anchorCtr="0">
            <a:noAutofit/>
          </a:bodyPr>
          <a:lstStyle/>
          <a:p>
            <a:pPr marL="0" lvl="0" indent="0" algn="ctr" rtl="0">
              <a:lnSpc>
                <a:spcPct val="104000"/>
              </a:lnSpc>
              <a:spcBef>
                <a:spcPts val="0"/>
              </a:spcBef>
              <a:spcAft>
                <a:spcPts val="0"/>
              </a:spcAft>
              <a:buClr>
                <a:schemeClr val="dk2"/>
              </a:buClr>
              <a:buSzPts val="2400"/>
              <a:buNone/>
            </a:pPr>
            <a:r>
              <a:rPr lang="en-US" sz="2800">
                <a:latin typeface="Montserrat Medium"/>
                <a:ea typeface="Montserrat Medium"/>
                <a:cs typeface="Montserrat Medium"/>
                <a:sym typeface="Montserrat Medium"/>
              </a:rPr>
              <a:t>Telco network capabilities exposed through APIs provide a large benefit for customers. By simplifying telco network complexity with APIs and making the APIs available across telco networks and countries, CAMARA enables easy and seamless access. </a:t>
            </a:r>
            <a:endParaRPr sz="2800">
              <a:latin typeface="Montserrat Medium"/>
              <a:ea typeface="Montserrat Medium"/>
              <a:cs typeface="Montserrat Medium"/>
              <a:sym typeface="Montserrat Medium"/>
            </a:endParaRPr>
          </a:p>
          <a:p>
            <a:pPr marL="0" lvl="0" indent="0" algn="ctr" rtl="0">
              <a:lnSpc>
                <a:spcPct val="104000"/>
              </a:lnSpc>
              <a:spcBef>
                <a:spcPts val="1200"/>
              </a:spcBef>
              <a:spcAft>
                <a:spcPts val="0"/>
              </a:spcAft>
              <a:buClr>
                <a:schemeClr val="dk2"/>
              </a:buClr>
              <a:buSzPts val="2400"/>
              <a:buNone/>
            </a:pPr>
            <a:endParaRPr sz="2800">
              <a:latin typeface="Montserrat Medium"/>
              <a:ea typeface="Montserrat Medium"/>
              <a:cs typeface="Montserrat Medium"/>
              <a:sym typeface="Montserrat Medium"/>
            </a:endParaRPr>
          </a:p>
        </p:txBody>
      </p:sp>
      <p:pic>
        <p:nvPicPr>
          <p:cNvPr id="162" name="Google Shape;162;p3" descr="Ein Bild, das Kreis, Symbol, Grafiken, Logo enthält.&#10;&#10;Automatisch generierte Beschreibung"/>
          <p:cNvPicPr preferRelativeResize="0"/>
          <p:nvPr/>
        </p:nvPicPr>
        <p:blipFill rotWithShape="1">
          <a:blip r:embed="rId4">
            <a:alphaModFix/>
          </a:blip>
          <a:srcRect/>
          <a:stretch/>
        </p:blipFill>
        <p:spPr>
          <a:xfrm>
            <a:off x="4215964" y="4997068"/>
            <a:ext cx="730284" cy="730284"/>
          </a:xfrm>
          <a:prstGeom prst="rect">
            <a:avLst/>
          </a:prstGeom>
          <a:noFill/>
          <a:ln>
            <a:noFill/>
          </a:ln>
        </p:spPr>
      </p:pic>
      <p:sp>
        <p:nvSpPr>
          <p:cNvPr id="163" name="Google Shape;163;p3"/>
          <p:cNvSpPr txBox="1"/>
          <p:nvPr/>
        </p:nvSpPr>
        <p:spPr>
          <a:xfrm>
            <a:off x="5092094" y="5177544"/>
            <a:ext cx="2214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accent2"/>
                </a:solidFill>
                <a:latin typeface="Montserrat Medium"/>
                <a:ea typeface="Montserrat Medium"/>
                <a:cs typeface="Montserrat Medium"/>
                <a:sym typeface="Montserrat Medium"/>
              </a:rPr>
              <a:t>CAMARA Mission</a:t>
            </a:r>
            <a:endParaRPr sz="1800">
              <a:solidFill>
                <a:schemeClr val="accent2"/>
              </a:solidFill>
              <a:latin typeface="Montserrat Medium"/>
              <a:ea typeface="Montserrat Medium"/>
              <a:cs typeface="Montserrat Medium"/>
              <a:sym typeface="Montserrat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4"/>
          <p:cNvSpPr txBox="1">
            <a:spLocks noGrp="1"/>
          </p:cNvSpPr>
          <p:nvPr>
            <p:ph type="title"/>
          </p:nvPr>
        </p:nvSpPr>
        <p:spPr>
          <a:xfrm>
            <a:off x="444373" y="413152"/>
            <a:ext cx="10944300" cy="784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What is the CAMARA Project?</a:t>
            </a:r>
            <a:br>
              <a:rPr lang="en-US"/>
            </a:br>
            <a:r>
              <a:rPr lang="en-US"/>
              <a:t>Key problems we try to solve</a:t>
            </a:r>
            <a:endParaRPr/>
          </a:p>
        </p:txBody>
      </p:sp>
      <p:pic>
        <p:nvPicPr>
          <p:cNvPr id="171" name="Google Shape;171;p4" descr="Treasure Map with solid fill"/>
          <p:cNvPicPr preferRelativeResize="0"/>
          <p:nvPr/>
        </p:nvPicPr>
        <p:blipFill rotWithShape="1">
          <a:blip r:embed="rId3">
            <a:alphaModFix/>
          </a:blip>
          <a:srcRect/>
          <a:stretch/>
        </p:blipFill>
        <p:spPr>
          <a:xfrm>
            <a:off x="4970693" y="1789030"/>
            <a:ext cx="1482553" cy="1482553"/>
          </a:xfrm>
          <a:prstGeom prst="rect">
            <a:avLst/>
          </a:prstGeom>
          <a:noFill/>
          <a:ln>
            <a:noFill/>
          </a:ln>
        </p:spPr>
      </p:pic>
      <p:sp>
        <p:nvSpPr>
          <p:cNvPr id="172" name="Google Shape;172;p4"/>
          <p:cNvSpPr txBox="1"/>
          <p:nvPr/>
        </p:nvSpPr>
        <p:spPr>
          <a:xfrm>
            <a:off x="2469853" y="3525398"/>
            <a:ext cx="2117100" cy="26628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004750"/>
              </a:buClr>
              <a:buSzPts val="2000"/>
              <a:buFont typeface="Montserrat Light"/>
              <a:buNone/>
            </a:pPr>
            <a:r>
              <a:rPr lang="en-US" sz="2000">
                <a:solidFill>
                  <a:srgbClr val="3A9BF3"/>
                </a:solidFill>
                <a:latin typeface="Montserrat Medium"/>
                <a:ea typeface="Montserrat Medium"/>
                <a:cs typeface="Montserrat Medium"/>
                <a:sym typeface="Montserrat Medium"/>
              </a:rPr>
              <a:t>Consistency</a:t>
            </a:r>
            <a:endParaRPr sz="1200">
              <a:solidFill>
                <a:srgbClr val="3A9BF3"/>
              </a:solidFill>
              <a:latin typeface="Montserrat Medium"/>
              <a:ea typeface="Montserrat Medium"/>
              <a:cs typeface="Montserrat Medium"/>
              <a:sym typeface="Montserrat Medium"/>
            </a:endParaRPr>
          </a:p>
          <a:p>
            <a:pPr marL="0" marR="0" lvl="0" indent="0" algn="ctr" rtl="0">
              <a:lnSpc>
                <a:spcPct val="104000"/>
              </a:lnSpc>
              <a:spcBef>
                <a:spcPts val="1200"/>
              </a:spcBef>
              <a:spcAft>
                <a:spcPts val="0"/>
              </a:spcAft>
              <a:buClr>
                <a:srgbClr val="004750"/>
              </a:buClr>
              <a:buSzPts val="1200"/>
              <a:buFont typeface="Montserrat Light"/>
              <a:buNone/>
            </a:pPr>
            <a:r>
              <a:rPr lang="en-US" sz="1200">
                <a:solidFill>
                  <a:schemeClr val="dk2"/>
                </a:solidFill>
                <a:latin typeface="Montserrat Light"/>
                <a:ea typeface="Montserrat Light"/>
                <a:cs typeface="Montserrat Light"/>
                <a:sym typeface="Montserrat Light"/>
              </a:rPr>
              <a:t>Multi-nationals want consistency across all markets they operate in… they do not want APIs that only work in a single network in a single country.  They do not want to try and build for the differences of each network.</a:t>
            </a:r>
            <a:endParaRPr>
              <a:solidFill>
                <a:schemeClr val="dk2"/>
              </a:solidFill>
            </a:endParaRPr>
          </a:p>
          <a:p>
            <a:pPr marL="0" marR="0" lvl="0" indent="0" algn="ctr" rtl="0">
              <a:lnSpc>
                <a:spcPct val="104000"/>
              </a:lnSpc>
              <a:spcBef>
                <a:spcPts val="1200"/>
              </a:spcBef>
              <a:spcAft>
                <a:spcPts val="0"/>
              </a:spcAft>
              <a:buClr>
                <a:srgbClr val="004750"/>
              </a:buClr>
              <a:buSzPts val="1200"/>
              <a:buFont typeface="Montserrat Light"/>
              <a:buNone/>
            </a:pPr>
            <a:endParaRPr sz="1200">
              <a:solidFill>
                <a:schemeClr val="dk2"/>
              </a:solidFill>
              <a:latin typeface="Montserrat Light"/>
              <a:ea typeface="Montserrat Light"/>
              <a:cs typeface="Montserrat Light"/>
              <a:sym typeface="Montserrat Light"/>
            </a:endParaRPr>
          </a:p>
        </p:txBody>
      </p:sp>
      <p:sp>
        <p:nvSpPr>
          <p:cNvPr id="173" name="Google Shape;173;p4"/>
          <p:cNvSpPr txBox="1"/>
          <p:nvPr/>
        </p:nvSpPr>
        <p:spPr>
          <a:xfrm>
            <a:off x="348725" y="3525400"/>
            <a:ext cx="1953600" cy="26628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004750"/>
              </a:buClr>
              <a:buSzPts val="2000"/>
              <a:buFont typeface="Montserrat Light"/>
              <a:buNone/>
            </a:pPr>
            <a:r>
              <a:rPr lang="en-US" sz="2000">
                <a:solidFill>
                  <a:srgbClr val="3A9BF3"/>
                </a:solidFill>
                <a:latin typeface="Montserrat Medium"/>
                <a:ea typeface="Montserrat Medium"/>
                <a:cs typeface="Montserrat Medium"/>
                <a:sym typeface="Montserrat Medium"/>
              </a:rPr>
              <a:t>Scale</a:t>
            </a:r>
            <a:endParaRPr sz="1200">
              <a:solidFill>
                <a:srgbClr val="3A9BF3"/>
              </a:solidFill>
              <a:latin typeface="Montserrat Medium"/>
              <a:ea typeface="Montserrat Medium"/>
              <a:cs typeface="Montserrat Medium"/>
              <a:sym typeface="Montserrat Medium"/>
            </a:endParaRPr>
          </a:p>
          <a:p>
            <a:pPr marL="0" marR="0" lvl="0" indent="0" algn="ctr" rtl="0">
              <a:lnSpc>
                <a:spcPct val="104000"/>
              </a:lnSpc>
              <a:spcBef>
                <a:spcPts val="1200"/>
              </a:spcBef>
              <a:spcAft>
                <a:spcPts val="0"/>
              </a:spcAft>
              <a:buClr>
                <a:srgbClr val="004750"/>
              </a:buClr>
              <a:buSzPts val="1200"/>
              <a:buFont typeface="Montserrat Light"/>
              <a:buNone/>
            </a:pPr>
            <a:r>
              <a:rPr lang="en-US" sz="1200">
                <a:solidFill>
                  <a:schemeClr val="dk2"/>
                </a:solidFill>
                <a:latin typeface="Montserrat Light"/>
                <a:ea typeface="Montserrat Light"/>
                <a:cs typeface="Montserrat Light"/>
                <a:sym typeface="Montserrat Light"/>
              </a:rPr>
              <a:t>Developers dream of being the next unicorn… If apps, products, or services are built on our APIs they want them in all relevant markets and networks globally.</a:t>
            </a:r>
            <a:endParaRPr>
              <a:solidFill>
                <a:schemeClr val="dk2"/>
              </a:solidFill>
            </a:endParaRPr>
          </a:p>
          <a:p>
            <a:pPr marL="0" marR="0" lvl="0" indent="0" algn="ctr" rtl="0">
              <a:lnSpc>
                <a:spcPct val="104000"/>
              </a:lnSpc>
              <a:spcBef>
                <a:spcPts val="1200"/>
              </a:spcBef>
              <a:spcAft>
                <a:spcPts val="0"/>
              </a:spcAft>
              <a:buClr>
                <a:srgbClr val="004750"/>
              </a:buClr>
              <a:buSzPts val="1200"/>
              <a:buFont typeface="Montserrat Light"/>
              <a:buNone/>
            </a:pPr>
            <a:endParaRPr sz="1200">
              <a:solidFill>
                <a:schemeClr val="dk2"/>
              </a:solidFill>
              <a:latin typeface="Montserrat Light"/>
              <a:ea typeface="Montserrat Light"/>
              <a:cs typeface="Montserrat Light"/>
              <a:sym typeface="Montserrat Light"/>
            </a:endParaRPr>
          </a:p>
        </p:txBody>
      </p:sp>
      <p:pic>
        <p:nvPicPr>
          <p:cNvPr id="174" name="Google Shape;174;p4" descr="Unicorn with solid fill"/>
          <p:cNvPicPr preferRelativeResize="0"/>
          <p:nvPr/>
        </p:nvPicPr>
        <p:blipFill rotWithShape="1">
          <a:blip r:embed="rId4">
            <a:alphaModFix/>
          </a:blip>
          <a:srcRect/>
          <a:stretch/>
        </p:blipFill>
        <p:spPr>
          <a:xfrm>
            <a:off x="634940" y="1789030"/>
            <a:ext cx="1482554" cy="1482554"/>
          </a:xfrm>
          <a:prstGeom prst="rect">
            <a:avLst/>
          </a:prstGeom>
          <a:noFill/>
          <a:ln>
            <a:noFill/>
          </a:ln>
        </p:spPr>
      </p:pic>
      <p:pic>
        <p:nvPicPr>
          <p:cNvPr id="175" name="Google Shape;175;p4" descr="Earth globe: Africa and Europe with solid fill"/>
          <p:cNvPicPr preferRelativeResize="0"/>
          <p:nvPr/>
        </p:nvPicPr>
        <p:blipFill rotWithShape="1">
          <a:blip r:embed="rId5">
            <a:alphaModFix/>
          </a:blip>
          <a:srcRect/>
          <a:stretch/>
        </p:blipFill>
        <p:spPr>
          <a:xfrm>
            <a:off x="2758447" y="1789030"/>
            <a:ext cx="1482554" cy="1482554"/>
          </a:xfrm>
          <a:prstGeom prst="rect">
            <a:avLst/>
          </a:prstGeom>
          <a:noFill/>
          <a:ln>
            <a:noFill/>
          </a:ln>
        </p:spPr>
      </p:pic>
      <p:sp>
        <p:nvSpPr>
          <p:cNvPr id="176" name="Google Shape;176;p4"/>
          <p:cNvSpPr txBox="1"/>
          <p:nvPr/>
        </p:nvSpPr>
        <p:spPr>
          <a:xfrm>
            <a:off x="6957525" y="3525400"/>
            <a:ext cx="1953600" cy="26628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004750"/>
              </a:buClr>
              <a:buSzPts val="2000"/>
              <a:buFont typeface="Montserrat Light"/>
              <a:buNone/>
            </a:pPr>
            <a:r>
              <a:rPr lang="en-US" sz="2000">
                <a:solidFill>
                  <a:srgbClr val="3A9BF3"/>
                </a:solidFill>
                <a:latin typeface="Montserrat Medium"/>
                <a:ea typeface="Montserrat Medium"/>
                <a:cs typeface="Montserrat Medium"/>
                <a:sym typeface="Montserrat Medium"/>
              </a:rPr>
              <a:t>Accessibility</a:t>
            </a:r>
            <a:endParaRPr sz="1200">
              <a:solidFill>
                <a:srgbClr val="3A9BF3"/>
              </a:solidFill>
              <a:latin typeface="Montserrat Medium"/>
              <a:ea typeface="Montserrat Medium"/>
              <a:cs typeface="Montserrat Medium"/>
              <a:sym typeface="Montserrat Medium"/>
            </a:endParaRPr>
          </a:p>
          <a:p>
            <a:pPr marL="0" marR="0" lvl="0" indent="0" algn="ctr" rtl="0">
              <a:lnSpc>
                <a:spcPct val="104000"/>
              </a:lnSpc>
              <a:spcBef>
                <a:spcPts val="1200"/>
              </a:spcBef>
              <a:spcAft>
                <a:spcPts val="0"/>
              </a:spcAft>
              <a:buClr>
                <a:srgbClr val="004750"/>
              </a:buClr>
              <a:buSzPts val="1200"/>
              <a:buFont typeface="Montserrat Light"/>
              <a:buNone/>
            </a:pPr>
            <a:r>
              <a:rPr lang="en-US" sz="1200">
                <a:solidFill>
                  <a:schemeClr val="dk2"/>
                </a:solidFill>
                <a:latin typeface="Montserrat Light"/>
                <a:ea typeface="Montserrat Light"/>
                <a:cs typeface="Montserrat Light"/>
                <a:sym typeface="Montserrat Light"/>
              </a:rPr>
              <a:t>We go to the developers where they are so the project is open sourced in the Linux Foundation.  Allowing API users to work directly with CSPs creating the service.</a:t>
            </a:r>
            <a:endParaRPr>
              <a:solidFill>
                <a:schemeClr val="dk2"/>
              </a:solidFill>
            </a:endParaRPr>
          </a:p>
        </p:txBody>
      </p:sp>
      <p:pic>
        <p:nvPicPr>
          <p:cNvPr id="177" name="Google Shape;177;p4" descr="Questions with solid fill"/>
          <p:cNvPicPr preferRelativeResize="0"/>
          <p:nvPr/>
        </p:nvPicPr>
        <p:blipFill rotWithShape="1">
          <a:blip r:embed="rId6">
            <a:alphaModFix/>
          </a:blip>
          <a:srcRect/>
          <a:stretch/>
        </p:blipFill>
        <p:spPr>
          <a:xfrm>
            <a:off x="7060562" y="1789030"/>
            <a:ext cx="1482547" cy="1482547"/>
          </a:xfrm>
          <a:prstGeom prst="rect">
            <a:avLst/>
          </a:prstGeom>
          <a:noFill/>
          <a:ln>
            <a:noFill/>
          </a:ln>
        </p:spPr>
      </p:pic>
      <p:sp>
        <p:nvSpPr>
          <p:cNvPr id="178" name="Google Shape;178;p4"/>
          <p:cNvSpPr txBox="1"/>
          <p:nvPr/>
        </p:nvSpPr>
        <p:spPr>
          <a:xfrm>
            <a:off x="9089020" y="3525398"/>
            <a:ext cx="2117178" cy="2662792"/>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004750"/>
              </a:buClr>
              <a:buSzPts val="2000"/>
              <a:buFont typeface="Montserrat Light"/>
              <a:buNone/>
            </a:pPr>
            <a:r>
              <a:rPr lang="en-US" sz="2000">
                <a:solidFill>
                  <a:srgbClr val="3A9BF3"/>
                </a:solidFill>
                <a:latin typeface="Montserrat Medium"/>
                <a:ea typeface="Montserrat Medium"/>
                <a:cs typeface="Montserrat Medium"/>
                <a:sym typeface="Montserrat Medium"/>
              </a:rPr>
              <a:t>Demand Driven</a:t>
            </a:r>
            <a:endParaRPr sz="1200">
              <a:solidFill>
                <a:srgbClr val="3A9BF3"/>
              </a:solidFill>
              <a:latin typeface="Montserrat Medium"/>
              <a:ea typeface="Montserrat Medium"/>
              <a:cs typeface="Montserrat Medium"/>
              <a:sym typeface="Montserrat Medium"/>
            </a:endParaRPr>
          </a:p>
          <a:p>
            <a:pPr marL="0" marR="0" lvl="0" indent="0" algn="ctr" rtl="0">
              <a:lnSpc>
                <a:spcPct val="104000"/>
              </a:lnSpc>
              <a:spcBef>
                <a:spcPts val="1200"/>
              </a:spcBef>
              <a:spcAft>
                <a:spcPts val="0"/>
              </a:spcAft>
              <a:buClr>
                <a:srgbClr val="004750"/>
              </a:buClr>
              <a:buSzPts val="1200"/>
              <a:buFont typeface="Montserrat Light"/>
              <a:buNone/>
            </a:pPr>
            <a:r>
              <a:rPr lang="en-US" sz="1200">
                <a:solidFill>
                  <a:schemeClr val="dk2"/>
                </a:solidFill>
                <a:latin typeface="Montserrat Light"/>
                <a:ea typeface="Montserrat Light"/>
                <a:cs typeface="Montserrat Light"/>
                <a:sym typeface="Montserrat Light"/>
              </a:rPr>
              <a:t>We develop the APIs and design it in the way our customers need it. The demand is collected from organizations like GSMA OPAG but also from customers directly.</a:t>
            </a:r>
            <a:endParaRPr>
              <a:solidFill>
                <a:schemeClr val="dk2"/>
              </a:solidFill>
            </a:endParaRPr>
          </a:p>
        </p:txBody>
      </p:sp>
      <p:cxnSp>
        <p:nvCxnSpPr>
          <p:cNvPr id="179" name="Google Shape;179;p4"/>
          <p:cNvCxnSpPr/>
          <p:nvPr/>
        </p:nvCxnSpPr>
        <p:spPr>
          <a:xfrm>
            <a:off x="9170807" y="3899972"/>
            <a:ext cx="1953600" cy="0"/>
          </a:xfrm>
          <a:prstGeom prst="straightConnector1">
            <a:avLst/>
          </a:prstGeom>
          <a:noFill/>
          <a:ln w="9525" cap="flat" cmpd="sng">
            <a:solidFill>
              <a:srgbClr val="3A9BF3"/>
            </a:solidFill>
            <a:prstDash val="solid"/>
            <a:round/>
            <a:headEnd type="none" w="sm" len="sm"/>
            <a:tailEnd type="none" w="sm" len="sm"/>
          </a:ln>
        </p:spPr>
      </p:cxnSp>
      <p:pic>
        <p:nvPicPr>
          <p:cNvPr id="180" name="Google Shape;180;p4" descr="Prost mit einfarbiger Füllung"/>
          <p:cNvPicPr preferRelativeResize="0"/>
          <p:nvPr/>
        </p:nvPicPr>
        <p:blipFill rotWithShape="1">
          <a:blip r:embed="rId7">
            <a:alphaModFix/>
          </a:blip>
          <a:srcRect/>
          <a:stretch/>
        </p:blipFill>
        <p:spPr>
          <a:xfrm>
            <a:off x="9390678" y="1829853"/>
            <a:ext cx="1482546" cy="1482546"/>
          </a:xfrm>
          <a:prstGeom prst="rect">
            <a:avLst/>
          </a:prstGeom>
          <a:noFill/>
          <a:ln>
            <a:noFill/>
          </a:ln>
        </p:spPr>
      </p:pic>
      <p:cxnSp>
        <p:nvCxnSpPr>
          <p:cNvPr id="181" name="Google Shape;181;p4"/>
          <p:cNvCxnSpPr/>
          <p:nvPr/>
        </p:nvCxnSpPr>
        <p:spPr>
          <a:xfrm>
            <a:off x="6957419" y="3899972"/>
            <a:ext cx="1953600" cy="0"/>
          </a:xfrm>
          <a:prstGeom prst="straightConnector1">
            <a:avLst/>
          </a:prstGeom>
          <a:noFill/>
          <a:ln w="9525" cap="flat" cmpd="sng">
            <a:solidFill>
              <a:srgbClr val="3A9BF3"/>
            </a:solidFill>
            <a:prstDash val="solid"/>
            <a:round/>
            <a:headEnd type="none" w="sm" len="sm"/>
            <a:tailEnd type="none" w="sm" len="sm"/>
          </a:ln>
        </p:spPr>
      </p:cxnSp>
      <p:cxnSp>
        <p:nvCxnSpPr>
          <p:cNvPr id="182" name="Google Shape;182;p4"/>
          <p:cNvCxnSpPr/>
          <p:nvPr/>
        </p:nvCxnSpPr>
        <p:spPr>
          <a:xfrm>
            <a:off x="4754532" y="3899972"/>
            <a:ext cx="1953600" cy="0"/>
          </a:xfrm>
          <a:prstGeom prst="straightConnector1">
            <a:avLst/>
          </a:prstGeom>
          <a:noFill/>
          <a:ln w="9525" cap="flat" cmpd="sng">
            <a:solidFill>
              <a:srgbClr val="3A9BF3"/>
            </a:solidFill>
            <a:prstDash val="solid"/>
            <a:round/>
            <a:headEnd type="none" w="sm" len="sm"/>
            <a:tailEnd type="none" w="sm" len="sm"/>
          </a:ln>
        </p:spPr>
      </p:cxnSp>
      <p:cxnSp>
        <p:nvCxnSpPr>
          <p:cNvPr id="183" name="Google Shape;183;p4"/>
          <p:cNvCxnSpPr/>
          <p:nvPr/>
        </p:nvCxnSpPr>
        <p:spPr>
          <a:xfrm>
            <a:off x="2546282" y="3899972"/>
            <a:ext cx="1953600" cy="0"/>
          </a:xfrm>
          <a:prstGeom prst="straightConnector1">
            <a:avLst/>
          </a:prstGeom>
          <a:noFill/>
          <a:ln w="9525" cap="flat" cmpd="sng">
            <a:solidFill>
              <a:srgbClr val="3A9BF3"/>
            </a:solidFill>
            <a:prstDash val="solid"/>
            <a:round/>
            <a:headEnd type="none" w="sm" len="sm"/>
            <a:tailEnd type="none" w="sm" len="sm"/>
          </a:ln>
        </p:spPr>
      </p:cxnSp>
      <p:cxnSp>
        <p:nvCxnSpPr>
          <p:cNvPr id="184" name="Google Shape;184;p4"/>
          <p:cNvCxnSpPr/>
          <p:nvPr/>
        </p:nvCxnSpPr>
        <p:spPr>
          <a:xfrm>
            <a:off x="348582" y="3899972"/>
            <a:ext cx="1953600" cy="0"/>
          </a:xfrm>
          <a:prstGeom prst="straightConnector1">
            <a:avLst/>
          </a:prstGeom>
          <a:noFill/>
          <a:ln w="9525" cap="flat" cmpd="sng">
            <a:solidFill>
              <a:srgbClr val="3A9BF3"/>
            </a:solidFill>
            <a:prstDash val="solid"/>
            <a:round/>
            <a:headEnd type="none" w="sm" len="sm"/>
            <a:tailEnd type="none" w="sm" len="sm"/>
          </a:ln>
        </p:spPr>
      </p:cxnSp>
      <p:sp>
        <p:nvSpPr>
          <p:cNvPr id="185" name="Google Shape;185;p4"/>
          <p:cNvSpPr txBox="1"/>
          <p:nvPr/>
        </p:nvSpPr>
        <p:spPr>
          <a:xfrm>
            <a:off x="4754525" y="3525400"/>
            <a:ext cx="1953600" cy="26628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004750"/>
              </a:buClr>
              <a:buSzPts val="2000"/>
              <a:buFont typeface="Montserrat Light"/>
              <a:buNone/>
            </a:pPr>
            <a:r>
              <a:rPr lang="en-US" sz="2000">
                <a:solidFill>
                  <a:srgbClr val="3A9BF3"/>
                </a:solidFill>
                <a:latin typeface="Montserrat Medium"/>
                <a:ea typeface="Montserrat Medium"/>
                <a:cs typeface="Montserrat Medium"/>
                <a:sym typeface="Montserrat Medium"/>
              </a:rPr>
              <a:t>Simplicity</a:t>
            </a:r>
            <a:endParaRPr sz="1200">
              <a:solidFill>
                <a:srgbClr val="3A9BF3"/>
              </a:solidFill>
              <a:latin typeface="Montserrat Medium"/>
              <a:ea typeface="Montserrat Medium"/>
              <a:cs typeface="Montserrat Medium"/>
              <a:sym typeface="Montserrat Medium"/>
            </a:endParaRPr>
          </a:p>
          <a:p>
            <a:pPr marL="0" marR="0" lvl="0" indent="0" algn="ctr" rtl="0">
              <a:lnSpc>
                <a:spcPct val="104000"/>
              </a:lnSpc>
              <a:spcBef>
                <a:spcPts val="1200"/>
              </a:spcBef>
              <a:spcAft>
                <a:spcPts val="0"/>
              </a:spcAft>
              <a:buClr>
                <a:srgbClr val="004750"/>
              </a:buClr>
              <a:buSzPts val="1200"/>
              <a:buFont typeface="Montserrat Light"/>
              <a:buNone/>
            </a:pPr>
            <a:r>
              <a:rPr lang="en-US" sz="1200">
                <a:solidFill>
                  <a:schemeClr val="dk2"/>
                </a:solidFill>
                <a:latin typeface="Montserrat Light"/>
                <a:ea typeface="Montserrat Light"/>
                <a:cs typeface="Montserrat Light"/>
                <a:sym typeface="Montserrat Light"/>
              </a:rPr>
              <a:t>Telco networks are complex, and every network is different…. Developers want simple, intent-based APIs.</a:t>
            </a:r>
            <a:endParaRPr>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5"/>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Key problems we try to solve </a:t>
            </a:r>
            <a:br>
              <a:rPr lang="en-US"/>
            </a:br>
            <a:r>
              <a:rPr lang="en-US"/>
              <a:t>Consistency Benefit</a:t>
            </a:r>
            <a:endParaRPr/>
          </a:p>
        </p:txBody>
      </p:sp>
      <p:sp>
        <p:nvSpPr>
          <p:cNvPr id="193" name="Google Shape;193;p5"/>
          <p:cNvSpPr txBox="1">
            <a:spLocks noGrp="1"/>
          </p:cNvSpPr>
          <p:nvPr>
            <p:ph type="body" idx="1"/>
          </p:nvPr>
        </p:nvSpPr>
        <p:spPr>
          <a:xfrm>
            <a:off x="577775" y="2448724"/>
            <a:ext cx="10944300" cy="2658600"/>
          </a:xfrm>
          <a:prstGeom prst="rect">
            <a:avLst/>
          </a:prstGeom>
          <a:noFill/>
          <a:ln>
            <a:noFill/>
          </a:ln>
        </p:spPr>
        <p:txBody>
          <a:bodyPr spcFirstLastPara="1" wrap="square" lIns="0" tIns="0" rIns="0" bIns="0" anchor="t" anchorCtr="0">
            <a:noAutofit/>
          </a:bodyPr>
          <a:lstStyle/>
          <a:p>
            <a:pPr marL="0" lvl="0" indent="0" algn="l" rtl="0">
              <a:lnSpc>
                <a:spcPct val="104000"/>
              </a:lnSpc>
              <a:spcBef>
                <a:spcPts val="1200"/>
              </a:spcBef>
              <a:spcAft>
                <a:spcPts val="0"/>
              </a:spcAft>
              <a:buClr>
                <a:schemeClr val="dk2"/>
              </a:buClr>
              <a:buSzPts val="2400"/>
              <a:buNone/>
            </a:pPr>
            <a:r>
              <a:rPr lang="en-US" sz="2000">
                <a:solidFill>
                  <a:srgbClr val="3A9BF3"/>
                </a:solidFill>
                <a:latin typeface="Montserrat Medium"/>
                <a:ea typeface="Montserrat Medium"/>
                <a:cs typeface="Montserrat Medium"/>
                <a:sym typeface="Montserrat Medium"/>
              </a:rPr>
              <a:t>Availability</a:t>
            </a:r>
            <a:r>
              <a:rPr lang="en-US" sz="2000"/>
              <a:t> across telco networks and countries is necessary:</a:t>
            </a:r>
            <a:endParaRPr sz="2000"/>
          </a:p>
          <a:p>
            <a:pPr marL="342900" lvl="0" indent="-317500" algn="l" rtl="0">
              <a:lnSpc>
                <a:spcPct val="104000"/>
              </a:lnSpc>
              <a:spcBef>
                <a:spcPts val="1200"/>
              </a:spcBef>
              <a:spcAft>
                <a:spcPts val="0"/>
              </a:spcAft>
              <a:buClr>
                <a:srgbClr val="3A9BF3"/>
              </a:buClr>
              <a:buSzPts val="2000"/>
              <a:buFont typeface="Montserrat"/>
              <a:buChar char="•"/>
            </a:pPr>
            <a:r>
              <a:rPr lang="en-US" sz="2000"/>
              <a:t>To ensure seamless customer experience</a:t>
            </a:r>
            <a:endParaRPr sz="2000"/>
          </a:p>
          <a:p>
            <a:pPr marL="342900" lvl="0" indent="-317500" algn="l" rtl="0">
              <a:lnSpc>
                <a:spcPct val="104000"/>
              </a:lnSpc>
              <a:spcBef>
                <a:spcPts val="1200"/>
              </a:spcBef>
              <a:spcAft>
                <a:spcPts val="0"/>
              </a:spcAft>
              <a:buClr>
                <a:srgbClr val="3A9BF3"/>
              </a:buClr>
              <a:buSzPts val="2000"/>
              <a:buFont typeface="Montserrat"/>
              <a:buChar char="•"/>
            </a:pPr>
            <a:r>
              <a:rPr lang="en-US" sz="2000"/>
              <a:t>To accelerate technology development and commercial adoption (minimize implementation effort)</a:t>
            </a:r>
            <a:endParaRPr sz="2000"/>
          </a:p>
          <a:p>
            <a:pPr marL="342900" lvl="0" indent="-317500" algn="l" rtl="0">
              <a:lnSpc>
                <a:spcPct val="104000"/>
              </a:lnSpc>
              <a:spcBef>
                <a:spcPts val="1200"/>
              </a:spcBef>
              <a:spcAft>
                <a:spcPts val="0"/>
              </a:spcAft>
              <a:buClr>
                <a:srgbClr val="3A9BF3"/>
              </a:buClr>
              <a:buSzPts val="2000"/>
              <a:buFont typeface="Montserrat"/>
              <a:buChar char="•"/>
            </a:pPr>
            <a:r>
              <a:rPr lang="en-US" sz="2000"/>
              <a:t>To accelerate education and promotion</a:t>
            </a:r>
            <a:endParaRPr sz="1100"/>
          </a:p>
          <a:p>
            <a:pPr marL="342900" lvl="0" indent="-317500" algn="l" rtl="0">
              <a:lnSpc>
                <a:spcPct val="104000"/>
              </a:lnSpc>
              <a:spcBef>
                <a:spcPts val="1200"/>
              </a:spcBef>
              <a:spcAft>
                <a:spcPts val="0"/>
              </a:spcAft>
              <a:buClr>
                <a:srgbClr val="3A9BF3"/>
              </a:buClr>
              <a:buSzPts val="2000"/>
              <a:buFont typeface="Montserrat"/>
              <a:buChar char="•"/>
            </a:pPr>
            <a:r>
              <a:rPr lang="en-US" sz="2000"/>
              <a:t>To support application portability</a:t>
            </a:r>
            <a:endParaRPr sz="1100"/>
          </a:p>
          <a:p>
            <a:pPr marL="0" lvl="0" indent="0" algn="l" rtl="0">
              <a:lnSpc>
                <a:spcPct val="104000"/>
              </a:lnSpc>
              <a:spcBef>
                <a:spcPts val="1200"/>
              </a:spcBef>
              <a:spcAft>
                <a:spcPts val="0"/>
              </a:spcAft>
              <a:buClr>
                <a:schemeClr val="dk2"/>
              </a:buClr>
              <a:buSzPts val="2400"/>
              <a:buNone/>
            </a:pP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6"/>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Key problems we try to solve</a:t>
            </a:r>
            <a:br>
              <a:rPr lang="en-US"/>
            </a:br>
            <a:r>
              <a:rPr lang="en-US"/>
              <a:t>Simplicity Benefit</a:t>
            </a:r>
            <a:endParaRPr/>
          </a:p>
        </p:txBody>
      </p:sp>
      <p:sp>
        <p:nvSpPr>
          <p:cNvPr id="201" name="Google Shape;201;p6"/>
          <p:cNvSpPr txBox="1">
            <a:spLocks noGrp="1"/>
          </p:cNvSpPr>
          <p:nvPr>
            <p:ph type="body" idx="1"/>
          </p:nvPr>
        </p:nvSpPr>
        <p:spPr>
          <a:xfrm>
            <a:off x="444375" y="1979125"/>
            <a:ext cx="4138500" cy="3895800"/>
          </a:xfrm>
          <a:prstGeom prst="rect">
            <a:avLst/>
          </a:prstGeom>
          <a:noFill/>
          <a:ln>
            <a:noFill/>
          </a:ln>
        </p:spPr>
        <p:txBody>
          <a:bodyPr spcFirstLastPara="1" wrap="square" lIns="0" tIns="0" rIns="0" bIns="0" anchor="t" anchorCtr="0">
            <a:noAutofit/>
          </a:bodyPr>
          <a:lstStyle/>
          <a:p>
            <a:pPr marL="0" lvl="0" indent="0" algn="l" rtl="0">
              <a:lnSpc>
                <a:spcPct val="104000"/>
              </a:lnSpc>
              <a:spcBef>
                <a:spcPts val="0"/>
              </a:spcBef>
              <a:spcAft>
                <a:spcPts val="0"/>
              </a:spcAft>
              <a:buClr>
                <a:schemeClr val="dk2"/>
              </a:buClr>
              <a:buSzPts val="1600"/>
              <a:buNone/>
            </a:pPr>
            <a:r>
              <a:rPr lang="en-US" sz="2000" dirty="0">
                <a:solidFill>
                  <a:srgbClr val="3A9BF3"/>
                </a:solidFill>
                <a:latin typeface="Montserrat Medium"/>
                <a:ea typeface="Montserrat Medium"/>
                <a:cs typeface="Montserrat Medium"/>
                <a:sym typeface="Montserrat Medium"/>
              </a:rPr>
              <a:t>Abstraction</a:t>
            </a:r>
            <a:r>
              <a:rPr lang="en-US" sz="2000" dirty="0"/>
              <a:t> by transformation from network capabilities to Service APIs is necessary:</a:t>
            </a:r>
            <a:endParaRPr sz="2000" dirty="0"/>
          </a:p>
          <a:p>
            <a:pPr marL="285750" lvl="0" indent="-311150" algn="l" rtl="0">
              <a:lnSpc>
                <a:spcPct val="104000"/>
              </a:lnSpc>
              <a:spcBef>
                <a:spcPts val="1200"/>
              </a:spcBef>
              <a:spcAft>
                <a:spcPts val="0"/>
              </a:spcAft>
              <a:buClr>
                <a:srgbClr val="3A9BF3"/>
              </a:buClr>
              <a:buSzPts val="2000"/>
              <a:buFont typeface="Montserrat"/>
              <a:buChar char="•"/>
            </a:pPr>
            <a:r>
              <a:rPr lang="en-US" sz="2000" dirty="0"/>
              <a:t>To simplify telco complexity making APIs easy to consume for customers with no telco expertise (user-friendly APIs)</a:t>
            </a:r>
            <a:endParaRPr sz="2000" dirty="0"/>
          </a:p>
          <a:p>
            <a:pPr marL="285750" lvl="0" indent="-311150" algn="l" rtl="0">
              <a:lnSpc>
                <a:spcPct val="104000"/>
              </a:lnSpc>
              <a:spcBef>
                <a:spcPts val="1200"/>
              </a:spcBef>
              <a:spcAft>
                <a:spcPts val="0"/>
              </a:spcAft>
              <a:buClr>
                <a:srgbClr val="3A9BF3"/>
              </a:buClr>
              <a:buSzPts val="2000"/>
              <a:buFont typeface="Montserrat"/>
              <a:buChar char="•"/>
            </a:pPr>
            <a:r>
              <a:rPr lang="en-US" sz="2000" dirty="0"/>
              <a:t>To satisfy data privacy and regulatory requirements</a:t>
            </a:r>
            <a:endParaRPr sz="2000" dirty="0"/>
          </a:p>
          <a:p>
            <a:pPr marL="285750" lvl="0" indent="-311150" algn="l" rtl="0">
              <a:lnSpc>
                <a:spcPct val="104000"/>
              </a:lnSpc>
              <a:spcBef>
                <a:spcPts val="1200"/>
              </a:spcBef>
              <a:spcAft>
                <a:spcPts val="0"/>
              </a:spcAft>
              <a:buClr>
                <a:srgbClr val="3A9BF3"/>
              </a:buClr>
              <a:buSzPts val="2000"/>
              <a:buFont typeface="Montserrat"/>
              <a:buChar char="•"/>
            </a:pPr>
            <a:r>
              <a:rPr lang="en-US" sz="2000" dirty="0"/>
              <a:t>To facilitate application to network integration</a:t>
            </a:r>
            <a:endParaRPr sz="2000" dirty="0"/>
          </a:p>
        </p:txBody>
      </p:sp>
      <p:grpSp>
        <p:nvGrpSpPr>
          <p:cNvPr id="2" name="Group 9">
            <a:extLst>
              <a:ext uri="{FF2B5EF4-FFF2-40B4-BE49-F238E27FC236}">
                <a16:creationId xmlns:a16="http://schemas.microsoft.com/office/drawing/2014/main" xmlns="" id="{8E451A65-5FF0-4155-9BD0-3E912E61851F}"/>
              </a:ext>
            </a:extLst>
          </p:cNvPr>
          <p:cNvGrpSpPr/>
          <p:nvPr/>
        </p:nvGrpSpPr>
        <p:grpSpPr>
          <a:xfrm>
            <a:off x="5370271" y="2341705"/>
            <a:ext cx="5296910" cy="3329008"/>
            <a:chOff x="5258678" y="2070538"/>
            <a:chExt cx="5296910" cy="3329008"/>
          </a:xfrm>
        </p:grpSpPr>
        <p:sp>
          <p:nvSpPr>
            <p:cNvPr id="3" name="TextBox 1">
              <a:extLst>
                <a:ext uri="{FF2B5EF4-FFF2-40B4-BE49-F238E27FC236}">
                  <a16:creationId xmlns:a16="http://schemas.microsoft.com/office/drawing/2014/main" xmlns="" id="{BA9F0F57-9AFE-33F1-3CC9-B2C2AE6C2E83}"/>
                </a:ext>
              </a:extLst>
            </p:cNvPr>
            <p:cNvSpPr txBox="1"/>
            <p:nvPr/>
          </p:nvSpPr>
          <p:spPr>
            <a:xfrm>
              <a:off x="6513423" y="5030214"/>
              <a:ext cx="2983509" cy="369332"/>
            </a:xfrm>
            <a:prstGeom prst="rect">
              <a:avLst/>
            </a:prstGeom>
            <a:solidFill>
              <a:schemeClr val="bg1"/>
            </a:solidFill>
          </p:spPr>
          <p:txBody>
            <a:bodyPr wrap="none" rtlCol="0">
              <a:spAutoFit/>
            </a:bodyPr>
            <a:lstStyle/>
            <a:p>
              <a:r>
                <a:rPr lang="en-US" sz="1800" dirty="0">
                  <a:latin typeface="Montserrat Light" panose="00000400000000000000" pitchFamily="2" charset="0"/>
                </a:rPr>
                <a:t>Southbound capabilities</a:t>
              </a:r>
            </a:p>
          </p:txBody>
        </p:sp>
        <p:sp>
          <p:nvSpPr>
            <p:cNvPr id="5" name="Rectangle 3">
              <a:extLst>
                <a:ext uri="{FF2B5EF4-FFF2-40B4-BE49-F238E27FC236}">
                  <a16:creationId xmlns:a16="http://schemas.microsoft.com/office/drawing/2014/main" xmlns="" id="{F054DC54-D1DC-F4F1-DAAA-B254CC922A18}"/>
                </a:ext>
              </a:extLst>
            </p:cNvPr>
            <p:cNvSpPr/>
            <p:nvPr/>
          </p:nvSpPr>
          <p:spPr>
            <a:xfrm>
              <a:off x="5258678" y="2070538"/>
              <a:ext cx="5296910" cy="750194"/>
            </a:xfrm>
            <a:prstGeom prst="rect">
              <a:avLst/>
            </a:prstGeom>
            <a:solidFill>
              <a:srgbClr val="0A8E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latin typeface="Montserrat Light" panose="00000400000000000000" pitchFamily="2" charset="0"/>
                </a:rPr>
                <a:t>Service API</a:t>
              </a:r>
            </a:p>
          </p:txBody>
        </p:sp>
        <p:sp>
          <p:nvSpPr>
            <p:cNvPr id="6" name="Rectangle 4">
              <a:extLst>
                <a:ext uri="{FF2B5EF4-FFF2-40B4-BE49-F238E27FC236}">
                  <a16:creationId xmlns:a16="http://schemas.microsoft.com/office/drawing/2014/main" xmlns="" id="{DB3211E9-5AB8-3AD3-C3A0-982840B89E2E}"/>
                </a:ext>
              </a:extLst>
            </p:cNvPr>
            <p:cNvSpPr/>
            <p:nvPr/>
          </p:nvSpPr>
          <p:spPr>
            <a:xfrm>
              <a:off x="5258678" y="2820731"/>
              <a:ext cx="5296910" cy="1107151"/>
            </a:xfrm>
            <a:prstGeom prst="rect">
              <a:avLst/>
            </a:prstGeom>
            <a:solidFill>
              <a:srgbClr val="9DD2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latin typeface="Montserrat Light" panose="00000400000000000000" pitchFamily="2" charset="0"/>
                </a:rPr>
                <a:t>Transformation Function</a:t>
              </a:r>
            </a:p>
          </p:txBody>
        </p:sp>
        <p:sp>
          <p:nvSpPr>
            <p:cNvPr id="7" name="Rectangle 5">
              <a:extLst>
                <a:ext uri="{FF2B5EF4-FFF2-40B4-BE49-F238E27FC236}">
                  <a16:creationId xmlns:a16="http://schemas.microsoft.com/office/drawing/2014/main" xmlns="" id="{2E90E90B-BE37-35B3-7688-8D38F0E8FDBA}"/>
                </a:ext>
              </a:extLst>
            </p:cNvPr>
            <p:cNvSpPr/>
            <p:nvPr/>
          </p:nvSpPr>
          <p:spPr>
            <a:xfrm>
              <a:off x="5258678" y="3923064"/>
              <a:ext cx="1177159" cy="998483"/>
            </a:xfrm>
            <a:prstGeom prst="rect">
              <a:avLst/>
            </a:prstGeom>
            <a:gradFill flip="none" rotWithShape="1">
              <a:gsLst>
                <a:gs pos="0">
                  <a:srgbClr val="92D050"/>
                </a:gs>
                <a:gs pos="100000">
                  <a:schemeClr val="accent5">
                    <a:lumMod val="40000"/>
                    <a:lumOff val="6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solidFill>
                  <a:latin typeface="Montserrat Light" panose="00000400000000000000" pitchFamily="2" charset="0"/>
                </a:rPr>
                <a:t>Mobile</a:t>
              </a:r>
            </a:p>
            <a:p>
              <a:pPr algn="ctr"/>
              <a:r>
                <a:rPr lang="en-US" sz="1800" dirty="0">
                  <a:solidFill>
                    <a:schemeClr val="tx1"/>
                  </a:solidFill>
                  <a:latin typeface="Montserrat Light" panose="00000400000000000000" pitchFamily="2" charset="0"/>
                </a:rPr>
                <a:t>NT</a:t>
              </a:r>
            </a:p>
          </p:txBody>
        </p:sp>
        <p:sp>
          <p:nvSpPr>
            <p:cNvPr id="8" name="Rectangle 6">
              <a:extLst>
                <a:ext uri="{FF2B5EF4-FFF2-40B4-BE49-F238E27FC236}">
                  <a16:creationId xmlns:a16="http://schemas.microsoft.com/office/drawing/2014/main" xmlns="" id="{EF0C9B76-9912-16DA-7749-D18E3CD3E591}"/>
                </a:ext>
              </a:extLst>
            </p:cNvPr>
            <p:cNvSpPr/>
            <p:nvPr/>
          </p:nvSpPr>
          <p:spPr>
            <a:xfrm>
              <a:off x="6631928" y="3923064"/>
              <a:ext cx="1177159" cy="998483"/>
            </a:xfrm>
            <a:prstGeom prst="rect">
              <a:avLst/>
            </a:prstGeom>
            <a:gradFill flip="none" rotWithShape="1">
              <a:gsLst>
                <a:gs pos="0">
                  <a:srgbClr val="92D050"/>
                </a:gs>
                <a:gs pos="100000">
                  <a:schemeClr val="accent5">
                    <a:lumMod val="40000"/>
                    <a:lumOff val="6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solidFill>
                  <a:latin typeface="Montserrat Light" panose="00000400000000000000" pitchFamily="2" charset="0"/>
                </a:rPr>
                <a:t>Fixed Line</a:t>
              </a:r>
            </a:p>
            <a:p>
              <a:pPr algn="ctr"/>
              <a:r>
                <a:rPr lang="en-US" sz="1800" dirty="0">
                  <a:solidFill>
                    <a:schemeClr val="tx1"/>
                  </a:solidFill>
                  <a:latin typeface="Montserrat Light" panose="00000400000000000000" pitchFamily="2" charset="0"/>
                </a:rPr>
                <a:t>NT</a:t>
              </a:r>
            </a:p>
          </p:txBody>
        </p:sp>
        <p:sp>
          <p:nvSpPr>
            <p:cNvPr id="9" name="Rectangle 7">
              <a:extLst>
                <a:ext uri="{FF2B5EF4-FFF2-40B4-BE49-F238E27FC236}">
                  <a16:creationId xmlns:a16="http://schemas.microsoft.com/office/drawing/2014/main" xmlns="" id="{1547086F-693E-5099-457E-383F0F1E719F}"/>
                </a:ext>
              </a:extLst>
            </p:cNvPr>
            <p:cNvSpPr/>
            <p:nvPr/>
          </p:nvSpPr>
          <p:spPr>
            <a:xfrm>
              <a:off x="8005178" y="3923064"/>
              <a:ext cx="1177159" cy="998483"/>
            </a:xfrm>
            <a:prstGeom prst="rect">
              <a:avLst/>
            </a:prstGeom>
            <a:gradFill flip="none" rotWithShape="1">
              <a:gsLst>
                <a:gs pos="0">
                  <a:srgbClr val="92D050"/>
                </a:gs>
                <a:gs pos="100000">
                  <a:schemeClr val="accent5">
                    <a:lumMod val="40000"/>
                    <a:lumOff val="6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a:solidFill>
                    <a:schemeClr val="tx1"/>
                  </a:solidFill>
                  <a:latin typeface="Montserrat Light" panose="00000400000000000000" pitchFamily="2" charset="0"/>
                </a:rPr>
                <a:t>IT</a:t>
              </a:r>
              <a:endParaRPr lang="en-US" sz="1800" dirty="0">
                <a:solidFill>
                  <a:schemeClr val="tx1"/>
                </a:solidFill>
                <a:latin typeface="Montserrat Light" panose="00000400000000000000" pitchFamily="2" charset="0"/>
              </a:endParaRPr>
            </a:p>
          </p:txBody>
        </p:sp>
        <p:sp>
          <p:nvSpPr>
            <p:cNvPr id="10" name="Rectangle 8">
              <a:extLst>
                <a:ext uri="{FF2B5EF4-FFF2-40B4-BE49-F238E27FC236}">
                  <a16:creationId xmlns:a16="http://schemas.microsoft.com/office/drawing/2014/main" xmlns="" id="{E3F67A7A-FDD6-DF9B-6A74-0B185FB37EB7}"/>
                </a:ext>
              </a:extLst>
            </p:cNvPr>
            <p:cNvSpPr/>
            <p:nvPr/>
          </p:nvSpPr>
          <p:spPr>
            <a:xfrm>
              <a:off x="9378429" y="3923064"/>
              <a:ext cx="1177159" cy="998483"/>
            </a:xfrm>
            <a:prstGeom prst="rect">
              <a:avLst/>
            </a:prstGeom>
            <a:gradFill flip="none" rotWithShape="1">
              <a:gsLst>
                <a:gs pos="0">
                  <a:srgbClr val="92D050"/>
                </a:gs>
                <a:gs pos="100000">
                  <a:schemeClr val="accent5">
                    <a:lumMod val="40000"/>
                    <a:lumOff val="6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a:solidFill>
                    <a:schemeClr val="tx1"/>
                  </a:solidFill>
                  <a:latin typeface="Montserrat Light" panose="00000400000000000000" pitchFamily="2" charset="0"/>
                </a:rPr>
                <a:t>Other</a:t>
              </a:r>
              <a:endParaRPr lang="en-US" sz="1800" dirty="0">
                <a:solidFill>
                  <a:schemeClr val="tx1"/>
                </a:solidFill>
                <a:latin typeface="Montserrat Light" panose="00000400000000000000" pitchFamily="2" charset="0"/>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7"/>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CAMARA</a:t>
            </a:r>
            <a:br>
              <a:rPr lang="en-US"/>
            </a:br>
            <a:r>
              <a:rPr lang="en-US"/>
              <a:t>Open Source</a:t>
            </a:r>
            <a:endParaRPr/>
          </a:p>
        </p:txBody>
      </p:sp>
      <p:sp>
        <p:nvSpPr>
          <p:cNvPr id="210" name="Google Shape;210;p7"/>
          <p:cNvSpPr txBox="1">
            <a:spLocks noGrp="1"/>
          </p:cNvSpPr>
          <p:nvPr>
            <p:ph type="body" idx="1"/>
          </p:nvPr>
        </p:nvSpPr>
        <p:spPr>
          <a:xfrm>
            <a:off x="748925" y="2448725"/>
            <a:ext cx="10024200" cy="1958400"/>
          </a:xfrm>
          <a:prstGeom prst="rect">
            <a:avLst/>
          </a:prstGeom>
          <a:noFill/>
          <a:ln>
            <a:noFill/>
          </a:ln>
        </p:spPr>
        <p:txBody>
          <a:bodyPr spcFirstLastPara="1" wrap="square" lIns="0" tIns="0" rIns="0" bIns="0" anchor="t" anchorCtr="0">
            <a:noAutofit/>
          </a:bodyPr>
          <a:lstStyle/>
          <a:p>
            <a:pPr marL="0" lvl="0" indent="0" algn="l" rtl="0">
              <a:lnSpc>
                <a:spcPct val="104000"/>
              </a:lnSpc>
              <a:spcBef>
                <a:spcPts val="0"/>
              </a:spcBef>
              <a:spcAft>
                <a:spcPts val="0"/>
              </a:spcAft>
              <a:buClr>
                <a:schemeClr val="dk2"/>
              </a:buClr>
              <a:buSzPts val="2400"/>
              <a:buNone/>
            </a:pPr>
            <a:r>
              <a:rPr lang="en-US" sz="2000" dirty="0">
                <a:solidFill>
                  <a:srgbClr val="3A9BF3"/>
                </a:solidFill>
                <a:latin typeface="Montserrat Medium"/>
                <a:ea typeface="Montserrat Medium"/>
                <a:cs typeface="Montserrat Medium"/>
                <a:sym typeface="Montserrat Medium"/>
              </a:rPr>
              <a:t>CAMARA</a:t>
            </a:r>
            <a:r>
              <a:rPr lang="en-US" sz="2000" dirty="0"/>
              <a:t> is an open source project within Linux Foundation to define, develop and test the APIs. CAMARA works in close collaboration with the GSMA Operator Platform Group to align API requirements and publish API definitions. Harmonization of APIs is achieved through fast and agile created working code with developer-friendly documentation. API definitions and reference implementations are free to use (Apache2.0 license).</a:t>
            </a:r>
            <a:endParaRPr sz="2000" dirty="0"/>
          </a:p>
          <a:p>
            <a:pPr marL="0" lvl="0" indent="0" algn="l" rtl="0">
              <a:lnSpc>
                <a:spcPct val="104000"/>
              </a:lnSpc>
              <a:spcBef>
                <a:spcPts val="1200"/>
              </a:spcBef>
              <a:spcAft>
                <a:spcPts val="0"/>
              </a:spcAft>
              <a:buClr>
                <a:schemeClr val="dk2"/>
              </a:buClr>
              <a:buSzPts val="2400"/>
              <a:buNone/>
            </a:pPr>
            <a:endParaRPr sz="2000" dirty="0"/>
          </a:p>
        </p:txBody>
      </p:sp>
      <p:pic>
        <p:nvPicPr>
          <p:cNvPr id="211" name="Google Shape;211;p7"/>
          <p:cNvPicPr preferRelativeResize="0"/>
          <p:nvPr/>
        </p:nvPicPr>
        <p:blipFill rotWithShape="1">
          <a:blip r:embed="rId3">
            <a:alphaModFix/>
          </a:blip>
          <a:srcRect/>
          <a:stretch/>
        </p:blipFill>
        <p:spPr>
          <a:xfrm>
            <a:off x="2968025" y="4837500"/>
            <a:ext cx="2332582" cy="784526"/>
          </a:xfrm>
          <a:prstGeom prst="rect">
            <a:avLst/>
          </a:prstGeom>
          <a:noFill/>
          <a:ln>
            <a:noFill/>
          </a:ln>
        </p:spPr>
      </p:pic>
      <p:pic>
        <p:nvPicPr>
          <p:cNvPr id="212" name="Google Shape;212;p7" descr="Ein Bild, das Text, ClipArt enthält.&#10;&#10;Automatisch generierte Beschreibung"/>
          <p:cNvPicPr preferRelativeResize="0"/>
          <p:nvPr/>
        </p:nvPicPr>
        <p:blipFill rotWithShape="1">
          <a:blip r:embed="rId4">
            <a:alphaModFix/>
          </a:blip>
          <a:srcRect/>
          <a:stretch/>
        </p:blipFill>
        <p:spPr>
          <a:xfrm>
            <a:off x="5943635" y="5101981"/>
            <a:ext cx="2610426" cy="40796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8"/>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CAMARA</a:t>
            </a:r>
            <a:br>
              <a:rPr lang="en-US"/>
            </a:br>
            <a:r>
              <a:rPr lang="en-US"/>
              <a:t>Scope</a:t>
            </a:r>
            <a:endParaRPr/>
          </a:p>
        </p:txBody>
      </p:sp>
      <p:sp>
        <p:nvSpPr>
          <p:cNvPr id="220" name="Google Shape;220;p8"/>
          <p:cNvSpPr txBox="1">
            <a:spLocks noGrp="1"/>
          </p:cNvSpPr>
          <p:nvPr>
            <p:ph type="body" idx="1"/>
          </p:nvPr>
        </p:nvSpPr>
        <p:spPr>
          <a:xfrm>
            <a:off x="460900" y="2004425"/>
            <a:ext cx="5696700" cy="3501900"/>
          </a:xfrm>
          <a:prstGeom prst="rect">
            <a:avLst/>
          </a:prstGeom>
          <a:noFill/>
          <a:ln>
            <a:noFill/>
          </a:ln>
        </p:spPr>
        <p:txBody>
          <a:bodyPr spcFirstLastPara="1" wrap="square" lIns="0" tIns="0" rIns="0" bIns="0" anchor="t" anchorCtr="0">
            <a:noAutofit/>
          </a:bodyPr>
          <a:lstStyle/>
          <a:p>
            <a:pPr marL="0" lvl="0" indent="0" algn="l" rtl="0">
              <a:lnSpc>
                <a:spcPct val="104000"/>
              </a:lnSpc>
              <a:spcBef>
                <a:spcPts val="0"/>
              </a:spcBef>
              <a:spcAft>
                <a:spcPts val="0"/>
              </a:spcAft>
              <a:buClr>
                <a:schemeClr val="dk2"/>
              </a:buClr>
              <a:buSzPts val="1600"/>
              <a:buNone/>
            </a:pPr>
            <a:r>
              <a:rPr lang="en-US" sz="2000" dirty="0"/>
              <a:t>From functional perspective the scope is limited to </a:t>
            </a:r>
            <a:r>
              <a:rPr lang="en-US" sz="2000" dirty="0">
                <a:solidFill>
                  <a:srgbClr val="3A9BF3"/>
                </a:solidFill>
                <a:latin typeface="Montserrat Medium"/>
                <a:ea typeface="Montserrat Medium"/>
                <a:cs typeface="Montserrat Medium"/>
                <a:sym typeface="Montserrat Medium"/>
              </a:rPr>
              <a:t>telco APIs</a:t>
            </a:r>
            <a:r>
              <a:rPr lang="en-US" sz="2000" dirty="0"/>
              <a:t>, that means APIs in the domain of telco mobile networks, telco fixed line networks, telco edge cloud, etc. or supporting these.</a:t>
            </a:r>
            <a:endParaRPr sz="2000" dirty="0"/>
          </a:p>
          <a:p>
            <a:pPr marL="0" lvl="0" indent="0" algn="l" rtl="0">
              <a:lnSpc>
                <a:spcPct val="104000"/>
              </a:lnSpc>
              <a:spcBef>
                <a:spcPts val="1200"/>
              </a:spcBef>
              <a:spcAft>
                <a:spcPts val="0"/>
              </a:spcAft>
              <a:buClr>
                <a:schemeClr val="dk2"/>
              </a:buClr>
              <a:buSzPts val="1600"/>
              <a:buNone/>
            </a:pPr>
            <a:r>
              <a:rPr lang="en-US" sz="2000" dirty="0"/>
              <a:t>Thereby the focus is on the </a:t>
            </a:r>
            <a:r>
              <a:rPr lang="en-US" sz="2000" dirty="0">
                <a:solidFill>
                  <a:srgbClr val="3A9BF3"/>
                </a:solidFill>
                <a:latin typeface="Montserrat Medium"/>
                <a:ea typeface="Montserrat Medium"/>
                <a:cs typeface="Montserrat Medium"/>
                <a:sym typeface="Montserrat Medium"/>
              </a:rPr>
              <a:t>northbound interface</a:t>
            </a:r>
            <a:r>
              <a:rPr lang="en-US" sz="2000" dirty="0">
                <a:latin typeface="Montserrat SemiBold"/>
                <a:ea typeface="Montserrat SemiBold"/>
                <a:cs typeface="Montserrat SemiBold"/>
                <a:sym typeface="Montserrat SemiBold"/>
              </a:rPr>
              <a:t> </a:t>
            </a:r>
            <a:r>
              <a:rPr lang="en-US" sz="2000" dirty="0"/>
              <a:t>(between telco operator and aggregator or capability consumer). East-/westbound interface APIs are out of scope for CAMARA.</a:t>
            </a:r>
            <a:endParaRPr sz="2000" dirty="0"/>
          </a:p>
        </p:txBody>
      </p:sp>
      <p:pic>
        <p:nvPicPr>
          <p:cNvPr id="221" name="Google Shape;221;p8" descr="Internet Silhouette"/>
          <p:cNvPicPr preferRelativeResize="0"/>
          <p:nvPr/>
        </p:nvPicPr>
        <p:blipFill rotWithShape="1">
          <a:blip r:embed="rId3">
            <a:alphaModFix/>
          </a:blip>
          <a:srcRect/>
          <a:stretch/>
        </p:blipFill>
        <p:spPr>
          <a:xfrm>
            <a:off x="7853529" y="1313625"/>
            <a:ext cx="774452" cy="774450"/>
          </a:xfrm>
          <a:prstGeom prst="rect">
            <a:avLst/>
          </a:prstGeom>
          <a:noFill/>
          <a:ln>
            <a:noFill/>
          </a:ln>
        </p:spPr>
      </p:pic>
      <p:pic>
        <p:nvPicPr>
          <p:cNvPr id="222" name="Google Shape;222;p8" descr="Prozessor Silhouette"/>
          <p:cNvPicPr preferRelativeResize="0"/>
          <p:nvPr/>
        </p:nvPicPr>
        <p:blipFill rotWithShape="1">
          <a:blip r:embed="rId4">
            <a:alphaModFix/>
          </a:blip>
          <a:srcRect/>
          <a:stretch/>
        </p:blipFill>
        <p:spPr>
          <a:xfrm>
            <a:off x="7853529" y="2860548"/>
            <a:ext cx="774452" cy="774450"/>
          </a:xfrm>
          <a:prstGeom prst="rect">
            <a:avLst/>
          </a:prstGeom>
          <a:noFill/>
          <a:ln>
            <a:noFill/>
          </a:ln>
        </p:spPr>
      </p:pic>
      <p:pic>
        <p:nvPicPr>
          <p:cNvPr id="223" name="Google Shape;223;p8" descr="Server Silhouette"/>
          <p:cNvPicPr preferRelativeResize="0"/>
          <p:nvPr/>
        </p:nvPicPr>
        <p:blipFill rotWithShape="1">
          <a:blip r:embed="rId5">
            <a:alphaModFix/>
          </a:blip>
          <a:srcRect/>
          <a:stretch/>
        </p:blipFill>
        <p:spPr>
          <a:xfrm>
            <a:off x="7853529" y="4801042"/>
            <a:ext cx="774452" cy="774450"/>
          </a:xfrm>
          <a:prstGeom prst="rect">
            <a:avLst/>
          </a:prstGeom>
          <a:noFill/>
          <a:ln>
            <a:noFill/>
          </a:ln>
        </p:spPr>
      </p:pic>
      <p:cxnSp>
        <p:nvCxnSpPr>
          <p:cNvPr id="224" name="Google Shape;224;p8"/>
          <p:cNvCxnSpPr>
            <a:stCxn id="221" idx="2"/>
            <a:endCxn id="222" idx="0"/>
          </p:cNvCxnSpPr>
          <p:nvPr/>
        </p:nvCxnSpPr>
        <p:spPr>
          <a:xfrm>
            <a:off x="8240755" y="2088075"/>
            <a:ext cx="0" cy="772500"/>
          </a:xfrm>
          <a:prstGeom prst="straightConnector1">
            <a:avLst/>
          </a:prstGeom>
          <a:noFill/>
          <a:ln w="38100" cap="flat" cmpd="sng">
            <a:solidFill>
              <a:schemeClr val="accent6"/>
            </a:solidFill>
            <a:prstDash val="solid"/>
            <a:round/>
            <a:headEnd type="none" w="sm" len="sm"/>
            <a:tailEnd type="none" w="sm" len="sm"/>
          </a:ln>
        </p:spPr>
      </p:cxnSp>
      <p:cxnSp>
        <p:nvCxnSpPr>
          <p:cNvPr id="225" name="Google Shape;225;p8"/>
          <p:cNvCxnSpPr>
            <a:stCxn id="226" idx="2"/>
            <a:endCxn id="223" idx="0"/>
          </p:cNvCxnSpPr>
          <p:nvPr/>
        </p:nvCxnSpPr>
        <p:spPr>
          <a:xfrm>
            <a:off x="8240756" y="4197959"/>
            <a:ext cx="0" cy="603000"/>
          </a:xfrm>
          <a:prstGeom prst="straightConnector1">
            <a:avLst/>
          </a:prstGeom>
          <a:noFill/>
          <a:ln w="38100" cap="flat" cmpd="sng">
            <a:solidFill>
              <a:schemeClr val="accent6"/>
            </a:solidFill>
            <a:prstDash val="solid"/>
            <a:round/>
            <a:headEnd type="none" w="sm" len="sm"/>
            <a:tailEnd type="none" w="sm" len="sm"/>
          </a:ln>
        </p:spPr>
      </p:cxnSp>
      <p:pic>
        <p:nvPicPr>
          <p:cNvPr id="227" name="Google Shape;227;p8" descr="Prozessor Silhouette"/>
          <p:cNvPicPr preferRelativeResize="0"/>
          <p:nvPr/>
        </p:nvPicPr>
        <p:blipFill rotWithShape="1">
          <a:blip r:embed="rId4">
            <a:alphaModFix/>
          </a:blip>
          <a:srcRect/>
          <a:stretch/>
        </p:blipFill>
        <p:spPr>
          <a:xfrm>
            <a:off x="9818058" y="2860548"/>
            <a:ext cx="774452" cy="774450"/>
          </a:xfrm>
          <a:prstGeom prst="rect">
            <a:avLst/>
          </a:prstGeom>
          <a:noFill/>
          <a:ln>
            <a:noFill/>
          </a:ln>
        </p:spPr>
      </p:pic>
      <p:pic>
        <p:nvPicPr>
          <p:cNvPr id="228" name="Google Shape;228;p8" descr="Server Silhouette"/>
          <p:cNvPicPr preferRelativeResize="0"/>
          <p:nvPr/>
        </p:nvPicPr>
        <p:blipFill rotWithShape="1">
          <a:blip r:embed="rId5">
            <a:alphaModFix/>
          </a:blip>
          <a:srcRect/>
          <a:stretch/>
        </p:blipFill>
        <p:spPr>
          <a:xfrm>
            <a:off x="9818058" y="4801042"/>
            <a:ext cx="774452" cy="774450"/>
          </a:xfrm>
          <a:prstGeom prst="rect">
            <a:avLst/>
          </a:prstGeom>
          <a:noFill/>
          <a:ln>
            <a:noFill/>
          </a:ln>
        </p:spPr>
      </p:pic>
      <p:cxnSp>
        <p:nvCxnSpPr>
          <p:cNvPr id="229" name="Google Shape;229;p8"/>
          <p:cNvCxnSpPr>
            <a:stCxn id="230" idx="2"/>
            <a:endCxn id="228" idx="0"/>
          </p:cNvCxnSpPr>
          <p:nvPr/>
        </p:nvCxnSpPr>
        <p:spPr>
          <a:xfrm>
            <a:off x="10205353" y="4197607"/>
            <a:ext cx="0" cy="603300"/>
          </a:xfrm>
          <a:prstGeom prst="straightConnector1">
            <a:avLst/>
          </a:prstGeom>
          <a:noFill/>
          <a:ln w="38100" cap="flat" cmpd="sng">
            <a:solidFill>
              <a:schemeClr val="accent6"/>
            </a:solidFill>
            <a:prstDash val="solid"/>
            <a:round/>
            <a:headEnd type="none" w="sm" len="sm"/>
            <a:tailEnd type="none" w="sm" len="sm"/>
          </a:ln>
        </p:spPr>
      </p:cxnSp>
      <p:cxnSp>
        <p:nvCxnSpPr>
          <p:cNvPr id="231" name="Google Shape;231;p8"/>
          <p:cNvCxnSpPr>
            <a:stCxn id="222" idx="3"/>
            <a:endCxn id="227" idx="1"/>
          </p:cNvCxnSpPr>
          <p:nvPr/>
        </p:nvCxnSpPr>
        <p:spPr>
          <a:xfrm>
            <a:off x="8627982" y="3247773"/>
            <a:ext cx="1190100" cy="0"/>
          </a:xfrm>
          <a:prstGeom prst="straightConnector1">
            <a:avLst/>
          </a:prstGeom>
          <a:noFill/>
          <a:ln w="38100" cap="flat" cmpd="sng">
            <a:solidFill>
              <a:schemeClr val="accent6"/>
            </a:solidFill>
            <a:prstDash val="solid"/>
            <a:round/>
            <a:headEnd type="none" w="sm" len="sm"/>
            <a:tailEnd type="none" w="sm" len="sm"/>
          </a:ln>
        </p:spPr>
      </p:cxnSp>
      <p:sp>
        <p:nvSpPr>
          <p:cNvPr id="232" name="Google Shape;232;p8"/>
          <p:cNvSpPr txBox="1"/>
          <p:nvPr/>
        </p:nvSpPr>
        <p:spPr>
          <a:xfrm>
            <a:off x="8240756" y="2295759"/>
            <a:ext cx="3591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000620"/>
                </a:solidFill>
                <a:latin typeface="Montserrat Medium"/>
                <a:ea typeface="Montserrat Medium"/>
                <a:cs typeface="Montserrat Medium"/>
                <a:sym typeface="Montserrat Medium"/>
              </a:rPr>
              <a:t>N</a:t>
            </a:r>
            <a:endParaRPr sz="2000">
              <a:latin typeface="Montserrat Medium"/>
              <a:ea typeface="Montserrat Medium"/>
              <a:cs typeface="Montserrat Medium"/>
              <a:sym typeface="Montserrat Medium"/>
            </a:endParaRPr>
          </a:p>
        </p:txBody>
      </p:sp>
      <p:sp>
        <p:nvSpPr>
          <p:cNvPr id="233" name="Google Shape;233;p8"/>
          <p:cNvSpPr txBox="1"/>
          <p:nvPr/>
        </p:nvSpPr>
        <p:spPr>
          <a:xfrm>
            <a:off x="8835702" y="3299425"/>
            <a:ext cx="774600" cy="400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rgbClr val="000620"/>
                </a:solidFill>
                <a:latin typeface="Montserrat Medium"/>
                <a:ea typeface="Montserrat Medium"/>
                <a:cs typeface="Montserrat Medium"/>
                <a:sym typeface="Montserrat Medium"/>
              </a:rPr>
              <a:t>E/W</a:t>
            </a:r>
            <a:endParaRPr sz="2000">
              <a:latin typeface="Montserrat Medium"/>
              <a:ea typeface="Montserrat Medium"/>
              <a:cs typeface="Montserrat Medium"/>
              <a:sym typeface="Montserrat Medium"/>
            </a:endParaRPr>
          </a:p>
        </p:txBody>
      </p:sp>
      <p:sp>
        <p:nvSpPr>
          <p:cNvPr id="234" name="Google Shape;234;p8"/>
          <p:cNvSpPr txBox="1"/>
          <p:nvPr/>
        </p:nvSpPr>
        <p:spPr>
          <a:xfrm>
            <a:off x="8240756" y="4299398"/>
            <a:ext cx="3591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000620"/>
                </a:solidFill>
                <a:latin typeface="Montserrat Medium"/>
                <a:ea typeface="Montserrat Medium"/>
                <a:cs typeface="Montserrat Medium"/>
                <a:sym typeface="Montserrat Medium"/>
              </a:rPr>
              <a:t>S</a:t>
            </a:r>
            <a:endParaRPr sz="2000">
              <a:latin typeface="Montserrat Medium"/>
              <a:ea typeface="Montserrat Medium"/>
              <a:cs typeface="Montserrat Medium"/>
              <a:sym typeface="Montserrat Medium"/>
            </a:endParaRPr>
          </a:p>
        </p:txBody>
      </p:sp>
      <p:sp>
        <p:nvSpPr>
          <p:cNvPr id="235" name="Google Shape;235;p8"/>
          <p:cNvSpPr txBox="1"/>
          <p:nvPr/>
        </p:nvSpPr>
        <p:spPr>
          <a:xfrm>
            <a:off x="10205359" y="4299235"/>
            <a:ext cx="3591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000620"/>
                </a:solidFill>
                <a:latin typeface="Montserrat Medium"/>
                <a:ea typeface="Montserrat Medium"/>
                <a:cs typeface="Montserrat Medium"/>
                <a:sym typeface="Montserrat Medium"/>
              </a:rPr>
              <a:t>S</a:t>
            </a:r>
            <a:endParaRPr sz="2000">
              <a:latin typeface="Montserrat Medium"/>
              <a:ea typeface="Montserrat Medium"/>
              <a:cs typeface="Montserrat Medium"/>
              <a:sym typeface="Montserrat Medium"/>
            </a:endParaRPr>
          </a:p>
        </p:txBody>
      </p:sp>
      <p:sp>
        <p:nvSpPr>
          <p:cNvPr id="236" name="Google Shape;236;p8"/>
          <p:cNvSpPr txBox="1"/>
          <p:nvPr/>
        </p:nvSpPr>
        <p:spPr>
          <a:xfrm>
            <a:off x="8571574" y="1536077"/>
            <a:ext cx="1303200" cy="276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rgbClr val="000620"/>
                </a:solidFill>
                <a:latin typeface="Montserrat Medium"/>
                <a:ea typeface="Montserrat Medium"/>
                <a:cs typeface="Montserrat Medium"/>
                <a:sym typeface="Montserrat Medium"/>
              </a:rPr>
              <a:t>Application</a:t>
            </a:r>
            <a:endParaRPr sz="1200">
              <a:solidFill>
                <a:srgbClr val="000620"/>
              </a:solidFill>
              <a:latin typeface="Montserrat Medium"/>
              <a:ea typeface="Montserrat Medium"/>
              <a:cs typeface="Montserrat Medium"/>
              <a:sym typeface="Montserrat Medium"/>
            </a:endParaRPr>
          </a:p>
        </p:txBody>
      </p:sp>
      <p:sp>
        <p:nvSpPr>
          <p:cNvPr id="237" name="Google Shape;237;p8"/>
          <p:cNvSpPr txBox="1"/>
          <p:nvPr/>
        </p:nvSpPr>
        <p:spPr>
          <a:xfrm>
            <a:off x="8571587" y="5049815"/>
            <a:ext cx="130320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dirty="0">
                <a:solidFill>
                  <a:srgbClr val="000620"/>
                </a:solidFill>
                <a:latin typeface="Montserrat Medium"/>
                <a:ea typeface="Montserrat Medium"/>
                <a:cs typeface="Montserrat Medium"/>
                <a:sym typeface="Montserrat Medium"/>
              </a:rPr>
              <a:t>Network/IT/ Other</a:t>
            </a:r>
            <a:endParaRPr sz="1200" dirty="0">
              <a:latin typeface="Montserrat Medium"/>
              <a:ea typeface="Montserrat Medium"/>
              <a:cs typeface="Montserrat Medium"/>
              <a:sym typeface="Montserrat Medium"/>
            </a:endParaRPr>
          </a:p>
        </p:txBody>
      </p:sp>
      <p:sp>
        <p:nvSpPr>
          <p:cNvPr id="238" name="Google Shape;238;p8"/>
          <p:cNvSpPr txBox="1"/>
          <p:nvPr/>
        </p:nvSpPr>
        <p:spPr>
          <a:xfrm>
            <a:off x="6486608" y="3011623"/>
            <a:ext cx="15489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rgbClr val="000620"/>
                </a:solidFill>
                <a:latin typeface="Montserrat Medium"/>
                <a:ea typeface="Montserrat Medium"/>
                <a:cs typeface="Montserrat Medium"/>
                <a:sym typeface="Montserrat Medium"/>
              </a:rPr>
              <a:t>Exposure Gateway</a:t>
            </a:r>
            <a:endParaRPr sz="1200">
              <a:latin typeface="Montserrat Medium"/>
              <a:ea typeface="Montserrat Medium"/>
              <a:cs typeface="Montserrat Medium"/>
              <a:sym typeface="Montserrat Medium"/>
            </a:endParaRPr>
          </a:p>
        </p:txBody>
      </p:sp>
      <p:pic>
        <p:nvPicPr>
          <p:cNvPr id="226" name="Google Shape;226;p8" descr="Blockchain Silhouette"/>
          <p:cNvPicPr preferRelativeResize="0"/>
          <p:nvPr/>
        </p:nvPicPr>
        <p:blipFill rotWithShape="1">
          <a:blip r:embed="rId6">
            <a:alphaModFix/>
          </a:blip>
          <a:srcRect/>
          <a:stretch/>
        </p:blipFill>
        <p:spPr>
          <a:xfrm>
            <a:off x="7928732" y="3573912"/>
            <a:ext cx="624048" cy="624047"/>
          </a:xfrm>
          <a:prstGeom prst="rect">
            <a:avLst/>
          </a:prstGeom>
          <a:noFill/>
          <a:ln>
            <a:noFill/>
          </a:ln>
        </p:spPr>
      </p:pic>
      <p:pic>
        <p:nvPicPr>
          <p:cNvPr id="230" name="Google Shape;230;p8" descr="Blockchain Silhouette"/>
          <p:cNvPicPr preferRelativeResize="0"/>
          <p:nvPr/>
        </p:nvPicPr>
        <p:blipFill rotWithShape="1">
          <a:blip r:embed="rId6">
            <a:alphaModFix/>
          </a:blip>
          <a:srcRect/>
          <a:stretch/>
        </p:blipFill>
        <p:spPr>
          <a:xfrm>
            <a:off x="9893329" y="3573560"/>
            <a:ext cx="624048" cy="624047"/>
          </a:xfrm>
          <a:prstGeom prst="rect">
            <a:avLst/>
          </a:prstGeom>
          <a:noFill/>
          <a:ln>
            <a:noFill/>
          </a:ln>
        </p:spPr>
      </p:pic>
      <p:sp>
        <p:nvSpPr>
          <p:cNvPr id="239" name="Google Shape;239;p8"/>
          <p:cNvSpPr txBox="1"/>
          <p:nvPr/>
        </p:nvSpPr>
        <p:spPr>
          <a:xfrm>
            <a:off x="6486600" y="3655075"/>
            <a:ext cx="15489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rgbClr val="000620"/>
                </a:solidFill>
                <a:latin typeface="Montserrat Medium"/>
                <a:ea typeface="Montserrat Medium"/>
                <a:cs typeface="Montserrat Medium"/>
                <a:sym typeface="Montserrat Medium"/>
              </a:rPr>
              <a:t>Transformation Function</a:t>
            </a:r>
            <a:endParaRPr sz="1200">
              <a:solidFill>
                <a:srgbClr val="000620"/>
              </a:solidFill>
              <a:latin typeface="Montserrat Medium"/>
              <a:ea typeface="Montserrat Medium"/>
              <a:cs typeface="Montserrat Medium"/>
              <a:sym typeface="Montserrat Medium"/>
            </a:endParaRPr>
          </a:p>
        </p:txBody>
      </p:sp>
      <p:sp>
        <p:nvSpPr>
          <p:cNvPr id="240" name="Google Shape;240;p8"/>
          <p:cNvSpPr txBox="1"/>
          <p:nvPr/>
        </p:nvSpPr>
        <p:spPr>
          <a:xfrm>
            <a:off x="8571587" y="2363385"/>
            <a:ext cx="1303200" cy="276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1" dirty="0">
                <a:solidFill>
                  <a:srgbClr val="3A9BF3"/>
                </a:solidFill>
                <a:latin typeface="Montserrat"/>
                <a:ea typeface="Montserrat"/>
                <a:cs typeface="Montserrat"/>
                <a:sym typeface="Montserrat"/>
              </a:rPr>
              <a:t>Service APIs</a:t>
            </a:r>
            <a:endParaRPr sz="1200" b="1" dirty="0">
              <a:solidFill>
                <a:srgbClr val="3A9BF3"/>
              </a:solidFill>
              <a:latin typeface="Montserrat"/>
              <a:ea typeface="Montserrat"/>
              <a:cs typeface="Montserrat"/>
              <a:sym typeface="Montserrat"/>
            </a:endParaRPr>
          </a:p>
        </p:txBody>
      </p:sp>
      <p:sp>
        <p:nvSpPr>
          <p:cNvPr id="241" name="Google Shape;241;p8"/>
          <p:cNvSpPr txBox="1"/>
          <p:nvPr/>
        </p:nvSpPr>
        <p:spPr>
          <a:xfrm>
            <a:off x="8571462" y="4358774"/>
            <a:ext cx="130320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1" dirty="0">
                <a:solidFill>
                  <a:srgbClr val="3A9BF3"/>
                </a:solidFill>
                <a:latin typeface="Montserrat"/>
                <a:ea typeface="Montserrat"/>
                <a:cs typeface="Montserrat"/>
                <a:sym typeface="Montserrat"/>
              </a:rPr>
              <a:t>Network capabilities</a:t>
            </a:r>
            <a:endParaRPr sz="1200" b="1" dirty="0">
              <a:solidFill>
                <a:srgbClr val="3A9BF3"/>
              </a:solidFill>
              <a:latin typeface="Montserrat"/>
              <a:ea typeface="Montserrat"/>
              <a:cs typeface="Montserrat"/>
              <a:sym typeface="Montserrat"/>
            </a:endParaRPr>
          </a:p>
        </p:txBody>
      </p:sp>
      <p:sp>
        <p:nvSpPr>
          <p:cNvPr id="242" name="Google Shape;242;p8"/>
          <p:cNvSpPr txBox="1"/>
          <p:nvPr/>
        </p:nvSpPr>
        <p:spPr>
          <a:xfrm>
            <a:off x="7589058" y="5520502"/>
            <a:ext cx="1303200" cy="276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rgbClr val="000620"/>
                </a:solidFill>
                <a:latin typeface="Montserrat Medium"/>
                <a:ea typeface="Montserrat Medium"/>
                <a:cs typeface="Montserrat Medium"/>
                <a:sym typeface="Montserrat Medium"/>
              </a:rPr>
              <a:t>Operator 1</a:t>
            </a:r>
            <a:endParaRPr sz="1200">
              <a:latin typeface="Montserrat Medium"/>
              <a:ea typeface="Montserrat Medium"/>
              <a:cs typeface="Montserrat Medium"/>
              <a:sym typeface="Montserrat Medium"/>
            </a:endParaRPr>
          </a:p>
        </p:txBody>
      </p:sp>
      <p:sp>
        <p:nvSpPr>
          <p:cNvPr id="243" name="Google Shape;243;p8"/>
          <p:cNvSpPr txBox="1"/>
          <p:nvPr/>
        </p:nvSpPr>
        <p:spPr>
          <a:xfrm>
            <a:off x="9562352" y="5520502"/>
            <a:ext cx="1303200" cy="276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rgbClr val="000620"/>
                </a:solidFill>
                <a:latin typeface="Montserrat Medium"/>
                <a:ea typeface="Montserrat Medium"/>
                <a:cs typeface="Montserrat Medium"/>
                <a:sym typeface="Montserrat Medium"/>
              </a:rPr>
              <a:t>Operator 2</a:t>
            </a:r>
            <a:endParaRPr sz="1200">
              <a:latin typeface="Montserrat Medium"/>
              <a:ea typeface="Montserrat Medium"/>
              <a:cs typeface="Montserrat Medium"/>
              <a:sym typeface="Montserrat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9"/>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CAMARA</a:t>
            </a:r>
            <a:br>
              <a:rPr lang="en-US"/>
            </a:br>
            <a:r>
              <a:rPr lang="en-US"/>
              <a:t>Scope</a:t>
            </a:r>
            <a:endParaRPr/>
          </a:p>
        </p:txBody>
      </p:sp>
      <p:sp>
        <p:nvSpPr>
          <p:cNvPr id="251" name="Google Shape;251;p9"/>
          <p:cNvSpPr txBox="1">
            <a:spLocks noGrp="1"/>
          </p:cNvSpPr>
          <p:nvPr>
            <p:ph type="body" idx="1"/>
          </p:nvPr>
        </p:nvSpPr>
        <p:spPr>
          <a:xfrm>
            <a:off x="444373" y="1890346"/>
            <a:ext cx="5835657" cy="4124383"/>
          </a:xfrm>
          <a:prstGeom prst="rect">
            <a:avLst/>
          </a:prstGeom>
          <a:noFill/>
          <a:ln>
            <a:noFill/>
          </a:ln>
        </p:spPr>
        <p:txBody>
          <a:bodyPr spcFirstLastPara="1" wrap="square" lIns="0" tIns="0" rIns="0" bIns="0" anchor="t" anchorCtr="0">
            <a:noAutofit/>
          </a:bodyPr>
          <a:lstStyle/>
          <a:p>
            <a:pPr marL="0" lvl="0" indent="0" algn="l" rtl="0">
              <a:lnSpc>
                <a:spcPct val="104000"/>
              </a:lnSpc>
              <a:spcBef>
                <a:spcPts val="0"/>
              </a:spcBef>
              <a:spcAft>
                <a:spcPts val="0"/>
              </a:spcAft>
              <a:buClr>
                <a:schemeClr val="dk2"/>
              </a:buClr>
              <a:buSzPts val="1500"/>
              <a:buNone/>
            </a:pPr>
            <a:r>
              <a:rPr lang="en-US" sz="2000" dirty="0">
                <a:latin typeface="Montserrat Medium"/>
                <a:ea typeface="Montserrat Medium"/>
                <a:cs typeface="Montserrat Medium"/>
                <a:sym typeface="Montserrat Medium"/>
              </a:rPr>
              <a:t>We differentiate between 3 types of Northbound APIs:</a:t>
            </a:r>
            <a:endParaRPr sz="2000" dirty="0">
              <a:latin typeface="Montserrat Medium"/>
              <a:ea typeface="Montserrat Medium"/>
              <a:cs typeface="Montserrat Medium"/>
              <a:sym typeface="Montserrat Medium"/>
            </a:endParaRPr>
          </a:p>
          <a:p>
            <a:pPr marL="285750" lvl="0" indent="-273050" algn="l" rtl="0">
              <a:lnSpc>
                <a:spcPct val="104000"/>
              </a:lnSpc>
              <a:spcBef>
                <a:spcPts val="1200"/>
              </a:spcBef>
              <a:spcAft>
                <a:spcPts val="0"/>
              </a:spcAft>
              <a:buClr>
                <a:srgbClr val="3A9BF3"/>
              </a:buClr>
              <a:buSzPts val="1400"/>
              <a:buFont typeface="Montserrat"/>
              <a:buChar char="•"/>
            </a:pPr>
            <a:r>
              <a:rPr lang="en-US" sz="1400" dirty="0">
                <a:solidFill>
                  <a:srgbClr val="3A9BF3"/>
                </a:solidFill>
                <a:latin typeface="Montserrat Medium"/>
                <a:ea typeface="Montserrat Medium"/>
                <a:cs typeface="Montserrat Medium"/>
                <a:sym typeface="Montserrat Medium"/>
              </a:rPr>
              <a:t>Service APIs:</a:t>
            </a:r>
            <a:r>
              <a:rPr lang="en-US" sz="1400" dirty="0">
                <a:solidFill>
                  <a:srgbClr val="3A9BF3"/>
                </a:solidFill>
                <a:latin typeface="Montserrat SemiBold"/>
                <a:ea typeface="Montserrat SemiBold"/>
                <a:cs typeface="Montserrat SemiBold"/>
                <a:sym typeface="Montserrat SemiBold"/>
              </a:rPr>
              <a:t> </a:t>
            </a:r>
            <a:r>
              <a:rPr lang="en-US" sz="1400" dirty="0"/>
              <a:t>APIs intended for end consumers and integrated by developers to invoke a certain telco capability.</a:t>
            </a:r>
            <a:endParaRPr sz="1400" dirty="0"/>
          </a:p>
          <a:p>
            <a:pPr marL="285750" lvl="0" indent="-273050" algn="l" rtl="0">
              <a:lnSpc>
                <a:spcPct val="104000"/>
              </a:lnSpc>
              <a:spcBef>
                <a:spcPts val="1200"/>
              </a:spcBef>
              <a:spcAft>
                <a:spcPts val="0"/>
              </a:spcAft>
              <a:buClr>
                <a:srgbClr val="3A9BF3"/>
              </a:buClr>
              <a:buSzPts val="1400"/>
              <a:buFont typeface="Montserrat"/>
              <a:buChar char="•"/>
            </a:pPr>
            <a:r>
              <a:rPr lang="en-US" sz="1400" dirty="0">
                <a:solidFill>
                  <a:srgbClr val="3A9BF3"/>
                </a:solidFill>
                <a:latin typeface="Montserrat Medium"/>
                <a:ea typeface="Montserrat Medium"/>
                <a:cs typeface="Montserrat Medium"/>
                <a:sym typeface="Montserrat Medium"/>
              </a:rPr>
              <a:t>Service Management APIs:</a:t>
            </a:r>
            <a:r>
              <a:rPr lang="en-US" sz="1400" dirty="0">
                <a:latin typeface="Montserrat SemiBold"/>
                <a:ea typeface="Montserrat SemiBold"/>
                <a:cs typeface="Montserrat SemiBold"/>
                <a:sym typeface="Montserrat SemiBold"/>
              </a:rPr>
              <a:t> </a:t>
            </a:r>
            <a:r>
              <a:rPr lang="en-US" sz="1400" dirty="0"/>
              <a:t>APIs intended for end consumers to manage or get data about offered Service APIs in application runtime, e.g., check service availability or performance information.</a:t>
            </a:r>
            <a:endParaRPr sz="1400" dirty="0"/>
          </a:p>
          <a:p>
            <a:pPr marL="285750" lvl="0" indent="-279400" algn="l" rtl="0">
              <a:lnSpc>
                <a:spcPct val="104000"/>
              </a:lnSpc>
              <a:spcBef>
                <a:spcPts val="1200"/>
              </a:spcBef>
              <a:spcAft>
                <a:spcPts val="0"/>
              </a:spcAft>
              <a:buClr>
                <a:srgbClr val="3A9BF3"/>
              </a:buClr>
              <a:buSzPts val="1400"/>
              <a:buFont typeface="Montserrat"/>
              <a:buChar char="•"/>
            </a:pPr>
            <a:r>
              <a:rPr lang="en-US" sz="1400" dirty="0">
                <a:solidFill>
                  <a:srgbClr val="3A9BF3"/>
                </a:solidFill>
                <a:latin typeface="Montserrat Medium"/>
                <a:ea typeface="Montserrat Medium"/>
                <a:cs typeface="Montserrat Medium"/>
                <a:sym typeface="Montserrat Medium"/>
              </a:rPr>
              <a:t>Operate APIs:</a:t>
            </a:r>
            <a:r>
              <a:rPr lang="en-US" sz="1400" dirty="0"/>
              <a:t> Operational and maintenance APIs provided by a telco to channel partners for the purpose of service fulfillment and assurance to their [channel partner] customers. This may include service provisioning for a mobile user, technical API performance monitoring, fault ticketing, information exchange such as product catalog, pricing, settlement, etc.</a:t>
            </a:r>
            <a:endParaRPr sz="1400" dirty="0"/>
          </a:p>
        </p:txBody>
      </p:sp>
      <p:pic>
        <p:nvPicPr>
          <p:cNvPr id="252" name="Google Shape;252;p9"/>
          <p:cNvPicPr preferRelativeResize="0"/>
          <p:nvPr/>
        </p:nvPicPr>
        <p:blipFill rotWithShape="1">
          <a:blip r:embed="rId3">
            <a:alphaModFix/>
          </a:blip>
          <a:srcRect/>
          <a:stretch/>
        </p:blipFill>
        <p:spPr>
          <a:xfrm>
            <a:off x="6457435" y="2347546"/>
            <a:ext cx="4758292" cy="2561647"/>
          </a:xfrm>
          <a:prstGeom prst="rect">
            <a:avLst/>
          </a:prstGeom>
          <a:noFill/>
          <a:ln>
            <a:noFill/>
          </a:ln>
        </p:spPr>
      </p:pic>
      <p:sp>
        <p:nvSpPr>
          <p:cNvPr id="253" name="Google Shape;253;p9"/>
          <p:cNvSpPr txBox="1"/>
          <p:nvPr/>
        </p:nvSpPr>
        <p:spPr>
          <a:xfrm>
            <a:off x="6457436" y="5091425"/>
            <a:ext cx="4758300" cy="13302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chemeClr val="dk2"/>
              </a:buClr>
              <a:buSzPts val="1600"/>
              <a:buFont typeface="Montserrat Light"/>
              <a:buNone/>
            </a:pPr>
            <a:r>
              <a:rPr lang="en-US" sz="1200" i="0">
                <a:solidFill>
                  <a:srgbClr val="3A9BF3"/>
                </a:solidFill>
                <a:latin typeface="Montserrat Medium"/>
                <a:ea typeface="Montserrat Medium"/>
                <a:cs typeface="Montserrat Medium"/>
                <a:sym typeface="Montserrat Medium"/>
              </a:rPr>
              <a:t>Service APIs and Service Management APIs</a:t>
            </a:r>
            <a:r>
              <a:rPr lang="en-US" sz="1200" b="0" i="0">
                <a:solidFill>
                  <a:schemeClr val="dk2"/>
                </a:solidFill>
                <a:latin typeface="Montserrat SemiBold"/>
                <a:ea typeface="Montserrat SemiBold"/>
                <a:cs typeface="Montserrat SemiBold"/>
                <a:sym typeface="Montserrat SemiBold"/>
              </a:rPr>
              <a:t> </a:t>
            </a:r>
            <a:r>
              <a:rPr lang="en-US" sz="1200" b="0" i="0">
                <a:solidFill>
                  <a:schemeClr val="dk2"/>
                </a:solidFill>
                <a:latin typeface="Montserrat Light"/>
                <a:ea typeface="Montserrat Light"/>
                <a:cs typeface="Montserrat Light"/>
                <a:sym typeface="Montserrat Light"/>
              </a:rPr>
              <a:t>are in scope of CAMARA. Operate APIs are out of scope of CAMARA (these are already covered by other SDOs = Standards Development Organizations like TM Forum).</a:t>
            </a:r>
            <a:endParaRPr sz="1200" b="0" i="0">
              <a:solidFill>
                <a:schemeClr val="dk2"/>
              </a:solidFill>
              <a:latin typeface="Montserrat Light"/>
              <a:ea typeface="Montserrat Light"/>
              <a:cs typeface="Montserrat Light"/>
              <a:sym typeface="Montserrat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10"/>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CAMARA – Scope / Collaboration with</a:t>
            </a:r>
            <a:br>
              <a:rPr lang="en-US"/>
            </a:br>
            <a:r>
              <a:rPr lang="en-US"/>
              <a:t>Open Gateway and TM Forum</a:t>
            </a:r>
            <a:endParaRPr/>
          </a:p>
        </p:txBody>
      </p:sp>
      <p:sp>
        <p:nvSpPr>
          <p:cNvPr id="261" name="Google Shape;261;p10"/>
          <p:cNvSpPr txBox="1">
            <a:spLocks noGrp="1"/>
          </p:cNvSpPr>
          <p:nvPr>
            <p:ph type="body" idx="1"/>
          </p:nvPr>
        </p:nvSpPr>
        <p:spPr>
          <a:xfrm>
            <a:off x="488238" y="5246250"/>
            <a:ext cx="10545600" cy="972000"/>
          </a:xfrm>
          <a:prstGeom prst="rect">
            <a:avLst/>
          </a:prstGeom>
          <a:noFill/>
          <a:ln>
            <a:noFill/>
          </a:ln>
        </p:spPr>
        <p:txBody>
          <a:bodyPr spcFirstLastPara="1" wrap="square" lIns="0" tIns="0" rIns="0" bIns="0" anchor="t" anchorCtr="0">
            <a:noAutofit/>
          </a:bodyPr>
          <a:lstStyle/>
          <a:p>
            <a:pPr marL="0" lvl="0" indent="0" algn="ctr" rtl="0">
              <a:lnSpc>
                <a:spcPct val="104000"/>
              </a:lnSpc>
              <a:spcBef>
                <a:spcPts val="0"/>
              </a:spcBef>
              <a:spcAft>
                <a:spcPts val="0"/>
              </a:spcAft>
              <a:buClr>
                <a:schemeClr val="dk2"/>
              </a:buClr>
              <a:buSzPts val="1500"/>
              <a:buNone/>
            </a:pPr>
            <a:r>
              <a:rPr lang="en-US" sz="2000"/>
              <a:t>Hyperscalers and aggregators have the possibility to create own enriched products based on the CAMARA APIs and expose that in addition to the CAMARA APIs.</a:t>
            </a:r>
            <a:endParaRPr sz="2000"/>
          </a:p>
        </p:txBody>
      </p:sp>
      <p:pic>
        <p:nvPicPr>
          <p:cNvPr id="262" name="Google Shape;262;p10"/>
          <p:cNvPicPr preferRelativeResize="0"/>
          <p:nvPr/>
        </p:nvPicPr>
        <p:blipFill rotWithShape="1">
          <a:blip r:embed="rId3">
            <a:alphaModFix/>
          </a:blip>
          <a:srcRect/>
          <a:stretch/>
        </p:blipFill>
        <p:spPr>
          <a:xfrm>
            <a:off x="1347500" y="1822875"/>
            <a:ext cx="8827075" cy="31794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11"/>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CAMARA – Scope / Collaboration with</a:t>
            </a:r>
            <a:br>
              <a:rPr lang="en-US"/>
            </a:br>
            <a:r>
              <a:rPr lang="en-US"/>
              <a:t>Open Gateway and TM Forum</a:t>
            </a:r>
            <a:endParaRPr/>
          </a:p>
        </p:txBody>
      </p:sp>
      <p:sp>
        <p:nvSpPr>
          <p:cNvPr id="270" name="Google Shape;270;p11"/>
          <p:cNvSpPr txBox="1">
            <a:spLocks noGrp="1"/>
          </p:cNvSpPr>
          <p:nvPr>
            <p:ph type="body" idx="1"/>
          </p:nvPr>
        </p:nvSpPr>
        <p:spPr>
          <a:xfrm>
            <a:off x="8458200" y="1795300"/>
            <a:ext cx="2773500" cy="4332600"/>
          </a:xfrm>
          <a:prstGeom prst="rect">
            <a:avLst/>
          </a:prstGeom>
          <a:noFill/>
          <a:ln>
            <a:noFill/>
          </a:ln>
        </p:spPr>
        <p:txBody>
          <a:bodyPr spcFirstLastPara="1" wrap="square" lIns="0" tIns="0" rIns="0" bIns="0" anchor="t" anchorCtr="0">
            <a:noAutofit/>
          </a:bodyPr>
          <a:lstStyle/>
          <a:p>
            <a:pPr marL="0" lvl="0" indent="0" algn="l" rtl="0">
              <a:lnSpc>
                <a:spcPct val="104000"/>
              </a:lnSpc>
              <a:spcBef>
                <a:spcPts val="0"/>
              </a:spcBef>
              <a:spcAft>
                <a:spcPts val="0"/>
              </a:spcAft>
              <a:buClr>
                <a:schemeClr val="dk2"/>
              </a:buClr>
              <a:buSzPts val="1500"/>
              <a:buNone/>
            </a:pPr>
            <a:r>
              <a:rPr lang="en-US" sz="1400"/>
              <a:t>CAMARA project defines </a:t>
            </a:r>
            <a:endParaRPr sz="1400"/>
          </a:p>
          <a:p>
            <a:pPr marL="0" lvl="0" indent="0" algn="l" rtl="0">
              <a:lnSpc>
                <a:spcPct val="104000"/>
              </a:lnSpc>
              <a:spcBef>
                <a:spcPts val="0"/>
              </a:spcBef>
              <a:spcAft>
                <a:spcPts val="0"/>
              </a:spcAft>
              <a:buClr>
                <a:schemeClr val="dk2"/>
              </a:buClr>
              <a:buSzPts val="1500"/>
              <a:buNone/>
            </a:pPr>
            <a:r>
              <a:rPr lang="en-US" sz="1400"/>
              <a:t>CAMARA APIs.</a:t>
            </a:r>
            <a:endParaRPr sz="1400"/>
          </a:p>
          <a:p>
            <a:pPr marL="0" lvl="0" indent="0" algn="l" rtl="0">
              <a:lnSpc>
                <a:spcPct val="104000"/>
              </a:lnSpc>
              <a:spcBef>
                <a:spcPts val="1200"/>
              </a:spcBef>
              <a:spcAft>
                <a:spcPts val="0"/>
              </a:spcAft>
              <a:buClr>
                <a:schemeClr val="dk2"/>
              </a:buClr>
              <a:buSzPts val="1500"/>
              <a:buNone/>
            </a:pPr>
            <a:r>
              <a:rPr lang="en-US" sz="1400"/>
              <a:t>TMForum develops the           Operate APIs.</a:t>
            </a:r>
            <a:endParaRPr sz="1400"/>
          </a:p>
          <a:p>
            <a:pPr marL="0" lvl="0" indent="0" algn="l" rtl="0">
              <a:lnSpc>
                <a:spcPct val="104000"/>
              </a:lnSpc>
              <a:spcBef>
                <a:spcPts val="1200"/>
              </a:spcBef>
              <a:spcAft>
                <a:spcPts val="0"/>
              </a:spcAft>
              <a:buClr>
                <a:schemeClr val="dk2"/>
              </a:buClr>
              <a:buSzPts val="1500"/>
              <a:buNone/>
            </a:pPr>
            <a:r>
              <a:rPr lang="en-US" sz="1400"/>
              <a:t>Several SDOs cover the different technology domains that provide the telco capabilities.</a:t>
            </a:r>
            <a:endParaRPr sz="1400"/>
          </a:p>
          <a:p>
            <a:pPr marL="0" lvl="0" indent="0" algn="l" rtl="0">
              <a:lnSpc>
                <a:spcPct val="104000"/>
              </a:lnSpc>
              <a:spcBef>
                <a:spcPts val="1200"/>
              </a:spcBef>
              <a:spcAft>
                <a:spcPts val="0"/>
              </a:spcAft>
              <a:buClr>
                <a:schemeClr val="dk2"/>
              </a:buClr>
              <a:buSzPts val="1500"/>
              <a:buNone/>
            </a:pPr>
            <a:r>
              <a:rPr lang="en-US" sz="1400"/>
              <a:t>More details can be found in the whitepaper “The Ecosystem for Open Gateway NaaS API Development” (jointly published by GSMA, CAMARA, Linux Foundation and TMForum) available </a:t>
            </a:r>
            <a:r>
              <a:rPr lang="en-US" sz="1400" u="sng">
                <a:solidFill>
                  <a:schemeClr val="hlink"/>
                </a:solidFill>
                <a:latin typeface="Montserrat Medium"/>
                <a:ea typeface="Montserrat Medium"/>
                <a:cs typeface="Montserrat Medium"/>
                <a:sym typeface="Montserrat Medium"/>
                <a:hlinkClick r:id="rId3"/>
              </a:rPr>
              <a:t>here</a:t>
            </a:r>
            <a:r>
              <a:rPr lang="en-US" sz="1400"/>
              <a:t>.</a:t>
            </a:r>
            <a:endParaRPr sz="1400"/>
          </a:p>
        </p:txBody>
      </p:sp>
      <p:pic>
        <p:nvPicPr>
          <p:cNvPr id="271" name="Google Shape;271;p11"/>
          <p:cNvPicPr preferRelativeResize="0"/>
          <p:nvPr/>
        </p:nvPicPr>
        <p:blipFill rotWithShape="1">
          <a:blip r:embed="rId4">
            <a:alphaModFix/>
          </a:blip>
          <a:srcRect/>
          <a:stretch/>
        </p:blipFill>
        <p:spPr>
          <a:xfrm>
            <a:off x="276850" y="1608150"/>
            <a:ext cx="7930763" cy="45597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310bbb95dc3_0_87"/>
          <p:cNvSpPr/>
          <p:nvPr/>
        </p:nvSpPr>
        <p:spPr>
          <a:xfrm>
            <a:off x="2559025" y="1522050"/>
            <a:ext cx="3949500" cy="3135000"/>
          </a:xfrm>
          <a:prstGeom prst="ellipse">
            <a:avLst/>
          </a:prstGeom>
          <a:noFill/>
          <a:ln w="19050" cap="flat" cmpd="sng">
            <a:solidFill>
              <a:srgbClr val="3A9BF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Montserrat Light"/>
              <a:buNone/>
            </a:pPr>
            <a:endParaRPr sz="1800">
              <a:solidFill>
                <a:schemeClr val="dk1"/>
              </a:solidFill>
              <a:latin typeface="Montserrat Light"/>
              <a:ea typeface="Montserrat Light"/>
              <a:cs typeface="Montserrat Light"/>
              <a:sym typeface="Montserrat Light"/>
            </a:endParaRPr>
          </a:p>
        </p:txBody>
      </p:sp>
      <p:sp>
        <p:nvSpPr>
          <p:cNvPr id="279" name="Google Shape;279;g310bbb95dc3_0_87"/>
          <p:cNvSpPr/>
          <p:nvPr/>
        </p:nvSpPr>
        <p:spPr>
          <a:xfrm>
            <a:off x="5013450" y="1522050"/>
            <a:ext cx="3949500" cy="3135000"/>
          </a:xfrm>
          <a:prstGeom prst="ellipse">
            <a:avLst/>
          </a:prstGeom>
          <a:noFill/>
          <a:ln w="19050" cap="flat" cmpd="sng">
            <a:solidFill>
              <a:srgbClr val="3A9BF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Montserrat Light"/>
              <a:buNone/>
            </a:pPr>
            <a:endParaRPr sz="1800">
              <a:solidFill>
                <a:schemeClr val="dk1"/>
              </a:solidFill>
              <a:latin typeface="Montserrat Light"/>
              <a:ea typeface="Montserrat Light"/>
              <a:cs typeface="Montserrat Light"/>
              <a:sym typeface="Montserrat Light"/>
            </a:endParaRPr>
          </a:p>
        </p:txBody>
      </p:sp>
      <p:sp>
        <p:nvSpPr>
          <p:cNvPr id="280" name="Google Shape;280;g310bbb95dc3_0_87"/>
          <p:cNvSpPr txBox="1"/>
          <p:nvPr/>
        </p:nvSpPr>
        <p:spPr>
          <a:xfrm>
            <a:off x="5100138" y="2310291"/>
            <a:ext cx="1321800" cy="4137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100"/>
              <a:buFont typeface="Montserrat Light"/>
              <a:buNone/>
            </a:pPr>
            <a:r>
              <a:rPr lang="en-US" sz="1200">
                <a:solidFill>
                  <a:schemeClr val="dk1"/>
                </a:solidFill>
                <a:latin typeface="Montserrat Light"/>
                <a:ea typeface="Montserrat Light"/>
                <a:cs typeface="Montserrat Light"/>
                <a:sym typeface="Montserrat Light"/>
              </a:rPr>
              <a:t>Collaboration Agreement</a:t>
            </a:r>
            <a:endParaRPr sz="1200">
              <a:solidFill>
                <a:schemeClr val="dk1"/>
              </a:solidFill>
              <a:latin typeface="Montserrat Light"/>
              <a:ea typeface="Montserrat Light"/>
              <a:cs typeface="Montserrat Light"/>
              <a:sym typeface="Montserrat Light"/>
            </a:endParaRPr>
          </a:p>
        </p:txBody>
      </p:sp>
      <p:sp>
        <p:nvSpPr>
          <p:cNvPr id="281" name="Google Shape;281;g310bbb95dc3_0_87"/>
          <p:cNvSpPr/>
          <p:nvPr/>
        </p:nvSpPr>
        <p:spPr>
          <a:xfrm>
            <a:off x="3786288" y="3243665"/>
            <a:ext cx="3949500" cy="3135000"/>
          </a:xfrm>
          <a:prstGeom prst="ellipse">
            <a:avLst/>
          </a:prstGeom>
          <a:noFill/>
          <a:ln w="19050" cap="flat" cmpd="sng">
            <a:solidFill>
              <a:srgbClr val="3A9BF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Montserrat Light"/>
              <a:buNone/>
            </a:pPr>
            <a:endParaRPr sz="1800">
              <a:solidFill>
                <a:schemeClr val="dk1"/>
              </a:solidFill>
              <a:latin typeface="Montserrat Light"/>
              <a:ea typeface="Montserrat Light"/>
              <a:cs typeface="Montserrat Light"/>
              <a:sym typeface="Montserrat Light"/>
            </a:endParaRPr>
          </a:p>
        </p:txBody>
      </p:sp>
      <p:sp>
        <p:nvSpPr>
          <p:cNvPr id="282" name="Google Shape;282;g310bbb95dc3_0_87"/>
          <p:cNvSpPr txBox="1"/>
          <p:nvPr/>
        </p:nvSpPr>
        <p:spPr>
          <a:xfrm>
            <a:off x="6603217" y="2724892"/>
            <a:ext cx="2109000" cy="554100"/>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100"/>
              <a:buFont typeface="Montserrat Medium"/>
              <a:buNone/>
            </a:pPr>
            <a:r>
              <a:rPr lang="en-US" sz="1200" dirty="0">
                <a:solidFill>
                  <a:schemeClr val="dk1"/>
                </a:solidFill>
                <a:latin typeface="Montserrat Medium"/>
                <a:ea typeface="Montserrat Medium"/>
                <a:cs typeface="Montserrat Medium"/>
                <a:sym typeface="Montserrat Medium"/>
              </a:rPr>
              <a:t>Business templates for Northbound and E/W</a:t>
            </a:r>
            <a:endParaRPr sz="1200" dirty="0">
              <a:solidFill>
                <a:schemeClr val="dk1"/>
              </a:solidFill>
              <a:latin typeface="Montserrat Medium"/>
              <a:ea typeface="Montserrat Medium"/>
              <a:cs typeface="Montserrat Medium"/>
              <a:sym typeface="Montserrat Medium"/>
            </a:endParaRPr>
          </a:p>
        </p:txBody>
      </p:sp>
      <p:sp>
        <p:nvSpPr>
          <p:cNvPr id="283" name="Google Shape;283;g310bbb95dc3_0_87"/>
          <p:cNvSpPr txBox="1"/>
          <p:nvPr/>
        </p:nvSpPr>
        <p:spPr>
          <a:xfrm>
            <a:off x="4297346" y="4682526"/>
            <a:ext cx="2013000" cy="923400"/>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100"/>
              <a:buFont typeface="Montserrat Medium"/>
              <a:buNone/>
            </a:pPr>
            <a:r>
              <a:rPr lang="en-US" sz="1200">
                <a:solidFill>
                  <a:schemeClr val="dk1"/>
                </a:solidFill>
                <a:latin typeface="Montserrat Medium"/>
                <a:ea typeface="Montserrat Medium"/>
                <a:cs typeface="Montserrat Medium"/>
                <a:sym typeface="Montserrat Medium"/>
              </a:rPr>
              <a:t>Operate API definition</a:t>
            </a:r>
            <a:endParaRPr sz="1200">
              <a:solidFill>
                <a:schemeClr val="dk1"/>
              </a:solidFill>
              <a:latin typeface="Montserrat Medium"/>
              <a:ea typeface="Montserrat Medium"/>
              <a:cs typeface="Montserrat Medium"/>
              <a:sym typeface="Montserrat Medium"/>
            </a:endParaRPr>
          </a:p>
          <a:p>
            <a:pPr marL="0" marR="0" lvl="0" indent="0" algn="ctr" rtl="0">
              <a:spcBef>
                <a:spcPts val="0"/>
              </a:spcBef>
              <a:spcAft>
                <a:spcPts val="0"/>
              </a:spcAft>
              <a:buClr>
                <a:schemeClr val="dk1"/>
              </a:buClr>
              <a:buSzPts val="1100"/>
              <a:buFont typeface="Montserrat Medium"/>
              <a:buNone/>
            </a:pPr>
            <a:r>
              <a:rPr lang="en-US" sz="1200">
                <a:solidFill>
                  <a:schemeClr val="dk1"/>
                </a:solidFill>
                <a:latin typeface="Montserrat Medium"/>
                <a:ea typeface="Montserrat Medium"/>
                <a:cs typeface="Montserrat Medium"/>
                <a:sym typeface="Montserrat Medium"/>
              </a:rPr>
              <a:t>(catalogue and order management, on-/offboarding, billing)</a:t>
            </a:r>
            <a:endParaRPr sz="1200">
              <a:solidFill>
                <a:schemeClr val="dk1"/>
              </a:solidFill>
              <a:latin typeface="Montserrat Medium"/>
              <a:ea typeface="Montserrat Medium"/>
              <a:cs typeface="Montserrat Medium"/>
              <a:sym typeface="Montserrat Medium"/>
            </a:endParaRPr>
          </a:p>
        </p:txBody>
      </p:sp>
      <p:sp>
        <p:nvSpPr>
          <p:cNvPr id="284" name="Google Shape;284;g310bbb95dc3_0_87"/>
          <p:cNvSpPr txBox="1"/>
          <p:nvPr/>
        </p:nvSpPr>
        <p:spPr>
          <a:xfrm>
            <a:off x="7406009" y="3497782"/>
            <a:ext cx="1041300" cy="554100"/>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100"/>
              <a:buFont typeface="Montserrat Light"/>
              <a:buNone/>
            </a:pPr>
            <a:r>
              <a:rPr lang="en-US" sz="1200" dirty="0">
                <a:solidFill>
                  <a:schemeClr val="dk1"/>
                </a:solidFill>
                <a:latin typeface="Montserrat Light"/>
                <a:ea typeface="Montserrat Light"/>
                <a:cs typeface="Montserrat Light"/>
                <a:sym typeface="Montserrat Light"/>
              </a:rPr>
              <a:t>East-West Federation</a:t>
            </a:r>
            <a:endParaRPr sz="1200" dirty="0">
              <a:solidFill>
                <a:schemeClr val="dk1"/>
              </a:solidFill>
              <a:latin typeface="Montserrat Light"/>
              <a:ea typeface="Montserrat Light"/>
              <a:cs typeface="Montserrat Light"/>
              <a:sym typeface="Montserrat Light"/>
            </a:endParaRPr>
          </a:p>
        </p:txBody>
      </p:sp>
      <p:sp>
        <p:nvSpPr>
          <p:cNvPr id="285" name="Google Shape;285;g310bbb95dc3_0_87"/>
          <p:cNvSpPr txBox="1"/>
          <p:nvPr/>
        </p:nvSpPr>
        <p:spPr>
          <a:xfrm>
            <a:off x="3358984" y="2391745"/>
            <a:ext cx="1321800" cy="369300"/>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100"/>
              <a:buFont typeface="Montserrat Medium"/>
              <a:buNone/>
            </a:pPr>
            <a:r>
              <a:rPr lang="en-US" sz="1200">
                <a:solidFill>
                  <a:schemeClr val="dk1"/>
                </a:solidFill>
                <a:latin typeface="Montserrat Medium"/>
                <a:ea typeface="Montserrat Medium"/>
                <a:cs typeface="Montserrat Medium"/>
                <a:sym typeface="Montserrat Medium"/>
              </a:rPr>
              <a:t>API definition</a:t>
            </a:r>
            <a:endParaRPr sz="1200">
              <a:solidFill>
                <a:schemeClr val="dk1"/>
              </a:solidFill>
              <a:latin typeface="Montserrat Medium"/>
              <a:ea typeface="Montserrat Medium"/>
              <a:cs typeface="Montserrat Medium"/>
              <a:sym typeface="Montserrat Medium"/>
            </a:endParaRPr>
          </a:p>
        </p:txBody>
      </p:sp>
      <p:sp>
        <p:nvSpPr>
          <p:cNvPr id="286" name="Google Shape;286;g310bbb95dc3_0_87"/>
          <p:cNvSpPr txBox="1"/>
          <p:nvPr/>
        </p:nvSpPr>
        <p:spPr>
          <a:xfrm>
            <a:off x="5144990" y="2716063"/>
            <a:ext cx="1232100" cy="554100"/>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100"/>
              <a:buFont typeface="Montserrat Light"/>
              <a:buNone/>
            </a:pPr>
            <a:r>
              <a:rPr lang="en-US" sz="1200">
                <a:solidFill>
                  <a:schemeClr val="dk1"/>
                </a:solidFill>
                <a:latin typeface="Montserrat Light"/>
                <a:ea typeface="Montserrat Light"/>
                <a:cs typeface="Montserrat Light"/>
                <a:sym typeface="Montserrat Light"/>
              </a:rPr>
              <a:t>Developer Engagement</a:t>
            </a:r>
            <a:endParaRPr sz="1200">
              <a:solidFill>
                <a:schemeClr val="dk1"/>
              </a:solidFill>
              <a:latin typeface="Montserrat Light"/>
              <a:ea typeface="Montserrat Light"/>
              <a:cs typeface="Montserrat Light"/>
              <a:sym typeface="Montserrat Light"/>
            </a:endParaRPr>
          </a:p>
        </p:txBody>
      </p:sp>
      <p:sp>
        <p:nvSpPr>
          <p:cNvPr id="287" name="Google Shape;287;g310bbb95dc3_0_87"/>
          <p:cNvSpPr txBox="1"/>
          <p:nvPr/>
        </p:nvSpPr>
        <p:spPr>
          <a:xfrm>
            <a:off x="6715365" y="3198004"/>
            <a:ext cx="1796700" cy="369300"/>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100"/>
              <a:buFont typeface="Montserrat Medium"/>
              <a:buNone/>
            </a:pPr>
            <a:r>
              <a:rPr lang="en-US" sz="1200" dirty="0">
                <a:solidFill>
                  <a:schemeClr val="dk1"/>
                </a:solidFill>
                <a:latin typeface="Montserrat Medium"/>
                <a:ea typeface="Montserrat Medium"/>
                <a:cs typeface="Montserrat Medium"/>
                <a:sym typeface="Montserrat Medium"/>
              </a:rPr>
              <a:t>Playbooks</a:t>
            </a:r>
            <a:endParaRPr sz="1200" dirty="0">
              <a:solidFill>
                <a:schemeClr val="dk1"/>
              </a:solidFill>
              <a:latin typeface="Montserrat Medium"/>
              <a:ea typeface="Montserrat Medium"/>
              <a:cs typeface="Montserrat Medium"/>
              <a:sym typeface="Montserrat Medium"/>
            </a:endParaRPr>
          </a:p>
        </p:txBody>
      </p:sp>
      <p:sp>
        <p:nvSpPr>
          <p:cNvPr id="288" name="Google Shape;288;g310bbb95dc3_0_87"/>
          <p:cNvSpPr txBox="1"/>
          <p:nvPr/>
        </p:nvSpPr>
        <p:spPr>
          <a:xfrm>
            <a:off x="6403718" y="4867182"/>
            <a:ext cx="1171500" cy="554100"/>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100"/>
              <a:buFont typeface="Montserrat Light"/>
              <a:buNone/>
            </a:pPr>
            <a:r>
              <a:rPr lang="en-US" sz="1200">
                <a:solidFill>
                  <a:schemeClr val="dk1"/>
                </a:solidFill>
                <a:latin typeface="Montserrat Light"/>
                <a:ea typeface="Montserrat Light"/>
                <a:cs typeface="Montserrat Light"/>
                <a:sym typeface="Montserrat Light"/>
              </a:rPr>
              <a:t>Catalyst programs</a:t>
            </a:r>
            <a:endParaRPr sz="1200">
              <a:solidFill>
                <a:schemeClr val="dk1"/>
              </a:solidFill>
              <a:latin typeface="Montserrat Light"/>
              <a:ea typeface="Montserrat Light"/>
              <a:cs typeface="Montserrat Light"/>
              <a:sym typeface="Montserrat Light"/>
            </a:endParaRPr>
          </a:p>
        </p:txBody>
      </p:sp>
      <p:sp>
        <p:nvSpPr>
          <p:cNvPr id="289" name="Google Shape;289;g310bbb95dc3_0_87"/>
          <p:cNvSpPr txBox="1"/>
          <p:nvPr/>
        </p:nvSpPr>
        <p:spPr>
          <a:xfrm>
            <a:off x="5212050" y="3375725"/>
            <a:ext cx="1098000" cy="554100"/>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100"/>
              <a:buFont typeface="Montserrat Medium"/>
              <a:buNone/>
            </a:pPr>
            <a:r>
              <a:rPr lang="en-US" sz="1200">
                <a:solidFill>
                  <a:schemeClr val="dk1"/>
                </a:solidFill>
                <a:latin typeface="Montserrat Medium"/>
                <a:ea typeface="Montserrat Medium"/>
                <a:cs typeface="Montserrat Medium"/>
                <a:sym typeface="Montserrat Medium"/>
              </a:rPr>
              <a:t>Open API Ecosystem</a:t>
            </a:r>
            <a:endParaRPr sz="1200">
              <a:solidFill>
                <a:schemeClr val="dk1"/>
              </a:solidFill>
              <a:latin typeface="Montserrat Medium"/>
              <a:ea typeface="Montserrat Medium"/>
              <a:cs typeface="Montserrat Medium"/>
              <a:sym typeface="Montserrat Medium"/>
            </a:endParaRPr>
          </a:p>
        </p:txBody>
      </p:sp>
      <p:pic>
        <p:nvPicPr>
          <p:cNvPr id="290" name="Google Shape;290;g310bbb95dc3_0_87"/>
          <p:cNvPicPr preferRelativeResize="0"/>
          <p:nvPr/>
        </p:nvPicPr>
        <p:blipFill rotWithShape="1">
          <a:blip r:embed="rId3">
            <a:alphaModFix/>
          </a:blip>
          <a:srcRect t="34779" b="37292"/>
          <a:stretch/>
        </p:blipFill>
        <p:spPr>
          <a:xfrm>
            <a:off x="5022284" y="5682105"/>
            <a:ext cx="1477497" cy="413779"/>
          </a:xfrm>
          <a:prstGeom prst="rect">
            <a:avLst/>
          </a:prstGeom>
          <a:noFill/>
          <a:ln>
            <a:noFill/>
          </a:ln>
        </p:spPr>
      </p:pic>
      <p:sp>
        <p:nvSpPr>
          <p:cNvPr id="291" name="Google Shape;291;g310bbb95dc3_0_87"/>
          <p:cNvSpPr txBox="1"/>
          <p:nvPr/>
        </p:nvSpPr>
        <p:spPr>
          <a:xfrm>
            <a:off x="2885422" y="2837255"/>
            <a:ext cx="1811700" cy="923299"/>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100"/>
              <a:buFont typeface="Montserrat Light"/>
              <a:buNone/>
            </a:pPr>
            <a:r>
              <a:rPr lang="en-US" sz="1200" dirty="0">
                <a:solidFill>
                  <a:schemeClr val="dk1"/>
                </a:solidFill>
                <a:latin typeface="Montserrat Light"/>
                <a:ea typeface="Montserrat Light"/>
                <a:cs typeface="Montserrat Light"/>
                <a:sym typeface="Montserrat Light"/>
              </a:rPr>
              <a:t>Drive API Adoption (customers/ developers and operators)</a:t>
            </a:r>
            <a:endParaRPr sz="1200" dirty="0">
              <a:solidFill>
                <a:schemeClr val="dk1"/>
              </a:solidFill>
              <a:latin typeface="Montserrat Light"/>
              <a:ea typeface="Montserrat Light"/>
              <a:cs typeface="Montserrat Light"/>
              <a:sym typeface="Montserrat Light"/>
            </a:endParaRPr>
          </a:p>
        </p:txBody>
      </p:sp>
      <p:sp>
        <p:nvSpPr>
          <p:cNvPr id="292" name="Google Shape;292;g310bbb95dc3_0_87"/>
          <p:cNvSpPr txBox="1"/>
          <p:nvPr/>
        </p:nvSpPr>
        <p:spPr>
          <a:xfrm>
            <a:off x="6172872" y="3946927"/>
            <a:ext cx="1321800" cy="4137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100"/>
              <a:buFont typeface="Montserrat Light"/>
              <a:buNone/>
            </a:pPr>
            <a:r>
              <a:rPr lang="en-US" sz="1200">
                <a:solidFill>
                  <a:schemeClr val="dk1"/>
                </a:solidFill>
                <a:latin typeface="Montserrat Light"/>
                <a:ea typeface="Montserrat Light"/>
                <a:cs typeface="Montserrat Light"/>
                <a:sym typeface="Montserrat Light"/>
              </a:rPr>
              <a:t>Collaboration Agreement</a:t>
            </a:r>
            <a:endParaRPr sz="1200">
              <a:solidFill>
                <a:schemeClr val="dk1"/>
              </a:solidFill>
              <a:latin typeface="Montserrat Light"/>
              <a:ea typeface="Montserrat Light"/>
              <a:cs typeface="Montserrat Light"/>
              <a:sym typeface="Montserrat Light"/>
            </a:endParaRPr>
          </a:p>
        </p:txBody>
      </p:sp>
      <p:pic>
        <p:nvPicPr>
          <p:cNvPr id="293" name="Google Shape;293;g310bbb95dc3_0_87"/>
          <p:cNvPicPr preferRelativeResize="0"/>
          <p:nvPr/>
        </p:nvPicPr>
        <p:blipFill rotWithShape="1">
          <a:blip r:embed="rId4">
            <a:alphaModFix/>
          </a:blip>
          <a:srcRect/>
          <a:stretch/>
        </p:blipFill>
        <p:spPr>
          <a:xfrm>
            <a:off x="3330102" y="1892129"/>
            <a:ext cx="1771383" cy="341960"/>
          </a:xfrm>
          <a:prstGeom prst="rect">
            <a:avLst/>
          </a:prstGeom>
          <a:noFill/>
          <a:ln>
            <a:noFill/>
          </a:ln>
        </p:spPr>
      </p:pic>
      <p:sp>
        <p:nvSpPr>
          <p:cNvPr id="294" name="Google Shape;294;g310bbb95dc3_0_87"/>
          <p:cNvSpPr txBox="1"/>
          <p:nvPr/>
        </p:nvSpPr>
        <p:spPr>
          <a:xfrm>
            <a:off x="4078803" y="3946332"/>
            <a:ext cx="1321800" cy="4137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100"/>
              <a:buFont typeface="Montserrat Light"/>
              <a:buNone/>
            </a:pPr>
            <a:r>
              <a:rPr lang="en-US" sz="1200">
                <a:solidFill>
                  <a:schemeClr val="dk1"/>
                </a:solidFill>
                <a:latin typeface="Montserrat Light"/>
                <a:ea typeface="Montserrat Light"/>
                <a:cs typeface="Montserrat Light"/>
                <a:sym typeface="Montserrat Light"/>
              </a:rPr>
              <a:t>Collaboration Agreement</a:t>
            </a:r>
            <a:endParaRPr sz="1200">
              <a:solidFill>
                <a:schemeClr val="dk1"/>
              </a:solidFill>
              <a:latin typeface="Montserrat Light"/>
              <a:ea typeface="Montserrat Light"/>
              <a:cs typeface="Montserrat Light"/>
              <a:sym typeface="Montserrat Light"/>
            </a:endParaRPr>
          </a:p>
        </p:txBody>
      </p:sp>
      <p:grpSp>
        <p:nvGrpSpPr>
          <p:cNvPr id="295" name="Google Shape;295;g310bbb95dc3_0_87"/>
          <p:cNvGrpSpPr/>
          <p:nvPr/>
        </p:nvGrpSpPr>
        <p:grpSpPr>
          <a:xfrm>
            <a:off x="6473837" y="1769289"/>
            <a:ext cx="1383048" cy="541022"/>
            <a:chOff x="6187837" y="1595964"/>
            <a:chExt cx="1383048" cy="541022"/>
          </a:xfrm>
        </p:grpSpPr>
        <p:pic>
          <p:nvPicPr>
            <p:cNvPr id="296" name="Google Shape;296;g310bbb95dc3_0_87"/>
            <p:cNvPicPr preferRelativeResize="0"/>
            <p:nvPr/>
          </p:nvPicPr>
          <p:blipFill rotWithShape="1">
            <a:blip r:embed="rId5">
              <a:alphaModFix/>
            </a:blip>
            <a:srcRect t="37556" b="38852"/>
            <a:stretch/>
          </p:blipFill>
          <p:spPr>
            <a:xfrm>
              <a:off x="6187837" y="1595964"/>
              <a:ext cx="1383047" cy="327160"/>
            </a:xfrm>
            <a:prstGeom prst="rect">
              <a:avLst/>
            </a:prstGeom>
            <a:noFill/>
            <a:ln>
              <a:noFill/>
            </a:ln>
          </p:spPr>
        </p:pic>
        <p:pic>
          <p:nvPicPr>
            <p:cNvPr id="297" name="Google Shape;297;g310bbb95dc3_0_87"/>
            <p:cNvPicPr preferRelativeResize="0"/>
            <p:nvPr/>
          </p:nvPicPr>
          <p:blipFill rotWithShape="1">
            <a:blip r:embed="rId6">
              <a:alphaModFix/>
            </a:blip>
            <a:srcRect/>
            <a:stretch/>
          </p:blipFill>
          <p:spPr>
            <a:xfrm>
              <a:off x="6193197" y="1903039"/>
              <a:ext cx="1377688" cy="233947"/>
            </a:xfrm>
            <a:prstGeom prst="rect">
              <a:avLst/>
            </a:prstGeom>
            <a:noFill/>
            <a:ln>
              <a:noFill/>
            </a:ln>
          </p:spPr>
        </p:pic>
      </p:grpSp>
      <p:sp>
        <p:nvSpPr>
          <p:cNvPr id="298" name="Google Shape;298;g310bbb95dc3_0_87"/>
          <p:cNvSpPr txBox="1">
            <a:spLocks noGrp="1"/>
          </p:cNvSpPr>
          <p:nvPr>
            <p:ph type="title"/>
          </p:nvPr>
        </p:nvSpPr>
        <p:spPr>
          <a:xfrm>
            <a:off x="444373" y="413152"/>
            <a:ext cx="10944300" cy="784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CAMARA – Scope / Collaboration with</a:t>
            </a:r>
            <a:br>
              <a:rPr lang="en-US"/>
            </a:br>
            <a:r>
              <a:rPr lang="en-US"/>
              <a:t>Open Gateway and TM Forum</a:t>
            </a:r>
            <a:endParaRPr/>
          </a:p>
        </p:txBody>
      </p:sp>
      <p:sp>
        <p:nvSpPr>
          <p:cNvPr id="299" name="Google Shape;299;g310bbb95dc3_0_87"/>
          <p:cNvSpPr txBox="1"/>
          <p:nvPr/>
        </p:nvSpPr>
        <p:spPr>
          <a:xfrm>
            <a:off x="342655" y="2582404"/>
            <a:ext cx="2141700" cy="615600"/>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accent2"/>
              </a:buClr>
              <a:buSzPts val="1600"/>
              <a:buFont typeface="Montserrat Medium"/>
              <a:buNone/>
            </a:pPr>
            <a:r>
              <a:rPr lang="en-US">
                <a:solidFill>
                  <a:schemeClr val="accent2"/>
                </a:solidFill>
                <a:latin typeface="Montserrat Medium"/>
                <a:ea typeface="Montserrat Medium"/>
                <a:cs typeface="Montserrat Medium"/>
                <a:sym typeface="Montserrat Medium"/>
              </a:rPr>
              <a:t>Service API “standardization”</a:t>
            </a:r>
            <a:endParaRPr>
              <a:solidFill>
                <a:schemeClr val="accent2"/>
              </a:solidFill>
              <a:latin typeface="Montserrat Medium"/>
              <a:ea typeface="Montserrat Medium"/>
              <a:cs typeface="Montserrat Medium"/>
              <a:sym typeface="Montserrat Medium"/>
            </a:endParaRPr>
          </a:p>
        </p:txBody>
      </p:sp>
      <p:sp>
        <p:nvSpPr>
          <p:cNvPr id="300" name="Google Shape;300;g310bbb95dc3_0_87"/>
          <p:cNvSpPr txBox="1"/>
          <p:nvPr/>
        </p:nvSpPr>
        <p:spPr>
          <a:xfrm>
            <a:off x="9050678" y="2582395"/>
            <a:ext cx="2141700" cy="830966"/>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accent2"/>
              </a:buClr>
              <a:buSzPts val="1600"/>
              <a:buFont typeface="Montserrat Medium"/>
              <a:buNone/>
            </a:pPr>
            <a:r>
              <a:rPr lang="en-US" dirty="0">
                <a:solidFill>
                  <a:schemeClr val="accent2"/>
                </a:solidFill>
                <a:latin typeface="Montserrat Medium"/>
                <a:ea typeface="Montserrat Medium"/>
                <a:cs typeface="Montserrat Medium"/>
                <a:sym typeface="Montserrat Medium"/>
              </a:rPr>
              <a:t>Standardization of telco service exposure platform</a:t>
            </a:r>
            <a:endParaRPr dirty="0">
              <a:solidFill>
                <a:schemeClr val="accent2"/>
              </a:solidFill>
              <a:latin typeface="Montserrat Medium"/>
              <a:ea typeface="Montserrat Medium"/>
              <a:cs typeface="Montserrat Medium"/>
              <a:sym typeface="Montserrat Medium"/>
            </a:endParaRPr>
          </a:p>
        </p:txBody>
      </p:sp>
      <p:sp>
        <p:nvSpPr>
          <p:cNvPr id="301" name="Google Shape;301;g310bbb95dc3_0_87"/>
          <p:cNvSpPr txBox="1"/>
          <p:nvPr/>
        </p:nvSpPr>
        <p:spPr>
          <a:xfrm>
            <a:off x="7227027" y="5631404"/>
            <a:ext cx="2141700" cy="615600"/>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accent2"/>
              </a:buClr>
              <a:buSzPts val="1600"/>
              <a:buFont typeface="Montserrat Medium"/>
              <a:buNone/>
            </a:pPr>
            <a:r>
              <a:rPr lang="en-US">
                <a:solidFill>
                  <a:schemeClr val="accent2"/>
                </a:solidFill>
                <a:latin typeface="Montserrat Medium"/>
                <a:ea typeface="Montserrat Medium"/>
                <a:cs typeface="Montserrat Medium"/>
                <a:sym typeface="Montserrat Medium"/>
              </a:rPr>
              <a:t>Operate API standardization</a:t>
            </a:r>
            <a:endParaRPr>
              <a:solidFill>
                <a:schemeClr val="accent2"/>
              </a:solidFill>
              <a:latin typeface="Montserrat Medium"/>
              <a:ea typeface="Montserrat Medium"/>
              <a:cs typeface="Montserrat Medium"/>
              <a:sym typeface="Montserrat Medium"/>
            </a:endParaRPr>
          </a:p>
        </p:txBody>
      </p:sp>
      <p:sp>
        <p:nvSpPr>
          <p:cNvPr id="2" name="Google Shape;282;g310bbb95dc3_0_87">
            <a:extLst>
              <a:ext uri="{FF2B5EF4-FFF2-40B4-BE49-F238E27FC236}">
                <a16:creationId xmlns:a16="http://schemas.microsoft.com/office/drawing/2014/main" xmlns="" id="{BBC6CB9E-ED7D-A9C6-C1DD-EB6DC99029CC}"/>
              </a:ext>
            </a:extLst>
          </p:cNvPr>
          <p:cNvSpPr txBox="1"/>
          <p:nvPr/>
        </p:nvSpPr>
        <p:spPr>
          <a:xfrm>
            <a:off x="6377090" y="2290419"/>
            <a:ext cx="2423100" cy="553968"/>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100"/>
              <a:buFont typeface="Montserrat Medium"/>
              <a:buNone/>
            </a:pPr>
            <a:r>
              <a:rPr lang="en-US" sz="1200" dirty="0">
                <a:solidFill>
                  <a:schemeClr val="dk1"/>
                </a:solidFill>
                <a:latin typeface="Montserrat Medium"/>
                <a:ea typeface="Montserrat Medium"/>
                <a:cs typeface="Montserrat Medium"/>
                <a:sym typeface="Montserrat Medium"/>
              </a:rPr>
              <a:t>Technical standard for telco service exposure platform</a:t>
            </a:r>
            <a:endParaRPr sz="1200" dirty="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xmlns="" id="{DB384FF2-ABC6-69A3-F572-DB1C7233D8FF}"/>
            </a:ext>
          </a:extLst>
        </p:cNvPr>
        <p:cNvGrpSpPr/>
        <p:nvPr/>
      </p:nvGrpSpPr>
      <p:grpSpPr>
        <a:xfrm>
          <a:off x="0" y="0"/>
          <a:ext cx="0" cy="0"/>
          <a:chOff x="0" y="0"/>
          <a:chExt cx="0" cy="0"/>
        </a:xfrm>
      </p:grpSpPr>
      <p:sp>
        <p:nvSpPr>
          <p:cNvPr id="160" name="Google Shape;160;p3">
            <a:extLst>
              <a:ext uri="{FF2B5EF4-FFF2-40B4-BE49-F238E27FC236}">
                <a16:creationId xmlns:a16="http://schemas.microsoft.com/office/drawing/2014/main" xmlns="" id="{D39A79F1-6AB6-1072-6801-829B51509C2A}"/>
              </a:ext>
            </a:extLst>
          </p:cNvPr>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dirty="0"/>
              <a:t>Role of CAMARA, Open Gateway</a:t>
            </a:r>
            <a:br>
              <a:rPr lang="en-US" dirty="0"/>
            </a:br>
            <a:r>
              <a:rPr lang="en-US" dirty="0"/>
              <a:t>and aggregators</a:t>
            </a:r>
            <a:endParaRPr dirty="0"/>
          </a:p>
        </p:txBody>
      </p:sp>
      <p:cxnSp>
        <p:nvCxnSpPr>
          <p:cNvPr id="55" name="Gerader Verbinder 54">
            <a:extLst>
              <a:ext uri="{FF2B5EF4-FFF2-40B4-BE49-F238E27FC236}">
                <a16:creationId xmlns:a16="http://schemas.microsoft.com/office/drawing/2014/main" xmlns="" id="{9BCE46E1-2836-7554-F5FD-E1F5C0FB1BC4}"/>
              </a:ext>
            </a:extLst>
          </p:cNvPr>
          <p:cNvCxnSpPr>
            <a:cxnSpLocks/>
          </p:cNvCxnSpPr>
          <p:nvPr/>
        </p:nvCxnSpPr>
        <p:spPr>
          <a:xfrm>
            <a:off x="1479879" y="3844956"/>
            <a:ext cx="0" cy="1260000"/>
          </a:xfrm>
          <a:prstGeom prst="line">
            <a:avLst/>
          </a:prstGeom>
          <a:ln w="19050">
            <a:solidFill>
              <a:schemeClr val="accent1"/>
            </a:solidFill>
          </a:ln>
          <a:effectLst/>
        </p:spPr>
        <p:style>
          <a:lnRef idx="1">
            <a:schemeClr val="accent1"/>
          </a:lnRef>
          <a:fillRef idx="0">
            <a:schemeClr val="accent1"/>
          </a:fillRef>
          <a:effectRef idx="0">
            <a:schemeClr val="accent1"/>
          </a:effectRef>
          <a:fontRef idx="minor">
            <a:schemeClr val="tx1"/>
          </a:fontRef>
        </p:style>
      </p:cxnSp>
      <p:sp>
        <p:nvSpPr>
          <p:cNvPr id="56" name="Rectangle 7">
            <a:extLst>
              <a:ext uri="{FF2B5EF4-FFF2-40B4-BE49-F238E27FC236}">
                <a16:creationId xmlns:a16="http://schemas.microsoft.com/office/drawing/2014/main" xmlns="" id="{4393934A-13D9-B707-26CF-A278BBB5C3FD}"/>
              </a:ext>
            </a:extLst>
          </p:cNvPr>
          <p:cNvSpPr/>
          <p:nvPr/>
        </p:nvSpPr>
        <p:spPr>
          <a:xfrm>
            <a:off x="390276" y="4916341"/>
            <a:ext cx="2119156" cy="486953"/>
          </a:xfrm>
          <a:prstGeom prst="roundRect">
            <a:avLst/>
          </a:prstGeom>
          <a:solidFill>
            <a:schemeClr val="bg1"/>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endParaRPr>
          </a:p>
        </p:txBody>
      </p:sp>
      <p:sp>
        <p:nvSpPr>
          <p:cNvPr id="57" name="Rectangle 6">
            <a:extLst>
              <a:ext uri="{FF2B5EF4-FFF2-40B4-BE49-F238E27FC236}">
                <a16:creationId xmlns:a16="http://schemas.microsoft.com/office/drawing/2014/main" xmlns="" id="{68ABBAEC-CCEB-8F59-78A5-0CD8FB9D5835}"/>
              </a:ext>
            </a:extLst>
          </p:cNvPr>
          <p:cNvSpPr/>
          <p:nvPr/>
        </p:nvSpPr>
        <p:spPr>
          <a:xfrm>
            <a:off x="390276" y="5489319"/>
            <a:ext cx="7012980" cy="709198"/>
          </a:xfrm>
          <a:prstGeom prst="roundRect">
            <a:avLst/>
          </a:prstGeom>
          <a:solidFill>
            <a:srgbClr val="FFFFFF"/>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0" rIns="72000" bIns="72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rPr>
              <a:t>Network / Backend </a:t>
            </a:r>
          </a:p>
        </p:txBody>
      </p:sp>
      <p:sp>
        <p:nvSpPr>
          <p:cNvPr id="58" name="Rectangle 10">
            <a:extLst>
              <a:ext uri="{FF2B5EF4-FFF2-40B4-BE49-F238E27FC236}">
                <a16:creationId xmlns:a16="http://schemas.microsoft.com/office/drawing/2014/main" xmlns="" id="{DFEE283B-1300-88CA-DBD4-1FC6DB62F0BD}"/>
              </a:ext>
            </a:extLst>
          </p:cNvPr>
          <p:cNvSpPr>
            <a:spLocks/>
          </p:cNvSpPr>
          <p:nvPr>
            <p:custDataLst>
              <p:tags r:id="rId1"/>
            </p:custDataLst>
          </p:nvPr>
        </p:nvSpPr>
        <p:spPr>
          <a:xfrm>
            <a:off x="6061945" y="5790749"/>
            <a:ext cx="1274725" cy="366143"/>
          </a:xfrm>
          <a:prstGeom prst="roundRect">
            <a:avLst/>
          </a:prstGeom>
          <a:noFill/>
          <a:ln w="12700">
            <a:solidFill>
              <a:schemeClr val="accent1"/>
            </a:solidFill>
          </a:ln>
          <a:extLst>
            <a:ext uri="{909E8E84-426E-40DD-AFC4-6F175D3DCCD1}">
              <a14:hiddenFill xmlns:a14="http://schemas.microsoft.com/office/drawing/2010/main">
                <a:solidFill>
                  <a:srgbClr val="E200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rgbClr val="32B9AF"/>
                </a:solidFill>
                <a:latin typeface="Arial" panose="020B0604020202020204" pitchFamily="34" charset="0"/>
                <a:cs typeface="Arial" panose="020B0604020202020204" pitchFamily="34" charset="0"/>
              </a:rPr>
              <a:t>BSS</a:t>
            </a:r>
            <a:endParaRPr kumimoji="0" lang="en-US" sz="1000" b="0"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endParaRPr>
          </a:p>
        </p:txBody>
      </p:sp>
      <p:sp>
        <p:nvSpPr>
          <p:cNvPr id="59" name="Rectangle 10">
            <a:extLst>
              <a:ext uri="{FF2B5EF4-FFF2-40B4-BE49-F238E27FC236}">
                <a16:creationId xmlns:a16="http://schemas.microsoft.com/office/drawing/2014/main" xmlns="" id="{47979DE1-9060-FAED-C3A7-6298A4D50D75}"/>
              </a:ext>
            </a:extLst>
          </p:cNvPr>
          <p:cNvSpPr>
            <a:spLocks/>
          </p:cNvSpPr>
          <p:nvPr>
            <p:custDataLst>
              <p:tags r:id="rId2"/>
            </p:custDataLst>
          </p:nvPr>
        </p:nvSpPr>
        <p:spPr>
          <a:xfrm>
            <a:off x="475492" y="5780688"/>
            <a:ext cx="1886708" cy="367878"/>
          </a:xfrm>
          <a:prstGeom prst="roundRect">
            <a:avLst/>
          </a:prstGeom>
          <a:noFill/>
          <a:ln w="12700">
            <a:solidFill>
              <a:schemeClr val="accent1"/>
            </a:solidFill>
          </a:ln>
          <a:extLst>
            <a:ext uri="{909E8E84-426E-40DD-AFC4-6F175D3DCCD1}">
              <a14:hiddenFill xmlns:a14="http://schemas.microsoft.com/office/drawing/2010/main">
                <a:solidFill>
                  <a:srgbClr val="E200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rPr>
              <a:t>Mobile Network </a:t>
            </a:r>
            <a:r>
              <a:rPr lang="en-US" sz="1000" b="1">
                <a:solidFill>
                  <a:srgbClr val="32B9AF"/>
                </a:solidFill>
                <a:latin typeface="Arial" panose="020B0604020202020204" pitchFamily="34" charset="0"/>
                <a:cs typeface="Arial" panose="020B0604020202020204" pitchFamily="34" charset="0"/>
              </a:rPr>
              <a:t>C</a:t>
            </a:r>
            <a:r>
              <a:rPr kumimoji="0" lang="en-US" sz="1000" b="1" i="0" u="none" strike="noStrike" kern="1200" cap="none" spc="0" normalizeH="0" baseline="0" noProof="0" err="1">
                <a:ln>
                  <a:noFill/>
                </a:ln>
                <a:solidFill>
                  <a:srgbClr val="32B9AF"/>
                </a:solidFill>
                <a:effectLst/>
                <a:uLnTx/>
                <a:uFillTx/>
                <a:latin typeface="Arial" panose="020B0604020202020204" pitchFamily="34" charset="0"/>
                <a:cs typeface="Arial" panose="020B0604020202020204" pitchFamily="34" charset="0"/>
              </a:rPr>
              <a:t>apabilities</a:t>
            </a:r>
            <a:endParaRPr kumimoji="0" lang="en-US" sz="1000" b="0"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endParaRPr>
          </a:p>
        </p:txBody>
      </p:sp>
      <p:sp>
        <p:nvSpPr>
          <p:cNvPr id="60" name="Rectangle 7">
            <a:extLst>
              <a:ext uri="{FF2B5EF4-FFF2-40B4-BE49-F238E27FC236}">
                <a16:creationId xmlns:a16="http://schemas.microsoft.com/office/drawing/2014/main" xmlns="" id="{8AAF6639-79F6-1B37-5D5F-467C79BFCE22}"/>
              </a:ext>
            </a:extLst>
          </p:cNvPr>
          <p:cNvSpPr/>
          <p:nvPr/>
        </p:nvSpPr>
        <p:spPr>
          <a:xfrm>
            <a:off x="2758610" y="4892254"/>
            <a:ext cx="3651314" cy="486953"/>
          </a:xfrm>
          <a:prstGeom prst="roundRect">
            <a:avLst/>
          </a:prstGeom>
          <a:solidFill>
            <a:schemeClr val="bg1"/>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endParaRPr>
          </a:p>
        </p:txBody>
      </p:sp>
      <p:sp>
        <p:nvSpPr>
          <p:cNvPr id="61" name="Rectangle 10">
            <a:extLst>
              <a:ext uri="{FF2B5EF4-FFF2-40B4-BE49-F238E27FC236}">
                <a16:creationId xmlns:a16="http://schemas.microsoft.com/office/drawing/2014/main" xmlns="" id="{7745FAD7-45FB-B25E-6FFB-5FA4FAB2B0B2}"/>
              </a:ext>
            </a:extLst>
          </p:cNvPr>
          <p:cNvSpPr>
            <a:spLocks/>
          </p:cNvSpPr>
          <p:nvPr>
            <p:custDataLst>
              <p:tags r:id="rId3"/>
            </p:custDataLst>
          </p:nvPr>
        </p:nvSpPr>
        <p:spPr>
          <a:xfrm>
            <a:off x="2930756" y="4951253"/>
            <a:ext cx="1212581" cy="350591"/>
          </a:xfrm>
          <a:prstGeom prst="roundRect">
            <a:avLst/>
          </a:prstGeom>
          <a:noFill/>
          <a:ln w="12700">
            <a:solidFill>
              <a:schemeClr val="accent1"/>
            </a:solidFill>
          </a:ln>
          <a:extLst>
            <a:ext uri="{909E8E84-426E-40DD-AFC4-6F175D3DCCD1}">
              <a14:hiddenFill xmlns:a14="http://schemas.microsoft.com/office/drawing/2010/main">
                <a:solidFill>
                  <a:srgbClr val="E200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rPr>
              <a:t>NW APIs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rPr>
              <a:t> </a:t>
            </a:r>
            <a:r>
              <a:rPr kumimoji="0" lang="en-US" sz="1000" b="0"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rPr>
              <a:t>(</a:t>
            </a:r>
            <a:r>
              <a:rPr kumimoji="0" lang="en-US" sz="1000" b="1"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rPr>
              <a:t>e</a:t>
            </a:r>
            <a:r>
              <a:rPr kumimoji="0" lang="en-US" sz="1000" b="0"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rPr>
              <a:t>.g., </a:t>
            </a:r>
            <a:r>
              <a:rPr kumimoji="0" lang="en-US" sz="1000" b="0" i="0" u="none" strike="noStrike" kern="1200" cap="none" spc="0" normalizeH="0" baseline="0" noProof="0" err="1">
                <a:ln>
                  <a:noFill/>
                </a:ln>
                <a:solidFill>
                  <a:srgbClr val="32B9AF"/>
                </a:solidFill>
                <a:effectLst/>
                <a:uLnTx/>
                <a:uFillTx/>
                <a:latin typeface="Arial" panose="020B0604020202020204" pitchFamily="34" charset="0"/>
                <a:cs typeface="Arial" panose="020B0604020202020204" pitchFamily="34" charset="0"/>
              </a:rPr>
              <a:t>QoD</a:t>
            </a:r>
            <a:r>
              <a:rPr kumimoji="0" lang="en-US" sz="1000" b="0"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rPr>
              <a:t>)</a:t>
            </a:r>
          </a:p>
        </p:txBody>
      </p:sp>
      <p:sp>
        <p:nvSpPr>
          <p:cNvPr id="62" name="Rectangle 6">
            <a:extLst>
              <a:ext uri="{FF2B5EF4-FFF2-40B4-BE49-F238E27FC236}">
                <a16:creationId xmlns:a16="http://schemas.microsoft.com/office/drawing/2014/main" xmlns="" id="{09F05E5C-475F-AFF1-B469-F1DAB7CEB1D1}"/>
              </a:ext>
            </a:extLst>
          </p:cNvPr>
          <p:cNvSpPr/>
          <p:nvPr/>
        </p:nvSpPr>
        <p:spPr>
          <a:xfrm>
            <a:off x="2758609" y="4374077"/>
            <a:ext cx="4644645" cy="440051"/>
          </a:xfrm>
          <a:prstGeom prst="roundRect">
            <a:avLst/>
          </a:prstGeom>
          <a:solidFill>
            <a:srgbClr val="FFFFFF"/>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rPr>
              <a:t>Internal API-Gateways</a:t>
            </a:r>
            <a:endParaRPr kumimoji="0" lang="en-US" sz="1400" b="0"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endParaRPr>
          </a:p>
        </p:txBody>
      </p:sp>
      <p:sp>
        <p:nvSpPr>
          <p:cNvPr id="63" name="Rectangle 14">
            <a:extLst>
              <a:ext uri="{FF2B5EF4-FFF2-40B4-BE49-F238E27FC236}">
                <a16:creationId xmlns:a16="http://schemas.microsoft.com/office/drawing/2014/main" xmlns="" id="{CB6CB167-F08E-EBBC-4E58-499DEACEE921}"/>
              </a:ext>
            </a:extLst>
          </p:cNvPr>
          <p:cNvSpPr>
            <a:spLocks/>
          </p:cNvSpPr>
          <p:nvPr>
            <p:custDataLst>
              <p:tags r:id="rId4"/>
            </p:custDataLst>
          </p:nvPr>
        </p:nvSpPr>
        <p:spPr>
          <a:xfrm>
            <a:off x="5271276" y="4957973"/>
            <a:ext cx="1098191" cy="350591"/>
          </a:xfrm>
          <a:prstGeom prst="roundRect">
            <a:avLst/>
          </a:prstGeom>
          <a:noFill/>
          <a:ln w="12700">
            <a:solidFill>
              <a:schemeClr val="accent1"/>
            </a:solidFill>
          </a:ln>
          <a:extLst>
            <a:ext uri="{909E8E84-426E-40DD-AFC4-6F175D3DCCD1}">
              <a14:hiddenFill xmlns:a14="http://schemas.microsoft.com/office/drawing/2010/main">
                <a:solidFill>
                  <a:srgbClr val="E200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rPr>
              <a:t>Identity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rPr>
              <a:t>APIs</a:t>
            </a:r>
          </a:p>
        </p:txBody>
      </p:sp>
      <p:sp>
        <p:nvSpPr>
          <p:cNvPr id="128" name="Rectangle 14">
            <a:extLst>
              <a:ext uri="{FF2B5EF4-FFF2-40B4-BE49-F238E27FC236}">
                <a16:creationId xmlns:a16="http://schemas.microsoft.com/office/drawing/2014/main" xmlns="" id="{5DB18B9D-1E49-F101-E32F-F236C3577795}"/>
              </a:ext>
            </a:extLst>
          </p:cNvPr>
          <p:cNvSpPr>
            <a:spLocks/>
          </p:cNvSpPr>
          <p:nvPr>
            <p:custDataLst>
              <p:tags r:id="rId5"/>
            </p:custDataLst>
          </p:nvPr>
        </p:nvSpPr>
        <p:spPr>
          <a:xfrm>
            <a:off x="6500463" y="4892254"/>
            <a:ext cx="902793" cy="502436"/>
          </a:xfrm>
          <a:prstGeom prst="roundRect">
            <a:avLst/>
          </a:prstGeom>
          <a:noFill/>
          <a:ln w="12700">
            <a:solidFill>
              <a:schemeClr val="accent1"/>
            </a:solidFill>
          </a:ln>
          <a:extLst>
            <a:ext uri="{909E8E84-426E-40DD-AFC4-6F175D3DCCD1}">
              <a14:hiddenFill xmlns:a14="http://schemas.microsoft.com/office/drawing/2010/main">
                <a:solidFill>
                  <a:srgbClr val="E200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rPr>
              <a:t>Other 3</a:t>
            </a:r>
            <a:r>
              <a:rPr kumimoji="0" lang="en-US" sz="1000" b="1" i="0" u="none" strike="noStrike" kern="1200" cap="none" spc="0" normalizeH="0" baseline="30000" noProof="0">
                <a:ln>
                  <a:noFill/>
                </a:ln>
                <a:solidFill>
                  <a:srgbClr val="32B9AF"/>
                </a:solidFill>
                <a:effectLst/>
                <a:uLnTx/>
                <a:uFillTx/>
                <a:latin typeface="Arial" panose="020B0604020202020204" pitchFamily="34" charset="0"/>
                <a:cs typeface="Arial" panose="020B0604020202020204" pitchFamily="34" charset="0"/>
              </a:rPr>
              <a:t>rd</a:t>
            </a:r>
            <a:r>
              <a:rPr kumimoji="0" lang="en-US" sz="1000" b="1"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rPr>
              <a:t>party APIs</a:t>
            </a:r>
          </a:p>
        </p:txBody>
      </p:sp>
      <p:sp>
        <p:nvSpPr>
          <p:cNvPr id="129" name="Rectangle 11">
            <a:extLst>
              <a:ext uri="{FF2B5EF4-FFF2-40B4-BE49-F238E27FC236}">
                <a16:creationId xmlns:a16="http://schemas.microsoft.com/office/drawing/2014/main" xmlns="" id="{9D96AA9C-ED06-A314-2439-199E55A8437A}"/>
              </a:ext>
            </a:extLst>
          </p:cNvPr>
          <p:cNvSpPr>
            <a:spLocks/>
          </p:cNvSpPr>
          <p:nvPr>
            <p:custDataLst>
              <p:tags r:id="rId6"/>
            </p:custDataLst>
          </p:nvPr>
        </p:nvSpPr>
        <p:spPr>
          <a:xfrm>
            <a:off x="459097" y="4972333"/>
            <a:ext cx="969466" cy="400879"/>
          </a:xfrm>
          <a:prstGeom prst="roundRect">
            <a:avLst/>
          </a:prstGeom>
          <a:solidFill>
            <a:srgbClr val="FFFFFF"/>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rPr>
              <a:t>Cloud SIP</a:t>
            </a:r>
            <a:endParaRPr kumimoji="0" lang="en-US" sz="1000" b="1" i="1"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endParaRPr>
          </a:p>
        </p:txBody>
      </p:sp>
      <p:cxnSp>
        <p:nvCxnSpPr>
          <p:cNvPr id="130" name="Connector: Elbow 22">
            <a:extLst>
              <a:ext uri="{FF2B5EF4-FFF2-40B4-BE49-F238E27FC236}">
                <a16:creationId xmlns:a16="http://schemas.microsoft.com/office/drawing/2014/main" xmlns="" id="{A2617A8F-4953-FEE9-0ED1-5CD1BF2EDA6C}"/>
              </a:ext>
            </a:extLst>
          </p:cNvPr>
          <p:cNvCxnSpPr>
            <a:cxnSpLocks/>
          </p:cNvCxnSpPr>
          <p:nvPr/>
        </p:nvCxnSpPr>
        <p:spPr>
          <a:xfrm flipH="1" flipV="1">
            <a:off x="6281595" y="3976980"/>
            <a:ext cx="0" cy="397097"/>
          </a:xfrm>
          <a:prstGeom prst="straightConnector1">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1" name="Rectangle 6">
            <a:extLst>
              <a:ext uri="{FF2B5EF4-FFF2-40B4-BE49-F238E27FC236}">
                <a16:creationId xmlns:a16="http://schemas.microsoft.com/office/drawing/2014/main" xmlns="" id="{8A2C9120-3BD0-610F-EDD9-C8E41DDFB788}"/>
              </a:ext>
            </a:extLst>
          </p:cNvPr>
          <p:cNvSpPr/>
          <p:nvPr/>
        </p:nvSpPr>
        <p:spPr>
          <a:xfrm>
            <a:off x="430668" y="2994921"/>
            <a:ext cx="6972588" cy="982060"/>
          </a:xfrm>
          <a:prstGeom prst="roundRect">
            <a:avLst/>
          </a:prstGeom>
          <a:solidFill>
            <a:srgbClr val="FFFFFF"/>
          </a:solidFill>
          <a:ln w="19050">
            <a:solidFill>
              <a:srgbClr val="FF0000"/>
            </a:solidFill>
          </a:ln>
          <a:effectLst>
            <a:glow rad="101600">
              <a:schemeClr val="tx2">
                <a:lumMod val="20000"/>
                <a:lumOff val="80000"/>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rgbClr val="FF0000"/>
                </a:solidFill>
                <a:latin typeface="Arial" panose="020B0604020202020204" pitchFamily="34" charset="0"/>
                <a:cs typeface="Arial" panose="020B0604020202020204" pitchFamily="34" charset="0"/>
              </a:rPr>
              <a:t>Operator</a:t>
            </a:r>
            <a:r>
              <a:rPr kumimoji="0" lang="en-US" sz="1400" b="1" i="0"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rPr>
              <a:t> API Exposure</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b="1">
              <a:solidFill>
                <a:srgbClr val="FF0000"/>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endParaRPr>
          </a:p>
        </p:txBody>
      </p:sp>
      <p:sp>
        <p:nvSpPr>
          <p:cNvPr id="132" name="Rectangle 10">
            <a:extLst>
              <a:ext uri="{FF2B5EF4-FFF2-40B4-BE49-F238E27FC236}">
                <a16:creationId xmlns:a16="http://schemas.microsoft.com/office/drawing/2014/main" xmlns="" id="{FC54B168-54AE-B764-ABBB-FE48828AA8CA}"/>
              </a:ext>
            </a:extLst>
          </p:cNvPr>
          <p:cNvSpPr>
            <a:spLocks/>
          </p:cNvSpPr>
          <p:nvPr>
            <p:custDataLst>
              <p:tags r:id="rId7"/>
            </p:custDataLst>
          </p:nvPr>
        </p:nvSpPr>
        <p:spPr>
          <a:xfrm>
            <a:off x="4250310" y="4953879"/>
            <a:ext cx="878301" cy="357132"/>
          </a:xfrm>
          <a:prstGeom prst="roundRect">
            <a:avLst/>
          </a:prstGeom>
          <a:noFill/>
          <a:ln w="12700">
            <a:solidFill>
              <a:schemeClr val="accent1"/>
            </a:solidFill>
          </a:ln>
          <a:extLst>
            <a:ext uri="{909E8E84-426E-40DD-AFC4-6F175D3DCCD1}">
              <a14:hiddenFill xmlns:a14="http://schemas.microsoft.com/office/drawing/2010/main">
                <a:solidFill>
                  <a:srgbClr val="E200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rPr>
              <a:t>IT (Billing)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rPr>
              <a:t>APIs</a:t>
            </a:r>
            <a:endParaRPr kumimoji="0" lang="en-US" sz="1000" b="0"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endParaRPr>
          </a:p>
        </p:txBody>
      </p:sp>
      <p:sp>
        <p:nvSpPr>
          <p:cNvPr id="133" name="Rectangle 11">
            <a:extLst>
              <a:ext uri="{FF2B5EF4-FFF2-40B4-BE49-F238E27FC236}">
                <a16:creationId xmlns:a16="http://schemas.microsoft.com/office/drawing/2014/main" xmlns="" id="{DA6A93A2-46A0-2478-AD4B-4431B29041E7}"/>
              </a:ext>
            </a:extLst>
          </p:cNvPr>
          <p:cNvSpPr>
            <a:spLocks/>
          </p:cNvSpPr>
          <p:nvPr>
            <p:custDataLst>
              <p:tags r:id="rId8"/>
            </p:custDataLst>
          </p:nvPr>
        </p:nvSpPr>
        <p:spPr>
          <a:xfrm>
            <a:off x="1535536" y="4972333"/>
            <a:ext cx="928281" cy="400879"/>
          </a:xfrm>
          <a:prstGeom prst="roundRect">
            <a:avLst/>
          </a:prstGeom>
          <a:solidFill>
            <a:srgbClr val="FFFFFF"/>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rPr>
              <a:t>Numbering</a:t>
            </a:r>
          </a:p>
        </p:txBody>
      </p:sp>
      <p:cxnSp>
        <p:nvCxnSpPr>
          <p:cNvPr id="134" name="Connector: Elbow 22">
            <a:extLst>
              <a:ext uri="{FF2B5EF4-FFF2-40B4-BE49-F238E27FC236}">
                <a16:creationId xmlns:a16="http://schemas.microsoft.com/office/drawing/2014/main" xmlns="" id="{7F92F94F-D441-C54C-3610-4636D30BA120}"/>
              </a:ext>
            </a:extLst>
          </p:cNvPr>
          <p:cNvCxnSpPr>
            <a:cxnSpLocks/>
          </p:cNvCxnSpPr>
          <p:nvPr/>
        </p:nvCxnSpPr>
        <p:spPr>
          <a:xfrm flipV="1">
            <a:off x="6281595" y="1774887"/>
            <a:ext cx="0" cy="1199120"/>
          </a:xfrm>
          <a:prstGeom prst="straightConnector1">
            <a:avLst/>
          </a:prstGeom>
          <a:ln w="19050">
            <a:solidFill>
              <a:srgbClr val="FF0000"/>
            </a:solidFill>
          </a:ln>
          <a:effectLst/>
        </p:spPr>
        <p:style>
          <a:lnRef idx="1">
            <a:schemeClr val="accent1"/>
          </a:lnRef>
          <a:fillRef idx="0">
            <a:schemeClr val="accent1"/>
          </a:fillRef>
          <a:effectRef idx="0">
            <a:schemeClr val="accent1"/>
          </a:effectRef>
          <a:fontRef idx="minor">
            <a:schemeClr val="tx1"/>
          </a:fontRef>
        </p:style>
      </p:cxnSp>
      <p:sp>
        <p:nvSpPr>
          <p:cNvPr id="135" name="Rectangle 10">
            <a:extLst>
              <a:ext uri="{FF2B5EF4-FFF2-40B4-BE49-F238E27FC236}">
                <a16:creationId xmlns:a16="http://schemas.microsoft.com/office/drawing/2014/main" xmlns="" id="{5A2CDB0D-4728-0F06-E24D-DAEF133BC353}"/>
              </a:ext>
            </a:extLst>
          </p:cNvPr>
          <p:cNvSpPr>
            <a:spLocks/>
          </p:cNvSpPr>
          <p:nvPr>
            <p:custDataLst>
              <p:tags r:id="rId9"/>
            </p:custDataLst>
          </p:nvPr>
        </p:nvSpPr>
        <p:spPr>
          <a:xfrm>
            <a:off x="2524623" y="5779132"/>
            <a:ext cx="1886708" cy="367878"/>
          </a:xfrm>
          <a:prstGeom prst="roundRect">
            <a:avLst/>
          </a:prstGeom>
          <a:noFill/>
          <a:ln w="12700">
            <a:solidFill>
              <a:schemeClr val="accent1"/>
            </a:solidFill>
          </a:ln>
          <a:extLst>
            <a:ext uri="{909E8E84-426E-40DD-AFC4-6F175D3DCCD1}">
              <a14:hiddenFill xmlns:a14="http://schemas.microsoft.com/office/drawing/2010/main">
                <a:solidFill>
                  <a:srgbClr val="E200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rgbClr val="32B9AF"/>
                </a:solidFill>
                <a:latin typeface="Arial" panose="020B0604020202020204" pitchFamily="34" charset="0"/>
                <a:cs typeface="Arial" panose="020B0604020202020204" pitchFamily="34" charset="0"/>
              </a:rPr>
              <a:t>Fixed Line </a:t>
            </a:r>
            <a:r>
              <a:rPr kumimoji="0" lang="en-US" sz="1000" b="1"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rPr>
              <a:t> Network </a:t>
            </a:r>
            <a:r>
              <a:rPr lang="en-US" sz="1000" b="1">
                <a:solidFill>
                  <a:srgbClr val="32B9AF"/>
                </a:solidFill>
                <a:latin typeface="Arial" panose="020B0604020202020204" pitchFamily="34" charset="0"/>
                <a:cs typeface="Arial" panose="020B0604020202020204" pitchFamily="34" charset="0"/>
              </a:rPr>
              <a:t>C</a:t>
            </a:r>
            <a:r>
              <a:rPr kumimoji="0" lang="en-US" sz="1000" b="1" i="0" u="none" strike="noStrike" kern="1200" cap="none" spc="0" normalizeH="0" baseline="0" noProof="0" err="1">
                <a:ln>
                  <a:noFill/>
                </a:ln>
                <a:solidFill>
                  <a:srgbClr val="32B9AF"/>
                </a:solidFill>
                <a:effectLst/>
                <a:uLnTx/>
                <a:uFillTx/>
                <a:latin typeface="Arial" panose="020B0604020202020204" pitchFamily="34" charset="0"/>
                <a:cs typeface="Arial" panose="020B0604020202020204" pitchFamily="34" charset="0"/>
              </a:rPr>
              <a:t>apabilities</a:t>
            </a:r>
            <a:endParaRPr kumimoji="0" lang="en-US" sz="1000" b="0"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endParaRPr>
          </a:p>
        </p:txBody>
      </p:sp>
      <p:sp>
        <p:nvSpPr>
          <p:cNvPr id="136" name="Rectangle 10">
            <a:extLst>
              <a:ext uri="{FF2B5EF4-FFF2-40B4-BE49-F238E27FC236}">
                <a16:creationId xmlns:a16="http://schemas.microsoft.com/office/drawing/2014/main" xmlns="" id="{96ED75B9-44B0-816C-7B12-04B4B90B11E7}"/>
              </a:ext>
            </a:extLst>
          </p:cNvPr>
          <p:cNvSpPr>
            <a:spLocks/>
          </p:cNvSpPr>
          <p:nvPr>
            <p:custDataLst>
              <p:tags r:id="rId10"/>
            </p:custDataLst>
          </p:nvPr>
        </p:nvSpPr>
        <p:spPr>
          <a:xfrm>
            <a:off x="4573754" y="5780867"/>
            <a:ext cx="1325769" cy="366143"/>
          </a:xfrm>
          <a:prstGeom prst="roundRect">
            <a:avLst/>
          </a:prstGeom>
          <a:noFill/>
          <a:ln w="12700">
            <a:solidFill>
              <a:schemeClr val="accent1"/>
            </a:solidFill>
          </a:ln>
          <a:extLst>
            <a:ext uri="{909E8E84-426E-40DD-AFC4-6F175D3DCCD1}">
              <a14:hiddenFill xmlns:a14="http://schemas.microsoft.com/office/drawing/2010/main">
                <a:solidFill>
                  <a:srgbClr val="E200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rgbClr val="32B9AF"/>
                </a:solidFill>
                <a:latin typeface="Arial" panose="020B0604020202020204" pitchFamily="34" charset="0"/>
                <a:cs typeface="Arial" panose="020B0604020202020204" pitchFamily="34" charset="0"/>
              </a:rPr>
              <a:t>Telco IT Capabilities</a:t>
            </a:r>
            <a:endParaRPr kumimoji="0" lang="en-US" sz="1000" b="0" i="0" u="none" strike="noStrike" kern="1200" cap="none" spc="0" normalizeH="0" baseline="0" noProof="0">
              <a:ln>
                <a:noFill/>
              </a:ln>
              <a:solidFill>
                <a:srgbClr val="32B9AF"/>
              </a:solidFill>
              <a:effectLst/>
              <a:uLnTx/>
              <a:uFillTx/>
              <a:latin typeface="Arial" panose="020B0604020202020204" pitchFamily="34" charset="0"/>
              <a:cs typeface="Arial" panose="020B0604020202020204" pitchFamily="34" charset="0"/>
            </a:endParaRPr>
          </a:p>
        </p:txBody>
      </p:sp>
      <p:cxnSp>
        <p:nvCxnSpPr>
          <p:cNvPr id="137" name="Connector: Elbow 22">
            <a:extLst>
              <a:ext uri="{FF2B5EF4-FFF2-40B4-BE49-F238E27FC236}">
                <a16:creationId xmlns:a16="http://schemas.microsoft.com/office/drawing/2014/main" xmlns="" id="{AA5E553C-FE65-C1D7-6E55-4C86450E814A}"/>
              </a:ext>
            </a:extLst>
          </p:cNvPr>
          <p:cNvCxnSpPr>
            <a:cxnSpLocks/>
          </p:cNvCxnSpPr>
          <p:nvPr/>
        </p:nvCxnSpPr>
        <p:spPr>
          <a:xfrm flipV="1">
            <a:off x="5128611" y="1816135"/>
            <a:ext cx="0" cy="331727"/>
          </a:xfrm>
          <a:prstGeom prst="straightConnector1">
            <a:avLst/>
          </a:prstGeom>
          <a:ln w="19050">
            <a:solidFill>
              <a:schemeClr val="bg2"/>
            </a:solidFill>
          </a:ln>
          <a:effectLst/>
        </p:spPr>
        <p:style>
          <a:lnRef idx="1">
            <a:schemeClr val="accent1"/>
          </a:lnRef>
          <a:fillRef idx="0">
            <a:schemeClr val="accent1"/>
          </a:fillRef>
          <a:effectRef idx="0">
            <a:schemeClr val="accent1"/>
          </a:effectRef>
          <a:fontRef idx="minor">
            <a:schemeClr val="tx1"/>
          </a:fontRef>
        </p:style>
      </p:cxnSp>
      <p:cxnSp>
        <p:nvCxnSpPr>
          <p:cNvPr id="138" name="Connector: Elbow 22">
            <a:extLst>
              <a:ext uri="{FF2B5EF4-FFF2-40B4-BE49-F238E27FC236}">
                <a16:creationId xmlns:a16="http://schemas.microsoft.com/office/drawing/2014/main" xmlns="" id="{8F7F6A53-7D7E-FAC2-A969-1ED890314ECA}"/>
              </a:ext>
            </a:extLst>
          </p:cNvPr>
          <p:cNvCxnSpPr>
            <a:cxnSpLocks/>
          </p:cNvCxnSpPr>
          <p:nvPr/>
        </p:nvCxnSpPr>
        <p:spPr>
          <a:xfrm flipV="1">
            <a:off x="1479879" y="1761271"/>
            <a:ext cx="0" cy="1234787"/>
          </a:xfrm>
          <a:prstGeom prst="straightConnector1">
            <a:avLst/>
          </a:prstGeom>
          <a:ln w="19050">
            <a:solidFill>
              <a:srgbClr val="FF0000"/>
            </a:solidFill>
          </a:ln>
          <a:effectLst/>
        </p:spPr>
        <p:style>
          <a:lnRef idx="1">
            <a:schemeClr val="accent1"/>
          </a:lnRef>
          <a:fillRef idx="0">
            <a:schemeClr val="accent1"/>
          </a:fillRef>
          <a:effectRef idx="0">
            <a:schemeClr val="accent1"/>
          </a:effectRef>
          <a:fontRef idx="minor">
            <a:schemeClr val="tx1"/>
          </a:fontRef>
        </p:style>
      </p:cxnSp>
      <p:sp>
        <p:nvSpPr>
          <p:cNvPr id="139" name="Rectangle 11">
            <a:extLst>
              <a:ext uri="{FF2B5EF4-FFF2-40B4-BE49-F238E27FC236}">
                <a16:creationId xmlns:a16="http://schemas.microsoft.com/office/drawing/2014/main" xmlns="" id="{B3633EE1-8FD8-7979-88EE-A9139A73BE47}"/>
              </a:ext>
            </a:extLst>
          </p:cNvPr>
          <p:cNvSpPr>
            <a:spLocks/>
          </p:cNvSpPr>
          <p:nvPr>
            <p:custDataLst>
              <p:tags r:id="rId11"/>
            </p:custDataLst>
          </p:nvPr>
        </p:nvSpPr>
        <p:spPr>
          <a:xfrm>
            <a:off x="566070" y="3041151"/>
            <a:ext cx="969466" cy="400879"/>
          </a:xfrm>
          <a:prstGeom prst="roundRect">
            <a:avLst/>
          </a:prstGeom>
          <a:solidFill>
            <a:srgbClr val="FFFFFF"/>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rPr>
              <a:t>API Gateway</a:t>
            </a:r>
            <a:endParaRPr kumimoji="0" lang="en-US" sz="1000" b="1" i="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endParaRPr>
          </a:p>
        </p:txBody>
      </p:sp>
      <p:sp>
        <p:nvSpPr>
          <p:cNvPr id="140" name="Rectangle 11">
            <a:extLst>
              <a:ext uri="{FF2B5EF4-FFF2-40B4-BE49-F238E27FC236}">
                <a16:creationId xmlns:a16="http://schemas.microsoft.com/office/drawing/2014/main" xmlns="" id="{F7141147-B7FF-4E22-5F13-7D05C9E46E13}"/>
              </a:ext>
            </a:extLst>
          </p:cNvPr>
          <p:cNvSpPr>
            <a:spLocks/>
          </p:cNvSpPr>
          <p:nvPr>
            <p:custDataLst>
              <p:tags r:id="rId12"/>
            </p:custDataLst>
          </p:nvPr>
        </p:nvSpPr>
        <p:spPr>
          <a:xfrm>
            <a:off x="565691" y="3523631"/>
            <a:ext cx="969466" cy="400879"/>
          </a:xfrm>
          <a:prstGeom prst="roundRect">
            <a:avLst/>
          </a:prstGeom>
          <a:solidFill>
            <a:srgbClr val="FFFFFF"/>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rPr>
              <a:t>Transformation</a:t>
            </a:r>
            <a:endParaRPr kumimoji="0" lang="en-US" sz="1000" b="1" i="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endParaRPr>
          </a:p>
        </p:txBody>
      </p:sp>
      <p:sp>
        <p:nvSpPr>
          <p:cNvPr id="141" name="Rectangle 11">
            <a:extLst>
              <a:ext uri="{FF2B5EF4-FFF2-40B4-BE49-F238E27FC236}">
                <a16:creationId xmlns:a16="http://schemas.microsoft.com/office/drawing/2014/main" xmlns="" id="{BEA9BC38-6742-DF0A-A004-A23B3685C581}"/>
              </a:ext>
            </a:extLst>
          </p:cNvPr>
          <p:cNvSpPr>
            <a:spLocks/>
          </p:cNvSpPr>
          <p:nvPr>
            <p:custDataLst>
              <p:tags r:id="rId13"/>
            </p:custDataLst>
          </p:nvPr>
        </p:nvSpPr>
        <p:spPr>
          <a:xfrm>
            <a:off x="4039808" y="3523631"/>
            <a:ext cx="969466" cy="400879"/>
          </a:xfrm>
          <a:prstGeom prst="roundRect">
            <a:avLst/>
          </a:prstGeom>
          <a:solidFill>
            <a:srgbClr val="FFFFFF"/>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rgbClr val="FF0000"/>
                </a:solidFill>
                <a:latin typeface="Arial" panose="020B0604020202020204" pitchFamily="34" charset="0"/>
                <a:cs typeface="Arial" panose="020B0604020202020204" pitchFamily="34" charset="0"/>
              </a:rPr>
              <a:t>Monetization</a:t>
            </a:r>
            <a:endParaRPr kumimoji="0" lang="en-US" sz="1000" b="1" i="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endParaRPr>
          </a:p>
        </p:txBody>
      </p:sp>
      <p:sp>
        <p:nvSpPr>
          <p:cNvPr id="142" name="Rectangle 11">
            <a:extLst>
              <a:ext uri="{FF2B5EF4-FFF2-40B4-BE49-F238E27FC236}">
                <a16:creationId xmlns:a16="http://schemas.microsoft.com/office/drawing/2014/main" xmlns="" id="{6B9B8781-70F0-C0B4-8CD0-82066F67FAFB}"/>
              </a:ext>
            </a:extLst>
          </p:cNvPr>
          <p:cNvSpPr>
            <a:spLocks/>
          </p:cNvSpPr>
          <p:nvPr>
            <p:custDataLst>
              <p:tags r:id="rId14"/>
            </p:custDataLst>
          </p:nvPr>
        </p:nvSpPr>
        <p:spPr>
          <a:xfrm>
            <a:off x="5083950" y="3523631"/>
            <a:ext cx="969466" cy="400879"/>
          </a:xfrm>
          <a:prstGeom prst="roundRect">
            <a:avLst/>
          </a:prstGeom>
          <a:solidFill>
            <a:srgbClr val="FFFFFF"/>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rgbClr val="FF0000"/>
                </a:solidFill>
                <a:latin typeface="Arial" panose="020B0604020202020204" pitchFamily="34" charset="0"/>
                <a:cs typeface="Arial" panose="020B0604020202020204" pitchFamily="34" charset="0"/>
              </a:rPr>
              <a:t>Analytics</a:t>
            </a:r>
            <a:endParaRPr kumimoji="0" lang="en-US" sz="1000" b="1" i="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endParaRPr>
          </a:p>
        </p:txBody>
      </p:sp>
      <p:sp>
        <p:nvSpPr>
          <p:cNvPr id="143" name="Rectangle 11">
            <a:extLst>
              <a:ext uri="{FF2B5EF4-FFF2-40B4-BE49-F238E27FC236}">
                <a16:creationId xmlns:a16="http://schemas.microsoft.com/office/drawing/2014/main" xmlns="" id="{B73F914A-4484-89DA-3683-1AEEB6B8786D}"/>
              </a:ext>
            </a:extLst>
          </p:cNvPr>
          <p:cNvSpPr>
            <a:spLocks/>
          </p:cNvSpPr>
          <p:nvPr>
            <p:custDataLst>
              <p:tags r:id="rId15"/>
            </p:custDataLst>
          </p:nvPr>
        </p:nvSpPr>
        <p:spPr>
          <a:xfrm>
            <a:off x="1761537" y="3523631"/>
            <a:ext cx="969466" cy="400879"/>
          </a:xfrm>
          <a:prstGeom prst="roundRect">
            <a:avLst/>
          </a:prstGeom>
          <a:solidFill>
            <a:srgbClr val="FFFFFF"/>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rgbClr val="FF0000"/>
                </a:solidFill>
                <a:latin typeface="Arial" panose="020B0604020202020204" pitchFamily="34" charset="0"/>
                <a:cs typeface="Arial" panose="020B0604020202020204" pitchFamily="34" charset="0"/>
              </a:rPr>
              <a:t>Consent</a:t>
            </a:r>
            <a:endParaRPr kumimoji="0" lang="en-US" sz="1000" b="1" i="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endParaRPr>
          </a:p>
        </p:txBody>
      </p:sp>
      <p:sp>
        <p:nvSpPr>
          <p:cNvPr id="144" name="Rectangle 11">
            <a:extLst>
              <a:ext uri="{FF2B5EF4-FFF2-40B4-BE49-F238E27FC236}">
                <a16:creationId xmlns:a16="http://schemas.microsoft.com/office/drawing/2014/main" xmlns="" id="{8BB6ACA8-857F-617D-EB1B-FA004F7EB6BD}"/>
              </a:ext>
            </a:extLst>
          </p:cNvPr>
          <p:cNvSpPr>
            <a:spLocks/>
          </p:cNvSpPr>
          <p:nvPr>
            <p:custDataLst>
              <p:tags r:id="rId16"/>
            </p:custDataLst>
          </p:nvPr>
        </p:nvSpPr>
        <p:spPr>
          <a:xfrm>
            <a:off x="2798529" y="3523631"/>
            <a:ext cx="969466" cy="400879"/>
          </a:xfrm>
          <a:prstGeom prst="roundRect">
            <a:avLst/>
          </a:prstGeom>
          <a:solidFill>
            <a:srgbClr val="FFFFFF"/>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rgbClr val="FF0000"/>
                </a:solidFill>
                <a:latin typeface="Arial" panose="020B0604020202020204" pitchFamily="34" charset="0"/>
                <a:cs typeface="Arial" panose="020B0604020202020204" pitchFamily="34" charset="0"/>
              </a:rPr>
              <a:t>Identity</a:t>
            </a:r>
            <a:endParaRPr kumimoji="0" lang="en-US" sz="1000" b="1" i="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endParaRPr>
          </a:p>
        </p:txBody>
      </p:sp>
      <p:sp>
        <p:nvSpPr>
          <p:cNvPr id="145" name="Rectangle 11">
            <a:extLst>
              <a:ext uri="{FF2B5EF4-FFF2-40B4-BE49-F238E27FC236}">
                <a16:creationId xmlns:a16="http://schemas.microsoft.com/office/drawing/2014/main" xmlns="" id="{E0E945EC-35F4-321D-9F2A-E6E6794BD920}"/>
              </a:ext>
            </a:extLst>
          </p:cNvPr>
          <p:cNvSpPr>
            <a:spLocks/>
          </p:cNvSpPr>
          <p:nvPr>
            <p:custDataLst>
              <p:tags r:id="rId17"/>
            </p:custDataLst>
          </p:nvPr>
        </p:nvSpPr>
        <p:spPr>
          <a:xfrm>
            <a:off x="6298018" y="3041151"/>
            <a:ext cx="969466" cy="400879"/>
          </a:xfrm>
          <a:prstGeom prst="roundRect">
            <a:avLst/>
          </a:prstGeom>
          <a:solidFill>
            <a:srgbClr val="FFFFFF"/>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rgbClr val="FF0000"/>
                </a:solidFill>
                <a:latin typeface="Arial" panose="020B0604020202020204" pitchFamily="34" charset="0"/>
                <a:cs typeface="Arial" panose="020B0604020202020204" pitchFamily="34" charset="0"/>
              </a:rPr>
              <a:t>Catalogue</a:t>
            </a:r>
            <a:endParaRPr kumimoji="0" lang="en-US" sz="1000" b="1" i="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endParaRPr>
          </a:p>
        </p:txBody>
      </p:sp>
      <p:sp>
        <p:nvSpPr>
          <p:cNvPr id="146" name="Rectangle 11">
            <a:extLst>
              <a:ext uri="{FF2B5EF4-FFF2-40B4-BE49-F238E27FC236}">
                <a16:creationId xmlns:a16="http://schemas.microsoft.com/office/drawing/2014/main" xmlns="" id="{4064909E-EFD6-0B2E-DB10-4AFB6086352E}"/>
              </a:ext>
            </a:extLst>
          </p:cNvPr>
          <p:cNvSpPr>
            <a:spLocks/>
          </p:cNvSpPr>
          <p:nvPr>
            <p:custDataLst>
              <p:tags r:id="rId18"/>
            </p:custDataLst>
          </p:nvPr>
        </p:nvSpPr>
        <p:spPr>
          <a:xfrm>
            <a:off x="6298018" y="3523631"/>
            <a:ext cx="969466" cy="400879"/>
          </a:xfrm>
          <a:prstGeom prst="roundRect">
            <a:avLst/>
          </a:prstGeom>
          <a:solidFill>
            <a:srgbClr val="FFFFFF"/>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rgbClr val="FF0000"/>
                </a:solidFill>
                <a:latin typeface="Arial" panose="020B0604020202020204" pitchFamily="34" charset="0"/>
                <a:cs typeface="Arial" panose="020B0604020202020204" pitchFamily="34" charset="0"/>
              </a:rPr>
              <a:t>Party </a:t>
            </a:r>
            <a:r>
              <a:rPr lang="en-US" sz="1000" b="1" err="1">
                <a:solidFill>
                  <a:srgbClr val="FF0000"/>
                </a:solidFill>
                <a:latin typeface="Arial" panose="020B0604020202020204" pitchFamily="34" charset="0"/>
                <a:cs typeface="Arial" panose="020B0604020202020204" pitchFamily="34" charset="0"/>
              </a:rPr>
              <a:t>Mgmt</a:t>
            </a:r>
            <a:endParaRPr kumimoji="0" lang="en-US" sz="1000" b="1" i="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endParaRPr>
          </a:p>
        </p:txBody>
      </p:sp>
      <p:sp>
        <p:nvSpPr>
          <p:cNvPr id="147" name="Rectangle 11">
            <a:extLst>
              <a:ext uri="{FF2B5EF4-FFF2-40B4-BE49-F238E27FC236}">
                <a16:creationId xmlns:a16="http://schemas.microsoft.com/office/drawing/2014/main" xmlns="" id="{DAAB0956-6625-2CAD-1F6C-D8C85B7AC268}"/>
              </a:ext>
            </a:extLst>
          </p:cNvPr>
          <p:cNvSpPr>
            <a:spLocks/>
          </p:cNvSpPr>
          <p:nvPr>
            <p:custDataLst>
              <p:tags r:id="rId19"/>
            </p:custDataLst>
          </p:nvPr>
        </p:nvSpPr>
        <p:spPr>
          <a:xfrm>
            <a:off x="1612225" y="3041151"/>
            <a:ext cx="969466" cy="400879"/>
          </a:xfrm>
          <a:prstGeom prst="roundRect">
            <a:avLst/>
          </a:prstGeom>
          <a:solidFill>
            <a:srgbClr val="FFFFFF"/>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rPr>
              <a:t>API </a:t>
            </a:r>
            <a:r>
              <a:rPr kumimoji="0" lang="en-US" sz="1000" b="1" i="0" u="none" strike="noStrike" kern="1200" cap="none" spc="0" normalizeH="0" baseline="0" noProof="0" err="1">
                <a:ln>
                  <a:noFill/>
                </a:ln>
                <a:solidFill>
                  <a:srgbClr val="FF0000"/>
                </a:solidFill>
                <a:effectLst/>
                <a:uLnTx/>
                <a:uFillTx/>
                <a:latin typeface="Arial" panose="020B0604020202020204" pitchFamily="34" charset="0"/>
                <a:cs typeface="Arial" panose="020B0604020202020204" pitchFamily="34" charset="0"/>
              </a:rPr>
              <a:t>Mgmt</a:t>
            </a:r>
            <a:endParaRPr kumimoji="0" lang="en-US" sz="1000" b="1" i="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endParaRPr>
          </a:p>
        </p:txBody>
      </p:sp>
      <p:sp>
        <p:nvSpPr>
          <p:cNvPr id="148" name="Rectangle 11">
            <a:extLst>
              <a:ext uri="{FF2B5EF4-FFF2-40B4-BE49-F238E27FC236}">
                <a16:creationId xmlns:a16="http://schemas.microsoft.com/office/drawing/2014/main" xmlns="" id="{5AC7554C-8479-642D-648A-7046B318A048}"/>
              </a:ext>
            </a:extLst>
          </p:cNvPr>
          <p:cNvSpPr>
            <a:spLocks/>
          </p:cNvSpPr>
          <p:nvPr>
            <p:custDataLst>
              <p:tags r:id="rId20"/>
            </p:custDataLst>
          </p:nvPr>
        </p:nvSpPr>
        <p:spPr>
          <a:xfrm>
            <a:off x="5241455" y="3041151"/>
            <a:ext cx="969466" cy="400879"/>
          </a:xfrm>
          <a:prstGeom prst="roundRect">
            <a:avLst/>
          </a:prstGeom>
          <a:solidFill>
            <a:srgbClr val="FFFFFF"/>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rPr>
              <a:t>Policy &amp; Bookkeeping</a:t>
            </a:r>
            <a:endParaRPr kumimoji="0" lang="en-US" sz="1000" b="1" i="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endParaRPr>
          </a:p>
        </p:txBody>
      </p:sp>
      <p:sp>
        <p:nvSpPr>
          <p:cNvPr id="149" name="Rectangle 6">
            <a:extLst>
              <a:ext uri="{FF2B5EF4-FFF2-40B4-BE49-F238E27FC236}">
                <a16:creationId xmlns:a16="http://schemas.microsoft.com/office/drawing/2014/main" xmlns="" id="{7F194757-BB78-4335-37A6-6B19B86E523F}"/>
              </a:ext>
            </a:extLst>
          </p:cNvPr>
          <p:cNvSpPr/>
          <p:nvPr/>
        </p:nvSpPr>
        <p:spPr>
          <a:xfrm>
            <a:off x="1766483" y="2157774"/>
            <a:ext cx="4295462" cy="440051"/>
          </a:xfrm>
          <a:prstGeom prst="roundRect">
            <a:avLst/>
          </a:prstGeom>
          <a:solidFill>
            <a:srgbClr val="FFFFFF"/>
          </a:solidFill>
          <a:ln w="19050">
            <a:solidFill>
              <a:srgbClr val="7030A0"/>
            </a:solidFill>
          </a:ln>
          <a:effectLst>
            <a:glow rad="101600">
              <a:schemeClr val="tx2">
                <a:lumMod val="20000"/>
                <a:lumOff val="80000"/>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7030A0"/>
                </a:solidFill>
                <a:effectLst/>
                <a:uLnTx/>
                <a:uFillTx/>
                <a:latin typeface="Arial" panose="020B0604020202020204" pitchFamily="34" charset="0"/>
                <a:cs typeface="Arial" panose="020B0604020202020204" pitchFamily="34" charset="0"/>
              </a:rPr>
              <a:t>API Aggregation</a:t>
            </a:r>
          </a:p>
        </p:txBody>
      </p:sp>
      <p:cxnSp>
        <p:nvCxnSpPr>
          <p:cNvPr id="150" name="Connector: Elbow 22">
            <a:extLst>
              <a:ext uri="{FF2B5EF4-FFF2-40B4-BE49-F238E27FC236}">
                <a16:creationId xmlns:a16="http://schemas.microsoft.com/office/drawing/2014/main" xmlns="" id="{D1FE7CD3-3AF5-2D85-85CE-16327BB9FEAD}"/>
              </a:ext>
            </a:extLst>
          </p:cNvPr>
          <p:cNvCxnSpPr>
            <a:cxnSpLocks/>
          </p:cNvCxnSpPr>
          <p:nvPr/>
        </p:nvCxnSpPr>
        <p:spPr>
          <a:xfrm flipV="1">
            <a:off x="3123234" y="1808477"/>
            <a:ext cx="0" cy="331727"/>
          </a:xfrm>
          <a:prstGeom prst="straightConnector1">
            <a:avLst/>
          </a:prstGeom>
          <a:ln w="19050">
            <a:solidFill>
              <a:schemeClr val="bg2"/>
            </a:solidFill>
          </a:ln>
          <a:effectLst/>
        </p:spPr>
        <p:style>
          <a:lnRef idx="1">
            <a:schemeClr val="accent1"/>
          </a:lnRef>
          <a:fillRef idx="0">
            <a:schemeClr val="accent1"/>
          </a:fillRef>
          <a:effectRef idx="0">
            <a:schemeClr val="accent1"/>
          </a:effectRef>
          <a:fontRef idx="minor">
            <a:schemeClr val="tx1"/>
          </a:fontRef>
        </p:style>
      </p:cxnSp>
      <p:sp>
        <p:nvSpPr>
          <p:cNvPr id="151" name="Rectangle 11">
            <a:extLst>
              <a:ext uri="{FF2B5EF4-FFF2-40B4-BE49-F238E27FC236}">
                <a16:creationId xmlns:a16="http://schemas.microsoft.com/office/drawing/2014/main" xmlns="" id="{2FE900A4-2E5F-250E-A958-86801DA573D7}"/>
              </a:ext>
            </a:extLst>
          </p:cNvPr>
          <p:cNvSpPr>
            <a:spLocks/>
          </p:cNvSpPr>
          <p:nvPr>
            <p:custDataLst>
              <p:tags r:id="rId21"/>
            </p:custDataLst>
          </p:nvPr>
        </p:nvSpPr>
        <p:spPr>
          <a:xfrm>
            <a:off x="5009274" y="2246356"/>
            <a:ext cx="969466" cy="284078"/>
          </a:xfrm>
          <a:prstGeom prst="roundRect">
            <a:avLst/>
          </a:prstGeom>
          <a:solidFill>
            <a:srgbClr val="FFFFFF"/>
          </a:solidFill>
          <a:ln w="12700" cap="flat" cmpd="sng" algn="ctr">
            <a:solidFill>
              <a:srgbClr val="7030A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rgbClr val="7030A0"/>
                </a:solidFill>
                <a:latin typeface="Arial" panose="020B0604020202020204" pitchFamily="34" charset="0"/>
                <a:cs typeface="Arial" panose="020B0604020202020204" pitchFamily="34" charset="0"/>
              </a:rPr>
              <a:t>Aggregation</a:t>
            </a:r>
            <a:endParaRPr kumimoji="0" lang="en-US" sz="1000" b="1" i="1" u="none" strike="noStrike" kern="1200" cap="none" spc="0" normalizeH="0" baseline="0" noProof="0">
              <a:ln>
                <a:noFill/>
              </a:ln>
              <a:solidFill>
                <a:srgbClr val="7030A0"/>
              </a:solidFill>
              <a:effectLst/>
              <a:uLnTx/>
              <a:uFillTx/>
              <a:latin typeface="Arial" panose="020B0604020202020204" pitchFamily="34" charset="0"/>
              <a:cs typeface="Arial" panose="020B0604020202020204" pitchFamily="34" charset="0"/>
            </a:endParaRPr>
          </a:p>
        </p:txBody>
      </p:sp>
      <p:sp>
        <p:nvSpPr>
          <p:cNvPr id="152" name="Rectangle 11">
            <a:extLst>
              <a:ext uri="{FF2B5EF4-FFF2-40B4-BE49-F238E27FC236}">
                <a16:creationId xmlns:a16="http://schemas.microsoft.com/office/drawing/2014/main" xmlns="" id="{DC046BE4-B672-C0DA-E664-84E6A910AFE4}"/>
              </a:ext>
            </a:extLst>
          </p:cNvPr>
          <p:cNvSpPr>
            <a:spLocks/>
          </p:cNvSpPr>
          <p:nvPr>
            <p:custDataLst>
              <p:tags r:id="rId22"/>
            </p:custDataLst>
          </p:nvPr>
        </p:nvSpPr>
        <p:spPr>
          <a:xfrm>
            <a:off x="1848257" y="2246356"/>
            <a:ext cx="969466" cy="284078"/>
          </a:xfrm>
          <a:prstGeom prst="roundRect">
            <a:avLst/>
          </a:prstGeom>
          <a:solidFill>
            <a:srgbClr val="FFFFFF"/>
          </a:solidFill>
          <a:ln w="12700" cap="flat" cmpd="sng" algn="ctr">
            <a:solidFill>
              <a:srgbClr val="7030A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rgbClr val="7030A0"/>
                </a:solidFill>
                <a:latin typeface="Arial" panose="020B0604020202020204" pitchFamily="34" charset="0"/>
                <a:cs typeface="Arial" panose="020B0604020202020204" pitchFamily="34" charset="0"/>
              </a:rPr>
              <a:t>Consent</a:t>
            </a:r>
            <a:endParaRPr kumimoji="0" lang="en-US" sz="1000" b="1" i="1" u="none" strike="noStrike" kern="1200" cap="none" spc="0" normalizeH="0" baseline="0" noProof="0">
              <a:ln>
                <a:noFill/>
              </a:ln>
              <a:solidFill>
                <a:srgbClr val="7030A0"/>
              </a:solidFill>
              <a:effectLst/>
              <a:uLnTx/>
              <a:uFillTx/>
              <a:latin typeface="Arial" panose="020B0604020202020204" pitchFamily="34" charset="0"/>
              <a:cs typeface="Arial" panose="020B0604020202020204" pitchFamily="34" charset="0"/>
            </a:endParaRPr>
          </a:p>
        </p:txBody>
      </p:sp>
      <p:cxnSp>
        <p:nvCxnSpPr>
          <p:cNvPr id="153" name="Connector: Elbow 22">
            <a:extLst>
              <a:ext uri="{FF2B5EF4-FFF2-40B4-BE49-F238E27FC236}">
                <a16:creationId xmlns:a16="http://schemas.microsoft.com/office/drawing/2014/main" xmlns="" id="{E333602D-D1A3-2001-8F2E-69A6050A8268}"/>
              </a:ext>
            </a:extLst>
          </p:cNvPr>
          <p:cNvCxnSpPr>
            <a:cxnSpLocks/>
          </p:cNvCxnSpPr>
          <p:nvPr/>
        </p:nvCxnSpPr>
        <p:spPr>
          <a:xfrm flipV="1">
            <a:off x="4143337" y="2597825"/>
            <a:ext cx="0" cy="397096"/>
          </a:xfrm>
          <a:prstGeom prst="straightConnector1">
            <a:avLst/>
          </a:prstGeom>
          <a:ln w="19050">
            <a:solidFill>
              <a:srgbClr val="FF0000"/>
            </a:solidFill>
          </a:ln>
          <a:effectLst/>
        </p:spPr>
        <p:style>
          <a:lnRef idx="1">
            <a:schemeClr val="accent1"/>
          </a:lnRef>
          <a:fillRef idx="0">
            <a:schemeClr val="accent1"/>
          </a:fillRef>
          <a:effectRef idx="0">
            <a:schemeClr val="accent1"/>
          </a:effectRef>
          <a:fontRef idx="minor">
            <a:schemeClr val="tx1"/>
          </a:fontRef>
        </p:style>
      </p:cxnSp>
      <p:grpSp>
        <p:nvGrpSpPr>
          <p:cNvPr id="154" name="Gruppieren 153">
            <a:extLst>
              <a:ext uri="{FF2B5EF4-FFF2-40B4-BE49-F238E27FC236}">
                <a16:creationId xmlns:a16="http://schemas.microsoft.com/office/drawing/2014/main" xmlns="" id="{9FDBA0DC-A6DC-BF42-0660-4D888AD92103}"/>
              </a:ext>
            </a:extLst>
          </p:cNvPr>
          <p:cNvGrpSpPr/>
          <p:nvPr/>
        </p:nvGrpSpPr>
        <p:grpSpPr>
          <a:xfrm>
            <a:off x="312048" y="4084819"/>
            <a:ext cx="7211445" cy="2187482"/>
            <a:chOff x="312048" y="4441435"/>
            <a:chExt cx="7211445" cy="2187482"/>
          </a:xfrm>
        </p:grpSpPr>
        <p:sp>
          <p:nvSpPr>
            <p:cNvPr id="155" name="Rechteck: abgerundete Ecken 154">
              <a:extLst>
                <a:ext uri="{FF2B5EF4-FFF2-40B4-BE49-F238E27FC236}">
                  <a16:creationId xmlns:a16="http://schemas.microsoft.com/office/drawing/2014/main" xmlns="" id="{B66B3F59-CC85-B142-2A98-D4AE53A1DFBE}"/>
                </a:ext>
              </a:extLst>
            </p:cNvPr>
            <p:cNvSpPr/>
            <p:nvPr/>
          </p:nvSpPr>
          <p:spPr>
            <a:xfrm>
              <a:off x="313068" y="5817024"/>
              <a:ext cx="7210425" cy="811893"/>
            </a:xfrm>
            <a:prstGeom prst="roundRect">
              <a:avLst/>
            </a:prstGeom>
            <a:solidFill>
              <a:srgbClr val="32B9AF">
                <a:alpha val="50196"/>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a:p>
          </p:txBody>
        </p:sp>
        <p:sp>
          <p:nvSpPr>
            <p:cNvPr id="156" name="Rechteck: abgerundete Ecken 155">
              <a:extLst>
                <a:ext uri="{FF2B5EF4-FFF2-40B4-BE49-F238E27FC236}">
                  <a16:creationId xmlns:a16="http://schemas.microsoft.com/office/drawing/2014/main" xmlns="" id="{6E6FCCB9-3C45-88B8-49F0-98B12C789F09}"/>
                </a:ext>
              </a:extLst>
            </p:cNvPr>
            <p:cNvSpPr/>
            <p:nvPr/>
          </p:nvSpPr>
          <p:spPr>
            <a:xfrm>
              <a:off x="312048" y="4441435"/>
              <a:ext cx="2282645" cy="1401611"/>
            </a:xfrm>
            <a:prstGeom prst="roundRect">
              <a:avLst/>
            </a:prstGeom>
            <a:solidFill>
              <a:srgbClr val="32B9AF">
                <a:alpha val="50196"/>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a:p>
          </p:txBody>
        </p:sp>
      </p:grpSp>
      <p:grpSp>
        <p:nvGrpSpPr>
          <p:cNvPr id="157" name="Gruppieren 156">
            <a:extLst>
              <a:ext uri="{FF2B5EF4-FFF2-40B4-BE49-F238E27FC236}">
                <a16:creationId xmlns:a16="http://schemas.microsoft.com/office/drawing/2014/main" xmlns="" id="{B40352CF-8420-73BA-1B5A-08B3A7294883}"/>
              </a:ext>
            </a:extLst>
          </p:cNvPr>
          <p:cNvGrpSpPr/>
          <p:nvPr/>
        </p:nvGrpSpPr>
        <p:grpSpPr>
          <a:xfrm>
            <a:off x="312048" y="3470942"/>
            <a:ext cx="7210424" cy="1989466"/>
            <a:chOff x="312048" y="3827558"/>
            <a:chExt cx="7210424" cy="1989466"/>
          </a:xfrm>
          <a:solidFill>
            <a:srgbClr val="3A9BF3">
              <a:alpha val="50196"/>
            </a:srgbClr>
          </a:solidFill>
        </p:grpSpPr>
        <p:sp>
          <p:nvSpPr>
            <p:cNvPr id="158" name="Rechteck: abgerundete Ecken 157">
              <a:extLst>
                <a:ext uri="{FF2B5EF4-FFF2-40B4-BE49-F238E27FC236}">
                  <a16:creationId xmlns:a16="http://schemas.microsoft.com/office/drawing/2014/main" xmlns="" id="{7F8669EC-C72F-C24E-B36F-0A717251ADF1}"/>
                </a:ext>
              </a:extLst>
            </p:cNvPr>
            <p:cNvSpPr/>
            <p:nvPr/>
          </p:nvSpPr>
          <p:spPr>
            <a:xfrm>
              <a:off x="2594693" y="4441435"/>
              <a:ext cx="4927779" cy="1375589"/>
            </a:xfrm>
            <a:prstGeom prst="round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a:p>
          </p:txBody>
        </p:sp>
        <p:sp>
          <p:nvSpPr>
            <p:cNvPr id="159" name="Rechteck: abgerundete Ecken 158">
              <a:extLst>
                <a:ext uri="{FF2B5EF4-FFF2-40B4-BE49-F238E27FC236}">
                  <a16:creationId xmlns:a16="http://schemas.microsoft.com/office/drawing/2014/main" xmlns="" id="{651FA742-2D9C-86A1-CB3C-09DFBD1D7E03}"/>
                </a:ext>
              </a:extLst>
            </p:cNvPr>
            <p:cNvSpPr/>
            <p:nvPr/>
          </p:nvSpPr>
          <p:spPr>
            <a:xfrm>
              <a:off x="312048" y="3827558"/>
              <a:ext cx="3591987" cy="621102"/>
            </a:xfrm>
            <a:prstGeom prst="round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a:p>
          </p:txBody>
        </p:sp>
      </p:grpSp>
      <p:pic>
        <p:nvPicPr>
          <p:cNvPr id="161" name="Grafik 160" descr="Ein Bild, das Schrift, Grafiken, Grafikdesign, Screenshot enthält.&#10;&#10;Automatisch generierte Beschreibung">
            <a:extLst>
              <a:ext uri="{FF2B5EF4-FFF2-40B4-BE49-F238E27FC236}">
                <a16:creationId xmlns:a16="http://schemas.microsoft.com/office/drawing/2014/main" xmlns="" id="{38418A8E-DE6B-9662-94CF-336888EE9F52}"/>
              </a:ext>
            </a:extLst>
          </p:cNvPr>
          <p:cNvPicPr>
            <a:picLocks noChangeAspect="1"/>
          </p:cNvPicPr>
          <p:nvPr/>
        </p:nvPicPr>
        <p:blipFill>
          <a:blip r:embed="rId25"/>
          <a:stretch>
            <a:fillRect/>
          </a:stretch>
        </p:blipFill>
        <p:spPr>
          <a:xfrm>
            <a:off x="8254599" y="4359948"/>
            <a:ext cx="3111544" cy="595861"/>
          </a:xfrm>
          <a:prstGeom prst="rect">
            <a:avLst/>
          </a:prstGeom>
        </p:spPr>
      </p:pic>
      <p:grpSp>
        <p:nvGrpSpPr>
          <p:cNvPr id="162" name="Gruppieren 161">
            <a:extLst>
              <a:ext uri="{FF2B5EF4-FFF2-40B4-BE49-F238E27FC236}">
                <a16:creationId xmlns:a16="http://schemas.microsoft.com/office/drawing/2014/main" xmlns="" id="{75D4080A-77D5-3AB3-7A75-066228A479F4}"/>
              </a:ext>
            </a:extLst>
          </p:cNvPr>
          <p:cNvGrpSpPr/>
          <p:nvPr/>
        </p:nvGrpSpPr>
        <p:grpSpPr>
          <a:xfrm>
            <a:off x="316126" y="1929384"/>
            <a:ext cx="7205749" cy="2150977"/>
            <a:chOff x="316126" y="2286000"/>
            <a:chExt cx="7205749" cy="2150977"/>
          </a:xfrm>
        </p:grpSpPr>
        <p:sp>
          <p:nvSpPr>
            <p:cNvPr id="163" name="Rechteck: abgerundete Ecken 162">
              <a:extLst>
                <a:ext uri="{FF2B5EF4-FFF2-40B4-BE49-F238E27FC236}">
                  <a16:creationId xmlns:a16="http://schemas.microsoft.com/office/drawing/2014/main" xmlns="" id="{0F64D5DE-BA8F-B868-E764-C776A30097DD}"/>
                </a:ext>
              </a:extLst>
            </p:cNvPr>
            <p:cNvSpPr/>
            <p:nvPr/>
          </p:nvSpPr>
          <p:spPr>
            <a:xfrm>
              <a:off x="3896530" y="3815875"/>
              <a:ext cx="3625345" cy="621102"/>
            </a:xfrm>
            <a:prstGeom prst="roundRect">
              <a:avLst/>
            </a:prstGeom>
            <a:solidFill>
              <a:srgbClr val="FF0000">
                <a:alpha val="50196"/>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a:p>
          </p:txBody>
        </p:sp>
        <p:sp>
          <p:nvSpPr>
            <p:cNvPr id="164" name="Rechteck: abgerundete Ecken 163">
              <a:extLst>
                <a:ext uri="{FF2B5EF4-FFF2-40B4-BE49-F238E27FC236}">
                  <a16:creationId xmlns:a16="http://schemas.microsoft.com/office/drawing/2014/main" xmlns="" id="{A2CF17BB-3436-B4F9-6B52-F94C7EACFE8C}"/>
                </a:ext>
              </a:extLst>
            </p:cNvPr>
            <p:cNvSpPr/>
            <p:nvPr/>
          </p:nvSpPr>
          <p:spPr>
            <a:xfrm>
              <a:off x="320852" y="3199821"/>
              <a:ext cx="7201022" cy="621102"/>
            </a:xfrm>
            <a:prstGeom prst="roundRect">
              <a:avLst/>
            </a:prstGeom>
            <a:solidFill>
              <a:srgbClr val="FF0000">
                <a:alpha val="50196"/>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a:p>
          </p:txBody>
        </p:sp>
        <p:sp>
          <p:nvSpPr>
            <p:cNvPr id="165" name="Rechteck: abgerundete Ecken 164">
              <a:extLst>
                <a:ext uri="{FF2B5EF4-FFF2-40B4-BE49-F238E27FC236}">
                  <a16:creationId xmlns:a16="http://schemas.microsoft.com/office/drawing/2014/main" xmlns="" id="{163C1A02-FBC2-7C41-D88A-DBCA5E19506C}"/>
                </a:ext>
              </a:extLst>
            </p:cNvPr>
            <p:cNvSpPr/>
            <p:nvPr/>
          </p:nvSpPr>
          <p:spPr>
            <a:xfrm>
              <a:off x="6184171" y="2286000"/>
              <a:ext cx="1337701" cy="909669"/>
            </a:xfrm>
            <a:prstGeom prst="roundRect">
              <a:avLst/>
            </a:prstGeom>
            <a:solidFill>
              <a:srgbClr val="FF0000">
                <a:alpha val="50196"/>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a:p>
          </p:txBody>
        </p:sp>
        <p:sp>
          <p:nvSpPr>
            <p:cNvPr id="166" name="Rechteck: abgerundete Ecken 165">
              <a:extLst>
                <a:ext uri="{FF2B5EF4-FFF2-40B4-BE49-F238E27FC236}">
                  <a16:creationId xmlns:a16="http://schemas.microsoft.com/office/drawing/2014/main" xmlns="" id="{5AC7E0B6-4674-1B33-7F7C-880FE14730F4}"/>
                </a:ext>
              </a:extLst>
            </p:cNvPr>
            <p:cNvSpPr/>
            <p:nvPr/>
          </p:nvSpPr>
          <p:spPr>
            <a:xfrm>
              <a:off x="316126" y="2294161"/>
              <a:ext cx="1337701" cy="909669"/>
            </a:xfrm>
            <a:prstGeom prst="roundRect">
              <a:avLst/>
            </a:prstGeom>
            <a:solidFill>
              <a:srgbClr val="FF0000">
                <a:alpha val="50196"/>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a:p>
          </p:txBody>
        </p:sp>
      </p:grpSp>
      <p:pic>
        <p:nvPicPr>
          <p:cNvPr id="167" name="Grafik 166">
            <a:extLst>
              <a:ext uri="{FF2B5EF4-FFF2-40B4-BE49-F238E27FC236}">
                <a16:creationId xmlns:a16="http://schemas.microsoft.com/office/drawing/2014/main" xmlns="" id="{5C41BB3A-670D-8025-74A7-1AB34DDAE59F}"/>
              </a:ext>
            </a:extLst>
          </p:cNvPr>
          <p:cNvPicPr>
            <a:picLocks noChangeAspect="1"/>
          </p:cNvPicPr>
          <p:nvPr/>
        </p:nvPicPr>
        <p:blipFill>
          <a:blip r:embed="rId26"/>
          <a:stretch>
            <a:fillRect/>
          </a:stretch>
        </p:blipFill>
        <p:spPr>
          <a:xfrm>
            <a:off x="8390369" y="3309382"/>
            <a:ext cx="1791270" cy="716508"/>
          </a:xfrm>
          <a:prstGeom prst="roundRect">
            <a:avLst>
              <a:gd name="adj" fmla="val 15800"/>
            </a:avLst>
          </a:prstGeom>
        </p:spPr>
      </p:pic>
      <p:sp>
        <p:nvSpPr>
          <p:cNvPr id="168" name="Rechteck: abgerundete Ecken 167">
            <a:extLst>
              <a:ext uri="{FF2B5EF4-FFF2-40B4-BE49-F238E27FC236}">
                <a16:creationId xmlns:a16="http://schemas.microsoft.com/office/drawing/2014/main" xmlns="" id="{7008CFE0-4B1E-2F04-83B1-15195466AE2C}"/>
              </a:ext>
            </a:extLst>
          </p:cNvPr>
          <p:cNvSpPr/>
          <p:nvPr/>
        </p:nvSpPr>
        <p:spPr>
          <a:xfrm>
            <a:off x="1657402" y="1958387"/>
            <a:ext cx="4526765" cy="909669"/>
          </a:xfrm>
          <a:prstGeom prst="roundRect">
            <a:avLst/>
          </a:prstGeom>
          <a:solidFill>
            <a:srgbClr val="7030A0">
              <a:alpha val="50196"/>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a:p>
        </p:txBody>
      </p:sp>
      <p:sp>
        <p:nvSpPr>
          <p:cNvPr id="169" name="Rectangle 6">
            <a:extLst>
              <a:ext uri="{FF2B5EF4-FFF2-40B4-BE49-F238E27FC236}">
                <a16:creationId xmlns:a16="http://schemas.microsoft.com/office/drawing/2014/main" xmlns="" id="{834480ED-C8AD-DB46-BEED-1592EB86701C}"/>
              </a:ext>
            </a:extLst>
          </p:cNvPr>
          <p:cNvSpPr/>
          <p:nvPr/>
        </p:nvSpPr>
        <p:spPr>
          <a:xfrm>
            <a:off x="320852" y="1397267"/>
            <a:ext cx="7201020" cy="440051"/>
          </a:xfrm>
          <a:prstGeom prst="roundRect">
            <a:avLst/>
          </a:prstGeom>
          <a:solidFill>
            <a:srgbClr val="FFFFFF"/>
          </a:solidFill>
          <a:ln w="19050">
            <a:solidFill>
              <a:schemeClr val="bg1">
                <a:lumMod val="75000"/>
              </a:schemeClr>
            </a:solidFill>
          </a:ln>
          <a:effectLst>
            <a:glow rad="101600">
              <a:schemeClr val="tx2">
                <a:lumMod val="20000"/>
                <a:lumOff val="80000"/>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lumMod val="75000"/>
                  </a:schemeClr>
                </a:solidFill>
                <a:effectLst/>
                <a:uLnTx/>
                <a:uFillTx/>
                <a:latin typeface="Arial" panose="020B0604020202020204" pitchFamily="34" charset="0"/>
                <a:cs typeface="Arial" panose="020B0604020202020204" pitchFamily="34" charset="0"/>
              </a:rPr>
              <a:t>Customers / developers</a:t>
            </a:r>
          </a:p>
        </p:txBody>
      </p:sp>
      <p:sp>
        <p:nvSpPr>
          <p:cNvPr id="170" name="Google Shape;210;p7">
            <a:extLst>
              <a:ext uri="{FF2B5EF4-FFF2-40B4-BE49-F238E27FC236}">
                <a16:creationId xmlns:a16="http://schemas.microsoft.com/office/drawing/2014/main" xmlns="" id="{B67E1485-59ED-A867-0CB3-279EC59F0CED}"/>
              </a:ext>
            </a:extLst>
          </p:cNvPr>
          <p:cNvSpPr txBox="1">
            <a:spLocks noGrp="1"/>
          </p:cNvSpPr>
          <p:nvPr>
            <p:ph type="body" idx="1"/>
          </p:nvPr>
        </p:nvSpPr>
        <p:spPr>
          <a:xfrm>
            <a:off x="8338928" y="1929384"/>
            <a:ext cx="2942885" cy="595861"/>
          </a:xfrm>
          <a:prstGeom prst="rect">
            <a:avLst/>
          </a:prstGeom>
          <a:noFill/>
          <a:ln>
            <a:noFill/>
          </a:ln>
        </p:spPr>
        <p:txBody>
          <a:bodyPr spcFirstLastPara="1" wrap="square" lIns="0" tIns="0" rIns="0" bIns="0" anchor="t" anchorCtr="0">
            <a:noAutofit/>
          </a:bodyPr>
          <a:lstStyle/>
          <a:p>
            <a:pPr marL="0" lvl="0" indent="0" algn="l" rtl="0">
              <a:lnSpc>
                <a:spcPct val="104000"/>
              </a:lnSpc>
              <a:spcBef>
                <a:spcPts val="0"/>
              </a:spcBef>
              <a:spcAft>
                <a:spcPts val="0"/>
              </a:spcAft>
              <a:buClr>
                <a:schemeClr val="dk2"/>
              </a:buClr>
              <a:buSzPts val="2400"/>
              <a:buNone/>
            </a:pPr>
            <a:r>
              <a:rPr lang="en-US" sz="2400" b="1" dirty="0">
                <a:solidFill>
                  <a:srgbClr val="7030A0"/>
                </a:solidFill>
                <a:latin typeface="Montserrat ExtraBold" panose="00000900000000000000" pitchFamily="2" charset="0"/>
              </a:rPr>
              <a:t>Aggregators in each market</a:t>
            </a:r>
            <a:endParaRPr sz="2400" b="1" dirty="0">
              <a:solidFill>
                <a:srgbClr val="7030A0"/>
              </a:solidFill>
              <a:latin typeface="Montserrat ExtraBold" panose="00000900000000000000" pitchFamily="2" charset="0"/>
            </a:endParaRPr>
          </a:p>
        </p:txBody>
      </p:sp>
      <p:pic>
        <p:nvPicPr>
          <p:cNvPr id="2" name="Grafik 1">
            <a:extLst>
              <a:ext uri="{FF2B5EF4-FFF2-40B4-BE49-F238E27FC236}">
                <a16:creationId xmlns:a16="http://schemas.microsoft.com/office/drawing/2014/main" xmlns="" id="{70F375F2-3C0F-FE4B-38B5-F884BCCB6DA7}"/>
              </a:ext>
            </a:extLst>
          </p:cNvPr>
          <p:cNvPicPr>
            <a:picLocks noChangeAspect="1"/>
          </p:cNvPicPr>
          <p:nvPr/>
        </p:nvPicPr>
        <p:blipFill>
          <a:blip r:embed="rId27"/>
          <a:stretch>
            <a:fillRect/>
          </a:stretch>
        </p:blipFill>
        <p:spPr>
          <a:xfrm>
            <a:off x="8205131" y="2531391"/>
            <a:ext cx="2030347" cy="1015174"/>
          </a:xfrm>
          <a:prstGeom prst="rect">
            <a:avLst/>
          </a:prstGeom>
        </p:spPr>
      </p:pic>
    </p:spTree>
    <p:extLst>
      <p:ext uri="{BB962C8B-B14F-4D97-AF65-F5344CB8AC3E}">
        <p14:creationId xmlns:p14="http://schemas.microsoft.com/office/powerpoint/2010/main" val="4141981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3"/>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CAMARA</a:t>
            </a:r>
            <a:br>
              <a:rPr lang="en-US"/>
            </a:br>
            <a:r>
              <a:rPr lang="en-US"/>
              <a:t>Scope</a:t>
            </a:r>
            <a:endParaRPr/>
          </a:p>
        </p:txBody>
      </p:sp>
      <p:sp>
        <p:nvSpPr>
          <p:cNvPr id="309" name="Google Shape;309;p13"/>
          <p:cNvSpPr txBox="1">
            <a:spLocks noGrp="1"/>
          </p:cNvSpPr>
          <p:nvPr>
            <p:ph type="body" idx="1"/>
          </p:nvPr>
        </p:nvSpPr>
        <p:spPr>
          <a:xfrm>
            <a:off x="444375" y="1947400"/>
            <a:ext cx="10944300" cy="4537500"/>
          </a:xfrm>
          <a:prstGeom prst="rect">
            <a:avLst/>
          </a:prstGeom>
          <a:noFill/>
          <a:ln>
            <a:noFill/>
          </a:ln>
        </p:spPr>
        <p:txBody>
          <a:bodyPr spcFirstLastPara="1" wrap="square" lIns="0" tIns="0" rIns="0" bIns="0" anchor="t" anchorCtr="0">
            <a:noAutofit/>
          </a:bodyPr>
          <a:lstStyle/>
          <a:p>
            <a:pPr marL="0" lvl="0" indent="0" algn="l" rtl="0">
              <a:lnSpc>
                <a:spcPct val="104000"/>
              </a:lnSpc>
              <a:spcBef>
                <a:spcPts val="0"/>
              </a:spcBef>
              <a:spcAft>
                <a:spcPts val="0"/>
              </a:spcAft>
              <a:buClr>
                <a:schemeClr val="dk2"/>
              </a:buClr>
              <a:buSzPts val="1600"/>
              <a:buNone/>
            </a:pPr>
            <a:r>
              <a:rPr lang="en-US" sz="1400">
                <a:solidFill>
                  <a:srgbClr val="3A9BF3"/>
                </a:solidFill>
                <a:latin typeface="Montserrat Medium"/>
                <a:ea typeface="Montserrat Medium"/>
                <a:cs typeface="Montserrat Medium"/>
                <a:sym typeface="Montserrat Medium"/>
              </a:rPr>
              <a:t>The scope of the CAMARA Project is:</a:t>
            </a:r>
            <a:endParaRPr sz="1400">
              <a:solidFill>
                <a:srgbClr val="3A9BF3"/>
              </a:solidFill>
              <a:latin typeface="Montserrat Medium"/>
              <a:ea typeface="Montserrat Medium"/>
              <a:cs typeface="Montserrat Medium"/>
              <a:sym typeface="Montserrat Medium"/>
            </a:endParaRPr>
          </a:p>
          <a:p>
            <a:pPr marL="285750" lvl="0" indent="-273050" algn="l" rtl="0">
              <a:lnSpc>
                <a:spcPct val="104000"/>
              </a:lnSpc>
              <a:spcBef>
                <a:spcPts val="1200"/>
              </a:spcBef>
              <a:spcAft>
                <a:spcPts val="0"/>
              </a:spcAft>
              <a:buClr>
                <a:srgbClr val="3A9BF3"/>
              </a:buClr>
              <a:buSzPts val="1400"/>
              <a:buFont typeface="Montserrat"/>
              <a:buChar char="•"/>
            </a:pPr>
            <a:r>
              <a:rPr lang="en-US" sz="1400">
                <a:latin typeface="Montserrat Medium"/>
                <a:ea typeface="Montserrat Medium"/>
                <a:cs typeface="Montserrat Medium"/>
                <a:sym typeface="Montserrat Medium"/>
              </a:rPr>
              <a:t>Collect API requirements</a:t>
            </a:r>
            <a:r>
              <a:rPr lang="en-US" sz="1400">
                <a:latin typeface="Montserrat SemiBold"/>
                <a:ea typeface="Montserrat SemiBold"/>
                <a:cs typeface="Montserrat SemiBold"/>
                <a:sym typeface="Montserrat SemiBold"/>
              </a:rPr>
              <a:t> </a:t>
            </a:r>
            <a:r>
              <a:rPr lang="en-US" sz="1400"/>
              <a:t>from GSMA Operator Platform Group and other sources </a:t>
            </a:r>
            <a:endParaRPr sz="1400"/>
          </a:p>
          <a:p>
            <a:pPr marL="285750" lvl="0" indent="-273050" algn="l" rtl="0">
              <a:lnSpc>
                <a:spcPct val="104000"/>
              </a:lnSpc>
              <a:spcBef>
                <a:spcPts val="1200"/>
              </a:spcBef>
              <a:spcAft>
                <a:spcPts val="0"/>
              </a:spcAft>
              <a:buClr>
                <a:srgbClr val="3A9BF3"/>
              </a:buClr>
              <a:buSzPts val="1400"/>
              <a:buFont typeface="Montserrat"/>
              <a:buChar char="•"/>
            </a:pPr>
            <a:r>
              <a:rPr lang="en-US" sz="1400">
                <a:latin typeface="Montserrat Medium"/>
                <a:ea typeface="Montserrat Medium"/>
                <a:cs typeface="Montserrat Medium"/>
                <a:sym typeface="Montserrat Medium"/>
              </a:rPr>
              <a:t>Define Service APIs and Service Management APIs</a:t>
            </a:r>
            <a:endParaRPr sz="1400">
              <a:latin typeface="Montserrat Medium"/>
              <a:ea typeface="Montserrat Medium"/>
              <a:cs typeface="Montserrat Medium"/>
              <a:sym typeface="Montserrat Medium"/>
            </a:endParaRPr>
          </a:p>
          <a:p>
            <a:pPr marL="285750" lvl="0" indent="-273050" algn="l" rtl="0">
              <a:lnSpc>
                <a:spcPct val="104000"/>
              </a:lnSpc>
              <a:spcBef>
                <a:spcPts val="1200"/>
              </a:spcBef>
              <a:spcAft>
                <a:spcPts val="0"/>
              </a:spcAft>
              <a:buClr>
                <a:srgbClr val="3A9BF3"/>
              </a:buClr>
              <a:buSzPts val="1400"/>
              <a:buFont typeface="Montserrat"/>
              <a:buChar char="•"/>
            </a:pPr>
            <a:r>
              <a:rPr lang="en-US" sz="1400"/>
              <a:t>Create test plans / cases / tools from an API consumer perspective</a:t>
            </a:r>
            <a:endParaRPr sz="1400"/>
          </a:p>
          <a:p>
            <a:pPr marL="285750" lvl="0" indent="-273050" algn="l" rtl="0">
              <a:lnSpc>
                <a:spcPct val="104000"/>
              </a:lnSpc>
              <a:spcBef>
                <a:spcPts val="1200"/>
              </a:spcBef>
              <a:spcAft>
                <a:spcPts val="0"/>
              </a:spcAft>
              <a:buClr>
                <a:srgbClr val="3A9BF3"/>
              </a:buClr>
              <a:buSzPts val="1400"/>
              <a:buFont typeface="Montserrat"/>
              <a:buChar char="•"/>
            </a:pPr>
            <a:r>
              <a:rPr lang="en-US" sz="1400">
                <a:latin typeface="Montserrat Medium"/>
                <a:ea typeface="Montserrat Medium"/>
                <a:cs typeface="Montserrat Medium"/>
                <a:sym typeface="Montserrat Medium"/>
              </a:rPr>
              <a:t>Develop and test Service APIs and Service Management APIs</a:t>
            </a:r>
            <a:endParaRPr sz="1400">
              <a:latin typeface="Montserrat Medium"/>
              <a:ea typeface="Montserrat Medium"/>
              <a:cs typeface="Montserrat Medium"/>
              <a:sym typeface="Montserrat Medium"/>
            </a:endParaRPr>
          </a:p>
          <a:p>
            <a:pPr marL="285750" lvl="0" indent="-273050" algn="l" rtl="0">
              <a:lnSpc>
                <a:spcPct val="104000"/>
              </a:lnSpc>
              <a:spcBef>
                <a:spcPts val="1200"/>
              </a:spcBef>
              <a:spcAft>
                <a:spcPts val="0"/>
              </a:spcAft>
              <a:buClr>
                <a:srgbClr val="3A9BF3"/>
              </a:buClr>
              <a:buSzPts val="1400"/>
              <a:buFont typeface="Montserrat"/>
              <a:buChar char="•"/>
            </a:pPr>
            <a:r>
              <a:rPr lang="en-US" sz="1400"/>
              <a:t>Create developer friendly </a:t>
            </a:r>
            <a:r>
              <a:rPr lang="en-US" sz="1400">
                <a:latin typeface="Montserrat Medium"/>
                <a:ea typeface="Montserrat Medium"/>
                <a:cs typeface="Montserrat Medium"/>
                <a:sym typeface="Montserrat Medium"/>
              </a:rPr>
              <a:t>documentation</a:t>
            </a:r>
            <a:endParaRPr sz="1400">
              <a:latin typeface="Montserrat Medium"/>
              <a:ea typeface="Montserrat Medium"/>
              <a:cs typeface="Montserrat Medium"/>
              <a:sym typeface="Montserrat Medium"/>
            </a:endParaRPr>
          </a:p>
          <a:p>
            <a:pPr marL="0" lvl="0" indent="0" algn="l" rtl="0">
              <a:lnSpc>
                <a:spcPct val="104000"/>
              </a:lnSpc>
              <a:spcBef>
                <a:spcPts val="1200"/>
              </a:spcBef>
              <a:spcAft>
                <a:spcPts val="0"/>
              </a:spcAft>
              <a:buClr>
                <a:schemeClr val="dk2"/>
              </a:buClr>
              <a:buSzPts val="1600"/>
              <a:buNone/>
            </a:pPr>
            <a:r>
              <a:rPr lang="en-US" sz="1400">
                <a:solidFill>
                  <a:srgbClr val="3A9BF3"/>
                </a:solidFill>
                <a:latin typeface="Montserrat Medium"/>
                <a:ea typeface="Montserrat Medium"/>
                <a:cs typeface="Montserrat Medium"/>
                <a:sym typeface="Montserrat Medium"/>
              </a:rPr>
              <a:t>The following deliverables are provided by the CAMARA Project:</a:t>
            </a:r>
            <a:endParaRPr sz="1400">
              <a:solidFill>
                <a:srgbClr val="3A9BF3"/>
              </a:solidFill>
              <a:latin typeface="Montserrat Medium"/>
              <a:ea typeface="Montserrat Medium"/>
              <a:cs typeface="Montserrat Medium"/>
              <a:sym typeface="Montserrat Medium"/>
            </a:endParaRPr>
          </a:p>
          <a:p>
            <a:pPr marL="285750" lvl="0" indent="-273050" algn="l" rtl="0">
              <a:lnSpc>
                <a:spcPct val="104000"/>
              </a:lnSpc>
              <a:spcBef>
                <a:spcPts val="1200"/>
              </a:spcBef>
              <a:spcAft>
                <a:spcPts val="0"/>
              </a:spcAft>
              <a:buClr>
                <a:srgbClr val="3A9BF3"/>
              </a:buClr>
              <a:buSzPts val="1400"/>
              <a:buFont typeface="Montserrat"/>
              <a:buChar char="•"/>
            </a:pPr>
            <a:r>
              <a:rPr lang="en-US" sz="1400">
                <a:latin typeface="Montserrat Medium"/>
                <a:ea typeface="Montserrat Medium"/>
                <a:cs typeface="Montserrat Medium"/>
                <a:sym typeface="Montserrat Medium"/>
              </a:rPr>
              <a:t>Service API and Service Management API definitions and documentation</a:t>
            </a:r>
            <a:endParaRPr sz="1400">
              <a:latin typeface="Montserrat Medium"/>
              <a:ea typeface="Montserrat Medium"/>
              <a:cs typeface="Montserrat Medium"/>
              <a:sym typeface="Montserrat Medium"/>
            </a:endParaRPr>
          </a:p>
          <a:p>
            <a:pPr marL="285750" lvl="0" indent="-273050" algn="l" rtl="0">
              <a:lnSpc>
                <a:spcPct val="104000"/>
              </a:lnSpc>
              <a:spcBef>
                <a:spcPts val="1200"/>
              </a:spcBef>
              <a:spcAft>
                <a:spcPts val="0"/>
              </a:spcAft>
              <a:buClr>
                <a:srgbClr val="3A9BF3"/>
              </a:buClr>
              <a:buSzPts val="1400"/>
              <a:buFont typeface="Montserrat"/>
              <a:buChar char="•"/>
            </a:pPr>
            <a:r>
              <a:rPr lang="en-US" sz="1400"/>
              <a:t>Optionally Service API and Service Management API code and</a:t>
            </a:r>
            <a:endParaRPr sz="1400"/>
          </a:p>
          <a:p>
            <a:pPr marL="285750" lvl="0" indent="-273050" algn="l" rtl="0">
              <a:lnSpc>
                <a:spcPct val="104000"/>
              </a:lnSpc>
              <a:spcBef>
                <a:spcPts val="1200"/>
              </a:spcBef>
              <a:spcAft>
                <a:spcPts val="0"/>
              </a:spcAft>
              <a:buClr>
                <a:srgbClr val="3A9BF3"/>
              </a:buClr>
              <a:buSzPts val="1400"/>
              <a:buFont typeface="Montserrat"/>
              <a:buChar char="•"/>
            </a:pPr>
            <a:r>
              <a:rPr lang="en-US" sz="1400"/>
              <a:t>Test plans, cases and tools for the APIs all contained in deployment packages. </a:t>
            </a:r>
            <a:endParaRPr sz="1400"/>
          </a:p>
          <a:p>
            <a:pPr marL="0" lvl="0" indent="0" algn="l" rtl="0">
              <a:lnSpc>
                <a:spcPct val="104000"/>
              </a:lnSpc>
              <a:spcBef>
                <a:spcPts val="1200"/>
              </a:spcBef>
              <a:spcAft>
                <a:spcPts val="0"/>
              </a:spcAft>
              <a:buClr>
                <a:schemeClr val="dk2"/>
              </a:buClr>
              <a:buSzPts val="1600"/>
              <a:buNone/>
            </a:pPr>
            <a:r>
              <a:rPr lang="en-US" sz="1400"/>
              <a:t>Project resources can be found in the </a:t>
            </a:r>
            <a:r>
              <a:rPr lang="en-US" sz="1400">
                <a:latin typeface="Montserrat Medium"/>
                <a:ea typeface="Montserrat Medium"/>
                <a:cs typeface="Montserrat Medium"/>
                <a:sym typeface="Montserrat Medium"/>
              </a:rPr>
              <a:t>GitHub repository</a:t>
            </a:r>
            <a:r>
              <a:rPr lang="en-US" sz="1400"/>
              <a:t>: </a:t>
            </a:r>
            <a:r>
              <a:rPr lang="en-US" sz="1400" u="sng">
                <a:solidFill>
                  <a:schemeClr val="hlink"/>
                </a:solidFill>
                <a:latin typeface="Montserrat Medium"/>
                <a:ea typeface="Montserrat Medium"/>
                <a:cs typeface="Montserrat Medium"/>
                <a:sym typeface="Montserrat Medium"/>
                <a:hlinkClick r:id="rId3"/>
              </a:rPr>
              <a:t>https://github.com/camaraproject</a:t>
            </a:r>
            <a:r>
              <a:rPr lang="en-US" sz="1400"/>
              <a:t>.</a:t>
            </a:r>
            <a:endParaRPr sz="1400"/>
          </a:p>
          <a:p>
            <a:pPr marL="0" lvl="0" indent="0" algn="l" rtl="0">
              <a:lnSpc>
                <a:spcPct val="104000"/>
              </a:lnSpc>
              <a:spcBef>
                <a:spcPts val="1200"/>
              </a:spcBef>
              <a:spcAft>
                <a:spcPts val="0"/>
              </a:spcAft>
              <a:buClr>
                <a:schemeClr val="dk2"/>
              </a:buClr>
              <a:buSzPts val="1600"/>
              <a:buNone/>
            </a:pPr>
            <a:endParaRPr sz="1400"/>
          </a:p>
        </p:txBody>
      </p:sp>
      <p:pic>
        <p:nvPicPr>
          <p:cNvPr id="310" name="Google Shape;310;p13" descr="Internet der Dinge Silhouette"/>
          <p:cNvPicPr preferRelativeResize="0"/>
          <p:nvPr/>
        </p:nvPicPr>
        <p:blipFill rotWithShape="1">
          <a:blip r:embed="rId4">
            <a:alphaModFix/>
          </a:blip>
          <a:srcRect/>
          <a:stretch/>
        </p:blipFill>
        <p:spPr>
          <a:xfrm>
            <a:off x="8309125" y="2393275"/>
            <a:ext cx="2806892" cy="280689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14"/>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CAMARA API </a:t>
            </a:r>
            <a:br>
              <a:rPr lang="en-US"/>
            </a:br>
            <a:r>
              <a:rPr lang="en-US"/>
              <a:t>Distribution Options</a:t>
            </a:r>
            <a:endParaRPr/>
          </a:p>
        </p:txBody>
      </p:sp>
      <p:sp>
        <p:nvSpPr>
          <p:cNvPr id="318" name="Google Shape;318;p14"/>
          <p:cNvSpPr txBox="1"/>
          <p:nvPr/>
        </p:nvSpPr>
        <p:spPr>
          <a:xfrm>
            <a:off x="1342565" y="1766868"/>
            <a:ext cx="35706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solidFill>
                  <a:srgbClr val="3A9BF3"/>
                </a:solidFill>
                <a:latin typeface="Montserrat Medium"/>
                <a:ea typeface="Montserrat Medium"/>
                <a:cs typeface="Montserrat Medium"/>
                <a:sym typeface="Montserrat Medium"/>
              </a:rPr>
              <a:t>Single-Operator Relationship</a:t>
            </a:r>
            <a:endParaRPr>
              <a:solidFill>
                <a:srgbClr val="3A9BF3"/>
              </a:solidFill>
              <a:latin typeface="Montserrat Medium"/>
              <a:ea typeface="Montserrat Medium"/>
              <a:cs typeface="Montserrat Medium"/>
              <a:sym typeface="Montserrat Medium"/>
            </a:endParaRPr>
          </a:p>
        </p:txBody>
      </p:sp>
      <p:cxnSp>
        <p:nvCxnSpPr>
          <p:cNvPr id="319" name="Google Shape;319;p14"/>
          <p:cNvCxnSpPr/>
          <p:nvPr/>
        </p:nvCxnSpPr>
        <p:spPr>
          <a:xfrm>
            <a:off x="1342565" y="2119621"/>
            <a:ext cx="3583625" cy="0"/>
          </a:xfrm>
          <a:prstGeom prst="straightConnector1">
            <a:avLst/>
          </a:prstGeom>
          <a:noFill/>
          <a:ln w="28575" cap="rnd" cmpd="sng">
            <a:solidFill>
              <a:srgbClr val="3A9BF3"/>
            </a:solidFill>
            <a:prstDash val="solid"/>
            <a:miter lim="800000"/>
            <a:headEnd type="none" w="sm" len="sm"/>
            <a:tailEnd type="none" w="sm" len="sm"/>
          </a:ln>
        </p:spPr>
      </p:cxnSp>
      <p:sp>
        <p:nvSpPr>
          <p:cNvPr id="320" name="Google Shape;320;p14"/>
          <p:cNvSpPr txBox="1"/>
          <p:nvPr/>
        </p:nvSpPr>
        <p:spPr>
          <a:xfrm>
            <a:off x="6595882" y="4083162"/>
            <a:ext cx="35706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solidFill>
                  <a:srgbClr val="3A9BF3"/>
                </a:solidFill>
                <a:latin typeface="Montserrat Medium"/>
                <a:ea typeface="Montserrat Medium"/>
                <a:cs typeface="Montserrat Medium"/>
                <a:sym typeface="Montserrat Medium"/>
              </a:rPr>
              <a:t>Single-Operator “API Roaming”</a:t>
            </a:r>
            <a:endParaRPr>
              <a:solidFill>
                <a:srgbClr val="3A9BF3"/>
              </a:solidFill>
              <a:latin typeface="Montserrat Medium"/>
              <a:ea typeface="Montserrat Medium"/>
              <a:cs typeface="Montserrat Medium"/>
              <a:sym typeface="Montserrat Medium"/>
            </a:endParaRPr>
          </a:p>
        </p:txBody>
      </p:sp>
      <p:cxnSp>
        <p:nvCxnSpPr>
          <p:cNvPr id="321" name="Google Shape;321;p14"/>
          <p:cNvCxnSpPr/>
          <p:nvPr/>
        </p:nvCxnSpPr>
        <p:spPr>
          <a:xfrm>
            <a:off x="6595882" y="4435915"/>
            <a:ext cx="3583625" cy="0"/>
          </a:xfrm>
          <a:prstGeom prst="straightConnector1">
            <a:avLst/>
          </a:prstGeom>
          <a:noFill/>
          <a:ln w="28575" cap="rnd" cmpd="sng">
            <a:solidFill>
              <a:srgbClr val="3A9BF3"/>
            </a:solidFill>
            <a:prstDash val="solid"/>
            <a:miter lim="800000"/>
            <a:headEnd type="none" w="sm" len="sm"/>
            <a:tailEnd type="none" w="sm" len="sm"/>
          </a:ln>
        </p:spPr>
      </p:cxnSp>
      <p:sp>
        <p:nvSpPr>
          <p:cNvPr id="322" name="Google Shape;322;p14"/>
          <p:cNvSpPr txBox="1"/>
          <p:nvPr/>
        </p:nvSpPr>
        <p:spPr>
          <a:xfrm>
            <a:off x="6597975" y="1766875"/>
            <a:ext cx="35835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solidFill>
                  <a:srgbClr val="3A9BF3"/>
                </a:solidFill>
                <a:latin typeface="Montserrat Medium"/>
                <a:ea typeface="Montserrat Medium"/>
                <a:cs typeface="Montserrat Medium"/>
                <a:sym typeface="Montserrat Medium"/>
              </a:rPr>
              <a:t>Multi-Operator Relationship</a:t>
            </a:r>
            <a:endParaRPr>
              <a:solidFill>
                <a:srgbClr val="3A9BF3"/>
              </a:solidFill>
              <a:latin typeface="Montserrat Medium"/>
              <a:ea typeface="Montserrat Medium"/>
              <a:cs typeface="Montserrat Medium"/>
              <a:sym typeface="Montserrat Medium"/>
            </a:endParaRPr>
          </a:p>
        </p:txBody>
      </p:sp>
      <p:cxnSp>
        <p:nvCxnSpPr>
          <p:cNvPr id="323" name="Google Shape;323;p14"/>
          <p:cNvCxnSpPr/>
          <p:nvPr/>
        </p:nvCxnSpPr>
        <p:spPr>
          <a:xfrm>
            <a:off x="6597982" y="2119632"/>
            <a:ext cx="3583500" cy="0"/>
          </a:xfrm>
          <a:prstGeom prst="straightConnector1">
            <a:avLst/>
          </a:prstGeom>
          <a:noFill/>
          <a:ln w="28575" cap="rnd" cmpd="sng">
            <a:solidFill>
              <a:srgbClr val="3A9BF3"/>
            </a:solidFill>
            <a:prstDash val="solid"/>
            <a:miter lim="800000"/>
            <a:headEnd type="none" w="sm" len="sm"/>
            <a:tailEnd type="none" w="sm" len="sm"/>
          </a:ln>
        </p:spPr>
      </p:cxnSp>
      <p:sp>
        <p:nvSpPr>
          <p:cNvPr id="324" name="Google Shape;324;p14"/>
          <p:cNvSpPr txBox="1"/>
          <p:nvPr/>
        </p:nvSpPr>
        <p:spPr>
          <a:xfrm>
            <a:off x="1342565" y="4083162"/>
            <a:ext cx="35706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solidFill>
                  <a:srgbClr val="3A9BF3"/>
                </a:solidFill>
                <a:latin typeface="Montserrat Medium"/>
                <a:ea typeface="Montserrat Medium"/>
                <a:cs typeface="Montserrat Medium"/>
                <a:sym typeface="Montserrat Medium"/>
              </a:rPr>
              <a:t>Operator Aggregation</a:t>
            </a:r>
            <a:endParaRPr>
              <a:solidFill>
                <a:srgbClr val="3A9BF3"/>
              </a:solidFill>
              <a:latin typeface="Montserrat Medium"/>
              <a:ea typeface="Montserrat Medium"/>
              <a:cs typeface="Montserrat Medium"/>
              <a:sym typeface="Montserrat Medium"/>
            </a:endParaRPr>
          </a:p>
        </p:txBody>
      </p:sp>
      <p:cxnSp>
        <p:nvCxnSpPr>
          <p:cNvPr id="325" name="Google Shape;325;p14"/>
          <p:cNvCxnSpPr/>
          <p:nvPr/>
        </p:nvCxnSpPr>
        <p:spPr>
          <a:xfrm>
            <a:off x="1342565" y="4435915"/>
            <a:ext cx="3583625" cy="0"/>
          </a:xfrm>
          <a:prstGeom prst="straightConnector1">
            <a:avLst/>
          </a:prstGeom>
          <a:noFill/>
          <a:ln w="28575" cap="rnd" cmpd="sng">
            <a:solidFill>
              <a:srgbClr val="3A9BF3"/>
            </a:solidFill>
            <a:prstDash val="solid"/>
            <a:miter lim="800000"/>
            <a:headEnd type="none" w="sm" len="sm"/>
            <a:tailEnd type="none" w="sm" len="sm"/>
          </a:ln>
        </p:spPr>
      </p:cxnSp>
      <p:grpSp>
        <p:nvGrpSpPr>
          <p:cNvPr id="326" name="Google Shape;326;p14"/>
          <p:cNvGrpSpPr/>
          <p:nvPr/>
        </p:nvGrpSpPr>
        <p:grpSpPr>
          <a:xfrm>
            <a:off x="1342564" y="2241048"/>
            <a:ext cx="3568948" cy="1635906"/>
            <a:chOff x="1342564" y="2249594"/>
            <a:chExt cx="3568948" cy="1635906"/>
          </a:xfrm>
        </p:grpSpPr>
        <p:sp>
          <p:nvSpPr>
            <p:cNvPr id="327" name="Google Shape;327;p14"/>
            <p:cNvSpPr/>
            <p:nvPr/>
          </p:nvSpPr>
          <p:spPr>
            <a:xfrm>
              <a:off x="1342566" y="3618675"/>
              <a:ext cx="1699738" cy="266825"/>
            </a:xfrm>
            <a:prstGeom prst="rect">
              <a:avLst/>
            </a:prstGeom>
            <a:solidFill>
              <a:srgbClr val="9DD2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Telco SEP 1</a:t>
              </a:r>
              <a:endParaRPr/>
            </a:p>
          </p:txBody>
        </p:sp>
        <p:sp>
          <p:nvSpPr>
            <p:cNvPr id="328" name="Google Shape;328;p14"/>
            <p:cNvSpPr/>
            <p:nvPr/>
          </p:nvSpPr>
          <p:spPr>
            <a:xfrm>
              <a:off x="2213603" y="2936262"/>
              <a:ext cx="1826870" cy="266825"/>
            </a:xfrm>
            <a:prstGeom prst="rect">
              <a:avLst/>
            </a:prstGeom>
            <a:solidFill>
              <a:srgbClr val="FFBFAB">
                <a:alpha val="298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A5A5A5"/>
                  </a:solidFill>
                  <a:latin typeface="Montserrat Medium"/>
                  <a:ea typeface="Montserrat Medium"/>
                  <a:cs typeface="Montserrat Medium"/>
                  <a:sym typeface="Montserrat Medium"/>
                </a:rPr>
                <a:t>Aggregator</a:t>
              </a:r>
              <a:endParaRPr/>
            </a:p>
          </p:txBody>
        </p:sp>
        <p:sp>
          <p:nvSpPr>
            <p:cNvPr id="329" name="Google Shape;329;p14"/>
            <p:cNvSpPr/>
            <p:nvPr/>
          </p:nvSpPr>
          <p:spPr>
            <a:xfrm>
              <a:off x="3211774" y="3618674"/>
              <a:ext cx="1699738" cy="266825"/>
            </a:xfrm>
            <a:prstGeom prst="rect">
              <a:avLst/>
            </a:prstGeom>
            <a:solidFill>
              <a:srgbClr val="9DD2FC">
                <a:alpha val="2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A5A5A5"/>
                  </a:solidFill>
                  <a:latin typeface="Montserrat Medium"/>
                  <a:ea typeface="Montserrat Medium"/>
                  <a:cs typeface="Montserrat Medium"/>
                  <a:sym typeface="Montserrat Medium"/>
                </a:rPr>
                <a:t>Telco SEP 2</a:t>
              </a:r>
              <a:endParaRPr/>
            </a:p>
          </p:txBody>
        </p:sp>
        <p:sp>
          <p:nvSpPr>
            <p:cNvPr id="330" name="Google Shape;330;p14"/>
            <p:cNvSpPr/>
            <p:nvPr/>
          </p:nvSpPr>
          <p:spPr>
            <a:xfrm>
              <a:off x="1342565" y="2939593"/>
              <a:ext cx="802429" cy="266825"/>
            </a:xfrm>
            <a:prstGeom prst="rect">
              <a:avLst/>
            </a:prstGeom>
            <a:solidFill>
              <a:srgbClr val="9DD2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Portal 1</a:t>
              </a:r>
              <a:endParaRPr/>
            </a:p>
          </p:txBody>
        </p:sp>
        <p:sp>
          <p:nvSpPr>
            <p:cNvPr id="331" name="Google Shape;331;p14"/>
            <p:cNvSpPr/>
            <p:nvPr/>
          </p:nvSpPr>
          <p:spPr>
            <a:xfrm>
              <a:off x="4109083" y="2939592"/>
              <a:ext cx="802429" cy="266825"/>
            </a:xfrm>
            <a:prstGeom prst="rect">
              <a:avLst/>
            </a:prstGeom>
            <a:solidFill>
              <a:srgbClr val="9DD2FC">
                <a:alpha val="2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A5A5A5"/>
                  </a:solidFill>
                  <a:latin typeface="Montserrat Medium"/>
                  <a:ea typeface="Montserrat Medium"/>
                  <a:cs typeface="Montserrat Medium"/>
                  <a:sym typeface="Montserrat Medium"/>
                </a:rPr>
                <a:t>Portal 2</a:t>
              </a:r>
              <a:endParaRPr/>
            </a:p>
          </p:txBody>
        </p:sp>
        <p:sp>
          <p:nvSpPr>
            <p:cNvPr id="332" name="Google Shape;332;p14"/>
            <p:cNvSpPr/>
            <p:nvPr/>
          </p:nvSpPr>
          <p:spPr>
            <a:xfrm>
              <a:off x="1342564" y="2249594"/>
              <a:ext cx="3568947" cy="266825"/>
            </a:xfrm>
            <a:prstGeom prst="rect">
              <a:avLst/>
            </a:prstGeom>
            <a:solidFill>
              <a:srgbClr val="FFBFA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End Consumer</a:t>
              </a:r>
              <a:endParaRPr/>
            </a:p>
          </p:txBody>
        </p:sp>
        <p:cxnSp>
          <p:nvCxnSpPr>
            <p:cNvPr id="333" name="Google Shape;333;p14"/>
            <p:cNvCxnSpPr/>
            <p:nvPr/>
          </p:nvCxnSpPr>
          <p:spPr>
            <a:xfrm>
              <a:off x="4708733" y="3203087"/>
              <a:ext cx="0" cy="415587"/>
            </a:xfrm>
            <a:prstGeom prst="straightConnector1">
              <a:avLst/>
            </a:prstGeom>
            <a:noFill/>
            <a:ln w="38100" cap="flat" cmpd="sng">
              <a:solidFill>
                <a:schemeClr val="accent2">
                  <a:alpha val="29803"/>
                </a:schemeClr>
              </a:solidFill>
              <a:prstDash val="solid"/>
              <a:round/>
              <a:headEnd type="none" w="sm" len="sm"/>
              <a:tailEnd type="none" w="sm" len="sm"/>
            </a:ln>
          </p:spPr>
        </p:cxnSp>
        <p:cxnSp>
          <p:nvCxnSpPr>
            <p:cNvPr id="334" name="Google Shape;334;p14"/>
            <p:cNvCxnSpPr/>
            <p:nvPr/>
          </p:nvCxnSpPr>
          <p:spPr>
            <a:xfrm>
              <a:off x="4314202" y="3203087"/>
              <a:ext cx="0" cy="415587"/>
            </a:xfrm>
            <a:prstGeom prst="straightConnector1">
              <a:avLst/>
            </a:prstGeom>
            <a:noFill/>
            <a:ln w="38100" cap="flat" cmpd="sng">
              <a:solidFill>
                <a:srgbClr val="FF0000">
                  <a:alpha val="29803"/>
                </a:srgbClr>
              </a:solidFill>
              <a:prstDash val="solid"/>
              <a:round/>
              <a:headEnd type="none" w="sm" len="sm"/>
              <a:tailEnd type="none" w="sm" len="sm"/>
            </a:ln>
          </p:spPr>
        </p:cxnSp>
        <p:cxnSp>
          <p:nvCxnSpPr>
            <p:cNvPr id="335" name="Google Shape;335;p14"/>
            <p:cNvCxnSpPr/>
            <p:nvPr/>
          </p:nvCxnSpPr>
          <p:spPr>
            <a:xfrm>
              <a:off x="3810001" y="3203087"/>
              <a:ext cx="0" cy="415587"/>
            </a:xfrm>
            <a:prstGeom prst="straightConnector1">
              <a:avLst/>
            </a:prstGeom>
            <a:noFill/>
            <a:ln w="38100" cap="flat" cmpd="sng">
              <a:solidFill>
                <a:schemeClr val="accent2">
                  <a:alpha val="29803"/>
                </a:schemeClr>
              </a:solidFill>
              <a:prstDash val="solid"/>
              <a:round/>
              <a:headEnd type="none" w="sm" len="sm"/>
              <a:tailEnd type="none" w="sm" len="sm"/>
            </a:ln>
          </p:spPr>
        </p:cxnSp>
        <p:cxnSp>
          <p:nvCxnSpPr>
            <p:cNvPr id="336" name="Google Shape;336;p14"/>
            <p:cNvCxnSpPr/>
            <p:nvPr/>
          </p:nvCxnSpPr>
          <p:spPr>
            <a:xfrm>
              <a:off x="3415470" y="3203087"/>
              <a:ext cx="0" cy="415587"/>
            </a:xfrm>
            <a:prstGeom prst="straightConnector1">
              <a:avLst/>
            </a:prstGeom>
            <a:noFill/>
            <a:ln w="38100" cap="flat" cmpd="sng">
              <a:solidFill>
                <a:srgbClr val="FF0000">
                  <a:alpha val="29803"/>
                </a:srgbClr>
              </a:solidFill>
              <a:prstDash val="solid"/>
              <a:round/>
              <a:headEnd type="none" w="sm" len="sm"/>
              <a:tailEnd type="none" w="sm" len="sm"/>
            </a:ln>
          </p:spPr>
        </p:cxnSp>
        <p:cxnSp>
          <p:nvCxnSpPr>
            <p:cNvPr id="337" name="Google Shape;337;p14"/>
            <p:cNvCxnSpPr/>
            <p:nvPr/>
          </p:nvCxnSpPr>
          <p:spPr>
            <a:xfrm>
              <a:off x="1731947" y="2520675"/>
              <a:ext cx="0" cy="415587"/>
            </a:xfrm>
            <a:prstGeom prst="straightConnector1">
              <a:avLst/>
            </a:prstGeom>
            <a:noFill/>
            <a:ln w="38100" cap="flat" cmpd="sng">
              <a:solidFill>
                <a:schemeClr val="accent2"/>
              </a:solidFill>
              <a:prstDash val="solid"/>
              <a:round/>
              <a:headEnd type="none" w="sm" len="sm"/>
              <a:tailEnd type="none" w="sm" len="sm"/>
            </a:ln>
          </p:spPr>
        </p:cxnSp>
        <p:cxnSp>
          <p:nvCxnSpPr>
            <p:cNvPr id="338" name="Google Shape;338;p14"/>
            <p:cNvCxnSpPr/>
            <p:nvPr/>
          </p:nvCxnSpPr>
          <p:spPr>
            <a:xfrm>
              <a:off x="2848313" y="3210673"/>
              <a:ext cx="0" cy="415587"/>
            </a:xfrm>
            <a:prstGeom prst="straightConnector1">
              <a:avLst/>
            </a:prstGeom>
            <a:noFill/>
            <a:ln w="38100" cap="flat" cmpd="sng">
              <a:solidFill>
                <a:schemeClr val="accent2">
                  <a:alpha val="29803"/>
                </a:schemeClr>
              </a:solidFill>
              <a:prstDash val="solid"/>
              <a:round/>
              <a:headEnd type="none" w="sm" len="sm"/>
              <a:tailEnd type="none" w="sm" len="sm"/>
            </a:ln>
          </p:spPr>
        </p:cxnSp>
        <p:cxnSp>
          <p:nvCxnSpPr>
            <p:cNvPr id="339" name="Google Shape;339;p14"/>
            <p:cNvCxnSpPr/>
            <p:nvPr/>
          </p:nvCxnSpPr>
          <p:spPr>
            <a:xfrm>
              <a:off x="2453782" y="3210673"/>
              <a:ext cx="0" cy="415587"/>
            </a:xfrm>
            <a:prstGeom prst="straightConnector1">
              <a:avLst/>
            </a:prstGeom>
            <a:noFill/>
            <a:ln w="38100" cap="flat" cmpd="sng">
              <a:solidFill>
                <a:srgbClr val="FF0000">
                  <a:alpha val="29803"/>
                </a:srgbClr>
              </a:solidFill>
              <a:prstDash val="solid"/>
              <a:round/>
              <a:headEnd type="none" w="sm" len="sm"/>
              <a:tailEnd type="none" w="sm" len="sm"/>
            </a:ln>
          </p:spPr>
        </p:cxnSp>
        <p:cxnSp>
          <p:nvCxnSpPr>
            <p:cNvPr id="340" name="Google Shape;340;p14"/>
            <p:cNvCxnSpPr/>
            <p:nvPr/>
          </p:nvCxnSpPr>
          <p:spPr>
            <a:xfrm>
              <a:off x="1949581" y="3210673"/>
              <a:ext cx="0" cy="415587"/>
            </a:xfrm>
            <a:prstGeom prst="straightConnector1">
              <a:avLst/>
            </a:prstGeom>
            <a:noFill/>
            <a:ln w="38100" cap="flat" cmpd="sng">
              <a:solidFill>
                <a:schemeClr val="accent2"/>
              </a:solidFill>
              <a:prstDash val="solid"/>
              <a:round/>
              <a:headEnd type="none" w="sm" len="sm"/>
              <a:tailEnd type="none" w="sm" len="sm"/>
            </a:ln>
          </p:spPr>
        </p:cxnSp>
        <p:cxnSp>
          <p:nvCxnSpPr>
            <p:cNvPr id="341" name="Google Shape;341;p14"/>
            <p:cNvCxnSpPr/>
            <p:nvPr/>
          </p:nvCxnSpPr>
          <p:spPr>
            <a:xfrm>
              <a:off x="1555050" y="3210673"/>
              <a:ext cx="0" cy="415587"/>
            </a:xfrm>
            <a:prstGeom prst="straightConnector1">
              <a:avLst/>
            </a:prstGeom>
            <a:noFill/>
            <a:ln w="38100" cap="flat" cmpd="sng">
              <a:solidFill>
                <a:srgbClr val="FF0000"/>
              </a:solidFill>
              <a:prstDash val="solid"/>
              <a:round/>
              <a:headEnd type="none" w="sm" len="sm"/>
              <a:tailEnd type="none" w="sm" len="sm"/>
            </a:ln>
          </p:spPr>
        </p:cxnSp>
      </p:grpSp>
      <p:grpSp>
        <p:nvGrpSpPr>
          <p:cNvPr id="342" name="Google Shape;342;p14"/>
          <p:cNvGrpSpPr/>
          <p:nvPr/>
        </p:nvGrpSpPr>
        <p:grpSpPr>
          <a:xfrm>
            <a:off x="6593890" y="2235494"/>
            <a:ext cx="3568948" cy="1635906"/>
            <a:chOff x="1342563" y="4576631"/>
            <a:chExt cx="3568948" cy="1635906"/>
          </a:xfrm>
        </p:grpSpPr>
        <p:sp>
          <p:nvSpPr>
            <p:cNvPr id="343" name="Google Shape;343;p14"/>
            <p:cNvSpPr/>
            <p:nvPr/>
          </p:nvSpPr>
          <p:spPr>
            <a:xfrm>
              <a:off x="1342565" y="5945712"/>
              <a:ext cx="1699738" cy="266825"/>
            </a:xfrm>
            <a:prstGeom prst="rect">
              <a:avLst/>
            </a:prstGeom>
            <a:solidFill>
              <a:srgbClr val="9DD2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Telco SEP 1</a:t>
              </a:r>
              <a:endParaRPr/>
            </a:p>
          </p:txBody>
        </p:sp>
        <p:sp>
          <p:nvSpPr>
            <p:cNvPr id="344" name="Google Shape;344;p14"/>
            <p:cNvSpPr/>
            <p:nvPr/>
          </p:nvSpPr>
          <p:spPr>
            <a:xfrm>
              <a:off x="2213602" y="5263299"/>
              <a:ext cx="1826870" cy="266825"/>
            </a:xfrm>
            <a:prstGeom prst="rect">
              <a:avLst/>
            </a:prstGeom>
            <a:solidFill>
              <a:srgbClr val="FFBFAB">
                <a:alpha val="298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A5A5A5"/>
                  </a:solidFill>
                  <a:latin typeface="Montserrat Medium"/>
                  <a:ea typeface="Montserrat Medium"/>
                  <a:cs typeface="Montserrat Medium"/>
                  <a:sym typeface="Montserrat Medium"/>
                </a:rPr>
                <a:t>Aggregator</a:t>
              </a:r>
              <a:endParaRPr/>
            </a:p>
          </p:txBody>
        </p:sp>
        <p:sp>
          <p:nvSpPr>
            <p:cNvPr id="345" name="Google Shape;345;p14"/>
            <p:cNvSpPr/>
            <p:nvPr/>
          </p:nvSpPr>
          <p:spPr>
            <a:xfrm>
              <a:off x="3211773" y="5945711"/>
              <a:ext cx="1699738" cy="266825"/>
            </a:xfrm>
            <a:prstGeom prst="rect">
              <a:avLst/>
            </a:prstGeom>
            <a:solidFill>
              <a:srgbClr val="9DD2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Telco SEP 2</a:t>
              </a:r>
              <a:endParaRPr/>
            </a:p>
          </p:txBody>
        </p:sp>
        <p:sp>
          <p:nvSpPr>
            <p:cNvPr id="346" name="Google Shape;346;p14"/>
            <p:cNvSpPr/>
            <p:nvPr/>
          </p:nvSpPr>
          <p:spPr>
            <a:xfrm>
              <a:off x="1342564" y="5266630"/>
              <a:ext cx="802429" cy="266825"/>
            </a:xfrm>
            <a:prstGeom prst="rect">
              <a:avLst/>
            </a:prstGeom>
            <a:solidFill>
              <a:srgbClr val="9DD2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Portal 1</a:t>
              </a:r>
              <a:endParaRPr/>
            </a:p>
          </p:txBody>
        </p:sp>
        <p:sp>
          <p:nvSpPr>
            <p:cNvPr id="347" name="Google Shape;347;p14"/>
            <p:cNvSpPr/>
            <p:nvPr/>
          </p:nvSpPr>
          <p:spPr>
            <a:xfrm>
              <a:off x="4109082" y="5266629"/>
              <a:ext cx="802429" cy="266825"/>
            </a:xfrm>
            <a:prstGeom prst="rect">
              <a:avLst/>
            </a:prstGeom>
            <a:solidFill>
              <a:srgbClr val="9DD2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Portal 2</a:t>
              </a:r>
              <a:endParaRPr/>
            </a:p>
          </p:txBody>
        </p:sp>
        <p:sp>
          <p:nvSpPr>
            <p:cNvPr id="348" name="Google Shape;348;p14"/>
            <p:cNvSpPr/>
            <p:nvPr/>
          </p:nvSpPr>
          <p:spPr>
            <a:xfrm>
              <a:off x="1342563" y="4576631"/>
              <a:ext cx="3568947" cy="266825"/>
            </a:xfrm>
            <a:prstGeom prst="rect">
              <a:avLst/>
            </a:prstGeom>
            <a:solidFill>
              <a:srgbClr val="FFBFA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End Consumer</a:t>
              </a:r>
              <a:endParaRPr/>
            </a:p>
          </p:txBody>
        </p:sp>
        <p:cxnSp>
          <p:nvCxnSpPr>
            <p:cNvPr id="349" name="Google Shape;349;p14"/>
            <p:cNvCxnSpPr/>
            <p:nvPr/>
          </p:nvCxnSpPr>
          <p:spPr>
            <a:xfrm>
              <a:off x="4708732" y="5530124"/>
              <a:ext cx="0" cy="415587"/>
            </a:xfrm>
            <a:prstGeom prst="straightConnector1">
              <a:avLst/>
            </a:prstGeom>
            <a:noFill/>
            <a:ln w="38100" cap="flat" cmpd="sng">
              <a:solidFill>
                <a:schemeClr val="accent2"/>
              </a:solidFill>
              <a:prstDash val="solid"/>
              <a:round/>
              <a:headEnd type="none" w="sm" len="sm"/>
              <a:tailEnd type="none" w="sm" len="sm"/>
            </a:ln>
          </p:spPr>
        </p:cxnSp>
        <p:cxnSp>
          <p:nvCxnSpPr>
            <p:cNvPr id="350" name="Google Shape;350;p14"/>
            <p:cNvCxnSpPr/>
            <p:nvPr/>
          </p:nvCxnSpPr>
          <p:spPr>
            <a:xfrm>
              <a:off x="4314201" y="5530124"/>
              <a:ext cx="0" cy="415587"/>
            </a:xfrm>
            <a:prstGeom prst="straightConnector1">
              <a:avLst/>
            </a:prstGeom>
            <a:noFill/>
            <a:ln w="38100" cap="flat" cmpd="sng">
              <a:solidFill>
                <a:srgbClr val="FF0000"/>
              </a:solidFill>
              <a:prstDash val="solid"/>
              <a:round/>
              <a:headEnd type="none" w="sm" len="sm"/>
              <a:tailEnd type="none" w="sm" len="sm"/>
            </a:ln>
          </p:spPr>
        </p:cxnSp>
        <p:cxnSp>
          <p:nvCxnSpPr>
            <p:cNvPr id="351" name="Google Shape;351;p14"/>
            <p:cNvCxnSpPr/>
            <p:nvPr/>
          </p:nvCxnSpPr>
          <p:spPr>
            <a:xfrm>
              <a:off x="3810000" y="5530124"/>
              <a:ext cx="0" cy="415587"/>
            </a:xfrm>
            <a:prstGeom prst="straightConnector1">
              <a:avLst/>
            </a:prstGeom>
            <a:noFill/>
            <a:ln w="38100" cap="flat" cmpd="sng">
              <a:solidFill>
                <a:schemeClr val="accent2">
                  <a:alpha val="29803"/>
                </a:schemeClr>
              </a:solidFill>
              <a:prstDash val="solid"/>
              <a:round/>
              <a:headEnd type="none" w="sm" len="sm"/>
              <a:tailEnd type="none" w="sm" len="sm"/>
            </a:ln>
          </p:spPr>
        </p:cxnSp>
        <p:cxnSp>
          <p:nvCxnSpPr>
            <p:cNvPr id="352" name="Google Shape;352;p14"/>
            <p:cNvCxnSpPr/>
            <p:nvPr/>
          </p:nvCxnSpPr>
          <p:spPr>
            <a:xfrm>
              <a:off x="3415469" y="5530124"/>
              <a:ext cx="0" cy="415587"/>
            </a:xfrm>
            <a:prstGeom prst="straightConnector1">
              <a:avLst/>
            </a:prstGeom>
            <a:noFill/>
            <a:ln w="38100" cap="flat" cmpd="sng">
              <a:solidFill>
                <a:srgbClr val="FF0000">
                  <a:alpha val="29803"/>
                </a:srgbClr>
              </a:solidFill>
              <a:prstDash val="solid"/>
              <a:round/>
              <a:headEnd type="none" w="sm" len="sm"/>
              <a:tailEnd type="none" w="sm" len="sm"/>
            </a:ln>
          </p:spPr>
        </p:cxnSp>
        <p:cxnSp>
          <p:nvCxnSpPr>
            <p:cNvPr id="353" name="Google Shape;353;p14"/>
            <p:cNvCxnSpPr/>
            <p:nvPr/>
          </p:nvCxnSpPr>
          <p:spPr>
            <a:xfrm>
              <a:off x="1731946" y="4847712"/>
              <a:ext cx="0" cy="415587"/>
            </a:xfrm>
            <a:prstGeom prst="straightConnector1">
              <a:avLst/>
            </a:prstGeom>
            <a:noFill/>
            <a:ln w="38100" cap="flat" cmpd="sng">
              <a:solidFill>
                <a:schemeClr val="accent2"/>
              </a:solidFill>
              <a:prstDash val="solid"/>
              <a:round/>
              <a:headEnd type="none" w="sm" len="sm"/>
              <a:tailEnd type="none" w="sm" len="sm"/>
            </a:ln>
          </p:spPr>
        </p:cxnSp>
        <p:cxnSp>
          <p:nvCxnSpPr>
            <p:cNvPr id="354" name="Google Shape;354;p14"/>
            <p:cNvCxnSpPr/>
            <p:nvPr/>
          </p:nvCxnSpPr>
          <p:spPr>
            <a:xfrm>
              <a:off x="4490813" y="4847712"/>
              <a:ext cx="0" cy="415587"/>
            </a:xfrm>
            <a:prstGeom prst="straightConnector1">
              <a:avLst/>
            </a:prstGeom>
            <a:noFill/>
            <a:ln w="38100" cap="flat" cmpd="sng">
              <a:solidFill>
                <a:schemeClr val="accent2"/>
              </a:solidFill>
              <a:prstDash val="solid"/>
              <a:round/>
              <a:headEnd type="none" w="sm" len="sm"/>
              <a:tailEnd type="none" w="sm" len="sm"/>
            </a:ln>
          </p:spPr>
        </p:cxnSp>
        <p:cxnSp>
          <p:nvCxnSpPr>
            <p:cNvPr id="355" name="Google Shape;355;p14"/>
            <p:cNvCxnSpPr/>
            <p:nvPr/>
          </p:nvCxnSpPr>
          <p:spPr>
            <a:xfrm>
              <a:off x="2848313" y="5530124"/>
              <a:ext cx="0" cy="415587"/>
            </a:xfrm>
            <a:prstGeom prst="straightConnector1">
              <a:avLst/>
            </a:prstGeom>
            <a:noFill/>
            <a:ln w="38100" cap="flat" cmpd="sng">
              <a:solidFill>
                <a:schemeClr val="accent2">
                  <a:alpha val="29803"/>
                </a:schemeClr>
              </a:solidFill>
              <a:prstDash val="solid"/>
              <a:round/>
              <a:headEnd type="none" w="sm" len="sm"/>
              <a:tailEnd type="none" w="sm" len="sm"/>
            </a:ln>
          </p:spPr>
        </p:cxnSp>
        <p:cxnSp>
          <p:nvCxnSpPr>
            <p:cNvPr id="356" name="Google Shape;356;p14"/>
            <p:cNvCxnSpPr/>
            <p:nvPr/>
          </p:nvCxnSpPr>
          <p:spPr>
            <a:xfrm>
              <a:off x="2453782" y="5530124"/>
              <a:ext cx="0" cy="415587"/>
            </a:xfrm>
            <a:prstGeom prst="straightConnector1">
              <a:avLst/>
            </a:prstGeom>
            <a:noFill/>
            <a:ln w="38100" cap="flat" cmpd="sng">
              <a:solidFill>
                <a:srgbClr val="FF0000">
                  <a:alpha val="29803"/>
                </a:srgbClr>
              </a:solidFill>
              <a:prstDash val="solid"/>
              <a:round/>
              <a:headEnd type="none" w="sm" len="sm"/>
              <a:tailEnd type="none" w="sm" len="sm"/>
            </a:ln>
          </p:spPr>
        </p:cxnSp>
        <p:cxnSp>
          <p:nvCxnSpPr>
            <p:cNvPr id="357" name="Google Shape;357;p14"/>
            <p:cNvCxnSpPr/>
            <p:nvPr/>
          </p:nvCxnSpPr>
          <p:spPr>
            <a:xfrm>
              <a:off x="1949581" y="5530124"/>
              <a:ext cx="0" cy="415587"/>
            </a:xfrm>
            <a:prstGeom prst="straightConnector1">
              <a:avLst/>
            </a:prstGeom>
            <a:noFill/>
            <a:ln w="38100" cap="flat" cmpd="sng">
              <a:solidFill>
                <a:schemeClr val="accent2"/>
              </a:solidFill>
              <a:prstDash val="solid"/>
              <a:round/>
              <a:headEnd type="none" w="sm" len="sm"/>
              <a:tailEnd type="none" w="sm" len="sm"/>
            </a:ln>
          </p:spPr>
        </p:cxnSp>
        <p:cxnSp>
          <p:nvCxnSpPr>
            <p:cNvPr id="358" name="Google Shape;358;p14"/>
            <p:cNvCxnSpPr/>
            <p:nvPr/>
          </p:nvCxnSpPr>
          <p:spPr>
            <a:xfrm>
              <a:off x="1555050" y="5530124"/>
              <a:ext cx="0" cy="415587"/>
            </a:xfrm>
            <a:prstGeom prst="straightConnector1">
              <a:avLst/>
            </a:prstGeom>
            <a:noFill/>
            <a:ln w="38100" cap="flat" cmpd="sng">
              <a:solidFill>
                <a:srgbClr val="FF0000"/>
              </a:solidFill>
              <a:prstDash val="solid"/>
              <a:round/>
              <a:headEnd type="none" w="sm" len="sm"/>
              <a:tailEnd type="none" w="sm" len="sm"/>
            </a:ln>
          </p:spPr>
        </p:cxnSp>
      </p:grpSp>
      <p:grpSp>
        <p:nvGrpSpPr>
          <p:cNvPr id="359" name="Google Shape;359;p14"/>
          <p:cNvGrpSpPr/>
          <p:nvPr/>
        </p:nvGrpSpPr>
        <p:grpSpPr>
          <a:xfrm>
            <a:off x="1349903" y="4557340"/>
            <a:ext cx="3568948" cy="1635906"/>
            <a:chOff x="6610565" y="4576631"/>
            <a:chExt cx="3568948" cy="1635906"/>
          </a:xfrm>
        </p:grpSpPr>
        <p:sp>
          <p:nvSpPr>
            <p:cNvPr id="360" name="Google Shape;360;p14"/>
            <p:cNvSpPr/>
            <p:nvPr/>
          </p:nvSpPr>
          <p:spPr>
            <a:xfrm>
              <a:off x="6610567" y="5945712"/>
              <a:ext cx="1699738" cy="266825"/>
            </a:xfrm>
            <a:prstGeom prst="rect">
              <a:avLst/>
            </a:prstGeom>
            <a:solidFill>
              <a:srgbClr val="9DD2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Telco SEP 1</a:t>
              </a:r>
              <a:endParaRPr/>
            </a:p>
          </p:txBody>
        </p:sp>
        <p:sp>
          <p:nvSpPr>
            <p:cNvPr id="361" name="Google Shape;361;p14"/>
            <p:cNvSpPr/>
            <p:nvPr/>
          </p:nvSpPr>
          <p:spPr>
            <a:xfrm>
              <a:off x="7481604" y="5263299"/>
              <a:ext cx="1826870" cy="266825"/>
            </a:xfrm>
            <a:prstGeom prst="rect">
              <a:avLst/>
            </a:prstGeom>
            <a:solidFill>
              <a:srgbClr val="FFBFA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Aggregator</a:t>
              </a:r>
              <a:endParaRPr/>
            </a:p>
          </p:txBody>
        </p:sp>
        <p:sp>
          <p:nvSpPr>
            <p:cNvPr id="362" name="Google Shape;362;p14"/>
            <p:cNvSpPr/>
            <p:nvPr/>
          </p:nvSpPr>
          <p:spPr>
            <a:xfrm>
              <a:off x="8479775" y="5945711"/>
              <a:ext cx="1699738" cy="266825"/>
            </a:xfrm>
            <a:prstGeom prst="rect">
              <a:avLst/>
            </a:prstGeom>
            <a:solidFill>
              <a:srgbClr val="9DD2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Telco SEP 2</a:t>
              </a:r>
              <a:endParaRPr/>
            </a:p>
          </p:txBody>
        </p:sp>
        <p:sp>
          <p:nvSpPr>
            <p:cNvPr id="363" name="Google Shape;363;p14"/>
            <p:cNvSpPr/>
            <p:nvPr/>
          </p:nvSpPr>
          <p:spPr>
            <a:xfrm>
              <a:off x="6610566" y="5266630"/>
              <a:ext cx="802429" cy="266825"/>
            </a:xfrm>
            <a:prstGeom prst="rect">
              <a:avLst/>
            </a:prstGeom>
            <a:solidFill>
              <a:srgbClr val="9DD2FC">
                <a:alpha val="2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A5A5A5"/>
                  </a:solidFill>
                  <a:latin typeface="Montserrat Medium"/>
                  <a:ea typeface="Montserrat Medium"/>
                  <a:cs typeface="Montserrat Medium"/>
                  <a:sym typeface="Montserrat Medium"/>
                </a:rPr>
                <a:t>Portal 1</a:t>
              </a:r>
              <a:endParaRPr/>
            </a:p>
          </p:txBody>
        </p:sp>
        <p:sp>
          <p:nvSpPr>
            <p:cNvPr id="364" name="Google Shape;364;p14"/>
            <p:cNvSpPr/>
            <p:nvPr/>
          </p:nvSpPr>
          <p:spPr>
            <a:xfrm>
              <a:off x="9377084" y="5266629"/>
              <a:ext cx="802429" cy="266825"/>
            </a:xfrm>
            <a:prstGeom prst="rect">
              <a:avLst/>
            </a:prstGeom>
            <a:solidFill>
              <a:srgbClr val="9DD2FC">
                <a:alpha val="2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A5A5A5"/>
                  </a:solidFill>
                  <a:latin typeface="Montserrat Medium"/>
                  <a:ea typeface="Montserrat Medium"/>
                  <a:cs typeface="Montserrat Medium"/>
                  <a:sym typeface="Montserrat Medium"/>
                </a:rPr>
                <a:t>Portal 2</a:t>
              </a:r>
              <a:endParaRPr/>
            </a:p>
          </p:txBody>
        </p:sp>
        <p:sp>
          <p:nvSpPr>
            <p:cNvPr id="365" name="Google Shape;365;p14"/>
            <p:cNvSpPr/>
            <p:nvPr/>
          </p:nvSpPr>
          <p:spPr>
            <a:xfrm>
              <a:off x="6610565" y="4576631"/>
              <a:ext cx="3568947" cy="266825"/>
            </a:xfrm>
            <a:prstGeom prst="rect">
              <a:avLst/>
            </a:prstGeom>
            <a:solidFill>
              <a:srgbClr val="FFBFA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End Consumer</a:t>
              </a:r>
              <a:endParaRPr/>
            </a:p>
          </p:txBody>
        </p:sp>
        <p:cxnSp>
          <p:nvCxnSpPr>
            <p:cNvPr id="366" name="Google Shape;366;p14"/>
            <p:cNvCxnSpPr/>
            <p:nvPr/>
          </p:nvCxnSpPr>
          <p:spPr>
            <a:xfrm>
              <a:off x="9976734" y="5530124"/>
              <a:ext cx="0" cy="415587"/>
            </a:xfrm>
            <a:prstGeom prst="straightConnector1">
              <a:avLst/>
            </a:prstGeom>
            <a:noFill/>
            <a:ln w="38100" cap="flat" cmpd="sng">
              <a:solidFill>
                <a:schemeClr val="accent2">
                  <a:alpha val="29803"/>
                </a:schemeClr>
              </a:solidFill>
              <a:prstDash val="solid"/>
              <a:round/>
              <a:headEnd type="none" w="sm" len="sm"/>
              <a:tailEnd type="none" w="sm" len="sm"/>
            </a:ln>
          </p:spPr>
        </p:cxnSp>
        <p:cxnSp>
          <p:nvCxnSpPr>
            <p:cNvPr id="367" name="Google Shape;367;p14"/>
            <p:cNvCxnSpPr/>
            <p:nvPr/>
          </p:nvCxnSpPr>
          <p:spPr>
            <a:xfrm>
              <a:off x="9582203" y="5530124"/>
              <a:ext cx="0" cy="415587"/>
            </a:xfrm>
            <a:prstGeom prst="straightConnector1">
              <a:avLst/>
            </a:prstGeom>
            <a:noFill/>
            <a:ln w="38100" cap="flat" cmpd="sng">
              <a:solidFill>
                <a:srgbClr val="FF0000">
                  <a:alpha val="29803"/>
                </a:srgbClr>
              </a:solidFill>
              <a:prstDash val="solid"/>
              <a:round/>
              <a:headEnd type="none" w="sm" len="sm"/>
              <a:tailEnd type="none" w="sm" len="sm"/>
            </a:ln>
          </p:spPr>
        </p:cxnSp>
        <p:cxnSp>
          <p:nvCxnSpPr>
            <p:cNvPr id="368" name="Google Shape;368;p14"/>
            <p:cNvCxnSpPr/>
            <p:nvPr/>
          </p:nvCxnSpPr>
          <p:spPr>
            <a:xfrm>
              <a:off x="9078002" y="5530124"/>
              <a:ext cx="0" cy="415587"/>
            </a:xfrm>
            <a:prstGeom prst="straightConnector1">
              <a:avLst/>
            </a:prstGeom>
            <a:noFill/>
            <a:ln w="38100" cap="flat" cmpd="sng">
              <a:solidFill>
                <a:schemeClr val="accent2"/>
              </a:solidFill>
              <a:prstDash val="solid"/>
              <a:round/>
              <a:headEnd type="none" w="sm" len="sm"/>
              <a:tailEnd type="none" w="sm" len="sm"/>
            </a:ln>
          </p:spPr>
        </p:cxnSp>
        <p:cxnSp>
          <p:nvCxnSpPr>
            <p:cNvPr id="369" name="Google Shape;369;p14"/>
            <p:cNvCxnSpPr/>
            <p:nvPr/>
          </p:nvCxnSpPr>
          <p:spPr>
            <a:xfrm>
              <a:off x="8683471" y="5530124"/>
              <a:ext cx="0" cy="415587"/>
            </a:xfrm>
            <a:prstGeom prst="straightConnector1">
              <a:avLst/>
            </a:prstGeom>
            <a:noFill/>
            <a:ln w="38100" cap="flat" cmpd="sng">
              <a:solidFill>
                <a:srgbClr val="FF0000"/>
              </a:solidFill>
              <a:prstDash val="solid"/>
              <a:round/>
              <a:headEnd type="none" w="sm" len="sm"/>
              <a:tailEnd type="none" w="sm" len="sm"/>
            </a:ln>
          </p:spPr>
        </p:cxnSp>
        <p:cxnSp>
          <p:nvCxnSpPr>
            <p:cNvPr id="370" name="Google Shape;370;p14"/>
            <p:cNvCxnSpPr/>
            <p:nvPr/>
          </p:nvCxnSpPr>
          <p:spPr>
            <a:xfrm>
              <a:off x="8401458" y="4847712"/>
              <a:ext cx="0" cy="415587"/>
            </a:xfrm>
            <a:prstGeom prst="straightConnector1">
              <a:avLst/>
            </a:prstGeom>
            <a:noFill/>
            <a:ln w="38100" cap="flat" cmpd="sng">
              <a:solidFill>
                <a:schemeClr val="accent2"/>
              </a:solidFill>
              <a:prstDash val="solid"/>
              <a:round/>
              <a:headEnd type="none" w="sm" len="sm"/>
              <a:tailEnd type="none" w="sm" len="sm"/>
            </a:ln>
          </p:spPr>
        </p:cxnSp>
        <p:cxnSp>
          <p:nvCxnSpPr>
            <p:cNvPr id="371" name="Google Shape;371;p14"/>
            <p:cNvCxnSpPr/>
            <p:nvPr/>
          </p:nvCxnSpPr>
          <p:spPr>
            <a:xfrm>
              <a:off x="8102553" y="5530124"/>
              <a:ext cx="0" cy="415587"/>
            </a:xfrm>
            <a:prstGeom prst="straightConnector1">
              <a:avLst/>
            </a:prstGeom>
            <a:noFill/>
            <a:ln w="38100" cap="flat" cmpd="sng">
              <a:solidFill>
                <a:schemeClr val="accent2"/>
              </a:solidFill>
              <a:prstDash val="solid"/>
              <a:round/>
              <a:headEnd type="none" w="sm" len="sm"/>
              <a:tailEnd type="none" w="sm" len="sm"/>
            </a:ln>
          </p:spPr>
        </p:cxnSp>
        <p:cxnSp>
          <p:nvCxnSpPr>
            <p:cNvPr id="372" name="Google Shape;372;p14"/>
            <p:cNvCxnSpPr/>
            <p:nvPr/>
          </p:nvCxnSpPr>
          <p:spPr>
            <a:xfrm>
              <a:off x="7708022" y="5530124"/>
              <a:ext cx="0" cy="415587"/>
            </a:xfrm>
            <a:prstGeom prst="straightConnector1">
              <a:avLst/>
            </a:prstGeom>
            <a:noFill/>
            <a:ln w="38100" cap="flat" cmpd="sng">
              <a:solidFill>
                <a:srgbClr val="FF0000"/>
              </a:solidFill>
              <a:prstDash val="solid"/>
              <a:round/>
              <a:headEnd type="none" w="sm" len="sm"/>
              <a:tailEnd type="none" w="sm" len="sm"/>
            </a:ln>
          </p:spPr>
        </p:cxnSp>
        <p:cxnSp>
          <p:nvCxnSpPr>
            <p:cNvPr id="373" name="Google Shape;373;p14"/>
            <p:cNvCxnSpPr/>
            <p:nvPr/>
          </p:nvCxnSpPr>
          <p:spPr>
            <a:xfrm>
              <a:off x="7203821" y="5530124"/>
              <a:ext cx="0" cy="415587"/>
            </a:xfrm>
            <a:prstGeom prst="straightConnector1">
              <a:avLst/>
            </a:prstGeom>
            <a:noFill/>
            <a:ln w="38100" cap="flat" cmpd="sng">
              <a:solidFill>
                <a:schemeClr val="accent2">
                  <a:alpha val="29803"/>
                </a:schemeClr>
              </a:solidFill>
              <a:prstDash val="solid"/>
              <a:round/>
              <a:headEnd type="none" w="sm" len="sm"/>
              <a:tailEnd type="none" w="sm" len="sm"/>
            </a:ln>
          </p:spPr>
        </p:cxnSp>
        <p:cxnSp>
          <p:nvCxnSpPr>
            <p:cNvPr id="374" name="Google Shape;374;p14"/>
            <p:cNvCxnSpPr/>
            <p:nvPr/>
          </p:nvCxnSpPr>
          <p:spPr>
            <a:xfrm>
              <a:off x="6809290" y="5530124"/>
              <a:ext cx="0" cy="415587"/>
            </a:xfrm>
            <a:prstGeom prst="straightConnector1">
              <a:avLst/>
            </a:prstGeom>
            <a:noFill/>
            <a:ln w="38100" cap="flat" cmpd="sng">
              <a:solidFill>
                <a:srgbClr val="FF0000">
                  <a:alpha val="29803"/>
                </a:srgbClr>
              </a:solidFill>
              <a:prstDash val="solid"/>
              <a:round/>
              <a:headEnd type="none" w="sm" len="sm"/>
              <a:tailEnd type="none" w="sm" len="sm"/>
            </a:ln>
          </p:spPr>
        </p:cxnSp>
      </p:grpSp>
      <p:grpSp>
        <p:nvGrpSpPr>
          <p:cNvPr id="375" name="Google Shape;375;p14"/>
          <p:cNvGrpSpPr/>
          <p:nvPr/>
        </p:nvGrpSpPr>
        <p:grpSpPr>
          <a:xfrm>
            <a:off x="6590722" y="4556986"/>
            <a:ext cx="3568948" cy="1635906"/>
            <a:chOff x="6595882" y="2253850"/>
            <a:chExt cx="3568948" cy="1635906"/>
          </a:xfrm>
        </p:grpSpPr>
        <p:sp>
          <p:nvSpPr>
            <p:cNvPr id="376" name="Google Shape;376;p14"/>
            <p:cNvSpPr/>
            <p:nvPr/>
          </p:nvSpPr>
          <p:spPr>
            <a:xfrm>
              <a:off x="6595884" y="3622931"/>
              <a:ext cx="1699738" cy="266825"/>
            </a:xfrm>
            <a:prstGeom prst="rect">
              <a:avLst/>
            </a:prstGeom>
            <a:solidFill>
              <a:srgbClr val="9DD2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Telco SEP 1</a:t>
              </a:r>
              <a:endParaRPr/>
            </a:p>
          </p:txBody>
        </p:sp>
        <p:sp>
          <p:nvSpPr>
            <p:cNvPr id="377" name="Google Shape;377;p14"/>
            <p:cNvSpPr/>
            <p:nvPr/>
          </p:nvSpPr>
          <p:spPr>
            <a:xfrm>
              <a:off x="7466921" y="2940518"/>
              <a:ext cx="1826870" cy="266825"/>
            </a:xfrm>
            <a:prstGeom prst="rect">
              <a:avLst/>
            </a:prstGeom>
            <a:solidFill>
              <a:srgbClr val="FFBFAB">
                <a:alpha val="298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A5A5A5"/>
                  </a:solidFill>
                  <a:latin typeface="Montserrat Medium"/>
                  <a:ea typeface="Montserrat Medium"/>
                  <a:cs typeface="Montserrat Medium"/>
                  <a:sym typeface="Montserrat Medium"/>
                </a:rPr>
                <a:t>Aggregator</a:t>
              </a:r>
              <a:endParaRPr/>
            </a:p>
          </p:txBody>
        </p:sp>
        <p:sp>
          <p:nvSpPr>
            <p:cNvPr id="378" name="Google Shape;378;p14"/>
            <p:cNvSpPr/>
            <p:nvPr/>
          </p:nvSpPr>
          <p:spPr>
            <a:xfrm>
              <a:off x="8465092" y="3622930"/>
              <a:ext cx="1699738" cy="266825"/>
            </a:xfrm>
            <a:prstGeom prst="rect">
              <a:avLst/>
            </a:prstGeom>
            <a:solidFill>
              <a:srgbClr val="9DD2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Telco SEP 2</a:t>
              </a:r>
              <a:endParaRPr/>
            </a:p>
          </p:txBody>
        </p:sp>
        <p:sp>
          <p:nvSpPr>
            <p:cNvPr id="379" name="Google Shape;379;p14"/>
            <p:cNvSpPr/>
            <p:nvPr/>
          </p:nvSpPr>
          <p:spPr>
            <a:xfrm>
              <a:off x="6595883" y="2943849"/>
              <a:ext cx="802429" cy="266825"/>
            </a:xfrm>
            <a:prstGeom prst="rect">
              <a:avLst/>
            </a:prstGeom>
            <a:solidFill>
              <a:srgbClr val="9DD2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Portal 1</a:t>
              </a:r>
              <a:endParaRPr/>
            </a:p>
          </p:txBody>
        </p:sp>
        <p:sp>
          <p:nvSpPr>
            <p:cNvPr id="380" name="Google Shape;380;p14"/>
            <p:cNvSpPr/>
            <p:nvPr/>
          </p:nvSpPr>
          <p:spPr>
            <a:xfrm>
              <a:off x="9362401" y="2943848"/>
              <a:ext cx="802429" cy="266825"/>
            </a:xfrm>
            <a:prstGeom prst="rect">
              <a:avLst/>
            </a:prstGeom>
            <a:solidFill>
              <a:srgbClr val="9DD2FC">
                <a:alpha val="2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A5A5A5"/>
                  </a:solidFill>
                  <a:latin typeface="Montserrat Medium"/>
                  <a:ea typeface="Montserrat Medium"/>
                  <a:cs typeface="Montserrat Medium"/>
                  <a:sym typeface="Montserrat Medium"/>
                </a:rPr>
                <a:t>Portal 2</a:t>
              </a:r>
              <a:endParaRPr/>
            </a:p>
          </p:txBody>
        </p:sp>
        <p:sp>
          <p:nvSpPr>
            <p:cNvPr id="381" name="Google Shape;381;p14"/>
            <p:cNvSpPr/>
            <p:nvPr/>
          </p:nvSpPr>
          <p:spPr>
            <a:xfrm>
              <a:off x="6595882" y="2253850"/>
              <a:ext cx="3568947" cy="266825"/>
            </a:xfrm>
            <a:prstGeom prst="rect">
              <a:avLst/>
            </a:prstGeom>
            <a:solidFill>
              <a:srgbClr val="FFBFA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End Consumer</a:t>
              </a:r>
              <a:endParaRPr/>
            </a:p>
          </p:txBody>
        </p:sp>
        <p:cxnSp>
          <p:nvCxnSpPr>
            <p:cNvPr id="382" name="Google Shape;382;p14"/>
            <p:cNvCxnSpPr/>
            <p:nvPr/>
          </p:nvCxnSpPr>
          <p:spPr>
            <a:xfrm>
              <a:off x="9962051" y="3207343"/>
              <a:ext cx="0" cy="415587"/>
            </a:xfrm>
            <a:prstGeom prst="straightConnector1">
              <a:avLst/>
            </a:prstGeom>
            <a:noFill/>
            <a:ln w="38100" cap="flat" cmpd="sng">
              <a:solidFill>
                <a:schemeClr val="accent2">
                  <a:alpha val="29803"/>
                </a:schemeClr>
              </a:solidFill>
              <a:prstDash val="solid"/>
              <a:round/>
              <a:headEnd type="none" w="sm" len="sm"/>
              <a:tailEnd type="none" w="sm" len="sm"/>
            </a:ln>
          </p:spPr>
        </p:cxnSp>
        <p:cxnSp>
          <p:nvCxnSpPr>
            <p:cNvPr id="383" name="Google Shape;383;p14"/>
            <p:cNvCxnSpPr/>
            <p:nvPr/>
          </p:nvCxnSpPr>
          <p:spPr>
            <a:xfrm>
              <a:off x="9567520" y="3207343"/>
              <a:ext cx="0" cy="415587"/>
            </a:xfrm>
            <a:prstGeom prst="straightConnector1">
              <a:avLst/>
            </a:prstGeom>
            <a:noFill/>
            <a:ln w="38100" cap="flat" cmpd="sng">
              <a:solidFill>
                <a:srgbClr val="FF0000">
                  <a:alpha val="29803"/>
                </a:srgbClr>
              </a:solidFill>
              <a:prstDash val="solid"/>
              <a:round/>
              <a:headEnd type="none" w="sm" len="sm"/>
              <a:tailEnd type="none" w="sm" len="sm"/>
            </a:ln>
          </p:spPr>
        </p:cxnSp>
        <p:cxnSp>
          <p:nvCxnSpPr>
            <p:cNvPr id="384" name="Google Shape;384;p14"/>
            <p:cNvCxnSpPr/>
            <p:nvPr/>
          </p:nvCxnSpPr>
          <p:spPr>
            <a:xfrm>
              <a:off x="9063319" y="3207343"/>
              <a:ext cx="0" cy="415587"/>
            </a:xfrm>
            <a:prstGeom prst="straightConnector1">
              <a:avLst/>
            </a:prstGeom>
            <a:noFill/>
            <a:ln w="38100" cap="flat" cmpd="sng">
              <a:solidFill>
                <a:schemeClr val="accent2">
                  <a:alpha val="29803"/>
                </a:schemeClr>
              </a:solidFill>
              <a:prstDash val="solid"/>
              <a:round/>
              <a:headEnd type="none" w="sm" len="sm"/>
              <a:tailEnd type="none" w="sm" len="sm"/>
            </a:ln>
          </p:spPr>
        </p:cxnSp>
        <p:cxnSp>
          <p:nvCxnSpPr>
            <p:cNvPr id="385" name="Google Shape;385;p14"/>
            <p:cNvCxnSpPr/>
            <p:nvPr/>
          </p:nvCxnSpPr>
          <p:spPr>
            <a:xfrm>
              <a:off x="8668788" y="3207343"/>
              <a:ext cx="0" cy="415587"/>
            </a:xfrm>
            <a:prstGeom prst="straightConnector1">
              <a:avLst/>
            </a:prstGeom>
            <a:noFill/>
            <a:ln w="38100" cap="flat" cmpd="sng">
              <a:solidFill>
                <a:srgbClr val="FF0000">
                  <a:alpha val="29803"/>
                </a:srgbClr>
              </a:solidFill>
              <a:prstDash val="solid"/>
              <a:round/>
              <a:headEnd type="none" w="sm" len="sm"/>
              <a:tailEnd type="none" w="sm" len="sm"/>
            </a:ln>
          </p:spPr>
        </p:cxnSp>
        <p:cxnSp>
          <p:nvCxnSpPr>
            <p:cNvPr id="386" name="Google Shape;386;p14"/>
            <p:cNvCxnSpPr/>
            <p:nvPr/>
          </p:nvCxnSpPr>
          <p:spPr>
            <a:xfrm>
              <a:off x="7002357" y="2528261"/>
              <a:ext cx="0" cy="415587"/>
            </a:xfrm>
            <a:prstGeom prst="straightConnector1">
              <a:avLst/>
            </a:prstGeom>
            <a:noFill/>
            <a:ln w="38100" cap="flat" cmpd="sng">
              <a:solidFill>
                <a:schemeClr val="accent2"/>
              </a:solidFill>
              <a:prstDash val="solid"/>
              <a:round/>
              <a:headEnd type="none" w="sm" len="sm"/>
              <a:tailEnd type="none" w="sm" len="sm"/>
            </a:ln>
          </p:spPr>
        </p:cxnSp>
        <p:cxnSp>
          <p:nvCxnSpPr>
            <p:cNvPr id="387" name="Google Shape;387;p14"/>
            <p:cNvCxnSpPr/>
            <p:nvPr/>
          </p:nvCxnSpPr>
          <p:spPr>
            <a:xfrm>
              <a:off x="6786092" y="3216595"/>
              <a:ext cx="1867730" cy="402079"/>
            </a:xfrm>
            <a:prstGeom prst="straightConnector1">
              <a:avLst/>
            </a:prstGeom>
            <a:noFill/>
            <a:ln w="38100" cap="flat" cmpd="sng">
              <a:solidFill>
                <a:srgbClr val="FF0000"/>
              </a:solidFill>
              <a:prstDash val="solid"/>
              <a:round/>
              <a:headEnd type="none" w="sm" len="sm"/>
              <a:tailEnd type="none" w="sm" len="sm"/>
            </a:ln>
          </p:spPr>
        </p:cxnSp>
        <p:cxnSp>
          <p:nvCxnSpPr>
            <p:cNvPr id="388" name="Google Shape;388;p14"/>
            <p:cNvCxnSpPr/>
            <p:nvPr/>
          </p:nvCxnSpPr>
          <p:spPr>
            <a:xfrm>
              <a:off x="7198910" y="3221542"/>
              <a:ext cx="1845972" cy="396470"/>
            </a:xfrm>
            <a:prstGeom prst="straightConnector1">
              <a:avLst/>
            </a:prstGeom>
            <a:noFill/>
            <a:ln w="38100" cap="flat" cmpd="sng">
              <a:solidFill>
                <a:schemeClr val="accent2"/>
              </a:solidFill>
              <a:prstDash val="solid"/>
              <a:round/>
              <a:headEnd type="none" w="sm" len="sm"/>
              <a:tailEnd type="none" w="sm" len="sm"/>
            </a:ln>
          </p:spPr>
        </p:cxnSp>
        <p:cxnSp>
          <p:nvCxnSpPr>
            <p:cNvPr id="389" name="Google Shape;389;p14"/>
            <p:cNvCxnSpPr/>
            <p:nvPr/>
          </p:nvCxnSpPr>
          <p:spPr>
            <a:xfrm>
              <a:off x="8102553" y="3210673"/>
              <a:ext cx="0" cy="415587"/>
            </a:xfrm>
            <a:prstGeom prst="straightConnector1">
              <a:avLst/>
            </a:prstGeom>
            <a:noFill/>
            <a:ln w="38100" cap="flat" cmpd="sng">
              <a:solidFill>
                <a:schemeClr val="accent2">
                  <a:alpha val="29803"/>
                </a:schemeClr>
              </a:solidFill>
              <a:prstDash val="solid"/>
              <a:round/>
              <a:headEnd type="none" w="sm" len="sm"/>
              <a:tailEnd type="none" w="sm" len="sm"/>
            </a:ln>
          </p:spPr>
        </p:cxnSp>
        <p:cxnSp>
          <p:nvCxnSpPr>
            <p:cNvPr id="390" name="Google Shape;390;p14"/>
            <p:cNvCxnSpPr/>
            <p:nvPr/>
          </p:nvCxnSpPr>
          <p:spPr>
            <a:xfrm>
              <a:off x="7708022" y="3210673"/>
              <a:ext cx="0" cy="415587"/>
            </a:xfrm>
            <a:prstGeom prst="straightConnector1">
              <a:avLst/>
            </a:prstGeom>
            <a:noFill/>
            <a:ln w="38100" cap="flat" cmpd="sng">
              <a:solidFill>
                <a:srgbClr val="FF0000">
                  <a:alpha val="29803"/>
                </a:srgbClr>
              </a:solidFill>
              <a:prstDash val="solid"/>
              <a:round/>
              <a:headEnd type="none" w="sm" len="sm"/>
              <a:tailEnd type="none" w="sm" len="sm"/>
            </a:ln>
          </p:spPr>
        </p:cxnSp>
        <p:cxnSp>
          <p:nvCxnSpPr>
            <p:cNvPr id="391" name="Google Shape;391;p14"/>
            <p:cNvCxnSpPr/>
            <p:nvPr/>
          </p:nvCxnSpPr>
          <p:spPr>
            <a:xfrm>
              <a:off x="7203821" y="3210673"/>
              <a:ext cx="0" cy="415587"/>
            </a:xfrm>
            <a:prstGeom prst="straightConnector1">
              <a:avLst/>
            </a:prstGeom>
            <a:noFill/>
            <a:ln w="38100" cap="flat" cmpd="sng">
              <a:solidFill>
                <a:schemeClr val="accent2"/>
              </a:solidFill>
              <a:prstDash val="solid"/>
              <a:round/>
              <a:headEnd type="none" w="sm" len="sm"/>
              <a:tailEnd type="none" w="sm" len="sm"/>
            </a:ln>
          </p:spPr>
        </p:cxnSp>
        <p:cxnSp>
          <p:nvCxnSpPr>
            <p:cNvPr id="392" name="Google Shape;392;p14"/>
            <p:cNvCxnSpPr/>
            <p:nvPr/>
          </p:nvCxnSpPr>
          <p:spPr>
            <a:xfrm>
              <a:off x="6809290" y="3210673"/>
              <a:ext cx="0" cy="415500"/>
            </a:xfrm>
            <a:prstGeom prst="straightConnector1">
              <a:avLst/>
            </a:prstGeom>
            <a:noFill/>
            <a:ln w="38100" cap="flat" cmpd="sng">
              <a:solidFill>
                <a:srgbClr val="FF0000"/>
              </a:solidFill>
              <a:prstDash val="solid"/>
              <a:round/>
              <a:headEnd type="none" w="sm" len="sm"/>
              <a:tailEnd type="none" w="sm" len="sm"/>
            </a:ln>
          </p:spPr>
        </p:cxnSp>
      </p:grpSp>
      <p:sp>
        <p:nvSpPr>
          <p:cNvPr id="393" name="Google Shape;393;p14"/>
          <p:cNvSpPr/>
          <p:nvPr/>
        </p:nvSpPr>
        <p:spPr>
          <a:xfrm>
            <a:off x="5133425" y="2105425"/>
            <a:ext cx="1235400" cy="2043900"/>
          </a:xfrm>
          <a:prstGeom prst="rect">
            <a:avLst/>
          </a:prstGeom>
          <a:solidFill>
            <a:srgbClr val="3A9B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Light"/>
              <a:ea typeface="Montserrat Light"/>
              <a:cs typeface="Montserrat Light"/>
              <a:sym typeface="Montserrat Light"/>
            </a:endParaRPr>
          </a:p>
        </p:txBody>
      </p:sp>
      <p:sp>
        <p:nvSpPr>
          <p:cNvPr id="394" name="Google Shape;394;p14"/>
          <p:cNvSpPr txBox="1">
            <a:spLocks noGrp="1"/>
          </p:cNvSpPr>
          <p:nvPr>
            <p:ph type="body" idx="1"/>
          </p:nvPr>
        </p:nvSpPr>
        <p:spPr>
          <a:xfrm>
            <a:off x="5207138" y="2170525"/>
            <a:ext cx="1091100" cy="1913700"/>
          </a:xfrm>
          <a:prstGeom prst="rect">
            <a:avLst/>
          </a:prstGeom>
          <a:noFill/>
          <a:ln>
            <a:noFill/>
          </a:ln>
        </p:spPr>
        <p:txBody>
          <a:bodyPr spcFirstLastPara="1" wrap="square" lIns="0" tIns="0" rIns="0" bIns="0" anchor="t" anchorCtr="0">
            <a:spAutoFit/>
          </a:bodyPr>
          <a:lstStyle/>
          <a:p>
            <a:pPr marL="0" lvl="0" indent="0" algn="l" rtl="0">
              <a:lnSpc>
                <a:spcPct val="104000"/>
              </a:lnSpc>
              <a:spcBef>
                <a:spcPts val="0"/>
              </a:spcBef>
              <a:spcAft>
                <a:spcPts val="0"/>
              </a:spcAft>
              <a:buClr>
                <a:schemeClr val="dk2"/>
              </a:buClr>
              <a:buSzPts val="1000"/>
              <a:buNone/>
            </a:pPr>
            <a:r>
              <a:rPr lang="en-US" sz="1200">
                <a:solidFill>
                  <a:schemeClr val="lt1"/>
                </a:solidFill>
              </a:rPr>
              <a:t>Blue lines =</a:t>
            </a:r>
            <a:endParaRPr sz="1200">
              <a:solidFill>
                <a:schemeClr val="lt1"/>
              </a:solidFill>
            </a:endParaRPr>
          </a:p>
          <a:p>
            <a:pPr marL="0" lvl="0" indent="0" algn="l" rtl="0">
              <a:lnSpc>
                <a:spcPct val="104000"/>
              </a:lnSpc>
              <a:spcBef>
                <a:spcPts val="0"/>
              </a:spcBef>
              <a:spcAft>
                <a:spcPts val="0"/>
              </a:spcAft>
              <a:buClr>
                <a:schemeClr val="dk2"/>
              </a:buClr>
              <a:buSzPts val="1000"/>
              <a:buNone/>
            </a:pPr>
            <a:r>
              <a:rPr lang="en-US" sz="1200">
                <a:solidFill>
                  <a:schemeClr val="lt1"/>
                </a:solidFill>
              </a:rPr>
              <a:t>CAMARA APIs</a:t>
            </a:r>
            <a:endParaRPr sz="1200">
              <a:solidFill>
                <a:schemeClr val="lt1"/>
              </a:solidFill>
            </a:endParaRPr>
          </a:p>
          <a:p>
            <a:pPr marL="0" lvl="0" indent="0" algn="l" rtl="0">
              <a:lnSpc>
                <a:spcPct val="104000"/>
              </a:lnSpc>
              <a:spcBef>
                <a:spcPts val="0"/>
              </a:spcBef>
              <a:spcAft>
                <a:spcPts val="0"/>
              </a:spcAft>
              <a:buClr>
                <a:schemeClr val="dk2"/>
              </a:buClr>
              <a:buSzPts val="1000"/>
              <a:buNone/>
            </a:pPr>
            <a:endParaRPr sz="1200">
              <a:solidFill>
                <a:schemeClr val="lt1"/>
              </a:solidFill>
            </a:endParaRPr>
          </a:p>
          <a:p>
            <a:pPr marL="0" lvl="0" indent="0" algn="l" rtl="0">
              <a:lnSpc>
                <a:spcPct val="104000"/>
              </a:lnSpc>
              <a:spcBef>
                <a:spcPts val="0"/>
              </a:spcBef>
              <a:spcAft>
                <a:spcPts val="0"/>
              </a:spcAft>
              <a:buClr>
                <a:schemeClr val="dk2"/>
              </a:buClr>
              <a:buSzPts val="1000"/>
              <a:buNone/>
            </a:pPr>
            <a:r>
              <a:rPr lang="en-US" sz="1200">
                <a:solidFill>
                  <a:schemeClr val="lt1"/>
                </a:solidFill>
              </a:rPr>
              <a:t>Red lines =</a:t>
            </a:r>
            <a:endParaRPr sz="1200">
              <a:solidFill>
                <a:schemeClr val="lt1"/>
              </a:solidFill>
            </a:endParaRPr>
          </a:p>
          <a:p>
            <a:pPr marL="0" lvl="0" indent="0" algn="l" rtl="0">
              <a:lnSpc>
                <a:spcPct val="104000"/>
              </a:lnSpc>
              <a:spcBef>
                <a:spcPts val="0"/>
              </a:spcBef>
              <a:spcAft>
                <a:spcPts val="0"/>
              </a:spcAft>
              <a:buClr>
                <a:schemeClr val="dk2"/>
              </a:buClr>
              <a:buSzPts val="1000"/>
              <a:buNone/>
            </a:pPr>
            <a:r>
              <a:rPr lang="en-US" sz="1200">
                <a:solidFill>
                  <a:schemeClr val="lt1"/>
                </a:solidFill>
              </a:rPr>
              <a:t>Operate APIs</a:t>
            </a:r>
            <a:endParaRPr sz="1200">
              <a:solidFill>
                <a:schemeClr val="lt1"/>
              </a:solidFill>
            </a:endParaRPr>
          </a:p>
          <a:p>
            <a:pPr marL="0" lvl="0" indent="0" algn="l" rtl="0">
              <a:lnSpc>
                <a:spcPct val="104000"/>
              </a:lnSpc>
              <a:spcBef>
                <a:spcPts val="0"/>
              </a:spcBef>
              <a:spcAft>
                <a:spcPts val="0"/>
              </a:spcAft>
              <a:buClr>
                <a:schemeClr val="dk2"/>
              </a:buClr>
              <a:buSzPts val="1000"/>
              <a:buNone/>
            </a:pPr>
            <a:endParaRPr sz="1200">
              <a:solidFill>
                <a:schemeClr val="lt1"/>
              </a:solidFill>
            </a:endParaRPr>
          </a:p>
          <a:p>
            <a:pPr marL="0" lvl="0" indent="0" algn="l" rtl="0">
              <a:lnSpc>
                <a:spcPct val="104000"/>
              </a:lnSpc>
              <a:spcBef>
                <a:spcPts val="0"/>
              </a:spcBef>
              <a:spcAft>
                <a:spcPts val="0"/>
              </a:spcAft>
              <a:buClr>
                <a:schemeClr val="dk2"/>
              </a:buClr>
              <a:buSzPts val="1000"/>
              <a:buNone/>
            </a:pPr>
            <a:r>
              <a:rPr lang="en-US" sz="1200">
                <a:solidFill>
                  <a:schemeClr val="lt1"/>
                </a:solidFill>
              </a:rPr>
              <a:t>SEP= </a:t>
            </a:r>
            <a:br>
              <a:rPr lang="en-US" sz="1200">
                <a:solidFill>
                  <a:schemeClr val="lt1"/>
                </a:solidFill>
              </a:rPr>
            </a:br>
            <a:r>
              <a:rPr lang="en-US" sz="1200">
                <a:solidFill>
                  <a:schemeClr val="lt1"/>
                </a:solidFill>
              </a:rPr>
              <a:t>Service Exposure Platform</a:t>
            </a:r>
            <a:endParaRPr sz="120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15"/>
          <p:cNvSpPr txBox="1">
            <a:spLocks noGrp="1"/>
          </p:cNvSpPr>
          <p:nvPr>
            <p:ph type="title"/>
          </p:nvPr>
        </p:nvSpPr>
        <p:spPr>
          <a:xfrm>
            <a:off x="444373" y="413152"/>
            <a:ext cx="7012717"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What is different now in comparison</a:t>
            </a:r>
            <a:br>
              <a:rPr lang="en-US"/>
            </a:br>
            <a:r>
              <a:rPr lang="en-US"/>
              <a:t>to former API exposure trials?</a:t>
            </a:r>
            <a:endParaRPr/>
          </a:p>
        </p:txBody>
      </p:sp>
      <p:sp>
        <p:nvSpPr>
          <p:cNvPr id="402" name="Google Shape;402;p15"/>
          <p:cNvSpPr txBox="1"/>
          <p:nvPr/>
        </p:nvSpPr>
        <p:spPr>
          <a:xfrm>
            <a:off x="444375" y="2023620"/>
            <a:ext cx="10787100" cy="4093388"/>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rgbClr val="3A9BF3"/>
              </a:buClr>
              <a:buSzPts val="2000"/>
              <a:buFont typeface="Montserrat"/>
              <a:buChar char="•"/>
            </a:pPr>
            <a:r>
              <a:rPr lang="en-US" sz="2000" dirty="0">
                <a:solidFill>
                  <a:srgbClr val="3A9BF3"/>
                </a:solidFill>
                <a:latin typeface="Montserrat Medium"/>
                <a:ea typeface="Montserrat Medium"/>
                <a:cs typeface="Montserrat Medium"/>
                <a:sym typeface="Montserrat Medium"/>
              </a:rPr>
              <a:t>Simplicity</a:t>
            </a:r>
            <a:r>
              <a:rPr lang="en-US" sz="2000" dirty="0">
                <a:solidFill>
                  <a:schemeClr val="dk1"/>
                </a:solidFill>
                <a:latin typeface="Montserrat Light"/>
                <a:ea typeface="Montserrat Light"/>
                <a:cs typeface="Montserrat Light"/>
                <a:sym typeface="Montserrat Light"/>
              </a:rPr>
              <a:t> – Telco complexity is hidden behind simple, easy to use APIs</a:t>
            </a:r>
            <a:endParaRPr sz="2000" dirty="0">
              <a:latin typeface="Montserrat"/>
              <a:ea typeface="Montserrat"/>
              <a:cs typeface="Montserrat"/>
              <a:sym typeface="Montserrat"/>
            </a:endParaRPr>
          </a:p>
          <a:p>
            <a:pPr marL="285750" marR="0" lvl="0" indent="-158750" algn="l" rtl="0">
              <a:spcBef>
                <a:spcPts val="0"/>
              </a:spcBef>
              <a:spcAft>
                <a:spcPts val="0"/>
              </a:spcAft>
              <a:buClr>
                <a:schemeClr val="dk1"/>
              </a:buClr>
              <a:buSzPts val="2000"/>
              <a:buFont typeface="Montserrat Light"/>
              <a:buNone/>
            </a:pPr>
            <a:endParaRPr sz="2000" dirty="0">
              <a:solidFill>
                <a:schemeClr val="dk1"/>
              </a:solidFill>
              <a:latin typeface="Montserrat Light"/>
              <a:ea typeface="Montserrat Light"/>
              <a:cs typeface="Montserrat Light"/>
              <a:sym typeface="Montserrat Light"/>
            </a:endParaRPr>
          </a:p>
          <a:p>
            <a:pPr marL="285750" marR="0" lvl="0" indent="-285750" algn="l" rtl="0">
              <a:spcBef>
                <a:spcPts val="0"/>
              </a:spcBef>
              <a:spcAft>
                <a:spcPts val="0"/>
              </a:spcAft>
              <a:buClr>
                <a:srgbClr val="3A9BF3"/>
              </a:buClr>
              <a:buSzPts val="2000"/>
              <a:buFont typeface="Montserrat"/>
              <a:buChar char="•"/>
            </a:pPr>
            <a:r>
              <a:rPr lang="en-US" sz="2000" dirty="0">
                <a:solidFill>
                  <a:srgbClr val="3A9BF3"/>
                </a:solidFill>
                <a:latin typeface="Montserrat Medium"/>
                <a:ea typeface="Montserrat Medium"/>
                <a:cs typeface="Montserrat Medium"/>
                <a:sym typeface="Montserrat Medium"/>
              </a:rPr>
              <a:t>Demand driven</a:t>
            </a:r>
            <a:r>
              <a:rPr lang="en-US" sz="2000" dirty="0">
                <a:solidFill>
                  <a:schemeClr val="dk1"/>
                </a:solidFill>
                <a:latin typeface="Montserrat Medium"/>
                <a:ea typeface="Montserrat Medium"/>
                <a:cs typeface="Montserrat Medium"/>
                <a:sym typeface="Montserrat Medium"/>
              </a:rPr>
              <a:t> </a:t>
            </a:r>
            <a:r>
              <a:rPr lang="en-US" sz="2000" dirty="0">
                <a:solidFill>
                  <a:schemeClr val="dk1"/>
                </a:solidFill>
                <a:latin typeface="Montserrat Light"/>
                <a:ea typeface="Montserrat Light"/>
                <a:cs typeface="Montserrat Light"/>
                <a:sym typeface="Montserrat Light"/>
              </a:rPr>
              <a:t>- Listening to API consumer’s voice and demand</a:t>
            </a:r>
            <a:endParaRPr sz="2000" dirty="0">
              <a:latin typeface="Montserrat"/>
              <a:ea typeface="Montserrat"/>
              <a:cs typeface="Montserrat"/>
              <a:sym typeface="Montserrat"/>
            </a:endParaRPr>
          </a:p>
          <a:p>
            <a:pPr marL="285750" marR="0" lvl="0" indent="-158750" algn="l" rtl="0">
              <a:spcBef>
                <a:spcPts val="0"/>
              </a:spcBef>
              <a:spcAft>
                <a:spcPts val="0"/>
              </a:spcAft>
              <a:buClr>
                <a:schemeClr val="dk1"/>
              </a:buClr>
              <a:buSzPts val="2000"/>
              <a:buFont typeface="Montserrat Light"/>
              <a:buNone/>
            </a:pPr>
            <a:endParaRPr sz="2000" dirty="0">
              <a:solidFill>
                <a:schemeClr val="dk1"/>
              </a:solidFill>
              <a:latin typeface="Montserrat Light"/>
              <a:ea typeface="Montserrat Light"/>
              <a:cs typeface="Montserrat Light"/>
              <a:sym typeface="Montserrat Light"/>
            </a:endParaRPr>
          </a:p>
          <a:p>
            <a:pPr marL="285750" marR="0" lvl="0" indent="-285750" algn="l" rtl="0">
              <a:spcBef>
                <a:spcPts val="0"/>
              </a:spcBef>
              <a:spcAft>
                <a:spcPts val="0"/>
              </a:spcAft>
              <a:buClr>
                <a:srgbClr val="3A9BF3"/>
              </a:buClr>
              <a:buSzPts val="2000"/>
              <a:buFont typeface="Montserrat"/>
              <a:buChar char="•"/>
            </a:pPr>
            <a:r>
              <a:rPr lang="en-US" sz="2000" dirty="0">
                <a:solidFill>
                  <a:srgbClr val="3A9BF3"/>
                </a:solidFill>
                <a:latin typeface="Montserrat Medium"/>
                <a:ea typeface="Montserrat Medium"/>
                <a:cs typeface="Montserrat Medium"/>
                <a:sym typeface="Montserrat Medium"/>
              </a:rPr>
              <a:t>Availability</a:t>
            </a:r>
            <a:r>
              <a:rPr lang="en-US" sz="2000" dirty="0">
                <a:solidFill>
                  <a:schemeClr val="dk1"/>
                </a:solidFill>
                <a:latin typeface="Montserrat Light"/>
                <a:ea typeface="Montserrat Light"/>
                <a:cs typeface="Montserrat Light"/>
                <a:sym typeface="Montserrat Light"/>
              </a:rPr>
              <a:t> – Open APIs with great support of many operators on many platforms</a:t>
            </a:r>
            <a:endParaRPr sz="2000" dirty="0">
              <a:latin typeface="Montserrat"/>
              <a:ea typeface="Montserrat"/>
              <a:cs typeface="Montserrat"/>
              <a:sym typeface="Montserrat"/>
            </a:endParaRPr>
          </a:p>
          <a:p>
            <a:pPr marL="285750" marR="0" lvl="0" indent="-158750" algn="l" rtl="0">
              <a:spcBef>
                <a:spcPts val="0"/>
              </a:spcBef>
              <a:spcAft>
                <a:spcPts val="0"/>
              </a:spcAft>
              <a:buClr>
                <a:schemeClr val="dk1"/>
              </a:buClr>
              <a:buSzPts val="2000"/>
              <a:buFont typeface="Montserrat Light"/>
              <a:buNone/>
            </a:pPr>
            <a:endParaRPr sz="2000" dirty="0">
              <a:solidFill>
                <a:schemeClr val="dk1"/>
              </a:solidFill>
              <a:latin typeface="Montserrat Light"/>
              <a:ea typeface="Montserrat Light"/>
              <a:cs typeface="Montserrat Light"/>
              <a:sym typeface="Montserrat Light"/>
            </a:endParaRPr>
          </a:p>
          <a:p>
            <a:pPr marL="285750" marR="0" lvl="0" indent="-285750" algn="l" rtl="0">
              <a:spcBef>
                <a:spcPts val="0"/>
              </a:spcBef>
              <a:spcAft>
                <a:spcPts val="0"/>
              </a:spcAft>
              <a:buClr>
                <a:srgbClr val="3A9BF3"/>
              </a:buClr>
              <a:buSzPts val="2000"/>
              <a:buFont typeface="Montserrat"/>
              <a:buChar char="•"/>
            </a:pPr>
            <a:r>
              <a:rPr lang="en-US" sz="2000" dirty="0">
                <a:solidFill>
                  <a:srgbClr val="3A9BF3"/>
                </a:solidFill>
                <a:latin typeface="Montserrat Medium"/>
                <a:ea typeface="Montserrat Medium"/>
                <a:cs typeface="Montserrat Medium"/>
                <a:sym typeface="Montserrat Medium"/>
              </a:rPr>
              <a:t>Alignment</a:t>
            </a:r>
            <a:r>
              <a:rPr lang="en-US" sz="2000" dirty="0">
                <a:solidFill>
                  <a:srgbClr val="3A9BF3"/>
                </a:solidFill>
                <a:latin typeface="Montserrat Light"/>
                <a:ea typeface="Montserrat Light"/>
                <a:cs typeface="Montserrat Light"/>
                <a:sym typeface="Montserrat Light"/>
              </a:rPr>
              <a:t> </a:t>
            </a:r>
            <a:r>
              <a:rPr lang="en-US" sz="2000" dirty="0">
                <a:solidFill>
                  <a:schemeClr val="dk1"/>
                </a:solidFill>
                <a:latin typeface="Montserrat Light"/>
                <a:ea typeface="Montserrat Light"/>
                <a:cs typeface="Montserrat Light"/>
                <a:sym typeface="Montserrat Light"/>
              </a:rPr>
              <a:t>- With standardization bodies like TM Forum, GSMA or ETSI-MEC</a:t>
            </a:r>
            <a:endParaRPr sz="2000" dirty="0">
              <a:latin typeface="Montserrat"/>
              <a:ea typeface="Montserrat"/>
              <a:cs typeface="Montserrat"/>
              <a:sym typeface="Montserrat"/>
            </a:endParaRPr>
          </a:p>
          <a:p>
            <a:pPr marL="285750" marR="0" lvl="0" indent="-158750" algn="l" rtl="0">
              <a:spcBef>
                <a:spcPts val="0"/>
              </a:spcBef>
              <a:spcAft>
                <a:spcPts val="0"/>
              </a:spcAft>
              <a:buClr>
                <a:schemeClr val="dk1"/>
              </a:buClr>
              <a:buSzPts val="2000"/>
              <a:buFont typeface="Montserrat Light"/>
              <a:buNone/>
            </a:pPr>
            <a:endParaRPr sz="2000" dirty="0">
              <a:solidFill>
                <a:schemeClr val="dk1"/>
              </a:solidFill>
              <a:latin typeface="Montserrat Light"/>
              <a:ea typeface="Montserrat Light"/>
              <a:cs typeface="Montserrat Light"/>
              <a:sym typeface="Montserrat Light"/>
            </a:endParaRPr>
          </a:p>
          <a:p>
            <a:pPr marL="285750" marR="0" lvl="0" indent="-285750" algn="l" rtl="0">
              <a:spcBef>
                <a:spcPts val="0"/>
              </a:spcBef>
              <a:spcAft>
                <a:spcPts val="0"/>
              </a:spcAft>
              <a:buClr>
                <a:srgbClr val="3A9BF3"/>
              </a:buClr>
              <a:buSzPts val="2000"/>
              <a:buFont typeface="Montserrat"/>
              <a:buChar char="•"/>
            </a:pPr>
            <a:r>
              <a:rPr lang="en-US" sz="2000" dirty="0">
                <a:solidFill>
                  <a:srgbClr val="3A9BF3"/>
                </a:solidFill>
                <a:latin typeface="Montserrat Medium"/>
                <a:ea typeface="Montserrat Medium"/>
                <a:cs typeface="Montserrat Medium"/>
                <a:sym typeface="Montserrat Medium"/>
              </a:rPr>
              <a:t>Sustainability</a:t>
            </a:r>
            <a:r>
              <a:rPr lang="en-US" sz="2000" dirty="0">
                <a:solidFill>
                  <a:schemeClr val="dk1"/>
                </a:solidFill>
                <a:latin typeface="Montserrat Light"/>
                <a:ea typeface="Montserrat Light"/>
                <a:cs typeface="Montserrat Light"/>
                <a:sym typeface="Montserrat Light"/>
              </a:rPr>
              <a:t> – We have the CEOs behind (e.g. Open Gateway MoU, API Venture)</a:t>
            </a:r>
          </a:p>
          <a:p>
            <a:pPr marL="285750" marR="0" lvl="0" indent="-285750" algn="l" rtl="0">
              <a:spcBef>
                <a:spcPts val="0"/>
              </a:spcBef>
              <a:spcAft>
                <a:spcPts val="0"/>
              </a:spcAft>
              <a:buClr>
                <a:srgbClr val="3A9BF3"/>
              </a:buClr>
              <a:buSzPts val="2000"/>
              <a:buFont typeface="Montserrat"/>
              <a:buChar char="•"/>
            </a:pPr>
            <a:endParaRPr lang="en-US" sz="2000" dirty="0">
              <a:solidFill>
                <a:schemeClr val="dk1"/>
              </a:solidFill>
              <a:latin typeface="Montserrat Light"/>
              <a:ea typeface="Montserrat Light"/>
              <a:cs typeface="Montserrat Light"/>
              <a:sym typeface="Montserrat Light"/>
            </a:endParaRPr>
          </a:p>
          <a:p>
            <a:pPr marL="285750" indent="-285750">
              <a:buClr>
                <a:srgbClr val="3A9BF3"/>
              </a:buClr>
              <a:buSzPts val="2000"/>
              <a:buFont typeface="Montserrat"/>
              <a:buChar char="•"/>
            </a:pPr>
            <a:r>
              <a:rPr lang="en-US" sz="2000" dirty="0">
                <a:solidFill>
                  <a:srgbClr val="3A9BF3"/>
                </a:solidFill>
                <a:latin typeface="Montserrat Medium"/>
                <a:ea typeface="Montserrat Medium"/>
                <a:cs typeface="Montserrat Medium"/>
                <a:sym typeface="Montserrat Medium"/>
              </a:rPr>
              <a:t>Telco maturity</a:t>
            </a:r>
            <a:r>
              <a:rPr lang="en-US" sz="2000" dirty="0">
                <a:solidFill>
                  <a:schemeClr val="dk1"/>
                </a:solidFill>
                <a:latin typeface="Montserrat Light"/>
                <a:ea typeface="Montserrat Light"/>
                <a:cs typeface="Montserrat Light"/>
                <a:sym typeface="Montserrat Light"/>
              </a:rPr>
              <a:t> – Telcos are now more digital and cloud oriented</a:t>
            </a:r>
          </a:p>
          <a:p>
            <a:pPr marL="285750" indent="-285750">
              <a:buClr>
                <a:srgbClr val="3A9BF3"/>
              </a:buClr>
              <a:buSzPts val="2000"/>
              <a:buFont typeface="Montserrat"/>
              <a:buChar char="•"/>
            </a:pPr>
            <a:endParaRPr lang="en-US" sz="2000" dirty="0">
              <a:solidFill>
                <a:schemeClr val="dk1"/>
              </a:solidFill>
              <a:latin typeface="Montserrat Light"/>
              <a:ea typeface="Montserrat Light"/>
              <a:cs typeface="Montserrat Light"/>
              <a:sym typeface="Montserrat Light"/>
            </a:endParaRPr>
          </a:p>
          <a:p>
            <a:pPr marL="285750" indent="-285750">
              <a:buClr>
                <a:srgbClr val="3A9BF3"/>
              </a:buClr>
              <a:buSzPts val="2000"/>
              <a:buFont typeface="Montserrat"/>
              <a:buChar char="•"/>
            </a:pPr>
            <a:r>
              <a:rPr lang="en-US" sz="2000" dirty="0">
                <a:solidFill>
                  <a:srgbClr val="3A9BF3"/>
                </a:solidFill>
                <a:latin typeface="Montserrat Medium"/>
                <a:ea typeface="Montserrat Medium"/>
                <a:cs typeface="Montserrat Medium"/>
                <a:sym typeface="Montserrat Medium"/>
              </a:rPr>
              <a:t>Privacy</a:t>
            </a:r>
            <a:r>
              <a:rPr lang="en-US" sz="2000" dirty="0">
                <a:solidFill>
                  <a:schemeClr val="dk1"/>
                </a:solidFill>
                <a:latin typeface="Montserrat Light"/>
                <a:ea typeface="Montserrat Light"/>
                <a:cs typeface="Montserrat Light"/>
                <a:sym typeface="Montserrat Light"/>
              </a:rPr>
              <a:t> – Well defined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16"/>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CAMARA</a:t>
            </a:r>
            <a:br>
              <a:rPr lang="en-US"/>
            </a:br>
            <a:r>
              <a:rPr lang="en-US"/>
              <a:t>Where we started…</a:t>
            </a:r>
            <a:endParaRPr/>
          </a:p>
        </p:txBody>
      </p:sp>
      <p:sp>
        <p:nvSpPr>
          <p:cNvPr id="410" name="Google Shape;410;p16"/>
          <p:cNvSpPr txBox="1">
            <a:spLocks noGrp="1"/>
          </p:cNvSpPr>
          <p:nvPr>
            <p:ph type="body" idx="1"/>
          </p:nvPr>
        </p:nvSpPr>
        <p:spPr>
          <a:xfrm>
            <a:off x="428625" y="2465450"/>
            <a:ext cx="3591600" cy="2864700"/>
          </a:xfrm>
          <a:prstGeom prst="rect">
            <a:avLst/>
          </a:prstGeom>
          <a:noFill/>
          <a:ln>
            <a:noFill/>
          </a:ln>
        </p:spPr>
        <p:txBody>
          <a:bodyPr spcFirstLastPara="1" wrap="square" lIns="0" tIns="0" rIns="0" bIns="0" anchor="t" anchorCtr="0">
            <a:noAutofit/>
          </a:bodyPr>
          <a:lstStyle/>
          <a:p>
            <a:pPr marL="0" lvl="0" indent="0" algn="l" rtl="0">
              <a:lnSpc>
                <a:spcPct val="104000"/>
              </a:lnSpc>
              <a:spcBef>
                <a:spcPts val="0"/>
              </a:spcBef>
              <a:spcAft>
                <a:spcPts val="0"/>
              </a:spcAft>
              <a:buClr>
                <a:schemeClr val="dk2"/>
              </a:buClr>
              <a:buSzPts val="1600"/>
              <a:buNone/>
            </a:pPr>
            <a:r>
              <a:rPr lang="en-US" sz="2000"/>
              <a:t>Launched at MWC Barcelona 2022</a:t>
            </a:r>
            <a:endParaRPr sz="2000"/>
          </a:p>
          <a:p>
            <a:pPr marL="0" lvl="0" indent="0" algn="l" rtl="0">
              <a:lnSpc>
                <a:spcPct val="104000"/>
              </a:lnSpc>
              <a:spcBef>
                <a:spcPts val="1200"/>
              </a:spcBef>
              <a:spcAft>
                <a:spcPts val="0"/>
              </a:spcAft>
              <a:buClr>
                <a:schemeClr val="dk2"/>
              </a:buClr>
              <a:buSzPts val="1600"/>
              <a:buNone/>
            </a:pPr>
            <a:r>
              <a:rPr lang="en-US" sz="2000"/>
              <a:t>22 Launch Partners</a:t>
            </a:r>
            <a:endParaRPr sz="2000"/>
          </a:p>
          <a:p>
            <a:pPr marL="0" lvl="0" indent="0" algn="l" rtl="0">
              <a:lnSpc>
                <a:spcPct val="104000"/>
              </a:lnSpc>
              <a:spcBef>
                <a:spcPts val="1200"/>
              </a:spcBef>
              <a:spcAft>
                <a:spcPts val="0"/>
              </a:spcAft>
              <a:buClr>
                <a:schemeClr val="dk2"/>
              </a:buClr>
              <a:buSzPts val="1600"/>
              <a:buNone/>
            </a:pPr>
            <a:r>
              <a:rPr lang="en-US" sz="2000"/>
              <a:t>Supported by GSMA and Linux Foundation</a:t>
            </a:r>
            <a:endParaRPr sz="2000"/>
          </a:p>
          <a:p>
            <a:pPr marL="0" lvl="0" indent="0" algn="l" rtl="0">
              <a:lnSpc>
                <a:spcPct val="104000"/>
              </a:lnSpc>
              <a:spcBef>
                <a:spcPts val="1200"/>
              </a:spcBef>
              <a:spcAft>
                <a:spcPts val="0"/>
              </a:spcAft>
              <a:buClr>
                <a:schemeClr val="dk2"/>
              </a:buClr>
              <a:buSzPts val="1600"/>
              <a:buNone/>
            </a:pPr>
            <a:r>
              <a:rPr lang="en-US" sz="2000"/>
              <a:t>Simple idea to “standardize” developer facing APIs</a:t>
            </a:r>
            <a:endParaRPr sz="2000"/>
          </a:p>
          <a:p>
            <a:pPr marL="0" lvl="0" indent="0" algn="l" rtl="0">
              <a:lnSpc>
                <a:spcPct val="104000"/>
              </a:lnSpc>
              <a:spcBef>
                <a:spcPts val="1200"/>
              </a:spcBef>
              <a:spcAft>
                <a:spcPts val="0"/>
              </a:spcAft>
              <a:buClr>
                <a:schemeClr val="dk2"/>
              </a:buClr>
              <a:buSzPts val="1600"/>
              <a:buNone/>
            </a:pPr>
            <a:endParaRPr sz="2000"/>
          </a:p>
        </p:txBody>
      </p:sp>
      <p:grpSp>
        <p:nvGrpSpPr>
          <p:cNvPr id="411" name="Google Shape;411;p16"/>
          <p:cNvGrpSpPr/>
          <p:nvPr/>
        </p:nvGrpSpPr>
        <p:grpSpPr>
          <a:xfrm>
            <a:off x="4020226" y="2397791"/>
            <a:ext cx="7386280" cy="3189925"/>
            <a:chOff x="-29463" y="1726839"/>
            <a:chExt cx="11259573" cy="4862690"/>
          </a:xfrm>
        </p:grpSpPr>
        <p:pic>
          <p:nvPicPr>
            <p:cNvPr id="412" name="Google Shape;412;p16"/>
            <p:cNvPicPr preferRelativeResize="0"/>
            <p:nvPr/>
          </p:nvPicPr>
          <p:blipFill rotWithShape="1">
            <a:blip r:embed="rId3">
              <a:alphaModFix/>
            </a:blip>
            <a:srcRect/>
            <a:stretch/>
          </p:blipFill>
          <p:spPr>
            <a:xfrm>
              <a:off x="9517618" y="4871428"/>
              <a:ext cx="1712492" cy="980793"/>
            </a:xfrm>
            <a:prstGeom prst="rect">
              <a:avLst/>
            </a:prstGeom>
            <a:noFill/>
            <a:ln>
              <a:noFill/>
            </a:ln>
          </p:spPr>
        </p:pic>
        <p:pic>
          <p:nvPicPr>
            <p:cNvPr id="413" name="Google Shape;413;p16"/>
            <p:cNvPicPr preferRelativeResize="0"/>
            <p:nvPr/>
          </p:nvPicPr>
          <p:blipFill rotWithShape="1">
            <a:blip r:embed="rId4">
              <a:alphaModFix/>
            </a:blip>
            <a:srcRect/>
            <a:stretch/>
          </p:blipFill>
          <p:spPr>
            <a:xfrm>
              <a:off x="5407128" y="3796149"/>
              <a:ext cx="980791" cy="996361"/>
            </a:xfrm>
            <a:prstGeom prst="rect">
              <a:avLst/>
            </a:prstGeom>
            <a:noFill/>
            <a:ln>
              <a:noFill/>
            </a:ln>
          </p:spPr>
        </p:pic>
        <p:pic>
          <p:nvPicPr>
            <p:cNvPr id="414" name="Google Shape;414;p16"/>
            <p:cNvPicPr preferRelativeResize="0"/>
            <p:nvPr/>
          </p:nvPicPr>
          <p:blipFill rotWithShape="1">
            <a:blip r:embed="rId5">
              <a:alphaModFix/>
            </a:blip>
            <a:srcRect/>
            <a:stretch/>
          </p:blipFill>
          <p:spPr>
            <a:xfrm>
              <a:off x="393999" y="3679388"/>
              <a:ext cx="2522034" cy="1229882"/>
            </a:xfrm>
            <a:prstGeom prst="rect">
              <a:avLst/>
            </a:prstGeom>
            <a:noFill/>
            <a:ln>
              <a:noFill/>
            </a:ln>
          </p:spPr>
        </p:pic>
        <p:pic>
          <p:nvPicPr>
            <p:cNvPr id="415" name="Google Shape;415;p16"/>
            <p:cNvPicPr preferRelativeResize="0"/>
            <p:nvPr/>
          </p:nvPicPr>
          <p:blipFill rotWithShape="1">
            <a:blip r:embed="rId6">
              <a:alphaModFix/>
            </a:blip>
            <a:srcRect/>
            <a:stretch/>
          </p:blipFill>
          <p:spPr>
            <a:xfrm>
              <a:off x="375027" y="4700179"/>
              <a:ext cx="1307721" cy="1323291"/>
            </a:xfrm>
            <a:prstGeom prst="rect">
              <a:avLst/>
            </a:prstGeom>
            <a:noFill/>
            <a:ln>
              <a:noFill/>
            </a:ln>
          </p:spPr>
        </p:pic>
        <p:pic>
          <p:nvPicPr>
            <p:cNvPr id="416" name="Google Shape;416;p16"/>
            <p:cNvPicPr preferRelativeResize="0"/>
            <p:nvPr/>
          </p:nvPicPr>
          <p:blipFill rotWithShape="1">
            <a:blip r:embed="rId7">
              <a:alphaModFix/>
            </a:blip>
            <a:srcRect/>
            <a:stretch/>
          </p:blipFill>
          <p:spPr>
            <a:xfrm>
              <a:off x="10217067" y="1835816"/>
              <a:ext cx="856246" cy="871816"/>
            </a:xfrm>
            <a:prstGeom prst="rect">
              <a:avLst/>
            </a:prstGeom>
            <a:noFill/>
            <a:ln>
              <a:noFill/>
            </a:ln>
          </p:spPr>
        </p:pic>
        <p:pic>
          <p:nvPicPr>
            <p:cNvPr id="417" name="Google Shape;417;p16"/>
            <p:cNvPicPr preferRelativeResize="0"/>
            <p:nvPr/>
          </p:nvPicPr>
          <p:blipFill rotWithShape="1">
            <a:blip r:embed="rId8">
              <a:alphaModFix/>
            </a:blip>
            <a:srcRect/>
            <a:stretch/>
          </p:blipFill>
          <p:spPr>
            <a:xfrm>
              <a:off x="220040" y="1726839"/>
              <a:ext cx="1074200" cy="1089770"/>
            </a:xfrm>
            <a:prstGeom prst="rect">
              <a:avLst/>
            </a:prstGeom>
            <a:noFill/>
            <a:ln>
              <a:noFill/>
            </a:ln>
          </p:spPr>
        </p:pic>
        <p:pic>
          <p:nvPicPr>
            <p:cNvPr id="418" name="Google Shape;418;p16"/>
            <p:cNvPicPr preferRelativeResize="0"/>
            <p:nvPr/>
          </p:nvPicPr>
          <p:blipFill rotWithShape="1">
            <a:blip r:embed="rId9">
              <a:alphaModFix/>
            </a:blip>
            <a:srcRect/>
            <a:stretch/>
          </p:blipFill>
          <p:spPr>
            <a:xfrm>
              <a:off x="8920259" y="2733398"/>
              <a:ext cx="2124224" cy="1194875"/>
            </a:xfrm>
            <a:prstGeom prst="rect">
              <a:avLst/>
            </a:prstGeom>
            <a:noFill/>
            <a:ln>
              <a:noFill/>
            </a:ln>
          </p:spPr>
        </p:pic>
        <p:pic>
          <p:nvPicPr>
            <p:cNvPr id="419" name="Google Shape;419;p16"/>
            <p:cNvPicPr preferRelativeResize="0"/>
            <p:nvPr/>
          </p:nvPicPr>
          <p:blipFill rotWithShape="1">
            <a:blip r:embed="rId10">
              <a:alphaModFix/>
            </a:blip>
            <a:srcRect/>
            <a:stretch/>
          </p:blipFill>
          <p:spPr>
            <a:xfrm>
              <a:off x="6585761" y="2854958"/>
              <a:ext cx="1741015" cy="951754"/>
            </a:xfrm>
            <a:prstGeom prst="rect">
              <a:avLst/>
            </a:prstGeom>
            <a:noFill/>
            <a:ln>
              <a:noFill/>
            </a:ln>
          </p:spPr>
        </p:pic>
        <p:pic>
          <p:nvPicPr>
            <p:cNvPr id="420" name="Google Shape;420;p16" descr="Ein Bild, das Text, Uhr, Messanzeige enthält.&#10;&#10;Automatisch generierte Beschreibung"/>
            <p:cNvPicPr preferRelativeResize="0"/>
            <p:nvPr/>
          </p:nvPicPr>
          <p:blipFill rotWithShape="1">
            <a:blip r:embed="rId11">
              <a:alphaModFix/>
            </a:blip>
            <a:srcRect/>
            <a:stretch/>
          </p:blipFill>
          <p:spPr>
            <a:xfrm>
              <a:off x="9038854" y="4044732"/>
              <a:ext cx="2042161" cy="499195"/>
            </a:xfrm>
            <a:prstGeom prst="rect">
              <a:avLst/>
            </a:prstGeom>
            <a:noFill/>
            <a:ln>
              <a:noFill/>
            </a:ln>
          </p:spPr>
        </p:pic>
        <p:pic>
          <p:nvPicPr>
            <p:cNvPr id="421" name="Google Shape;421;p16"/>
            <p:cNvPicPr preferRelativeResize="0"/>
            <p:nvPr/>
          </p:nvPicPr>
          <p:blipFill rotWithShape="1">
            <a:blip r:embed="rId12">
              <a:alphaModFix/>
            </a:blip>
            <a:srcRect/>
            <a:stretch/>
          </p:blipFill>
          <p:spPr>
            <a:xfrm>
              <a:off x="4329410" y="1951031"/>
              <a:ext cx="592386" cy="641387"/>
            </a:xfrm>
            <a:prstGeom prst="rect">
              <a:avLst/>
            </a:prstGeom>
            <a:noFill/>
            <a:ln>
              <a:noFill/>
            </a:ln>
          </p:spPr>
        </p:pic>
        <p:pic>
          <p:nvPicPr>
            <p:cNvPr id="422" name="Google Shape;422;p16"/>
            <p:cNvPicPr preferRelativeResize="0"/>
            <p:nvPr/>
          </p:nvPicPr>
          <p:blipFill rotWithShape="1">
            <a:blip r:embed="rId13">
              <a:alphaModFix/>
            </a:blip>
            <a:srcRect/>
            <a:stretch/>
          </p:blipFill>
          <p:spPr>
            <a:xfrm>
              <a:off x="6598285" y="3880397"/>
              <a:ext cx="827865" cy="827865"/>
            </a:xfrm>
            <a:prstGeom prst="rect">
              <a:avLst/>
            </a:prstGeom>
            <a:noFill/>
            <a:ln>
              <a:noFill/>
            </a:ln>
          </p:spPr>
        </p:pic>
        <p:pic>
          <p:nvPicPr>
            <p:cNvPr id="423" name="Google Shape;423;p16"/>
            <p:cNvPicPr preferRelativeResize="0"/>
            <p:nvPr/>
          </p:nvPicPr>
          <p:blipFill rotWithShape="1">
            <a:blip r:embed="rId14">
              <a:alphaModFix/>
            </a:blip>
            <a:srcRect/>
            <a:stretch/>
          </p:blipFill>
          <p:spPr>
            <a:xfrm>
              <a:off x="4565095" y="4871428"/>
              <a:ext cx="2979651" cy="980793"/>
            </a:xfrm>
            <a:prstGeom prst="rect">
              <a:avLst/>
            </a:prstGeom>
            <a:noFill/>
            <a:ln>
              <a:noFill/>
            </a:ln>
          </p:spPr>
        </p:pic>
        <p:pic>
          <p:nvPicPr>
            <p:cNvPr id="424" name="Google Shape;424;p16" descr="Ein Bild, das Text, drinnen, dunkel enthält.&#10;&#10;Automatisch generierte Beschreibung"/>
            <p:cNvPicPr preferRelativeResize="0"/>
            <p:nvPr/>
          </p:nvPicPr>
          <p:blipFill rotWithShape="1">
            <a:blip r:embed="rId15">
              <a:alphaModFix/>
            </a:blip>
            <a:srcRect/>
            <a:stretch/>
          </p:blipFill>
          <p:spPr>
            <a:xfrm>
              <a:off x="-29463" y="2692144"/>
              <a:ext cx="1918982" cy="1277382"/>
            </a:xfrm>
            <a:prstGeom prst="rect">
              <a:avLst/>
            </a:prstGeom>
            <a:noFill/>
            <a:ln>
              <a:noFill/>
            </a:ln>
          </p:spPr>
        </p:pic>
        <p:pic>
          <p:nvPicPr>
            <p:cNvPr id="425" name="Google Shape;425;p16"/>
            <p:cNvPicPr preferRelativeResize="0"/>
            <p:nvPr/>
          </p:nvPicPr>
          <p:blipFill rotWithShape="1">
            <a:blip r:embed="rId16">
              <a:alphaModFix/>
            </a:blip>
            <a:srcRect/>
            <a:stretch/>
          </p:blipFill>
          <p:spPr>
            <a:xfrm>
              <a:off x="3933438" y="2644556"/>
              <a:ext cx="2058838" cy="1372559"/>
            </a:xfrm>
            <a:prstGeom prst="rect">
              <a:avLst/>
            </a:prstGeom>
            <a:noFill/>
            <a:ln>
              <a:noFill/>
            </a:ln>
          </p:spPr>
        </p:pic>
        <p:pic>
          <p:nvPicPr>
            <p:cNvPr id="426" name="Google Shape;426;p16"/>
            <p:cNvPicPr preferRelativeResize="0"/>
            <p:nvPr/>
          </p:nvPicPr>
          <p:blipFill rotWithShape="1">
            <a:blip r:embed="rId17">
              <a:alphaModFix/>
            </a:blip>
            <a:srcRect/>
            <a:stretch/>
          </p:blipFill>
          <p:spPr>
            <a:xfrm>
              <a:off x="1099673" y="4134120"/>
              <a:ext cx="4365171" cy="2455409"/>
            </a:xfrm>
            <a:prstGeom prst="rect">
              <a:avLst/>
            </a:prstGeom>
            <a:noFill/>
            <a:ln>
              <a:noFill/>
            </a:ln>
          </p:spPr>
        </p:pic>
        <p:pic>
          <p:nvPicPr>
            <p:cNvPr id="427" name="Google Shape;427;p16" descr="Ein Bild, das Text enthält.&#10;&#10;Automatisch generierte Beschreibung"/>
            <p:cNvPicPr preferRelativeResize="0"/>
            <p:nvPr/>
          </p:nvPicPr>
          <p:blipFill rotWithShape="1">
            <a:blip r:embed="rId18">
              <a:alphaModFix/>
            </a:blip>
            <a:srcRect/>
            <a:stretch/>
          </p:blipFill>
          <p:spPr>
            <a:xfrm>
              <a:off x="1589450" y="1776073"/>
              <a:ext cx="2444750" cy="991303"/>
            </a:xfrm>
            <a:prstGeom prst="rect">
              <a:avLst/>
            </a:prstGeom>
            <a:noFill/>
            <a:ln>
              <a:noFill/>
            </a:ln>
          </p:spPr>
        </p:pic>
        <p:pic>
          <p:nvPicPr>
            <p:cNvPr id="428" name="Google Shape;428;p16"/>
            <p:cNvPicPr preferRelativeResize="0"/>
            <p:nvPr/>
          </p:nvPicPr>
          <p:blipFill rotWithShape="1">
            <a:blip r:embed="rId19">
              <a:alphaModFix/>
            </a:blip>
            <a:srcRect/>
            <a:stretch/>
          </p:blipFill>
          <p:spPr>
            <a:xfrm>
              <a:off x="7724408" y="5045416"/>
              <a:ext cx="1881544" cy="632816"/>
            </a:xfrm>
            <a:prstGeom prst="rect">
              <a:avLst/>
            </a:prstGeom>
            <a:noFill/>
            <a:ln>
              <a:noFill/>
            </a:ln>
          </p:spPr>
        </p:pic>
        <p:pic>
          <p:nvPicPr>
            <p:cNvPr id="429" name="Google Shape;429;p16"/>
            <p:cNvPicPr preferRelativeResize="0"/>
            <p:nvPr/>
          </p:nvPicPr>
          <p:blipFill rotWithShape="1">
            <a:blip r:embed="rId20">
              <a:alphaModFix/>
            </a:blip>
            <a:srcRect/>
            <a:stretch/>
          </p:blipFill>
          <p:spPr>
            <a:xfrm>
              <a:off x="5217006" y="2056470"/>
              <a:ext cx="2124224" cy="430509"/>
            </a:xfrm>
            <a:prstGeom prst="rect">
              <a:avLst/>
            </a:prstGeom>
            <a:noFill/>
            <a:ln>
              <a:noFill/>
            </a:ln>
          </p:spPr>
        </p:pic>
        <p:pic>
          <p:nvPicPr>
            <p:cNvPr id="430" name="Google Shape;430;p16"/>
            <p:cNvPicPr preferRelativeResize="0"/>
            <p:nvPr/>
          </p:nvPicPr>
          <p:blipFill rotWithShape="1">
            <a:blip r:embed="rId21">
              <a:alphaModFix/>
            </a:blip>
            <a:srcRect/>
            <a:stretch/>
          </p:blipFill>
          <p:spPr>
            <a:xfrm>
              <a:off x="7636516" y="3698343"/>
              <a:ext cx="1191973" cy="1191973"/>
            </a:xfrm>
            <a:prstGeom prst="rect">
              <a:avLst/>
            </a:prstGeom>
            <a:noFill/>
            <a:ln>
              <a:noFill/>
            </a:ln>
          </p:spPr>
        </p:pic>
        <p:pic>
          <p:nvPicPr>
            <p:cNvPr id="431" name="Google Shape;431;p16"/>
            <p:cNvPicPr preferRelativeResize="0"/>
            <p:nvPr/>
          </p:nvPicPr>
          <p:blipFill rotWithShape="1">
            <a:blip r:embed="rId22">
              <a:alphaModFix/>
            </a:blip>
            <a:srcRect/>
            <a:stretch/>
          </p:blipFill>
          <p:spPr>
            <a:xfrm>
              <a:off x="2289274" y="3046451"/>
              <a:ext cx="1175002" cy="476659"/>
            </a:xfrm>
            <a:prstGeom prst="rect">
              <a:avLst/>
            </a:prstGeom>
            <a:noFill/>
            <a:ln>
              <a:noFill/>
            </a:ln>
          </p:spPr>
        </p:pic>
        <p:pic>
          <p:nvPicPr>
            <p:cNvPr id="432" name="Google Shape;432;p16"/>
            <p:cNvPicPr preferRelativeResize="0"/>
            <p:nvPr/>
          </p:nvPicPr>
          <p:blipFill rotWithShape="1">
            <a:blip r:embed="rId23">
              <a:alphaModFix/>
            </a:blip>
            <a:srcRect/>
            <a:stretch/>
          </p:blipFill>
          <p:spPr>
            <a:xfrm>
              <a:off x="7915906" y="2117657"/>
              <a:ext cx="1916123" cy="339313"/>
            </a:xfrm>
            <a:prstGeom prst="rect">
              <a:avLst/>
            </a:prstGeom>
            <a:noFill/>
            <a:ln>
              <a:noFill/>
            </a:ln>
          </p:spPr>
        </p:pic>
      </p:grpSp>
      <p:pic>
        <p:nvPicPr>
          <p:cNvPr id="433" name="Google Shape;433;p16"/>
          <p:cNvPicPr preferRelativeResize="0"/>
          <p:nvPr/>
        </p:nvPicPr>
        <p:blipFill rotWithShape="1">
          <a:blip r:embed="rId24">
            <a:alphaModFix/>
          </a:blip>
          <a:srcRect/>
          <a:stretch/>
        </p:blipFill>
        <p:spPr>
          <a:xfrm>
            <a:off x="6274132" y="3949300"/>
            <a:ext cx="1130384" cy="25538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17"/>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CAMARA</a:t>
            </a:r>
            <a:br>
              <a:rPr lang="en-US"/>
            </a:br>
            <a:r>
              <a:rPr lang="en-US"/>
              <a:t>… and where we are now</a:t>
            </a:r>
            <a:endParaRPr/>
          </a:p>
        </p:txBody>
      </p:sp>
      <p:sp>
        <p:nvSpPr>
          <p:cNvPr id="441" name="Google Shape;441;p17"/>
          <p:cNvSpPr txBox="1">
            <a:spLocks noGrp="1"/>
          </p:cNvSpPr>
          <p:nvPr>
            <p:ph type="body" idx="1"/>
          </p:nvPr>
        </p:nvSpPr>
        <p:spPr>
          <a:xfrm>
            <a:off x="7644298" y="1989775"/>
            <a:ext cx="3744300" cy="3561954"/>
          </a:xfrm>
          <a:prstGeom prst="rect">
            <a:avLst/>
          </a:prstGeom>
          <a:noFill/>
          <a:ln>
            <a:noFill/>
          </a:ln>
        </p:spPr>
        <p:txBody>
          <a:bodyPr spcFirstLastPara="1" wrap="square" lIns="0" tIns="0" rIns="0" bIns="0" anchor="t" anchorCtr="0">
            <a:noAutofit/>
          </a:bodyPr>
          <a:lstStyle/>
          <a:p>
            <a:pPr marL="285750" lvl="0" indent="-311150" algn="l" rtl="0">
              <a:lnSpc>
                <a:spcPct val="104000"/>
              </a:lnSpc>
              <a:spcBef>
                <a:spcPts val="0"/>
              </a:spcBef>
              <a:spcAft>
                <a:spcPts val="0"/>
              </a:spcAft>
              <a:buClr>
                <a:srgbClr val="3A9BF3"/>
              </a:buClr>
              <a:buSzPts val="2000"/>
              <a:buFont typeface="Montserrat"/>
              <a:buChar char="•"/>
            </a:pPr>
            <a:r>
              <a:rPr lang="en-US" sz="1800" dirty="0" smtClean="0"/>
              <a:t>194 </a:t>
            </a:r>
            <a:r>
              <a:rPr lang="en-US" sz="1800" dirty="0"/>
              <a:t>Named Partners</a:t>
            </a:r>
            <a:endParaRPr sz="1800" dirty="0"/>
          </a:p>
          <a:p>
            <a:pPr marL="285750" lvl="0" indent="-311150" algn="l" rtl="0">
              <a:lnSpc>
                <a:spcPct val="104000"/>
              </a:lnSpc>
              <a:spcBef>
                <a:spcPts val="1200"/>
              </a:spcBef>
              <a:spcAft>
                <a:spcPts val="0"/>
              </a:spcAft>
              <a:buClr>
                <a:srgbClr val="3A9BF3"/>
              </a:buClr>
              <a:buSzPts val="2000"/>
              <a:buFont typeface="Montserrat"/>
              <a:buChar char="•"/>
            </a:pPr>
            <a:r>
              <a:rPr lang="en-US" sz="1800" dirty="0" smtClean="0"/>
              <a:t>489 </a:t>
            </a:r>
            <a:r>
              <a:rPr lang="en-US" sz="1800" dirty="0"/>
              <a:t>companies participating in CAMARA</a:t>
            </a:r>
            <a:endParaRPr sz="1800" dirty="0"/>
          </a:p>
          <a:p>
            <a:pPr marL="285750" lvl="0" indent="-311150" algn="l" rtl="0">
              <a:lnSpc>
                <a:spcPct val="104000"/>
              </a:lnSpc>
              <a:spcBef>
                <a:spcPts val="1200"/>
              </a:spcBef>
              <a:spcAft>
                <a:spcPts val="0"/>
              </a:spcAft>
              <a:buClr>
                <a:srgbClr val="3A9BF3"/>
              </a:buClr>
              <a:buSzPts val="2000"/>
              <a:buFont typeface="Montserrat"/>
              <a:buChar char="•"/>
            </a:pPr>
            <a:r>
              <a:rPr lang="en-US" sz="1800" dirty="0"/>
              <a:t>8 API Sub Projects</a:t>
            </a:r>
            <a:br>
              <a:rPr lang="en-US" sz="1800" dirty="0"/>
            </a:br>
            <a:r>
              <a:rPr lang="en-US" sz="1800" dirty="0"/>
              <a:t>30 Sandbox Projects</a:t>
            </a:r>
            <a:br>
              <a:rPr lang="en-US" sz="1800" dirty="0"/>
            </a:br>
            <a:r>
              <a:rPr lang="en-US" sz="1800" dirty="0"/>
              <a:t>72 APIs</a:t>
            </a:r>
            <a:br>
              <a:rPr lang="en-US" sz="1800" dirty="0"/>
            </a:br>
            <a:r>
              <a:rPr lang="en-US" sz="1800" dirty="0"/>
              <a:t>5 Working Groups</a:t>
            </a:r>
            <a:endParaRPr sz="1800" dirty="0"/>
          </a:p>
          <a:p>
            <a:pPr marL="285750" lvl="0" indent="-311150" algn="l" rtl="0">
              <a:lnSpc>
                <a:spcPct val="104000"/>
              </a:lnSpc>
              <a:spcBef>
                <a:spcPts val="1200"/>
              </a:spcBef>
              <a:spcAft>
                <a:spcPts val="0"/>
              </a:spcAft>
              <a:buClr>
                <a:srgbClr val="3A9BF3"/>
              </a:buClr>
              <a:buSzPts val="2000"/>
              <a:buFont typeface="Montserrat"/>
              <a:buChar char="•"/>
            </a:pPr>
            <a:r>
              <a:rPr lang="en-US" sz="1800" dirty="0" smtClean="0"/>
              <a:t>1371 </a:t>
            </a:r>
            <a:r>
              <a:rPr lang="en-US" sz="1800" dirty="0"/>
              <a:t>people joined CAMARA</a:t>
            </a:r>
            <a:endParaRPr sz="1800" dirty="0"/>
          </a:p>
          <a:p>
            <a:pPr marL="285750" lvl="0" indent="-311150" algn="l" rtl="0">
              <a:lnSpc>
                <a:spcPct val="104000"/>
              </a:lnSpc>
              <a:spcBef>
                <a:spcPts val="1200"/>
              </a:spcBef>
              <a:spcAft>
                <a:spcPts val="0"/>
              </a:spcAft>
              <a:buClr>
                <a:srgbClr val="3A9BF3"/>
              </a:buClr>
              <a:buSzPts val="2000"/>
              <a:buFont typeface="Montserrat"/>
              <a:buChar char="•"/>
            </a:pPr>
            <a:r>
              <a:rPr lang="en-US" sz="1800" dirty="0"/>
              <a:t>Development ”home” for GSMA Open Gateway</a:t>
            </a:r>
            <a:endParaRPr sz="1800" dirty="0"/>
          </a:p>
        </p:txBody>
      </p:sp>
      <p:pic>
        <p:nvPicPr>
          <p:cNvPr id="2" name="Grafik 1"/>
          <p:cNvPicPr>
            <a:picLocks noChangeAspect="1"/>
          </p:cNvPicPr>
          <p:nvPr/>
        </p:nvPicPr>
        <p:blipFill>
          <a:blip r:embed="rId3"/>
          <a:stretch>
            <a:fillRect/>
          </a:stretch>
        </p:blipFill>
        <p:spPr>
          <a:xfrm>
            <a:off x="444373" y="2346385"/>
            <a:ext cx="6809188" cy="2795118"/>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9">
          <a:extLst>
            <a:ext uri="{FF2B5EF4-FFF2-40B4-BE49-F238E27FC236}">
              <a16:creationId xmlns:a16="http://schemas.microsoft.com/office/drawing/2014/main" xmlns="" id="{F2A8E53B-92F2-4A7B-B17E-19BEEAB44502}"/>
            </a:ext>
          </a:extLst>
        </p:cNvPr>
        <p:cNvGrpSpPr/>
        <p:nvPr/>
      </p:nvGrpSpPr>
      <p:grpSpPr>
        <a:xfrm>
          <a:off x="0" y="0"/>
          <a:ext cx="0" cy="0"/>
          <a:chOff x="0" y="0"/>
          <a:chExt cx="0" cy="0"/>
        </a:xfrm>
      </p:grpSpPr>
      <p:sp>
        <p:nvSpPr>
          <p:cNvPr id="450" name="Google Shape;450;p18">
            <a:extLst>
              <a:ext uri="{FF2B5EF4-FFF2-40B4-BE49-F238E27FC236}">
                <a16:creationId xmlns:a16="http://schemas.microsoft.com/office/drawing/2014/main" xmlns="" id="{427B6AF2-B355-C670-B111-1D52EE30DDC7}"/>
              </a:ext>
            </a:extLst>
          </p:cNvPr>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CAMARA</a:t>
            </a:r>
            <a:br>
              <a:rPr lang="en-US"/>
            </a:br>
            <a:r>
              <a:rPr lang="en-US"/>
              <a:t>Logos</a:t>
            </a:r>
            <a:br>
              <a:rPr lang="en-US"/>
            </a:br>
            <a:endParaRPr/>
          </a:p>
        </p:txBody>
      </p:sp>
      <p:sp>
        <p:nvSpPr>
          <p:cNvPr id="12" name="Shape 1"/>
          <p:cNvSpPr/>
          <p:nvPr/>
        </p:nvSpPr>
        <p:spPr>
          <a:xfrm>
            <a:off x="2716330" y="486981"/>
            <a:ext cx="118872" cy="118872"/>
          </a:xfrm>
          <a:prstGeom prst="rect">
            <a:avLst/>
          </a:prstGeom>
          <a:solidFill>
            <a:srgbClr val="FFF6DF"/>
          </a:solidFill>
          <a:ln w="8890">
            <a:solidFill>
              <a:srgbClr val="FDBF11"/>
            </a:solidFill>
            <a:prstDash val="solid"/>
          </a:ln>
        </p:spPr>
        <p:txBody>
          <a:bodyPr/>
          <a:lstStyle/>
          <a:p>
            <a:endParaRPr lang="de-DE"/>
          </a:p>
        </p:txBody>
      </p:sp>
      <p:sp>
        <p:nvSpPr>
          <p:cNvPr id="14" name="Text 2"/>
          <p:cNvSpPr/>
          <p:nvPr/>
        </p:nvSpPr>
        <p:spPr>
          <a:xfrm>
            <a:off x="2890066" y="445833"/>
            <a:ext cx="960120" cy="201168"/>
          </a:xfrm>
          <a:prstGeom prst="rect">
            <a:avLst/>
          </a:prstGeom>
          <a:noFill/>
          <a:ln/>
        </p:spPr>
        <p:txBody>
          <a:bodyPr wrap="square" lIns="0" tIns="0" rIns="0" bIns="0" rtlCol="0" anchor="ctr">
            <a:normAutofit/>
          </a:bodyPr>
          <a:lstStyle/>
          <a:p>
            <a:pPr marL="0" indent="0">
              <a:buNone/>
            </a:pPr>
            <a:r>
              <a:rPr lang="en-US" sz="860" dirty="0">
                <a:solidFill>
                  <a:srgbClr val="3B4148"/>
                </a:solidFill>
                <a:latin typeface="Montserrat" pitchFamily="34" charset="0"/>
                <a:ea typeface="Montserrat" pitchFamily="34" charset="-122"/>
                <a:cs typeface="Montserrat" pitchFamily="34" charset="-120"/>
              </a:rPr>
              <a:t>Premier 11</a:t>
            </a:r>
            <a:endParaRPr lang="en-US" sz="860" dirty="0"/>
          </a:p>
        </p:txBody>
      </p:sp>
      <p:sp>
        <p:nvSpPr>
          <p:cNvPr id="16" name="Shape 3"/>
          <p:cNvSpPr/>
          <p:nvPr/>
        </p:nvSpPr>
        <p:spPr>
          <a:xfrm>
            <a:off x="2716330" y="729186"/>
            <a:ext cx="118872" cy="118872"/>
          </a:xfrm>
          <a:prstGeom prst="rect">
            <a:avLst/>
          </a:prstGeom>
          <a:solidFill>
            <a:srgbClr val="EAF4FF"/>
          </a:solidFill>
          <a:ln w="8890">
            <a:solidFill>
              <a:srgbClr val="3A9BF3"/>
            </a:solidFill>
            <a:prstDash val="solid"/>
          </a:ln>
        </p:spPr>
        <p:txBody>
          <a:bodyPr/>
          <a:lstStyle/>
          <a:p>
            <a:endParaRPr lang="de-DE"/>
          </a:p>
        </p:txBody>
      </p:sp>
      <p:sp>
        <p:nvSpPr>
          <p:cNvPr id="18" name="Text 4"/>
          <p:cNvSpPr/>
          <p:nvPr/>
        </p:nvSpPr>
        <p:spPr>
          <a:xfrm>
            <a:off x="2890066" y="688038"/>
            <a:ext cx="960120" cy="201168"/>
          </a:xfrm>
          <a:prstGeom prst="rect">
            <a:avLst/>
          </a:prstGeom>
          <a:noFill/>
          <a:ln/>
        </p:spPr>
        <p:txBody>
          <a:bodyPr wrap="square" lIns="0" tIns="0" rIns="0" bIns="0" rtlCol="0" anchor="ctr">
            <a:normAutofit/>
          </a:bodyPr>
          <a:lstStyle/>
          <a:p>
            <a:pPr marL="0" indent="0">
              <a:buNone/>
            </a:pPr>
            <a:r>
              <a:rPr lang="en-US" sz="860" dirty="0">
                <a:solidFill>
                  <a:srgbClr val="3B4148"/>
                </a:solidFill>
                <a:latin typeface="Montserrat" pitchFamily="34" charset="0"/>
                <a:ea typeface="Montserrat" pitchFamily="34" charset="-122"/>
                <a:cs typeface="Montserrat" pitchFamily="34" charset="-120"/>
              </a:rPr>
              <a:t>General 8</a:t>
            </a:r>
            <a:endParaRPr lang="en-US" sz="860" dirty="0"/>
          </a:p>
        </p:txBody>
      </p:sp>
      <p:sp>
        <p:nvSpPr>
          <p:cNvPr id="19" name="Shape 5"/>
          <p:cNvSpPr/>
          <p:nvPr/>
        </p:nvSpPr>
        <p:spPr>
          <a:xfrm>
            <a:off x="2716330" y="971460"/>
            <a:ext cx="118872" cy="118872"/>
          </a:xfrm>
          <a:prstGeom prst="rect">
            <a:avLst/>
          </a:prstGeom>
          <a:solidFill>
            <a:srgbClr val="E7F7F4"/>
          </a:solidFill>
          <a:ln w="8890">
            <a:solidFill>
              <a:srgbClr val="2FB8AE"/>
            </a:solidFill>
            <a:prstDash val="solid"/>
          </a:ln>
        </p:spPr>
        <p:txBody>
          <a:bodyPr/>
          <a:lstStyle/>
          <a:p>
            <a:endParaRPr lang="de-DE"/>
          </a:p>
        </p:txBody>
      </p:sp>
      <p:sp>
        <p:nvSpPr>
          <p:cNvPr id="20" name="Text 6"/>
          <p:cNvSpPr/>
          <p:nvPr/>
        </p:nvSpPr>
        <p:spPr>
          <a:xfrm>
            <a:off x="2890066" y="930312"/>
            <a:ext cx="960120" cy="201168"/>
          </a:xfrm>
          <a:prstGeom prst="rect">
            <a:avLst/>
          </a:prstGeom>
          <a:noFill/>
          <a:ln/>
        </p:spPr>
        <p:txBody>
          <a:bodyPr wrap="square" lIns="0" tIns="0" rIns="0" bIns="0" rtlCol="0" anchor="ctr">
            <a:normAutofit/>
          </a:bodyPr>
          <a:lstStyle/>
          <a:p>
            <a:pPr marL="0" indent="0">
              <a:buNone/>
            </a:pPr>
            <a:r>
              <a:rPr lang="en-US" sz="860" dirty="0">
                <a:solidFill>
                  <a:srgbClr val="3B4148"/>
                </a:solidFill>
                <a:latin typeface="Montserrat" pitchFamily="34" charset="0"/>
                <a:ea typeface="Montserrat" pitchFamily="34" charset="-122"/>
                <a:cs typeface="Montserrat" pitchFamily="34" charset="-120"/>
              </a:rPr>
              <a:t>Associate 8</a:t>
            </a:r>
            <a:endParaRPr lang="en-US" sz="860" dirty="0"/>
          </a:p>
        </p:txBody>
      </p:sp>
      <p:sp>
        <p:nvSpPr>
          <p:cNvPr id="22" name="Shape 7"/>
          <p:cNvSpPr/>
          <p:nvPr/>
        </p:nvSpPr>
        <p:spPr>
          <a:xfrm>
            <a:off x="2716330" y="1213665"/>
            <a:ext cx="118872" cy="118872"/>
          </a:xfrm>
          <a:prstGeom prst="rect">
            <a:avLst/>
          </a:prstGeom>
          <a:solidFill>
            <a:srgbClr val="FFFFFF"/>
          </a:solidFill>
          <a:ln w="8890">
            <a:solidFill>
              <a:srgbClr val="B7BEC5"/>
            </a:solidFill>
            <a:prstDash val="solid"/>
          </a:ln>
        </p:spPr>
        <p:txBody>
          <a:bodyPr/>
          <a:lstStyle/>
          <a:p>
            <a:endParaRPr lang="de-DE"/>
          </a:p>
        </p:txBody>
      </p:sp>
      <p:sp>
        <p:nvSpPr>
          <p:cNvPr id="24" name="Text 8"/>
          <p:cNvSpPr/>
          <p:nvPr/>
        </p:nvSpPr>
        <p:spPr>
          <a:xfrm>
            <a:off x="2890066" y="1172517"/>
            <a:ext cx="1508760" cy="201168"/>
          </a:xfrm>
          <a:prstGeom prst="rect">
            <a:avLst/>
          </a:prstGeom>
          <a:noFill/>
          <a:ln/>
        </p:spPr>
        <p:txBody>
          <a:bodyPr wrap="square" lIns="0" tIns="0" rIns="0" bIns="0" rtlCol="0" anchor="ctr">
            <a:normAutofit/>
          </a:bodyPr>
          <a:lstStyle/>
          <a:p>
            <a:pPr marL="0" indent="0">
              <a:buNone/>
            </a:pPr>
            <a:r>
              <a:rPr lang="en-US" sz="860" dirty="0" smtClean="0">
                <a:solidFill>
                  <a:srgbClr val="3B4148"/>
                </a:solidFill>
                <a:latin typeface="Montserrat" pitchFamily="34" charset="0"/>
                <a:ea typeface="Montserrat" pitchFamily="34" charset="-122"/>
                <a:cs typeface="Montserrat" pitchFamily="34" charset="-120"/>
              </a:rPr>
              <a:t>Participating 167</a:t>
            </a:r>
            <a:endParaRPr lang="en-US" sz="860" dirty="0"/>
          </a:p>
        </p:txBody>
      </p:sp>
      <p:sp>
        <p:nvSpPr>
          <p:cNvPr id="26" name="Shape 9"/>
          <p:cNvSpPr/>
          <p:nvPr/>
        </p:nvSpPr>
        <p:spPr>
          <a:xfrm>
            <a:off x="240030" y="1732788"/>
            <a:ext cx="750507" cy="296005"/>
          </a:xfrm>
          <a:prstGeom prst="rect">
            <a:avLst/>
          </a:prstGeom>
          <a:solidFill>
            <a:srgbClr val="FFF6DF"/>
          </a:solidFill>
          <a:ln w="8255">
            <a:solidFill>
              <a:srgbClr val="FDBF11"/>
            </a:solidFill>
            <a:prstDash val="solid"/>
          </a:ln>
        </p:spPr>
        <p:txBody>
          <a:bodyPr/>
          <a:lstStyle/>
          <a:p>
            <a:endParaRPr lang="de-DE"/>
          </a:p>
        </p:txBody>
      </p:sp>
      <p:pic>
        <p:nvPicPr>
          <p:cNvPr id="27" name="Image 0" descr="AT&amp;T Services, Inc."/>
          <p:cNvPicPr>
            <a:picLocks noChangeAspect="1"/>
          </p:cNvPicPr>
          <p:nvPr/>
        </p:nvPicPr>
        <p:blipFill>
          <a:blip r:embed="rId3"/>
          <a:stretch>
            <a:fillRect/>
          </a:stretch>
        </p:blipFill>
        <p:spPr>
          <a:xfrm>
            <a:off x="425995" y="1764792"/>
            <a:ext cx="378577" cy="231997"/>
          </a:xfrm>
          <a:prstGeom prst="rect">
            <a:avLst/>
          </a:prstGeom>
        </p:spPr>
      </p:pic>
      <p:sp>
        <p:nvSpPr>
          <p:cNvPr id="28" name="Shape 10"/>
          <p:cNvSpPr/>
          <p:nvPr/>
        </p:nvSpPr>
        <p:spPr>
          <a:xfrm>
            <a:off x="1031684" y="1732788"/>
            <a:ext cx="750507" cy="296005"/>
          </a:xfrm>
          <a:prstGeom prst="rect">
            <a:avLst/>
          </a:prstGeom>
          <a:solidFill>
            <a:srgbClr val="FFF6DF"/>
          </a:solidFill>
          <a:ln w="8255">
            <a:solidFill>
              <a:srgbClr val="FDBF11"/>
            </a:solidFill>
            <a:prstDash val="solid"/>
          </a:ln>
        </p:spPr>
        <p:txBody>
          <a:bodyPr/>
          <a:lstStyle/>
          <a:p>
            <a:endParaRPr lang="de-DE"/>
          </a:p>
        </p:txBody>
      </p:sp>
      <p:pic>
        <p:nvPicPr>
          <p:cNvPr id="29" name="Image 1" descr="Deutsche Telekom AG"/>
          <p:cNvPicPr>
            <a:picLocks noChangeAspect="1"/>
          </p:cNvPicPr>
          <p:nvPr/>
        </p:nvPicPr>
        <p:blipFill>
          <a:blip r:embed="rId4"/>
          <a:stretch>
            <a:fillRect/>
          </a:stretch>
        </p:blipFill>
        <p:spPr>
          <a:xfrm>
            <a:off x="1309393" y="1764792"/>
            <a:ext cx="195089" cy="231997"/>
          </a:xfrm>
          <a:prstGeom prst="rect">
            <a:avLst/>
          </a:prstGeom>
        </p:spPr>
      </p:pic>
      <p:sp>
        <p:nvSpPr>
          <p:cNvPr id="30" name="Shape 11"/>
          <p:cNvSpPr/>
          <p:nvPr/>
        </p:nvSpPr>
        <p:spPr>
          <a:xfrm>
            <a:off x="1823339" y="1732788"/>
            <a:ext cx="750507" cy="296005"/>
          </a:xfrm>
          <a:prstGeom prst="rect">
            <a:avLst/>
          </a:prstGeom>
          <a:solidFill>
            <a:srgbClr val="FFF6DF"/>
          </a:solidFill>
          <a:ln w="8255">
            <a:solidFill>
              <a:srgbClr val="FDBF11"/>
            </a:solidFill>
            <a:prstDash val="solid"/>
          </a:ln>
        </p:spPr>
        <p:txBody>
          <a:bodyPr/>
          <a:lstStyle/>
          <a:p>
            <a:endParaRPr lang="de-DE"/>
          </a:p>
        </p:txBody>
      </p:sp>
      <p:pic>
        <p:nvPicPr>
          <p:cNvPr id="31" name="Image 2" descr="Ericsson AB"/>
          <p:cNvPicPr>
            <a:picLocks noChangeAspect="1"/>
          </p:cNvPicPr>
          <p:nvPr/>
        </p:nvPicPr>
        <p:blipFill>
          <a:blip r:embed="rId5"/>
          <a:stretch>
            <a:fillRect/>
          </a:stretch>
        </p:blipFill>
        <p:spPr>
          <a:xfrm>
            <a:off x="2066776" y="1764792"/>
            <a:ext cx="263633" cy="231997"/>
          </a:xfrm>
          <a:prstGeom prst="rect">
            <a:avLst/>
          </a:prstGeom>
        </p:spPr>
      </p:pic>
      <p:sp>
        <p:nvSpPr>
          <p:cNvPr id="32" name="Shape 12"/>
          <p:cNvSpPr/>
          <p:nvPr/>
        </p:nvSpPr>
        <p:spPr>
          <a:xfrm>
            <a:off x="2614993" y="1732788"/>
            <a:ext cx="750507" cy="296005"/>
          </a:xfrm>
          <a:prstGeom prst="rect">
            <a:avLst/>
          </a:prstGeom>
          <a:solidFill>
            <a:srgbClr val="FFF6DF"/>
          </a:solidFill>
          <a:ln w="8255">
            <a:solidFill>
              <a:srgbClr val="FDBF11"/>
            </a:solidFill>
            <a:prstDash val="solid"/>
          </a:ln>
        </p:spPr>
        <p:txBody>
          <a:bodyPr/>
          <a:lstStyle/>
          <a:p>
            <a:endParaRPr lang="de-DE"/>
          </a:p>
        </p:txBody>
      </p:sp>
      <p:pic>
        <p:nvPicPr>
          <p:cNvPr id="33" name="Image 3" descr="Google LLC"/>
          <p:cNvPicPr>
            <a:picLocks noChangeAspect="1"/>
          </p:cNvPicPr>
          <p:nvPr/>
        </p:nvPicPr>
        <p:blipFill>
          <a:blip r:embed="rId6"/>
          <a:stretch>
            <a:fillRect/>
          </a:stretch>
        </p:blipFill>
        <p:spPr>
          <a:xfrm>
            <a:off x="2800958" y="1764792"/>
            <a:ext cx="378577" cy="231997"/>
          </a:xfrm>
          <a:prstGeom prst="rect">
            <a:avLst/>
          </a:prstGeom>
        </p:spPr>
      </p:pic>
      <p:sp>
        <p:nvSpPr>
          <p:cNvPr id="34" name="Shape 13"/>
          <p:cNvSpPr/>
          <p:nvPr/>
        </p:nvSpPr>
        <p:spPr>
          <a:xfrm>
            <a:off x="3406648" y="1732788"/>
            <a:ext cx="750507" cy="296005"/>
          </a:xfrm>
          <a:prstGeom prst="rect">
            <a:avLst/>
          </a:prstGeom>
          <a:solidFill>
            <a:srgbClr val="FFF6DF"/>
          </a:solidFill>
          <a:ln w="8255">
            <a:solidFill>
              <a:srgbClr val="FDBF11"/>
            </a:solidFill>
            <a:prstDash val="solid"/>
          </a:ln>
        </p:spPr>
        <p:txBody>
          <a:bodyPr/>
          <a:lstStyle/>
          <a:p>
            <a:endParaRPr lang="de-DE"/>
          </a:p>
        </p:txBody>
      </p:sp>
      <p:pic>
        <p:nvPicPr>
          <p:cNvPr id="35" name="Image 4" descr="Nokia Corporation"/>
          <p:cNvPicPr>
            <a:picLocks noChangeAspect="1"/>
          </p:cNvPicPr>
          <p:nvPr/>
        </p:nvPicPr>
        <p:blipFill>
          <a:blip r:embed="rId7"/>
          <a:stretch>
            <a:fillRect/>
          </a:stretch>
        </p:blipFill>
        <p:spPr>
          <a:xfrm>
            <a:off x="3456940" y="1798196"/>
            <a:ext cx="649923" cy="165189"/>
          </a:xfrm>
          <a:prstGeom prst="rect">
            <a:avLst/>
          </a:prstGeom>
        </p:spPr>
      </p:pic>
      <p:sp>
        <p:nvSpPr>
          <p:cNvPr id="36" name="Shape 14"/>
          <p:cNvSpPr/>
          <p:nvPr/>
        </p:nvSpPr>
        <p:spPr>
          <a:xfrm>
            <a:off x="4198303" y="1732788"/>
            <a:ext cx="750507" cy="296005"/>
          </a:xfrm>
          <a:prstGeom prst="rect">
            <a:avLst/>
          </a:prstGeom>
          <a:solidFill>
            <a:srgbClr val="FFF6DF"/>
          </a:solidFill>
          <a:ln w="8255">
            <a:solidFill>
              <a:srgbClr val="FDBF11"/>
            </a:solidFill>
            <a:prstDash val="solid"/>
          </a:ln>
        </p:spPr>
        <p:txBody>
          <a:bodyPr/>
          <a:lstStyle/>
          <a:p>
            <a:endParaRPr lang="de-DE"/>
          </a:p>
        </p:txBody>
      </p:sp>
      <p:pic>
        <p:nvPicPr>
          <p:cNvPr id="37" name="Image 5" descr="Orange SA"/>
          <p:cNvPicPr>
            <a:picLocks noChangeAspect="1"/>
          </p:cNvPicPr>
          <p:nvPr/>
        </p:nvPicPr>
        <p:blipFill>
          <a:blip r:embed="rId8"/>
          <a:stretch>
            <a:fillRect/>
          </a:stretch>
        </p:blipFill>
        <p:spPr>
          <a:xfrm>
            <a:off x="4457557" y="1764792"/>
            <a:ext cx="231997" cy="231997"/>
          </a:xfrm>
          <a:prstGeom prst="rect">
            <a:avLst/>
          </a:prstGeom>
        </p:spPr>
      </p:pic>
      <p:sp>
        <p:nvSpPr>
          <p:cNvPr id="38" name="Shape 15"/>
          <p:cNvSpPr/>
          <p:nvPr/>
        </p:nvSpPr>
        <p:spPr>
          <a:xfrm>
            <a:off x="4989957" y="1732788"/>
            <a:ext cx="750507" cy="296005"/>
          </a:xfrm>
          <a:prstGeom prst="rect">
            <a:avLst/>
          </a:prstGeom>
          <a:solidFill>
            <a:srgbClr val="FFF6DF"/>
          </a:solidFill>
          <a:ln w="8255">
            <a:solidFill>
              <a:srgbClr val="FDBF11"/>
            </a:solidFill>
            <a:prstDash val="solid"/>
          </a:ln>
        </p:spPr>
        <p:txBody>
          <a:bodyPr/>
          <a:lstStyle/>
          <a:p>
            <a:endParaRPr lang="de-DE"/>
          </a:p>
        </p:txBody>
      </p:sp>
      <p:pic>
        <p:nvPicPr>
          <p:cNvPr id="39" name="Image 6" descr="T-Mobile PCS Holdings LLC"/>
          <p:cNvPicPr>
            <a:picLocks noChangeAspect="1"/>
          </p:cNvPicPr>
          <p:nvPr/>
        </p:nvPicPr>
        <p:blipFill>
          <a:blip r:embed="rId9"/>
          <a:stretch>
            <a:fillRect/>
          </a:stretch>
        </p:blipFill>
        <p:spPr>
          <a:xfrm>
            <a:off x="5040249" y="1802935"/>
            <a:ext cx="649923" cy="155711"/>
          </a:xfrm>
          <a:prstGeom prst="rect">
            <a:avLst/>
          </a:prstGeom>
        </p:spPr>
      </p:pic>
      <p:sp>
        <p:nvSpPr>
          <p:cNvPr id="40" name="Shape 16"/>
          <p:cNvSpPr/>
          <p:nvPr/>
        </p:nvSpPr>
        <p:spPr>
          <a:xfrm>
            <a:off x="5781612" y="1732788"/>
            <a:ext cx="750507" cy="296005"/>
          </a:xfrm>
          <a:prstGeom prst="rect">
            <a:avLst/>
          </a:prstGeom>
          <a:solidFill>
            <a:srgbClr val="FFF6DF"/>
          </a:solidFill>
          <a:ln w="8255">
            <a:solidFill>
              <a:srgbClr val="FDBF11"/>
            </a:solidFill>
            <a:prstDash val="solid"/>
          </a:ln>
        </p:spPr>
        <p:txBody>
          <a:bodyPr/>
          <a:lstStyle/>
          <a:p>
            <a:endParaRPr lang="de-DE"/>
          </a:p>
        </p:txBody>
      </p:sp>
      <p:pic>
        <p:nvPicPr>
          <p:cNvPr id="41" name="Image 7" descr="Telefonica, S.A."/>
          <p:cNvPicPr>
            <a:picLocks noChangeAspect="1"/>
          </p:cNvPicPr>
          <p:nvPr/>
        </p:nvPicPr>
        <p:blipFill>
          <a:blip r:embed="rId10"/>
          <a:stretch>
            <a:fillRect/>
          </a:stretch>
        </p:blipFill>
        <p:spPr>
          <a:xfrm>
            <a:off x="5831904" y="1802935"/>
            <a:ext cx="649923" cy="155711"/>
          </a:xfrm>
          <a:prstGeom prst="rect">
            <a:avLst/>
          </a:prstGeom>
        </p:spPr>
      </p:pic>
      <p:sp>
        <p:nvSpPr>
          <p:cNvPr id="42" name="Shape 17"/>
          <p:cNvSpPr/>
          <p:nvPr/>
        </p:nvSpPr>
        <p:spPr>
          <a:xfrm>
            <a:off x="6573266" y="1732788"/>
            <a:ext cx="750507" cy="296005"/>
          </a:xfrm>
          <a:prstGeom prst="rect">
            <a:avLst/>
          </a:prstGeom>
          <a:solidFill>
            <a:srgbClr val="FFF6DF"/>
          </a:solidFill>
          <a:ln w="8255">
            <a:solidFill>
              <a:srgbClr val="FDBF11"/>
            </a:solidFill>
            <a:prstDash val="solid"/>
          </a:ln>
        </p:spPr>
        <p:txBody>
          <a:bodyPr/>
          <a:lstStyle/>
          <a:p>
            <a:endParaRPr lang="de-DE"/>
          </a:p>
        </p:txBody>
      </p:sp>
      <p:pic>
        <p:nvPicPr>
          <p:cNvPr id="43" name="Image 8" descr="TELUS Corporation"/>
          <p:cNvPicPr>
            <a:picLocks noChangeAspect="1"/>
          </p:cNvPicPr>
          <p:nvPr/>
        </p:nvPicPr>
        <p:blipFill>
          <a:blip r:embed="rId11"/>
          <a:stretch>
            <a:fillRect/>
          </a:stretch>
        </p:blipFill>
        <p:spPr>
          <a:xfrm>
            <a:off x="6623558" y="1816475"/>
            <a:ext cx="649923" cy="128630"/>
          </a:xfrm>
          <a:prstGeom prst="rect">
            <a:avLst/>
          </a:prstGeom>
        </p:spPr>
      </p:pic>
      <p:sp>
        <p:nvSpPr>
          <p:cNvPr id="44" name="Shape 18"/>
          <p:cNvSpPr/>
          <p:nvPr/>
        </p:nvSpPr>
        <p:spPr>
          <a:xfrm>
            <a:off x="7364921" y="1732788"/>
            <a:ext cx="750507" cy="296005"/>
          </a:xfrm>
          <a:prstGeom prst="rect">
            <a:avLst/>
          </a:prstGeom>
          <a:solidFill>
            <a:srgbClr val="FFF6DF"/>
          </a:solidFill>
          <a:ln w="8255">
            <a:solidFill>
              <a:srgbClr val="FDBF11"/>
            </a:solidFill>
            <a:prstDash val="solid"/>
          </a:ln>
        </p:spPr>
        <p:txBody>
          <a:bodyPr/>
          <a:lstStyle/>
          <a:p>
            <a:endParaRPr lang="de-DE"/>
          </a:p>
        </p:txBody>
      </p:sp>
      <p:pic>
        <p:nvPicPr>
          <p:cNvPr id="45" name="Image 9" descr="Verizon Corporate Services"/>
          <p:cNvPicPr>
            <a:picLocks noChangeAspect="1"/>
          </p:cNvPicPr>
          <p:nvPr/>
        </p:nvPicPr>
        <p:blipFill>
          <a:blip r:embed="rId12"/>
          <a:stretch>
            <a:fillRect/>
          </a:stretch>
        </p:blipFill>
        <p:spPr>
          <a:xfrm>
            <a:off x="7457537" y="1764792"/>
            <a:ext cx="565273" cy="231997"/>
          </a:xfrm>
          <a:prstGeom prst="rect">
            <a:avLst/>
          </a:prstGeom>
        </p:spPr>
      </p:pic>
      <p:sp>
        <p:nvSpPr>
          <p:cNvPr id="46" name="Shape 19"/>
          <p:cNvSpPr/>
          <p:nvPr/>
        </p:nvSpPr>
        <p:spPr>
          <a:xfrm>
            <a:off x="8156575" y="1732788"/>
            <a:ext cx="750507" cy="296005"/>
          </a:xfrm>
          <a:prstGeom prst="rect">
            <a:avLst/>
          </a:prstGeom>
          <a:solidFill>
            <a:srgbClr val="FFF6DF"/>
          </a:solidFill>
          <a:ln w="8255">
            <a:solidFill>
              <a:srgbClr val="FDBF11"/>
            </a:solidFill>
            <a:prstDash val="solid"/>
          </a:ln>
        </p:spPr>
        <p:txBody>
          <a:bodyPr/>
          <a:lstStyle/>
          <a:p>
            <a:endParaRPr lang="de-DE"/>
          </a:p>
        </p:txBody>
      </p:sp>
      <p:pic>
        <p:nvPicPr>
          <p:cNvPr id="47" name="Image 10" descr="Vodafone Group Plc."/>
          <p:cNvPicPr>
            <a:picLocks noChangeAspect="1"/>
          </p:cNvPicPr>
          <p:nvPr/>
        </p:nvPicPr>
        <p:blipFill>
          <a:blip r:embed="rId13"/>
          <a:stretch>
            <a:fillRect/>
          </a:stretch>
        </p:blipFill>
        <p:spPr>
          <a:xfrm>
            <a:off x="8399484" y="1764792"/>
            <a:ext cx="264688" cy="231997"/>
          </a:xfrm>
          <a:prstGeom prst="rect">
            <a:avLst/>
          </a:prstGeom>
        </p:spPr>
      </p:pic>
      <p:sp>
        <p:nvSpPr>
          <p:cNvPr id="48" name="Shape 20"/>
          <p:cNvSpPr/>
          <p:nvPr/>
        </p:nvSpPr>
        <p:spPr>
          <a:xfrm>
            <a:off x="8948230" y="1732788"/>
            <a:ext cx="750507" cy="296005"/>
          </a:xfrm>
          <a:prstGeom prst="rect">
            <a:avLst/>
          </a:prstGeom>
          <a:solidFill>
            <a:srgbClr val="EAF4FF"/>
          </a:solidFill>
          <a:ln w="8255">
            <a:solidFill>
              <a:srgbClr val="3A9BF3"/>
            </a:solidFill>
            <a:prstDash val="solid"/>
          </a:ln>
        </p:spPr>
        <p:txBody>
          <a:bodyPr/>
          <a:lstStyle/>
          <a:p>
            <a:endParaRPr lang="de-DE"/>
          </a:p>
        </p:txBody>
      </p:sp>
      <p:pic>
        <p:nvPicPr>
          <p:cNvPr id="49" name="Image 11" descr="Aduna Global LLC"/>
          <p:cNvPicPr>
            <a:picLocks noChangeAspect="1"/>
          </p:cNvPicPr>
          <p:nvPr/>
        </p:nvPicPr>
        <p:blipFill>
          <a:blip r:embed="rId14"/>
          <a:stretch>
            <a:fillRect/>
          </a:stretch>
        </p:blipFill>
        <p:spPr>
          <a:xfrm>
            <a:off x="9199575" y="1764792"/>
            <a:ext cx="247815" cy="231997"/>
          </a:xfrm>
          <a:prstGeom prst="rect">
            <a:avLst/>
          </a:prstGeom>
        </p:spPr>
      </p:pic>
      <p:sp>
        <p:nvSpPr>
          <p:cNvPr id="50" name="Shape 21"/>
          <p:cNvSpPr/>
          <p:nvPr/>
        </p:nvSpPr>
        <p:spPr>
          <a:xfrm>
            <a:off x="9739884" y="1732788"/>
            <a:ext cx="750507" cy="296005"/>
          </a:xfrm>
          <a:prstGeom prst="rect">
            <a:avLst/>
          </a:prstGeom>
          <a:solidFill>
            <a:srgbClr val="EAF4FF"/>
          </a:solidFill>
          <a:ln w="8255">
            <a:solidFill>
              <a:srgbClr val="3A9BF3"/>
            </a:solidFill>
            <a:prstDash val="solid"/>
          </a:ln>
        </p:spPr>
        <p:txBody>
          <a:bodyPr/>
          <a:lstStyle/>
          <a:p>
            <a:endParaRPr lang="de-DE"/>
          </a:p>
        </p:txBody>
      </p:sp>
      <p:pic>
        <p:nvPicPr>
          <p:cNvPr id="51" name="Image 12" descr="Cable Television Laboratories Inc."/>
          <p:cNvPicPr>
            <a:picLocks noChangeAspect="1"/>
          </p:cNvPicPr>
          <p:nvPr/>
        </p:nvPicPr>
        <p:blipFill>
          <a:blip r:embed="rId15"/>
          <a:stretch>
            <a:fillRect/>
          </a:stretch>
        </p:blipFill>
        <p:spPr>
          <a:xfrm>
            <a:off x="9790176" y="1828661"/>
            <a:ext cx="649923" cy="104258"/>
          </a:xfrm>
          <a:prstGeom prst="rect">
            <a:avLst/>
          </a:prstGeom>
        </p:spPr>
      </p:pic>
      <p:sp>
        <p:nvSpPr>
          <p:cNvPr id="52" name="Shape 22"/>
          <p:cNvSpPr/>
          <p:nvPr/>
        </p:nvSpPr>
        <p:spPr>
          <a:xfrm>
            <a:off x="10531539" y="1732788"/>
            <a:ext cx="750507" cy="296005"/>
          </a:xfrm>
          <a:prstGeom prst="rect">
            <a:avLst/>
          </a:prstGeom>
          <a:solidFill>
            <a:srgbClr val="EAF4FF"/>
          </a:solidFill>
          <a:ln w="8255">
            <a:solidFill>
              <a:srgbClr val="3A9BF3"/>
            </a:solidFill>
            <a:prstDash val="solid"/>
          </a:ln>
        </p:spPr>
        <p:txBody>
          <a:bodyPr/>
          <a:lstStyle/>
          <a:p>
            <a:endParaRPr lang="de-DE"/>
          </a:p>
        </p:txBody>
      </p:sp>
      <p:pic>
        <p:nvPicPr>
          <p:cNvPr id="53" name="Image 13" descr="Charter Communications"/>
          <p:cNvPicPr>
            <a:picLocks noChangeAspect="1"/>
          </p:cNvPicPr>
          <p:nvPr/>
        </p:nvPicPr>
        <p:blipFill>
          <a:blip r:embed="rId16"/>
          <a:stretch>
            <a:fillRect/>
          </a:stretch>
        </p:blipFill>
        <p:spPr>
          <a:xfrm>
            <a:off x="10717503" y="1764792"/>
            <a:ext cx="378577" cy="231997"/>
          </a:xfrm>
          <a:prstGeom prst="rect">
            <a:avLst/>
          </a:prstGeom>
        </p:spPr>
      </p:pic>
      <p:sp>
        <p:nvSpPr>
          <p:cNvPr id="54" name="Shape 23"/>
          <p:cNvSpPr/>
          <p:nvPr/>
        </p:nvSpPr>
        <p:spPr>
          <a:xfrm>
            <a:off x="240030" y="2056225"/>
            <a:ext cx="750507" cy="296005"/>
          </a:xfrm>
          <a:prstGeom prst="rect">
            <a:avLst/>
          </a:prstGeom>
          <a:solidFill>
            <a:srgbClr val="EAF4FF"/>
          </a:solidFill>
          <a:ln w="8255">
            <a:solidFill>
              <a:srgbClr val="3A9BF3"/>
            </a:solidFill>
            <a:prstDash val="solid"/>
          </a:ln>
        </p:spPr>
        <p:txBody>
          <a:bodyPr/>
          <a:lstStyle/>
          <a:p>
            <a:endParaRPr lang="de-DE"/>
          </a:p>
        </p:txBody>
      </p:sp>
      <p:pic>
        <p:nvPicPr>
          <p:cNvPr id="55" name="Image 14" descr="Focus Data Services Limited"/>
          <p:cNvPicPr>
            <a:picLocks noChangeAspect="1"/>
          </p:cNvPicPr>
          <p:nvPr/>
        </p:nvPicPr>
        <p:blipFill>
          <a:blip r:embed="rId17"/>
          <a:stretch>
            <a:fillRect/>
          </a:stretch>
        </p:blipFill>
        <p:spPr>
          <a:xfrm>
            <a:off x="290322" y="2165639"/>
            <a:ext cx="649923" cy="77178"/>
          </a:xfrm>
          <a:prstGeom prst="rect">
            <a:avLst/>
          </a:prstGeom>
        </p:spPr>
      </p:pic>
      <p:sp>
        <p:nvSpPr>
          <p:cNvPr id="56" name="Shape 24"/>
          <p:cNvSpPr/>
          <p:nvPr/>
        </p:nvSpPr>
        <p:spPr>
          <a:xfrm>
            <a:off x="1031684" y="2056225"/>
            <a:ext cx="750507" cy="296005"/>
          </a:xfrm>
          <a:prstGeom prst="rect">
            <a:avLst/>
          </a:prstGeom>
          <a:solidFill>
            <a:srgbClr val="EAF4FF"/>
          </a:solidFill>
          <a:ln w="8255">
            <a:solidFill>
              <a:srgbClr val="3A9BF3"/>
            </a:solidFill>
            <a:prstDash val="solid"/>
          </a:ln>
        </p:spPr>
        <p:txBody>
          <a:bodyPr/>
          <a:lstStyle/>
          <a:p>
            <a:endParaRPr lang="de-DE"/>
          </a:p>
        </p:txBody>
      </p:sp>
      <p:pic>
        <p:nvPicPr>
          <p:cNvPr id="57" name="Image 15" descr="HAYO TELECOM"/>
          <p:cNvPicPr>
            <a:picLocks noChangeAspect="1"/>
          </p:cNvPicPr>
          <p:nvPr/>
        </p:nvPicPr>
        <p:blipFill>
          <a:blip r:embed="rId18"/>
          <a:stretch>
            <a:fillRect/>
          </a:stretch>
        </p:blipFill>
        <p:spPr>
          <a:xfrm>
            <a:off x="1122859" y="2088229"/>
            <a:ext cx="568157" cy="231997"/>
          </a:xfrm>
          <a:prstGeom prst="rect">
            <a:avLst/>
          </a:prstGeom>
        </p:spPr>
      </p:pic>
      <p:sp>
        <p:nvSpPr>
          <p:cNvPr id="58" name="Shape 25"/>
          <p:cNvSpPr/>
          <p:nvPr/>
        </p:nvSpPr>
        <p:spPr>
          <a:xfrm>
            <a:off x="1823339" y="2056225"/>
            <a:ext cx="750507" cy="296005"/>
          </a:xfrm>
          <a:prstGeom prst="rect">
            <a:avLst/>
          </a:prstGeom>
          <a:solidFill>
            <a:srgbClr val="EAF4FF"/>
          </a:solidFill>
          <a:ln w="8255">
            <a:solidFill>
              <a:srgbClr val="3A9BF3"/>
            </a:solidFill>
            <a:prstDash val="solid"/>
          </a:ln>
        </p:spPr>
        <p:txBody>
          <a:bodyPr/>
          <a:lstStyle/>
          <a:p>
            <a:endParaRPr lang="de-DE"/>
          </a:p>
        </p:txBody>
      </p:sp>
      <p:pic>
        <p:nvPicPr>
          <p:cNvPr id="59" name="Image 16" descr="Nearby Computing"/>
          <p:cNvPicPr>
            <a:picLocks noChangeAspect="1"/>
          </p:cNvPicPr>
          <p:nvPr/>
        </p:nvPicPr>
        <p:blipFill>
          <a:blip r:embed="rId19"/>
          <a:stretch>
            <a:fillRect/>
          </a:stretch>
        </p:blipFill>
        <p:spPr>
          <a:xfrm>
            <a:off x="1992431" y="2088229"/>
            <a:ext cx="412322" cy="231997"/>
          </a:xfrm>
          <a:prstGeom prst="rect">
            <a:avLst/>
          </a:prstGeom>
        </p:spPr>
      </p:pic>
      <p:sp>
        <p:nvSpPr>
          <p:cNvPr id="60" name="Shape 26"/>
          <p:cNvSpPr/>
          <p:nvPr/>
        </p:nvSpPr>
        <p:spPr>
          <a:xfrm>
            <a:off x="2614993" y="2056225"/>
            <a:ext cx="750507" cy="296005"/>
          </a:xfrm>
          <a:prstGeom prst="rect">
            <a:avLst/>
          </a:prstGeom>
          <a:solidFill>
            <a:srgbClr val="EAF4FF"/>
          </a:solidFill>
          <a:ln w="8255">
            <a:solidFill>
              <a:srgbClr val="3A9BF3"/>
            </a:solidFill>
            <a:prstDash val="solid"/>
          </a:ln>
        </p:spPr>
        <p:txBody>
          <a:bodyPr/>
          <a:lstStyle/>
          <a:p>
            <a:endParaRPr lang="de-DE"/>
          </a:p>
        </p:txBody>
      </p:sp>
      <p:pic>
        <p:nvPicPr>
          <p:cNvPr id="61" name="Image 17" descr="Persona Identities, Inc."/>
          <p:cNvPicPr>
            <a:picLocks noChangeAspect="1"/>
          </p:cNvPicPr>
          <p:nvPr/>
        </p:nvPicPr>
        <p:blipFill>
          <a:blip r:embed="rId20"/>
          <a:stretch>
            <a:fillRect/>
          </a:stretch>
        </p:blipFill>
        <p:spPr>
          <a:xfrm>
            <a:off x="2665286" y="2125019"/>
            <a:ext cx="649923" cy="158419"/>
          </a:xfrm>
          <a:prstGeom prst="rect">
            <a:avLst/>
          </a:prstGeom>
        </p:spPr>
      </p:pic>
      <p:sp>
        <p:nvSpPr>
          <p:cNvPr id="62" name="Shape 27"/>
          <p:cNvSpPr/>
          <p:nvPr/>
        </p:nvSpPr>
        <p:spPr>
          <a:xfrm>
            <a:off x="3406648" y="2056225"/>
            <a:ext cx="750507" cy="296005"/>
          </a:xfrm>
          <a:prstGeom prst="rect">
            <a:avLst/>
          </a:prstGeom>
          <a:solidFill>
            <a:srgbClr val="EAF4FF"/>
          </a:solidFill>
          <a:ln w="8255">
            <a:solidFill>
              <a:srgbClr val="3A9BF3"/>
            </a:solidFill>
            <a:prstDash val="solid"/>
          </a:ln>
        </p:spPr>
        <p:txBody>
          <a:bodyPr/>
          <a:lstStyle/>
          <a:p>
            <a:endParaRPr lang="de-DE"/>
          </a:p>
        </p:txBody>
      </p:sp>
      <p:pic>
        <p:nvPicPr>
          <p:cNvPr id="63" name="Image 18" descr="Shabodi"/>
          <p:cNvPicPr>
            <a:picLocks noChangeAspect="1"/>
          </p:cNvPicPr>
          <p:nvPr/>
        </p:nvPicPr>
        <p:blipFill>
          <a:blip r:embed="rId21"/>
          <a:stretch>
            <a:fillRect/>
          </a:stretch>
        </p:blipFill>
        <p:spPr>
          <a:xfrm>
            <a:off x="3456940" y="2143298"/>
            <a:ext cx="649923" cy="121860"/>
          </a:xfrm>
          <a:prstGeom prst="rect">
            <a:avLst/>
          </a:prstGeom>
        </p:spPr>
      </p:pic>
      <p:sp>
        <p:nvSpPr>
          <p:cNvPr id="64" name="Shape 28"/>
          <p:cNvSpPr/>
          <p:nvPr/>
        </p:nvSpPr>
        <p:spPr>
          <a:xfrm>
            <a:off x="4198303" y="2056225"/>
            <a:ext cx="750507" cy="296005"/>
          </a:xfrm>
          <a:prstGeom prst="rect">
            <a:avLst/>
          </a:prstGeom>
          <a:solidFill>
            <a:srgbClr val="E7F7F4"/>
          </a:solidFill>
          <a:ln w="8255">
            <a:solidFill>
              <a:srgbClr val="2FB8AE"/>
            </a:solidFill>
            <a:prstDash val="solid"/>
          </a:ln>
        </p:spPr>
        <p:txBody>
          <a:bodyPr/>
          <a:lstStyle/>
          <a:p>
            <a:endParaRPr lang="de-DE"/>
          </a:p>
        </p:txBody>
      </p:sp>
      <p:pic>
        <p:nvPicPr>
          <p:cNvPr id="65" name="Image 19" descr="Indian Institute of Technology Bombay"/>
          <p:cNvPicPr>
            <a:picLocks noChangeAspect="1"/>
          </p:cNvPicPr>
          <p:nvPr/>
        </p:nvPicPr>
        <p:blipFill>
          <a:blip r:embed="rId22"/>
          <a:stretch>
            <a:fillRect/>
          </a:stretch>
        </p:blipFill>
        <p:spPr>
          <a:xfrm>
            <a:off x="4454921" y="2088229"/>
            <a:ext cx="237270" cy="231997"/>
          </a:xfrm>
          <a:prstGeom prst="rect">
            <a:avLst/>
          </a:prstGeom>
        </p:spPr>
      </p:pic>
      <p:sp>
        <p:nvSpPr>
          <p:cNvPr id="66" name="Shape 29"/>
          <p:cNvSpPr/>
          <p:nvPr/>
        </p:nvSpPr>
        <p:spPr>
          <a:xfrm>
            <a:off x="4989957" y="2056225"/>
            <a:ext cx="750507" cy="296005"/>
          </a:xfrm>
          <a:prstGeom prst="rect">
            <a:avLst/>
          </a:prstGeom>
          <a:solidFill>
            <a:srgbClr val="E7F7F4"/>
          </a:solidFill>
          <a:ln w="8255">
            <a:solidFill>
              <a:srgbClr val="2FB8AE"/>
            </a:solidFill>
            <a:prstDash val="solid"/>
          </a:ln>
        </p:spPr>
        <p:txBody>
          <a:bodyPr/>
          <a:lstStyle/>
          <a:p>
            <a:endParaRPr lang="de-DE"/>
          </a:p>
        </p:txBody>
      </p:sp>
      <p:pic>
        <p:nvPicPr>
          <p:cNvPr id="67" name="Image 20" descr="Open Mobile Alliance (OMA)"/>
          <p:cNvPicPr>
            <a:picLocks noChangeAspect="1"/>
          </p:cNvPicPr>
          <p:nvPr/>
        </p:nvPicPr>
        <p:blipFill>
          <a:blip r:embed="rId23"/>
          <a:stretch>
            <a:fillRect/>
          </a:stretch>
        </p:blipFill>
        <p:spPr>
          <a:xfrm>
            <a:off x="5040249" y="2125019"/>
            <a:ext cx="649923" cy="158419"/>
          </a:xfrm>
          <a:prstGeom prst="rect">
            <a:avLst/>
          </a:prstGeom>
        </p:spPr>
      </p:pic>
      <p:sp>
        <p:nvSpPr>
          <p:cNvPr id="68" name="Shape 30"/>
          <p:cNvSpPr/>
          <p:nvPr/>
        </p:nvSpPr>
        <p:spPr>
          <a:xfrm>
            <a:off x="5781612" y="2056225"/>
            <a:ext cx="750507" cy="296005"/>
          </a:xfrm>
          <a:prstGeom prst="rect">
            <a:avLst/>
          </a:prstGeom>
          <a:solidFill>
            <a:srgbClr val="E7F7F4"/>
          </a:solidFill>
          <a:ln w="8255">
            <a:solidFill>
              <a:srgbClr val="2FB8AE"/>
            </a:solidFill>
            <a:prstDash val="solid"/>
          </a:ln>
        </p:spPr>
        <p:txBody>
          <a:bodyPr/>
          <a:lstStyle/>
          <a:p>
            <a:endParaRPr lang="de-DE"/>
          </a:p>
        </p:txBody>
      </p:sp>
      <p:pic>
        <p:nvPicPr>
          <p:cNvPr id="69" name="Image 21" descr="OpenID Foundation"/>
          <p:cNvPicPr>
            <a:picLocks noChangeAspect="1"/>
          </p:cNvPicPr>
          <p:nvPr/>
        </p:nvPicPr>
        <p:blipFill>
          <a:blip r:embed="rId24"/>
          <a:stretch>
            <a:fillRect/>
          </a:stretch>
        </p:blipFill>
        <p:spPr>
          <a:xfrm>
            <a:off x="6040866" y="2088229"/>
            <a:ext cx="231997" cy="231997"/>
          </a:xfrm>
          <a:prstGeom prst="rect">
            <a:avLst/>
          </a:prstGeom>
        </p:spPr>
      </p:pic>
      <p:sp>
        <p:nvSpPr>
          <p:cNvPr id="70" name="Shape 31"/>
          <p:cNvSpPr/>
          <p:nvPr/>
        </p:nvSpPr>
        <p:spPr>
          <a:xfrm>
            <a:off x="6573266" y="2056225"/>
            <a:ext cx="750507" cy="296005"/>
          </a:xfrm>
          <a:prstGeom prst="rect">
            <a:avLst/>
          </a:prstGeom>
          <a:solidFill>
            <a:srgbClr val="E7F7F4"/>
          </a:solidFill>
          <a:ln w="8255">
            <a:solidFill>
              <a:srgbClr val="2FB8AE"/>
            </a:solidFill>
            <a:prstDash val="solid"/>
          </a:ln>
        </p:spPr>
        <p:txBody>
          <a:bodyPr/>
          <a:lstStyle/>
          <a:p>
            <a:endParaRPr lang="de-DE"/>
          </a:p>
        </p:txBody>
      </p:sp>
      <p:pic>
        <p:nvPicPr>
          <p:cNvPr id="71" name="Image 22" descr="TNO, the Netherlands Organisation for Applied Scientific Research"/>
          <p:cNvPicPr>
            <a:picLocks noChangeAspect="1"/>
          </p:cNvPicPr>
          <p:nvPr/>
        </p:nvPicPr>
        <p:blipFill>
          <a:blip r:embed="rId25"/>
          <a:stretch>
            <a:fillRect/>
          </a:stretch>
        </p:blipFill>
        <p:spPr>
          <a:xfrm>
            <a:off x="6623558" y="2138559"/>
            <a:ext cx="649923" cy="131339"/>
          </a:xfrm>
          <a:prstGeom prst="rect">
            <a:avLst/>
          </a:prstGeom>
        </p:spPr>
      </p:pic>
      <p:sp>
        <p:nvSpPr>
          <p:cNvPr id="72" name="Shape 32"/>
          <p:cNvSpPr/>
          <p:nvPr/>
        </p:nvSpPr>
        <p:spPr>
          <a:xfrm>
            <a:off x="7364921" y="2056225"/>
            <a:ext cx="750507" cy="296005"/>
          </a:xfrm>
          <a:prstGeom prst="rect">
            <a:avLst/>
          </a:prstGeom>
          <a:solidFill>
            <a:srgbClr val="E7F7F4"/>
          </a:solidFill>
          <a:ln w="8255">
            <a:solidFill>
              <a:srgbClr val="2FB8AE"/>
            </a:solidFill>
            <a:prstDash val="solid"/>
          </a:ln>
        </p:spPr>
        <p:txBody>
          <a:bodyPr/>
          <a:lstStyle/>
          <a:p>
            <a:endParaRPr lang="de-DE"/>
          </a:p>
        </p:txBody>
      </p:sp>
      <p:pic>
        <p:nvPicPr>
          <p:cNvPr id="73" name="Image 23" descr="UFRN"/>
          <p:cNvPicPr>
            <a:picLocks noChangeAspect="1"/>
          </p:cNvPicPr>
          <p:nvPr/>
        </p:nvPicPr>
        <p:blipFill>
          <a:blip r:embed="rId26"/>
          <a:stretch>
            <a:fillRect/>
          </a:stretch>
        </p:blipFill>
        <p:spPr>
          <a:xfrm>
            <a:off x="7464533" y="2088229"/>
            <a:ext cx="551281" cy="231997"/>
          </a:xfrm>
          <a:prstGeom prst="rect">
            <a:avLst/>
          </a:prstGeom>
        </p:spPr>
      </p:pic>
      <p:sp>
        <p:nvSpPr>
          <p:cNvPr id="74" name="Shape 33"/>
          <p:cNvSpPr/>
          <p:nvPr/>
        </p:nvSpPr>
        <p:spPr>
          <a:xfrm>
            <a:off x="8156575" y="2056225"/>
            <a:ext cx="750507" cy="296005"/>
          </a:xfrm>
          <a:prstGeom prst="rect">
            <a:avLst/>
          </a:prstGeom>
          <a:solidFill>
            <a:srgbClr val="E7F7F4"/>
          </a:solidFill>
          <a:ln w="8255">
            <a:solidFill>
              <a:srgbClr val="2FB8AE"/>
            </a:solidFill>
            <a:prstDash val="solid"/>
          </a:ln>
        </p:spPr>
        <p:txBody>
          <a:bodyPr/>
          <a:lstStyle/>
          <a:p>
            <a:endParaRPr lang="de-DE"/>
          </a:p>
        </p:txBody>
      </p:sp>
      <p:pic>
        <p:nvPicPr>
          <p:cNvPr id="75" name="Image 24" descr="University of California, Berkeley"/>
          <p:cNvPicPr>
            <a:picLocks noChangeAspect="1"/>
          </p:cNvPicPr>
          <p:nvPr/>
        </p:nvPicPr>
        <p:blipFill>
          <a:blip r:embed="rId27"/>
          <a:stretch>
            <a:fillRect/>
          </a:stretch>
        </p:blipFill>
        <p:spPr>
          <a:xfrm>
            <a:off x="8206867" y="2125696"/>
            <a:ext cx="649923" cy="157065"/>
          </a:xfrm>
          <a:prstGeom prst="rect">
            <a:avLst/>
          </a:prstGeom>
        </p:spPr>
      </p:pic>
      <p:sp>
        <p:nvSpPr>
          <p:cNvPr id="76" name="Shape 34"/>
          <p:cNvSpPr/>
          <p:nvPr/>
        </p:nvSpPr>
        <p:spPr>
          <a:xfrm>
            <a:off x="8948230" y="2056225"/>
            <a:ext cx="750507" cy="296005"/>
          </a:xfrm>
          <a:prstGeom prst="rect">
            <a:avLst/>
          </a:prstGeom>
          <a:solidFill>
            <a:srgbClr val="E7F7F4"/>
          </a:solidFill>
          <a:ln w="8255">
            <a:solidFill>
              <a:srgbClr val="2FB8AE"/>
            </a:solidFill>
            <a:prstDash val="solid"/>
          </a:ln>
        </p:spPr>
        <p:txBody>
          <a:bodyPr/>
          <a:lstStyle/>
          <a:p>
            <a:endParaRPr lang="de-DE"/>
          </a:p>
        </p:txBody>
      </p:sp>
      <p:pic>
        <p:nvPicPr>
          <p:cNvPr id="77" name="Image 25" descr="University of Colorado Boulder"/>
          <p:cNvPicPr>
            <a:picLocks noChangeAspect="1"/>
          </p:cNvPicPr>
          <p:nvPr/>
        </p:nvPicPr>
        <p:blipFill>
          <a:blip r:embed="rId28"/>
          <a:stretch>
            <a:fillRect/>
          </a:stretch>
        </p:blipFill>
        <p:spPr>
          <a:xfrm>
            <a:off x="8998522" y="2155484"/>
            <a:ext cx="649923" cy="97488"/>
          </a:xfrm>
          <a:prstGeom prst="rect">
            <a:avLst/>
          </a:prstGeom>
        </p:spPr>
      </p:pic>
      <p:sp>
        <p:nvSpPr>
          <p:cNvPr id="78" name="Shape 35"/>
          <p:cNvSpPr/>
          <p:nvPr/>
        </p:nvSpPr>
        <p:spPr>
          <a:xfrm>
            <a:off x="9739884" y="2056225"/>
            <a:ext cx="750507" cy="296005"/>
          </a:xfrm>
          <a:prstGeom prst="rect">
            <a:avLst/>
          </a:prstGeom>
          <a:solidFill>
            <a:srgbClr val="E7F7F4"/>
          </a:solidFill>
          <a:ln w="8255">
            <a:solidFill>
              <a:srgbClr val="2FB8AE"/>
            </a:solidFill>
            <a:prstDash val="solid"/>
          </a:ln>
        </p:spPr>
        <p:txBody>
          <a:bodyPr/>
          <a:lstStyle/>
          <a:p>
            <a:endParaRPr lang="de-DE"/>
          </a:p>
        </p:txBody>
      </p:sp>
      <p:pic>
        <p:nvPicPr>
          <p:cNvPr id="79" name="Image 26" descr="University of Texas at San Antonio"/>
          <p:cNvPicPr>
            <a:picLocks noChangeAspect="1"/>
          </p:cNvPicPr>
          <p:nvPr/>
        </p:nvPicPr>
        <p:blipFill>
          <a:blip r:embed="rId29"/>
          <a:stretch>
            <a:fillRect/>
          </a:stretch>
        </p:blipFill>
        <p:spPr>
          <a:xfrm>
            <a:off x="9790176" y="2148037"/>
            <a:ext cx="649923" cy="112382"/>
          </a:xfrm>
          <a:prstGeom prst="rect">
            <a:avLst/>
          </a:prstGeom>
        </p:spPr>
      </p:pic>
      <p:sp>
        <p:nvSpPr>
          <p:cNvPr id="80" name="Shape 36"/>
          <p:cNvSpPr/>
          <p:nvPr/>
        </p:nvSpPr>
        <p:spPr>
          <a:xfrm>
            <a:off x="10531539" y="2056225"/>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81" name="Image 27" descr="1NCE"/>
          <p:cNvPicPr>
            <a:picLocks noChangeAspect="1"/>
          </p:cNvPicPr>
          <p:nvPr/>
        </p:nvPicPr>
        <p:blipFill>
          <a:blip r:embed="rId30"/>
          <a:stretch>
            <a:fillRect/>
          </a:stretch>
        </p:blipFill>
        <p:spPr>
          <a:xfrm>
            <a:off x="10637809" y="2088229"/>
            <a:ext cx="537965" cy="231997"/>
          </a:xfrm>
          <a:prstGeom prst="rect">
            <a:avLst/>
          </a:prstGeom>
        </p:spPr>
      </p:pic>
      <p:sp>
        <p:nvSpPr>
          <p:cNvPr id="82" name="Shape 37"/>
          <p:cNvSpPr/>
          <p:nvPr/>
        </p:nvSpPr>
        <p:spPr>
          <a:xfrm>
            <a:off x="240030" y="237966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83" name="Image 28" descr="A1"/>
          <p:cNvPicPr>
            <a:picLocks noChangeAspect="1"/>
          </p:cNvPicPr>
          <p:nvPr/>
        </p:nvPicPr>
        <p:blipFill>
          <a:blip r:embed="rId31"/>
          <a:stretch>
            <a:fillRect/>
          </a:stretch>
        </p:blipFill>
        <p:spPr>
          <a:xfrm>
            <a:off x="497176" y="2411667"/>
            <a:ext cx="236215" cy="231997"/>
          </a:xfrm>
          <a:prstGeom prst="rect">
            <a:avLst/>
          </a:prstGeom>
        </p:spPr>
      </p:pic>
      <p:sp>
        <p:nvSpPr>
          <p:cNvPr id="84" name="Shape 38"/>
          <p:cNvSpPr/>
          <p:nvPr/>
        </p:nvSpPr>
        <p:spPr>
          <a:xfrm>
            <a:off x="1031684" y="237966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85" name="Image 29" descr="ACL Digital"/>
          <p:cNvPicPr>
            <a:picLocks noChangeAspect="1"/>
          </p:cNvPicPr>
          <p:nvPr/>
        </p:nvPicPr>
        <p:blipFill>
          <a:blip r:embed="rId32"/>
          <a:stretch>
            <a:fillRect/>
          </a:stretch>
        </p:blipFill>
        <p:spPr>
          <a:xfrm>
            <a:off x="1081976" y="2413929"/>
            <a:ext cx="649923" cy="227473"/>
          </a:xfrm>
          <a:prstGeom prst="rect">
            <a:avLst/>
          </a:prstGeom>
        </p:spPr>
      </p:pic>
      <p:sp>
        <p:nvSpPr>
          <p:cNvPr id="86" name="Shape 39"/>
          <p:cNvSpPr/>
          <p:nvPr/>
        </p:nvSpPr>
        <p:spPr>
          <a:xfrm>
            <a:off x="1823339" y="237966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87" name="Image 30" descr="Akross"/>
          <p:cNvPicPr>
            <a:picLocks noChangeAspect="1"/>
          </p:cNvPicPr>
          <p:nvPr/>
        </p:nvPicPr>
        <p:blipFill>
          <a:blip r:embed="rId33"/>
          <a:stretch>
            <a:fillRect/>
          </a:stretch>
        </p:blipFill>
        <p:spPr>
          <a:xfrm>
            <a:off x="1873631" y="2464704"/>
            <a:ext cx="649923" cy="125922"/>
          </a:xfrm>
          <a:prstGeom prst="rect">
            <a:avLst/>
          </a:prstGeom>
        </p:spPr>
      </p:pic>
      <p:sp>
        <p:nvSpPr>
          <p:cNvPr id="88" name="Shape 40"/>
          <p:cNvSpPr/>
          <p:nvPr/>
        </p:nvSpPr>
        <p:spPr>
          <a:xfrm>
            <a:off x="2614993" y="237966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89" name="Image 31" descr="Aleph Zero Foundation"/>
          <p:cNvPicPr>
            <a:picLocks noChangeAspect="1"/>
          </p:cNvPicPr>
          <p:nvPr/>
        </p:nvPicPr>
        <p:blipFill>
          <a:blip r:embed="rId34"/>
          <a:stretch>
            <a:fillRect/>
          </a:stretch>
        </p:blipFill>
        <p:spPr>
          <a:xfrm>
            <a:off x="2768268" y="2411667"/>
            <a:ext cx="443958" cy="231997"/>
          </a:xfrm>
          <a:prstGeom prst="rect">
            <a:avLst/>
          </a:prstGeom>
        </p:spPr>
      </p:pic>
      <p:sp>
        <p:nvSpPr>
          <p:cNvPr id="90" name="Shape 41"/>
          <p:cNvSpPr/>
          <p:nvPr/>
        </p:nvSpPr>
        <p:spPr>
          <a:xfrm>
            <a:off x="3406648" y="237966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91" name="Image 32" descr="Almuqeet"/>
          <p:cNvPicPr>
            <a:picLocks noChangeAspect="1"/>
          </p:cNvPicPr>
          <p:nvPr/>
        </p:nvPicPr>
        <p:blipFill>
          <a:blip r:embed="rId35"/>
          <a:stretch>
            <a:fillRect/>
          </a:stretch>
        </p:blipFill>
        <p:spPr>
          <a:xfrm>
            <a:off x="3456940" y="2435593"/>
            <a:ext cx="649923" cy="184145"/>
          </a:xfrm>
          <a:prstGeom prst="rect">
            <a:avLst/>
          </a:prstGeom>
        </p:spPr>
      </p:pic>
      <p:sp>
        <p:nvSpPr>
          <p:cNvPr id="92" name="Shape 42"/>
          <p:cNvSpPr/>
          <p:nvPr/>
        </p:nvSpPr>
        <p:spPr>
          <a:xfrm>
            <a:off x="4198303" y="237966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93" name="Image 33" descr="Amantya"/>
          <p:cNvPicPr>
            <a:picLocks noChangeAspect="1"/>
          </p:cNvPicPr>
          <p:nvPr/>
        </p:nvPicPr>
        <p:blipFill>
          <a:blip r:embed="rId36"/>
          <a:stretch>
            <a:fillRect/>
          </a:stretch>
        </p:blipFill>
        <p:spPr>
          <a:xfrm>
            <a:off x="4248595" y="2482306"/>
            <a:ext cx="649923" cy="90718"/>
          </a:xfrm>
          <a:prstGeom prst="rect">
            <a:avLst/>
          </a:prstGeom>
        </p:spPr>
      </p:pic>
      <p:sp>
        <p:nvSpPr>
          <p:cNvPr id="94" name="Shape 43"/>
          <p:cNvSpPr/>
          <p:nvPr/>
        </p:nvSpPr>
        <p:spPr>
          <a:xfrm>
            <a:off x="4989957" y="237966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95" name="Image 34" descr="Amdocs"/>
          <p:cNvPicPr>
            <a:picLocks noChangeAspect="1"/>
          </p:cNvPicPr>
          <p:nvPr/>
        </p:nvPicPr>
        <p:blipFill>
          <a:blip r:embed="rId37"/>
          <a:stretch>
            <a:fillRect/>
          </a:stretch>
        </p:blipFill>
        <p:spPr>
          <a:xfrm>
            <a:off x="5040249" y="2455903"/>
            <a:ext cx="649923" cy="143525"/>
          </a:xfrm>
          <a:prstGeom prst="rect">
            <a:avLst/>
          </a:prstGeom>
        </p:spPr>
      </p:pic>
      <p:sp>
        <p:nvSpPr>
          <p:cNvPr id="96" name="Shape 44"/>
          <p:cNvSpPr/>
          <p:nvPr/>
        </p:nvSpPr>
        <p:spPr>
          <a:xfrm>
            <a:off x="5781612" y="237966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97" name="Image 35" descr="America Movil"/>
          <p:cNvPicPr>
            <a:picLocks noChangeAspect="1"/>
          </p:cNvPicPr>
          <p:nvPr/>
        </p:nvPicPr>
        <p:blipFill>
          <a:blip r:embed="rId38"/>
          <a:stretch>
            <a:fillRect/>
          </a:stretch>
        </p:blipFill>
        <p:spPr>
          <a:xfrm>
            <a:off x="5831904" y="2435593"/>
            <a:ext cx="649923" cy="184145"/>
          </a:xfrm>
          <a:prstGeom prst="rect">
            <a:avLst/>
          </a:prstGeom>
        </p:spPr>
      </p:pic>
      <p:sp>
        <p:nvSpPr>
          <p:cNvPr id="98" name="Shape 45"/>
          <p:cNvSpPr/>
          <p:nvPr/>
        </p:nvSpPr>
        <p:spPr>
          <a:xfrm>
            <a:off x="6573266" y="237966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99" name="Image 36" descr="ANDdigital"/>
          <p:cNvPicPr>
            <a:picLocks noChangeAspect="1"/>
          </p:cNvPicPr>
          <p:nvPr/>
        </p:nvPicPr>
        <p:blipFill>
          <a:blip r:embed="rId39"/>
          <a:stretch>
            <a:fillRect/>
          </a:stretch>
        </p:blipFill>
        <p:spPr>
          <a:xfrm>
            <a:off x="6623558" y="2465381"/>
            <a:ext cx="649923" cy="124568"/>
          </a:xfrm>
          <a:prstGeom prst="rect">
            <a:avLst/>
          </a:prstGeom>
        </p:spPr>
      </p:pic>
      <p:sp>
        <p:nvSpPr>
          <p:cNvPr id="100" name="Shape 46"/>
          <p:cNvSpPr/>
          <p:nvPr/>
        </p:nvSpPr>
        <p:spPr>
          <a:xfrm>
            <a:off x="7364921" y="237966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01" name="Image 37" descr="ApisTraining"/>
          <p:cNvPicPr>
            <a:picLocks noChangeAspect="1"/>
          </p:cNvPicPr>
          <p:nvPr/>
        </p:nvPicPr>
        <p:blipFill>
          <a:blip r:embed="rId40"/>
          <a:stretch>
            <a:fillRect/>
          </a:stretch>
        </p:blipFill>
        <p:spPr>
          <a:xfrm>
            <a:off x="7588321" y="2411667"/>
            <a:ext cx="303706" cy="231997"/>
          </a:xfrm>
          <a:prstGeom prst="rect">
            <a:avLst/>
          </a:prstGeom>
        </p:spPr>
      </p:pic>
      <p:sp>
        <p:nvSpPr>
          <p:cNvPr id="102" name="Shape 47"/>
          <p:cNvSpPr/>
          <p:nvPr/>
        </p:nvSpPr>
        <p:spPr>
          <a:xfrm>
            <a:off x="8156575" y="237966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03" name="Image 38" descr="Argela"/>
          <p:cNvPicPr>
            <a:picLocks noChangeAspect="1"/>
          </p:cNvPicPr>
          <p:nvPr/>
        </p:nvPicPr>
        <p:blipFill>
          <a:blip r:embed="rId41"/>
          <a:stretch>
            <a:fillRect/>
          </a:stretch>
        </p:blipFill>
        <p:spPr>
          <a:xfrm>
            <a:off x="8206867" y="2420699"/>
            <a:ext cx="649923" cy="213933"/>
          </a:xfrm>
          <a:prstGeom prst="rect">
            <a:avLst/>
          </a:prstGeom>
        </p:spPr>
      </p:pic>
      <p:sp>
        <p:nvSpPr>
          <p:cNvPr id="104" name="Shape 48"/>
          <p:cNvSpPr/>
          <p:nvPr/>
        </p:nvSpPr>
        <p:spPr>
          <a:xfrm>
            <a:off x="8948230" y="237966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05" name="Image 39" descr="AWS (Amazon Web Services)"/>
          <p:cNvPicPr>
            <a:picLocks noChangeAspect="1"/>
          </p:cNvPicPr>
          <p:nvPr/>
        </p:nvPicPr>
        <p:blipFill>
          <a:blip r:embed="rId42"/>
          <a:stretch>
            <a:fillRect/>
          </a:stretch>
        </p:blipFill>
        <p:spPr>
          <a:xfrm>
            <a:off x="9130503" y="2411667"/>
            <a:ext cx="385959" cy="231997"/>
          </a:xfrm>
          <a:prstGeom prst="rect">
            <a:avLst/>
          </a:prstGeom>
        </p:spPr>
      </p:pic>
      <p:sp>
        <p:nvSpPr>
          <p:cNvPr id="106" name="Shape 49"/>
          <p:cNvSpPr/>
          <p:nvPr/>
        </p:nvSpPr>
        <p:spPr>
          <a:xfrm>
            <a:off x="9739884" y="237966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07" name="Image 40" descr="Axiata"/>
          <p:cNvPicPr>
            <a:picLocks noChangeAspect="1"/>
          </p:cNvPicPr>
          <p:nvPr/>
        </p:nvPicPr>
        <p:blipFill>
          <a:blip r:embed="rId43"/>
          <a:stretch>
            <a:fillRect/>
          </a:stretch>
        </p:blipFill>
        <p:spPr>
          <a:xfrm>
            <a:off x="9921630" y="2411667"/>
            <a:ext cx="387014" cy="231997"/>
          </a:xfrm>
          <a:prstGeom prst="rect">
            <a:avLst/>
          </a:prstGeom>
        </p:spPr>
      </p:pic>
      <p:sp>
        <p:nvSpPr>
          <p:cNvPr id="108" name="Shape 50"/>
          <p:cNvSpPr/>
          <p:nvPr/>
        </p:nvSpPr>
        <p:spPr>
          <a:xfrm>
            <a:off x="10531539" y="237966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09" name="Image 41" descr="Axiata Digital Labs"/>
          <p:cNvPicPr>
            <a:picLocks noChangeAspect="1"/>
          </p:cNvPicPr>
          <p:nvPr/>
        </p:nvPicPr>
        <p:blipFill>
          <a:blip r:embed="rId44"/>
          <a:stretch>
            <a:fillRect/>
          </a:stretch>
        </p:blipFill>
        <p:spPr>
          <a:xfrm>
            <a:off x="10581831" y="2411898"/>
            <a:ext cx="649923" cy="231535"/>
          </a:xfrm>
          <a:prstGeom prst="rect">
            <a:avLst/>
          </a:prstGeom>
        </p:spPr>
      </p:pic>
      <p:sp>
        <p:nvSpPr>
          <p:cNvPr id="110" name="Shape 51"/>
          <p:cNvSpPr/>
          <p:nvPr/>
        </p:nvSpPr>
        <p:spPr>
          <a:xfrm>
            <a:off x="240030" y="2703100"/>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11" name="Image 42" descr="BCTI - A Network API Company"/>
          <p:cNvPicPr>
            <a:picLocks noChangeAspect="1"/>
          </p:cNvPicPr>
          <p:nvPr/>
        </p:nvPicPr>
        <p:blipFill>
          <a:blip r:embed="rId45"/>
          <a:stretch>
            <a:fillRect/>
          </a:stretch>
        </p:blipFill>
        <p:spPr>
          <a:xfrm>
            <a:off x="499285" y="2735104"/>
            <a:ext cx="231997" cy="231997"/>
          </a:xfrm>
          <a:prstGeom prst="rect">
            <a:avLst/>
          </a:prstGeom>
        </p:spPr>
      </p:pic>
      <p:sp>
        <p:nvSpPr>
          <p:cNvPr id="112" name="Shape 52"/>
          <p:cNvSpPr/>
          <p:nvPr/>
        </p:nvSpPr>
        <p:spPr>
          <a:xfrm>
            <a:off x="1031684" y="2703100"/>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13" name="Image 43" descr="BearingPoint"/>
          <p:cNvPicPr>
            <a:picLocks noChangeAspect="1"/>
          </p:cNvPicPr>
          <p:nvPr/>
        </p:nvPicPr>
        <p:blipFill>
          <a:blip r:embed="rId46"/>
          <a:stretch>
            <a:fillRect/>
          </a:stretch>
        </p:blipFill>
        <p:spPr>
          <a:xfrm>
            <a:off x="1081976" y="2754291"/>
            <a:ext cx="649923" cy="193623"/>
          </a:xfrm>
          <a:prstGeom prst="rect">
            <a:avLst/>
          </a:prstGeom>
        </p:spPr>
      </p:pic>
      <p:sp>
        <p:nvSpPr>
          <p:cNvPr id="114" name="Shape 53"/>
          <p:cNvSpPr/>
          <p:nvPr/>
        </p:nvSpPr>
        <p:spPr>
          <a:xfrm>
            <a:off x="1823339" y="2703100"/>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15" name="Image 44" descr="Bharti Airtel"/>
          <p:cNvPicPr>
            <a:picLocks noChangeAspect="1"/>
          </p:cNvPicPr>
          <p:nvPr/>
        </p:nvPicPr>
        <p:blipFill>
          <a:blip r:embed="rId47"/>
          <a:stretch>
            <a:fillRect/>
          </a:stretch>
        </p:blipFill>
        <p:spPr>
          <a:xfrm>
            <a:off x="1873631" y="2769862"/>
            <a:ext cx="649923" cy="162481"/>
          </a:xfrm>
          <a:prstGeom prst="rect">
            <a:avLst/>
          </a:prstGeom>
        </p:spPr>
      </p:pic>
      <p:sp>
        <p:nvSpPr>
          <p:cNvPr id="116" name="Shape 54"/>
          <p:cNvSpPr/>
          <p:nvPr/>
        </p:nvSpPr>
        <p:spPr>
          <a:xfrm>
            <a:off x="2614993" y="2703100"/>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17" name="Image 45" descr="Bouygues Telecom"/>
          <p:cNvPicPr>
            <a:picLocks noChangeAspect="1"/>
          </p:cNvPicPr>
          <p:nvPr/>
        </p:nvPicPr>
        <p:blipFill>
          <a:blip r:embed="rId48"/>
          <a:stretch>
            <a:fillRect/>
          </a:stretch>
        </p:blipFill>
        <p:spPr>
          <a:xfrm>
            <a:off x="2844721" y="2735104"/>
            <a:ext cx="291051" cy="231997"/>
          </a:xfrm>
          <a:prstGeom prst="rect">
            <a:avLst/>
          </a:prstGeom>
        </p:spPr>
      </p:pic>
      <p:sp>
        <p:nvSpPr>
          <p:cNvPr id="118" name="Shape 55"/>
          <p:cNvSpPr/>
          <p:nvPr/>
        </p:nvSpPr>
        <p:spPr>
          <a:xfrm>
            <a:off x="3406648" y="2703100"/>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19" name="Image 46" descr="Bridge Alliance"/>
          <p:cNvPicPr>
            <a:picLocks noChangeAspect="1"/>
          </p:cNvPicPr>
          <p:nvPr/>
        </p:nvPicPr>
        <p:blipFill>
          <a:blip r:embed="rId49"/>
          <a:stretch>
            <a:fillRect/>
          </a:stretch>
        </p:blipFill>
        <p:spPr>
          <a:xfrm>
            <a:off x="3606849" y="2735104"/>
            <a:ext cx="350105" cy="231997"/>
          </a:xfrm>
          <a:prstGeom prst="rect">
            <a:avLst/>
          </a:prstGeom>
        </p:spPr>
      </p:pic>
      <p:sp>
        <p:nvSpPr>
          <p:cNvPr id="120" name="Shape 56"/>
          <p:cNvSpPr/>
          <p:nvPr/>
        </p:nvSpPr>
        <p:spPr>
          <a:xfrm>
            <a:off x="4198303" y="2703100"/>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21" name="Image 47" descr="British Telecom"/>
          <p:cNvPicPr>
            <a:picLocks noChangeAspect="1"/>
          </p:cNvPicPr>
          <p:nvPr/>
        </p:nvPicPr>
        <p:blipFill>
          <a:blip r:embed="rId50"/>
          <a:stretch>
            <a:fillRect/>
          </a:stretch>
        </p:blipFill>
        <p:spPr>
          <a:xfrm>
            <a:off x="4248595" y="2747521"/>
            <a:ext cx="649923" cy="207163"/>
          </a:xfrm>
          <a:prstGeom prst="rect">
            <a:avLst/>
          </a:prstGeom>
        </p:spPr>
      </p:pic>
      <p:sp>
        <p:nvSpPr>
          <p:cNvPr id="122" name="Shape 57"/>
          <p:cNvSpPr/>
          <p:nvPr/>
        </p:nvSpPr>
        <p:spPr>
          <a:xfrm>
            <a:off x="4989957" y="2703100"/>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23" name="Image 48" descr="Broadpeak"/>
          <p:cNvPicPr>
            <a:picLocks noChangeAspect="1"/>
          </p:cNvPicPr>
          <p:nvPr/>
        </p:nvPicPr>
        <p:blipFill>
          <a:blip r:embed="rId51"/>
          <a:stretch>
            <a:fillRect/>
          </a:stretch>
        </p:blipFill>
        <p:spPr>
          <a:xfrm>
            <a:off x="5078203" y="2735104"/>
            <a:ext cx="574014" cy="231997"/>
          </a:xfrm>
          <a:prstGeom prst="rect">
            <a:avLst/>
          </a:prstGeom>
        </p:spPr>
      </p:pic>
      <p:sp>
        <p:nvSpPr>
          <p:cNvPr id="124" name="Shape 58"/>
          <p:cNvSpPr/>
          <p:nvPr/>
        </p:nvSpPr>
        <p:spPr>
          <a:xfrm>
            <a:off x="5781612" y="2703100"/>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25" name="Image 49" descr="Capgemini"/>
          <p:cNvPicPr>
            <a:picLocks noChangeAspect="1"/>
          </p:cNvPicPr>
          <p:nvPr/>
        </p:nvPicPr>
        <p:blipFill>
          <a:blip r:embed="rId52"/>
          <a:stretch>
            <a:fillRect/>
          </a:stretch>
        </p:blipFill>
        <p:spPr>
          <a:xfrm>
            <a:off x="5869858" y="2735104"/>
            <a:ext cx="574014" cy="231997"/>
          </a:xfrm>
          <a:prstGeom prst="rect">
            <a:avLst/>
          </a:prstGeom>
        </p:spPr>
      </p:pic>
      <p:sp>
        <p:nvSpPr>
          <p:cNvPr id="126" name="Shape 59"/>
          <p:cNvSpPr/>
          <p:nvPr/>
        </p:nvSpPr>
        <p:spPr>
          <a:xfrm>
            <a:off x="6573266" y="2703100"/>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27" name="Image 50" descr="Centillion"/>
          <p:cNvPicPr>
            <a:picLocks noChangeAspect="1"/>
          </p:cNvPicPr>
          <p:nvPr/>
        </p:nvPicPr>
        <p:blipFill>
          <a:blip r:embed="rId53"/>
          <a:stretch>
            <a:fillRect/>
          </a:stretch>
        </p:blipFill>
        <p:spPr>
          <a:xfrm>
            <a:off x="6743413" y="2735104"/>
            <a:ext cx="410213" cy="231997"/>
          </a:xfrm>
          <a:prstGeom prst="rect">
            <a:avLst/>
          </a:prstGeom>
        </p:spPr>
      </p:pic>
      <p:sp>
        <p:nvSpPr>
          <p:cNvPr id="128" name="Shape 60"/>
          <p:cNvSpPr/>
          <p:nvPr/>
        </p:nvSpPr>
        <p:spPr>
          <a:xfrm>
            <a:off x="7364921" y="2703100"/>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29" name="Image 51" descr="Chenosis"/>
          <p:cNvPicPr>
            <a:picLocks noChangeAspect="1"/>
          </p:cNvPicPr>
          <p:nvPr/>
        </p:nvPicPr>
        <p:blipFill>
          <a:blip r:embed="rId54"/>
          <a:stretch>
            <a:fillRect/>
          </a:stretch>
        </p:blipFill>
        <p:spPr>
          <a:xfrm>
            <a:off x="7448659" y="2735104"/>
            <a:ext cx="583030" cy="231997"/>
          </a:xfrm>
          <a:prstGeom prst="rect">
            <a:avLst/>
          </a:prstGeom>
        </p:spPr>
      </p:pic>
      <p:sp>
        <p:nvSpPr>
          <p:cNvPr id="130" name="Shape 61"/>
          <p:cNvSpPr/>
          <p:nvPr/>
        </p:nvSpPr>
        <p:spPr>
          <a:xfrm>
            <a:off x="8156575" y="2703100"/>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31" name="Image 52" descr="China Mobile"/>
          <p:cNvPicPr>
            <a:picLocks noChangeAspect="1"/>
          </p:cNvPicPr>
          <p:nvPr/>
        </p:nvPicPr>
        <p:blipFill>
          <a:blip r:embed="rId55"/>
          <a:stretch>
            <a:fillRect/>
          </a:stretch>
        </p:blipFill>
        <p:spPr>
          <a:xfrm>
            <a:off x="8206867" y="2750906"/>
            <a:ext cx="649923" cy="200393"/>
          </a:xfrm>
          <a:prstGeom prst="rect">
            <a:avLst/>
          </a:prstGeom>
        </p:spPr>
      </p:pic>
      <p:sp>
        <p:nvSpPr>
          <p:cNvPr id="132" name="Shape 62"/>
          <p:cNvSpPr/>
          <p:nvPr/>
        </p:nvSpPr>
        <p:spPr>
          <a:xfrm>
            <a:off x="8948230" y="2703100"/>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33" name="Image 53" descr="China Telecom"/>
          <p:cNvPicPr>
            <a:picLocks noChangeAspect="1"/>
          </p:cNvPicPr>
          <p:nvPr/>
        </p:nvPicPr>
        <p:blipFill>
          <a:blip r:embed="rId56"/>
          <a:stretch>
            <a:fillRect/>
          </a:stretch>
        </p:blipFill>
        <p:spPr>
          <a:xfrm>
            <a:off x="9049200" y="2735104"/>
            <a:ext cx="548565" cy="231997"/>
          </a:xfrm>
          <a:prstGeom prst="rect">
            <a:avLst/>
          </a:prstGeom>
        </p:spPr>
      </p:pic>
      <p:sp>
        <p:nvSpPr>
          <p:cNvPr id="134" name="Shape 63"/>
          <p:cNvSpPr/>
          <p:nvPr/>
        </p:nvSpPr>
        <p:spPr>
          <a:xfrm>
            <a:off x="9739884" y="2703100"/>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35" name="Image 54" descr="China Unicom"/>
          <p:cNvPicPr>
            <a:picLocks noChangeAspect="1"/>
          </p:cNvPicPr>
          <p:nvPr/>
        </p:nvPicPr>
        <p:blipFill>
          <a:blip r:embed="rId57"/>
          <a:stretch>
            <a:fillRect/>
          </a:stretch>
        </p:blipFill>
        <p:spPr>
          <a:xfrm>
            <a:off x="9914776" y="2735104"/>
            <a:ext cx="400723" cy="231997"/>
          </a:xfrm>
          <a:prstGeom prst="rect">
            <a:avLst/>
          </a:prstGeom>
        </p:spPr>
      </p:pic>
      <p:sp>
        <p:nvSpPr>
          <p:cNvPr id="136" name="Shape 64"/>
          <p:cNvSpPr/>
          <p:nvPr/>
        </p:nvSpPr>
        <p:spPr>
          <a:xfrm>
            <a:off x="10531539" y="2703100"/>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37" name="Image 55" descr="CINNOX"/>
          <p:cNvPicPr>
            <a:picLocks noChangeAspect="1"/>
          </p:cNvPicPr>
          <p:nvPr/>
        </p:nvPicPr>
        <p:blipFill>
          <a:blip r:embed="rId58"/>
          <a:stretch>
            <a:fillRect/>
          </a:stretch>
        </p:blipFill>
        <p:spPr>
          <a:xfrm>
            <a:off x="10581831" y="2739397"/>
            <a:ext cx="649923" cy="223411"/>
          </a:xfrm>
          <a:prstGeom prst="rect">
            <a:avLst/>
          </a:prstGeom>
        </p:spPr>
      </p:pic>
      <p:sp>
        <p:nvSpPr>
          <p:cNvPr id="138" name="Shape 65"/>
          <p:cNvSpPr/>
          <p:nvPr/>
        </p:nvSpPr>
        <p:spPr>
          <a:xfrm>
            <a:off x="240030" y="3026537"/>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39" name="Image 56" descr="Cisco"/>
          <p:cNvPicPr>
            <a:picLocks noChangeAspect="1"/>
          </p:cNvPicPr>
          <p:nvPr/>
        </p:nvPicPr>
        <p:blipFill>
          <a:blip r:embed="rId59"/>
          <a:stretch>
            <a:fillRect/>
          </a:stretch>
        </p:blipFill>
        <p:spPr>
          <a:xfrm>
            <a:off x="395940" y="3058541"/>
            <a:ext cx="438686" cy="231997"/>
          </a:xfrm>
          <a:prstGeom prst="rect">
            <a:avLst/>
          </a:prstGeom>
        </p:spPr>
      </p:pic>
      <p:sp>
        <p:nvSpPr>
          <p:cNvPr id="140" name="Shape 66"/>
          <p:cNvSpPr/>
          <p:nvPr/>
        </p:nvSpPr>
        <p:spPr>
          <a:xfrm>
            <a:off x="1031684" y="3026537"/>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41" name="Image 57" descr="CK Hutchison Holdings"/>
          <p:cNvPicPr>
            <a:picLocks noChangeAspect="1"/>
          </p:cNvPicPr>
          <p:nvPr/>
        </p:nvPicPr>
        <p:blipFill>
          <a:blip r:embed="rId60"/>
          <a:stretch>
            <a:fillRect/>
          </a:stretch>
        </p:blipFill>
        <p:spPr>
          <a:xfrm>
            <a:off x="1290939" y="3058541"/>
            <a:ext cx="231997" cy="231997"/>
          </a:xfrm>
          <a:prstGeom prst="rect">
            <a:avLst/>
          </a:prstGeom>
        </p:spPr>
      </p:pic>
      <p:sp>
        <p:nvSpPr>
          <p:cNvPr id="142" name="Shape 67"/>
          <p:cNvSpPr/>
          <p:nvPr/>
        </p:nvSpPr>
        <p:spPr>
          <a:xfrm>
            <a:off x="1823339" y="3026537"/>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43" name="Image 58" descr="CloudoniX"/>
          <p:cNvPicPr>
            <a:picLocks noChangeAspect="1"/>
          </p:cNvPicPr>
          <p:nvPr/>
        </p:nvPicPr>
        <p:blipFill>
          <a:blip r:embed="rId61"/>
          <a:stretch>
            <a:fillRect/>
          </a:stretch>
        </p:blipFill>
        <p:spPr>
          <a:xfrm>
            <a:off x="1873631" y="3115641"/>
            <a:ext cx="649923" cy="117798"/>
          </a:xfrm>
          <a:prstGeom prst="rect">
            <a:avLst/>
          </a:prstGeom>
        </p:spPr>
      </p:pic>
      <p:sp>
        <p:nvSpPr>
          <p:cNvPr id="144" name="Shape 68"/>
          <p:cNvSpPr/>
          <p:nvPr/>
        </p:nvSpPr>
        <p:spPr>
          <a:xfrm>
            <a:off x="2614993" y="3026537"/>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45" name="Image 59" descr="CodeB"/>
          <p:cNvPicPr>
            <a:picLocks noChangeAspect="1"/>
          </p:cNvPicPr>
          <p:nvPr/>
        </p:nvPicPr>
        <p:blipFill>
          <a:blip r:embed="rId62"/>
          <a:stretch>
            <a:fillRect/>
          </a:stretch>
        </p:blipFill>
        <p:spPr>
          <a:xfrm>
            <a:off x="2875830" y="3058541"/>
            <a:ext cx="228834" cy="231997"/>
          </a:xfrm>
          <a:prstGeom prst="rect">
            <a:avLst/>
          </a:prstGeom>
        </p:spPr>
      </p:pic>
      <p:sp>
        <p:nvSpPr>
          <p:cNvPr id="146" name="Shape 69"/>
          <p:cNvSpPr/>
          <p:nvPr/>
        </p:nvSpPr>
        <p:spPr>
          <a:xfrm>
            <a:off x="3406648" y="3026537"/>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47" name="Image 60" descr="Cognizant"/>
          <p:cNvPicPr>
            <a:picLocks noChangeAspect="1"/>
          </p:cNvPicPr>
          <p:nvPr/>
        </p:nvPicPr>
        <p:blipFill>
          <a:blip r:embed="rId63"/>
          <a:stretch>
            <a:fillRect/>
          </a:stretch>
        </p:blipFill>
        <p:spPr>
          <a:xfrm>
            <a:off x="3456940" y="3060126"/>
            <a:ext cx="649923" cy="228827"/>
          </a:xfrm>
          <a:prstGeom prst="rect">
            <a:avLst/>
          </a:prstGeom>
        </p:spPr>
      </p:pic>
      <p:sp>
        <p:nvSpPr>
          <p:cNvPr id="148" name="Shape 70"/>
          <p:cNvSpPr/>
          <p:nvPr/>
        </p:nvSpPr>
        <p:spPr>
          <a:xfrm>
            <a:off x="4198303" y="3026537"/>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49" name="Image 61" descr="Colony"/>
          <p:cNvPicPr>
            <a:picLocks noChangeAspect="1"/>
          </p:cNvPicPr>
          <p:nvPr/>
        </p:nvPicPr>
        <p:blipFill>
          <a:blip r:embed="rId64"/>
          <a:stretch>
            <a:fillRect/>
          </a:stretch>
        </p:blipFill>
        <p:spPr>
          <a:xfrm>
            <a:off x="4248595" y="3090591"/>
            <a:ext cx="649923" cy="167897"/>
          </a:xfrm>
          <a:prstGeom prst="rect">
            <a:avLst/>
          </a:prstGeom>
        </p:spPr>
      </p:pic>
      <p:sp>
        <p:nvSpPr>
          <p:cNvPr id="150" name="Shape 71"/>
          <p:cNvSpPr/>
          <p:nvPr/>
        </p:nvSpPr>
        <p:spPr>
          <a:xfrm>
            <a:off x="4989957" y="3026537"/>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51" name="Image 62" descr="Comviva"/>
          <p:cNvPicPr>
            <a:picLocks noChangeAspect="1"/>
          </p:cNvPicPr>
          <p:nvPr/>
        </p:nvPicPr>
        <p:blipFill>
          <a:blip r:embed="rId65"/>
          <a:stretch>
            <a:fillRect/>
          </a:stretch>
        </p:blipFill>
        <p:spPr>
          <a:xfrm>
            <a:off x="5040249" y="3072312"/>
            <a:ext cx="649923" cy="204455"/>
          </a:xfrm>
          <a:prstGeom prst="rect">
            <a:avLst/>
          </a:prstGeom>
        </p:spPr>
      </p:pic>
      <p:sp>
        <p:nvSpPr>
          <p:cNvPr id="152" name="Shape 72"/>
          <p:cNvSpPr/>
          <p:nvPr/>
        </p:nvSpPr>
        <p:spPr>
          <a:xfrm>
            <a:off x="5781612" y="3026537"/>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53" name="Image 63" descr="Coure"/>
          <p:cNvPicPr>
            <a:picLocks noChangeAspect="1"/>
          </p:cNvPicPr>
          <p:nvPr/>
        </p:nvPicPr>
        <p:blipFill>
          <a:blip r:embed="rId66"/>
          <a:stretch>
            <a:fillRect/>
          </a:stretch>
        </p:blipFill>
        <p:spPr>
          <a:xfrm>
            <a:off x="6040866" y="3058541"/>
            <a:ext cx="231997" cy="231997"/>
          </a:xfrm>
          <a:prstGeom prst="rect">
            <a:avLst/>
          </a:prstGeom>
        </p:spPr>
      </p:pic>
      <p:sp>
        <p:nvSpPr>
          <p:cNvPr id="154" name="Shape 73"/>
          <p:cNvSpPr/>
          <p:nvPr/>
        </p:nvSpPr>
        <p:spPr>
          <a:xfrm>
            <a:off x="6573266" y="3026537"/>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55" name="Image 64" descr="CPaasAA"/>
          <p:cNvPicPr>
            <a:picLocks noChangeAspect="1"/>
          </p:cNvPicPr>
          <p:nvPr/>
        </p:nvPicPr>
        <p:blipFill>
          <a:blip r:embed="rId67"/>
          <a:stretch>
            <a:fillRect/>
          </a:stretch>
        </p:blipFill>
        <p:spPr>
          <a:xfrm>
            <a:off x="6782430" y="3058541"/>
            <a:ext cx="332178" cy="231997"/>
          </a:xfrm>
          <a:prstGeom prst="rect">
            <a:avLst/>
          </a:prstGeom>
        </p:spPr>
      </p:pic>
      <p:sp>
        <p:nvSpPr>
          <p:cNvPr id="156" name="Shape 74"/>
          <p:cNvSpPr/>
          <p:nvPr/>
        </p:nvSpPr>
        <p:spPr>
          <a:xfrm>
            <a:off x="7364921" y="3026537"/>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57" name="Image 65" descr="CSL"/>
          <p:cNvPicPr>
            <a:picLocks noChangeAspect="1"/>
          </p:cNvPicPr>
          <p:nvPr/>
        </p:nvPicPr>
        <p:blipFill>
          <a:blip r:embed="rId68"/>
          <a:stretch>
            <a:fillRect/>
          </a:stretch>
        </p:blipFill>
        <p:spPr>
          <a:xfrm>
            <a:off x="7565649" y="3058541"/>
            <a:ext cx="349050" cy="231997"/>
          </a:xfrm>
          <a:prstGeom prst="rect">
            <a:avLst/>
          </a:prstGeom>
        </p:spPr>
      </p:pic>
      <p:sp>
        <p:nvSpPr>
          <p:cNvPr id="158" name="Shape 75"/>
          <p:cNvSpPr/>
          <p:nvPr/>
        </p:nvSpPr>
        <p:spPr>
          <a:xfrm>
            <a:off x="8156575" y="3026537"/>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59" name="Image 66" descr="CThingsCo"/>
          <p:cNvPicPr>
            <a:picLocks noChangeAspect="1"/>
          </p:cNvPicPr>
          <p:nvPr/>
        </p:nvPicPr>
        <p:blipFill>
          <a:blip r:embed="rId69"/>
          <a:stretch>
            <a:fillRect/>
          </a:stretch>
        </p:blipFill>
        <p:spPr>
          <a:xfrm>
            <a:off x="8206867" y="3119026"/>
            <a:ext cx="649923" cy="111028"/>
          </a:xfrm>
          <a:prstGeom prst="rect">
            <a:avLst/>
          </a:prstGeom>
        </p:spPr>
      </p:pic>
      <p:sp>
        <p:nvSpPr>
          <p:cNvPr id="160" name="Shape 76"/>
          <p:cNvSpPr/>
          <p:nvPr/>
        </p:nvSpPr>
        <p:spPr>
          <a:xfrm>
            <a:off x="8948230" y="3026537"/>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61" name="Image 67" descr="DataCurve"/>
          <p:cNvPicPr>
            <a:picLocks noChangeAspect="1"/>
          </p:cNvPicPr>
          <p:nvPr/>
        </p:nvPicPr>
        <p:blipFill>
          <a:blip r:embed="rId70"/>
          <a:stretch>
            <a:fillRect/>
          </a:stretch>
        </p:blipFill>
        <p:spPr>
          <a:xfrm>
            <a:off x="9229102" y="3058541"/>
            <a:ext cx="188761" cy="231997"/>
          </a:xfrm>
          <a:prstGeom prst="rect">
            <a:avLst/>
          </a:prstGeom>
        </p:spPr>
      </p:pic>
      <p:sp>
        <p:nvSpPr>
          <p:cNvPr id="162" name="Shape 77"/>
          <p:cNvSpPr/>
          <p:nvPr/>
        </p:nvSpPr>
        <p:spPr>
          <a:xfrm>
            <a:off x="9739884" y="3026537"/>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63" name="Image 68" descr="Detecon Consulting"/>
          <p:cNvPicPr>
            <a:picLocks noChangeAspect="1"/>
          </p:cNvPicPr>
          <p:nvPr/>
        </p:nvPicPr>
        <p:blipFill>
          <a:blip r:embed="rId71"/>
          <a:stretch>
            <a:fillRect/>
          </a:stretch>
        </p:blipFill>
        <p:spPr>
          <a:xfrm>
            <a:off x="9790176" y="3112933"/>
            <a:ext cx="649923" cy="123214"/>
          </a:xfrm>
          <a:prstGeom prst="rect">
            <a:avLst/>
          </a:prstGeom>
        </p:spPr>
      </p:pic>
      <p:sp>
        <p:nvSpPr>
          <p:cNvPr id="164" name="Shape 78"/>
          <p:cNvSpPr/>
          <p:nvPr/>
        </p:nvSpPr>
        <p:spPr>
          <a:xfrm>
            <a:off x="10531539" y="3026537"/>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65" name="Image 69" descr="Domos"/>
          <p:cNvPicPr>
            <a:picLocks noChangeAspect="1"/>
          </p:cNvPicPr>
          <p:nvPr/>
        </p:nvPicPr>
        <p:blipFill>
          <a:blip r:embed="rId72"/>
          <a:stretch>
            <a:fillRect/>
          </a:stretch>
        </p:blipFill>
        <p:spPr>
          <a:xfrm>
            <a:off x="10790793" y="3058541"/>
            <a:ext cx="231997" cy="231997"/>
          </a:xfrm>
          <a:prstGeom prst="rect">
            <a:avLst/>
          </a:prstGeom>
        </p:spPr>
      </p:pic>
      <p:sp>
        <p:nvSpPr>
          <p:cNvPr id="166" name="Shape 79"/>
          <p:cNvSpPr/>
          <p:nvPr/>
        </p:nvSpPr>
        <p:spPr>
          <a:xfrm>
            <a:off x="240030" y="334997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67" name="Image 70" descr="DriveU.auto"/>
          <p:cNvPicPr>
            <a:picLocks noChangeAspect="1"/>
          </p:cNvPicPr>
          <p:nvPr/>
        </p:nvPicPr>
        <p:blipFill>
          <a:blip r:embed="rId73"/>
          <a:stretch>
            <a:fillRect/>
          </a:stretch>
        </p:blipFill>
        <p:spPr>
          <a:xfrm>
            <a:off x="290322" y="3459388"/>
            <a:ext cx="649923" cy="77178"/>
          </a:xfrm>
          <a:prstGeom prst="rect">
            <a:avLst/>
          </a:prstGeom>
        </p:spPr>
      </p:pic>
      <p:sp>
        <p:nvSpPr>
          <p:cNvPr id="168" name="Shape 80"/>
          <p:cNvSpPr/>
          <p:nvPr/>
        </p:nvSpPr>
        <p:spPr>
          <a:xfrm>
            <a:off x="1031684" y="334997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69" name="Image 71" descr="EANTC"/>
          <p:cNvPicPr>
            <a:picLocks noChangeAspect="1"/>
          </p:cNvPicPr>
          <p:nvPr/>
        </p:nvPicPr>
        <p:blipFill>
          <a:blip r:embed="rId74"/>
          <a:stretch>
            <a:fillRect/>
          </a:stretch>
        </p:blipFill>
        <p:spPr>
          <a:xfrm>
            <a:off x="1081976" y="3419445"/>
            <a:ext cx="649923" cy="157065"/>
          </a:xfrm>
          <a:prstGeom prst="rect">
            <a:avLst/>
          </a:prstGeom>
        </p:spPr>
      </p:pic>
      <p:sp>
        <p:nvSpPr>
          <p:cNvPr id="170" name="Shape 81"/>
          <p:cNvSpPr/>
          <p:nvPr/>
        </p:nvSpPr>
        <p:spPr>
          <a:xfrm>
            <a:off x="1823339" y="334997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71" name="Image 72" descr="Ecosteer"/>
          <p:cNvPicPr>
            <a:picLocks noChangeAspect="1"/>
          </p:cNvPicPr>
          <p:nvPr/>
        </p:nvPicPr>
        <p:blipFill>
          <a:blip r:embed="rId75"/>
          <a:stretch>
            <a:fillRect/>
          </a:stretch>
        </p:blipFill>
        <p:spPr>
          <a:xfrm>
            <a:off x="1873631" y="3458711"/>
            <a:ext cx="649923" cy="78532"/>
          </a:xfrm>
          <a:prstGeom prst="rect">
            <a:avLst/>
          </a:prstGeom>
        </p:spPr>
      </p:pic>
      <p:sp>
        <p:nvSpPr>
          <p:cNvPr id="172" name="Shape 82"/>
          <p:cNvSpPr/>
          <p:nvPr/>
        </p:nvSpPr>
        <p:spPr>
          <a:xfrm>
            <a:off x="2614993" y="334997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73" name="Image 73" descr="EdgeContinuum"/>
          <p:cNvPicPr>
            <a:picLocks noChangeAspect="1"/>
          </p:cNvPicPr>
          <p:nvPr/>
        </p:nvPicPr>
        <p:blipFill>
          <a:blip r:embed="rId76"/>
          <a:stretch>
            <a:fillRect/>
          </a:stretch>
        </p:blipFill>
        <p:spPr>
          <a:xfrm>
            <a:off x="2794104" y="3381978"/>
            <a:ext cx="392286" cy="231997"/>
          </a:xfrm>
          <a:prstGeom prst="rect">
            <a:avLst/>
          </a:prstGeom>
        </p:spPr>
      </p:pic>
      <p:sp>
        <p:nvSpPr>
          <p:cNvPr id="174" name="Shape 83"/>
          <p:cNvSpPr/>
          <p:nvPr/>
        </p:nvSpPr>
        <p:spPr>
          <a:xfrm>
            <a:off x="3406648" y="334997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75" name="Image 74" descr="EdgeXR"/>
          <p:cNvPicPr>
            <a:picLocks noChangeAspect="1"/>
          </p:cNvPicPr>
          <p:nvPr/>
        </p:nvPicPr>
        <p:blipFill>
          <a:blip r:embed="rId77"/>
          <a:stretch>
            <a:fillRect/>
          </a:stretch>
        </p:blipFill>
        <p:spPr>
          <a:xfrm>
            <a:off x="3665903" y="3381978"/>
            <a:ext cx="231997" cy="231997"/>
          </a:xfrm>
          <a:prstGeom prst="rect">
            <a:avLst/>
          </a:prstGeom>
        </p:spPr>
      </p:pic>
      <p:sp>
        <p:nvSpPr>
          <p:cNvPr id="176" name="Shape 84"/>
          <p:cNvSpPr/>
          <p:nvPr/>
        </p:nvSpPr>
        <p:spPr>
          <a:xfrm>
            <a:off x="4198303" y="334997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77" name="Image 75" descr="Etisalat"/>
          <p:cNvPicPr>
            <a:picLocks noChangeAspect="1"/>
          </p:cNvPicPr>
          <p:nvPr/>
        </p:nvPicPr>
        <p:blipFill>
          <a:blip r:embed="rId78"/>
          <a:stretch>
            <a:fillRect/>
          </a:stretch>
        </p:blipFill>
        <p:spPr>
          <a:xfrm>
            <a:off x="4462830" y="3381978"/>
            <a:ext cx="221452" cy="231997"/>
          </a:xfrm>
          <a:prstGeom prst="rect">
            <a:avLst/>
          </a:prstGeom>
        </p:spPr>
      </p:pic>
      <p:sp>
        <p:nvSpPr>
          <p:cNvPr id="178" name="Shape 85"/>
          <p:cNvSpPr/>
          <p:nvPr/>
        </p:nvSpPr>
        <p:spPr>
          <a:xfrm>
            <a:off x="4989957" y="334997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79" name="Image 76" descr="Etiya"/>
          <p:cNvPicPr>
            <a:picLocks noChangeAspect="1"/>
          </p:cNvPicPr>
          <p:nvPr/>
        </p:nvPicPr>
        <p:blipFill>
          <a:blip r:embed="rId79"/>
          <a:stretch>
            <a:fillRect/>
          </a:stretch>
        </p:blipFill>
        <p:spPr>
          <a:xfrm>
            <a:off x="5040249" y="3382210"/>
            <a:ext cx="649923" cy="231535"/>
          </a:xfrm>
          <a:prstGeom prst="rect">
            <a:avLst/>
          </a:prstGeom>
        </p:spPr>
      </p:pic>
      <p:sp>
        <p:nvSpPr>
          <p:cNvPr id="180" name="Shape 86"/>
          <p:cNvSpPr/>
          <p:nvPr/>
        </p:nvSpPr>
        <p:spPr>
          <a:xfrm>
            <a:off x="5781612" y="334997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81" name="Image 77" descr="Eureka"/>
          <p:cNvPicPr>
            <a:picLocks noChangeAspect="1"/>
          </p:cNvPicPr>
          <p:nvPr/>
        </p:nvPicPr>
        <p:blipFill>
          <a:blip r:embed="rId80"/>
          <a:stretch>
            <a:fillRect/>
          </a:stretch>
        </p:blipFill>
        <p:spPr>
          <a:xfrm>
            <a:off x="5831904" y="3410644"/>
            <a:ext cx="649923" cy="174667"/>
          </a:xfrm>
          <a:prstGeom prst="rect">
            <a:avLst/>
          </a:prstGeom>
        </p:spPr>
      </p:pic>
      <p:sp>
        <p:nvSpPr>
          <p:cNvPr id="182" name="Shape 87"/>
          <p:cNvSpPr/>
          <p:nvPr/>
        </p:nvSpPr>
        <p:spPr>
          <a:xfrm>
            <a:off x="6573266" y="334997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83" name="Image 78" descr="Eviden"/>
          <p:cNvPicPr>
            <a:picLocks noChangeAspect="1"/>
          </p:cNvPicPr>
          <p:nvPr/>
        </p:nvPicPr>
        <p:blipFill>
          <a:blip r:embed="rId81"/>
          <a:stretch>
            <a:fillRect/>
          </a:stretch>
        </p:blipFill>
        <p:spPr>
          <a:xfrm>
            <a:off x="6630352" y="3381978"/>
            <a:ext cx="636335" cy="231997"/>
          </a:xfrm>
          <a:prstGeom prst="rect">
            <a:avLst/>
          </a:prstGeom>
        </p:spPr>
      </p:pic>
      <p:sp>
        <p:nvSpPr>
          <p:cNvPr id="184" name="Shape 88"/>
          <p:cNvSpPr/>
          <p:nvPr/>
        </p:nvSpPr>
        <p:spPr>
          <a:xfrm>
            <a:off x="7364921" y="334997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85" name="Image 79" descr="F5"/>
          <p:cNvPicPr>
            <a:picLocks noChangeAspect="1"/>
          </p:cNvPicPr>
          <p:nvPr/>
        </p:nvPicPr>
        <p:blipFill>
          <a:blip r:embed="rId82"/>
          <a:stretch>
            <a:fillRect/>
          </a:stretch>
        </p:blipFill>
        <p:spPr>
          <a:xfrm>
            <a:off x="7624175" y="3381978"/>
            <a:ext cx="231997" cy="231997"/>
          </a:xfrm>
          <a:prstGeom prst="rect">
            <a:avLst/>
          </a:prstGeom>
        </p:spPr>
      </p:pic>
      <p:sp>
        <p:nvSpPr>
          <p:cNvPr id="186" name="Shape 89"/>
          <p:cNvSpPr/>
          <p:nvPr/>
        </p:nvSpPr>
        <p:spPr>
          <a:xfrm>
            <a:off x="8156575" y="334997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87" name="Image 80" descr="Fujitsu"/>
          <p:cNvPicPr>
            <a:picLocks noChangeAspect="1"/>
          </p:cNvPicPr>
          <p:nvPr/>
        </p:nvPicPr>
        <p:blipFill>
          <a:blip r:embed="rId83"/>
          <a:stretch>
            <a:fillRect/>
          </a:stretch>
        </p:blipFill>
        <p:spPr>
          <a:xfrm>
            <a:off x="8283486" y="3381978"/>
            <a:ext cx="496685" cy="231997"/>
          </a:xfrm>
          <a:prstGeom prst="rect">
            <a:avLst/>
          </a:prstGeom>
        </p:spPr>
      </p:pic>
      <p:sp>
        <p:nvSpPr>
          <p:cNvPr id="188" name="Shape 90"/>
          <p:cNvSpPr/>
          <p:nvPr/>
        </p:nvSpPr>
        <p:spPr>
          <a:xfrm>
            <a:off x="8948230" y="334997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89" name="Image 81" descr="Gapask"/>
          <p:cNvPicPr>
            <a:picLocks noChangeAspect="1"/>
          </p:cNvPicPr>
          <p:nvPr/>
        </p:nvPicPr>
        <p:blipFill>
          <a:blip r:embed="rId84"/>
          <a:stretch>
            <a:fillRect/>
          </a:stretch>
        </p:blipFill>
        <p:spPr>
          <a:xfrm>
            <a:off x="9175848" y="3381978"/>
            <a:ext cx="295269" cy="231997"/>
          </a:xfrm>
          <a:prstGeom prst="rect">
            <a:avLst/>
          </a:prstGeom>
        </p:spPr>
      </p:pic>
      <p:sp>
        <p:nvSpPr>
          <p:cNvPr id="190" name="Shape 91"/>
          <p:cNvSpPr/>
          <p:nvPr/>
        </p:nvSpPr>
        <p:spPr>
          <a:xfrm>
            <a:off x="9739884" y="334997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91" name="Image 82" descr="GMS"/>
          <p:cNvPicPr>
            <a:picLocks noChangeAspect="1"/>
          </p:cNvPicPr>
          <p:nvPr/>
        </p:nvPicPr>
        <p:blipFill>
          <a:blip r:embed="rId85"/>
          <a:stretch>
            <a:fillRect/>
          </a:stretch>
        </p:blipFill>
        <p:spPr>
          <a:xfrm>
            <a:off x="9790176" y="3430277"/>
            <a:ext cx="649923" cy="135401"/>
          </a:xfrm>
          <a:prstGeom prst="rect">
            <a:avLst/>
          </a:prstGeom>
        </p:spPr>
      </p:pic>
      <p:sp>
        <p:nvSpPr>
          <p:cNvPr id="192" name="Shape 92"/>
          <p:cNvSpPr/>
          <p:nvPr/>
        </p:nvSpPr>
        <p:spPr>
          <a:xfrm>
            <a:off x="10531539" y="334997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93" name="Image 83" descr="Google Cloud"/>
          <p:cNvPicPr>
            <a:picLocks noChangeAspect="1"/>
          </p:cNvPicPr>
          <p:nvPr/>
        </p:nvPicPr>
        <p:blipFill>
          <a:blip r:embed="rId86"/>
          <a:stretch>
            <a:fillRect/>
          </a:stretch>
        </p:blipFill>
        <p:spPr>
          <a:xfrm>
            <a:off x="10581831" y="3440432"/>
            <a:ext cx="649923" cy="115090"/>
          </a:xfrm>
          <a:prstGeom prst="rect">
            <a:avLst/>
          </a:prstGeom>
        </p:spPr>
      </p:pic>
      <p:sp>
        <p:nvSpPr>
          <p:cNvPr id="194" name="Shape 93"/>
          <p:cNvSpPr/>
          <p:nvPr/>
        </p:nvSpPr>
        <p:spPr>
          <a:xfrm>
            <a:off x="240030" y="3673412"/>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95" name="Image 84" descr="GSMA"/>
          <p:cNvPicPr>
            <a:picLocks noChangeAspect="1"/>
          </p:cNvPicPr>
          <p:nvPr/>
        </p:nvPicPr>
        <p:blipFill>
          <a:blip r:embed="rId87"/>
          <a:stretch>
            <a:fillRect/>
          </a:stretch>
        </p:blipFill>
        <p:spPr>
          <a:xfrm>
            <a:off x="290322" y="3771993"/>
            <a:ext cx="649923" cy="98842"/>
          </a:xfrm>
          <a:prstGeom prst="rect">
            <a:avLst/>
          </a:prstGeom>
        </p:spPr>
      </p:pic>
      <p:sp>
        <p:nvSpPr>
          <p:cNvPr id="196" name="Shape 94"/>
          <p:cNvSpPr/>
          <p:nvPr/>
        </p:nvSpPr>
        <p:spPr>
          <a:xfrm>
            <a:off x="1031684" y="3673412"/>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97" name="Image 85" descr="HCL Software"/>
          <p:cNvPicPr>
            <a:picLocks noChangeAspect="1"/>
          </p:cNvPicPr>
          <p:nvPr/>
        </p:nvPicPr>
        <p:blipFill>
          <a:blip r:embed="rId88"/>
          <a:stretch>
            <a:fillRect/>
          </a:stretch>
        </p:blipFill>
        <p:spPr>
          <a:xfrm>
            <a:off x="1175468" y="3705416"/>
            <a:ext cx="462940" cy="231997"/>
          </a:xfrm>
          <a:prstGeom prst="rect">
            <a:avLst/>
          </a:prstGeom>
        </p:spPr>
      </p:pic>
      <p:sp>
        <p:nvSpPr>
          <p:cNvPr id="198" name="Shape 95"/>
          <p:cNvSpPr/>
          <p:nvPr/>
        </p:nvSpPr>
        <p:spPr>
          <a:xfrm>
            <a:off x="1823339" y="3673412"/>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199" name="Image 86" descr="Heksagon"/>
          <p:cNvPicPr>
            <a:picLocks noChangeAspect="1"/>
          </p:cNvPicPr>
          <p:nvPr/>
        </p:nvPicPr>
        <p:blipFill>
          <a:blip r:embed="rId89"/>
          <a:stretch>
            <a:fillRect/>
          </a:stretch>
        </p:blipFill>
        <p:spPr>
          <a:xfrm>
            <a:off x="1873631" y="3745590"/>
            <a:ext cx="649923" cy="151649"/>
          </a:xfrm>
          <a:prstGeom prst="rect">
            <a:avLst/>
          </a:prstGeom>
        </p:spPr>
      </p:pic>
      <p:sp>
        <p:nvSpPr>
          <p:cNvPr id="200" name="Shape 96"/>
          <p:cNvSpPr/>
          <p:nvPr/>
        </p:nvSpPr>
        <p:spPr>
          <a:xfrm>
            <a:off x="2614993" y="3673412"/>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01" name="Image 87" descr="Hewlett Packard Enterprise"/>
          <p:cNvPicPr>
            <a:picLocks noChangeAspect="1"/>
          </p:cNvPicPr>
          <p:nvPr/>
        </p:nvPicPr>
        <p:blipFill>
          <a:blip r:embed="rId90"/>
          <a:stretch>
            <a:fillRect/>
          </a:stretch>
        </p:blipFill>
        <p:spPr>
          <a:xfrm>
            <a:off x="2690895" y="3705416"/>
            <a:ext cx="598703" cy="231997"/>
          </a:xfrm>
          <a:prstGeom prst="rect">
            <a:avLst/>
          </a:prstGeom>
        </p:spPr>
      </p:pic>
      <p:sp>
        <p:nvSpPr>
          <p:cNvPr id="202" name="Shape 97"/>
          <p:cNvSpPr/>
          <p:nvPr/>
        </p:nvSpPr>
        <p:spPr>
          <a:xfrm>
            <a:off x="3406648" y="3673412"/>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03" name="Image 88" descr="HKT"/>
          <p:cNvPicPr>
            <a:picLocks noChangeAspect="1"/>
          </p:cNvPicPr>
          <p:nvPr/>
        </p:nvPicPr>
        <p:blipFill>
          <a:blip r:embed="rId91"/>
          <a:stretch>
            <a:fillRect/>
          </a:stretch>
        </p:blipFill>
        <p:spPr>
          <a:xfrm>
            <a:off x="3500692" y="3705416"/>
            <a:ext cx="562418" cy="231997"/>
          </a:xfrm>
          <a:prstGeom prst="rect">
            <a:avLst/>
          </a:prstGeom>
        </p:spPr>
      </p:pic>
      <p:sp>
        <p:nvSpPr>
          <p:cNvPr id="204" name="Shape 98"/>
          <p:cNvSpPr/>
          <p:nvPr/>
        </p:nvSpPr>
        <p:spPr>
          <a:xfrm>
            <a:off x="4198303" y="3673412"/>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05" name="Image 89" descr="Huawei"/>
          <p:cNvPicPr>
            <a:picLocks noChangeAspect="1"/>
          </p:cNvPicPr>
          <p:nvPr/>
        </p:nvPicPr>
        <p:blipFill>
          <a:blip r:embed="rId92"/>
          <a:stretch>
            <a:fillRect/>
          </a:stretch>
        </p:blipFill>
        <p:spPr>
          <a:xfrm>
            <a:off x="4459139" y="3705416"/>
            <a:ext cx="228834" cy="231997"/>
          </a:xfrm>
          <a:prstGeom prst="rect">
            <a:avLst/>
          </a:prstGeom>
        </p:spPr>
      </p:pic>
      <p:sp>
        <p:nvSpPr>
          <p:cNvPr id="206" name="Shape 99"/>
          <p:cNvSpPr/>
          <p:nvPr/>
        </p:nvSpPr>
        <p:spPr>
          <a:xfrm>
            <a:off x="4989957" y="3673412"/>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07" name="Image 90" descr="IamCrypto"/>
          <p:cNvPicPr>
            <a:picLocks noChangeAspect="1"/>
          </p:cNvPicPr>
          <p:nvPr/>
        </p:nvPicPr>
        <p:blipFill>
          <a:blip r:embed="rId93"/>
          <a:stretch>
            <a:fillRect/>
          </a:stretch>
        </p:blipFill>
        <p:spPr>
          <a:xfrm>
            <a:off x="5040249" y="3757776"/>
            <a:ext cx="649923" cy="127276"/>
          </a:xfrm>
          <a:prstGeom prst="rect">
            <a:avLst/>
          </a:prstGeom>
        </p:spPr>
      </p:pic>
      <p:sp>
        <p:nvSpPr>
          <p:cNvPr id="208" name="Shape 100"/>
          <p:cNvSpPr/>
          <p:nvPr/>
        </p:nvSpPr>
        <p:spPr>
          <a:xfrm>
            <a:off x="5781612" y="3673412"/>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09" name="Image 91" descr="IBM"/>
          <p:cNvPicPr>
            <a:picLocks noChangeAspect="1"/>
          </p:cNvPicPr>
          <p:nvPr/>
        </p:nvPicPr>
        <p:blipFill>
          <a:blip r:embed="rId94"/>
          <a:stretch>
            <a:fillRect/>
          </a:stretch>
        </p:blipFill>
        <p:spPr>
          <a:xfrm>
            <a:off x="5982340" y="3705416"/>
            <a:ext cx="349050" cy="231997"/>
          </a:xfrm>
          <a:prstGeom prst="rect">
            <a:avLst/>
          </a:prstGeom>
        </p:spPr>
      </p:pic>
      <p:sp>
        <p:nvSpPr>
          <p:cNvPr id="210" name="Shape 101"/>
          <p:cNvSpPr/>
          <p:nvPr/>
        </p:nvSpPr>
        <p:spPr>
          <a:xfrm>
            <a:off x="6573266" y="3673412"/>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11" name="Image 92" descr="ICCS"/>
          <p:cNvPicPr>
            <a:picLocks noChangeAspect="1"/>
          </p:cNvPicPr>
          <p:nvPr/>
        </p:nvPicPr>
        <p:blipFill>
          <a:blip r:embed="rId95"/>
          <a:stretch>
            <a:fillRect/>
          </a:stretch>
        </p:blipFill>
        <p:spPr>
          <a:xfrm>
            <a:off x="6832521" y="3705416"/>
            <a:ext cx="231997" cy="231997"/>
          </a:xfrm>
          <a:prstGeom prst="rect">
            <a:avLst/>
          </a:prstGeom>
        </p:spPr>
      </p:pic>
      <p:sp>
        <p:nvSpPr>
          <p:cNvPr id="212" name="Shape 102"/>
          <p:cNvSpPr/>
          <p:nvPr/>
        </p:nvSpPr>
        <p:spPr>
          <a:xfrm>
            <a:off x="7364921" y="3673412"/>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13" name="Image 93" descr="IEEE 5G6G Testbed"/>
          <p:cNvPicPr>
            <a:picLocks noChangeAspect="1"/>
          </p:cNvPicPr>
          <p:nvPr/>
        </p:nvPicPr>
        <p:blipFill>
          <a:blip r:embed="rId96"/>
          <a:stretch>
            <a:fillRect/>
          </a:stretch>
        </p:blipFill>
        <p:spPr>
          <a:xfrm>
            <a:off x="7571976" y="3705416"/>
            <a:ext cx="336396" cy="231997"/>
          </a:xfrm>
          <a:prstGeom prst="rect">
            <a:avLst/>
          </a:prstGeom>
        </p:spPr>
      </p:pic>
      <p:sp>
        <p:nvSpPr>
          <p:cNvPr id="214" name="Shape 103"/>
          <p:cNvSpPr/>
          <p:nvPr/>
        </p:nvSpPr>
        <p:spPr>
          <a:xfrm>
            <a:off x="8156575" y="3673412"/>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15" name="Image 94" descr="IndyKite Inc."/>
          <p:cNvPicPr>
            <a:picLocks noChangeAspect="1"/>
          </p:cNvPicPr>
          <p:nvPr/>
        </p:nvPicPr>
        <p:blipFill>
          <a:blip r:embed="rId97"/>
          <a:stretch>
            <a:fillRect/>
          </a:stretch>
        </p:blipFill>
        <p:spPr>
          <a:xfrm>
            <a:off x="8468556" y="3705416"/>
            <a:ext cx="126544" cy="231997"/>
          </a:xfrm>
          <a:prstGeom prst="rect">
            <a:avLst/>
          </a:prstGeom>
        </p:spPr>
      </p:pic>
      <p:sp>
        <p:nvSpPr>
          <p:cNvPr id="216" name="Shape 104"/>
          <p:cNvSpPr/>
          <p:nvPr/>
        </p:nvSpPr>
        <p:spPr>
          <a:xfrm>
            <a:off x="8948230" y="3673412"/>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17" name="Image 95" descr="Infobip"/>
          <p:cNvPicPr>
            <a:picLocks noChangeAspect="1"/>
          </p:cNvPicPr>
          <p:nvPr/>
        </p:nvPicPr>
        <p:blipFill>
          <a:blip r:embed="rId98"/>
          <a:stretch>
            <a:fillRect/>
          </a:stretch>
        </p:blipFill>
        <p:spPr>
          <a:xfrm>
            <a:off x="9195357" y="3705416"/>
            <a:ext cx="256252" cy="231997"/>
          </a:xfrm>
          <a:prstGeom prst="rect">
            <a:avLst/>
          </a:prstGeom>
        </p:spPr>
      </p:pic>
      <p:sp>
        <p:nvSpPr>
          <p:cNvPr id="218" name="Shape 105"/>
          <p:cNvSpPr/>
          <p:nvPr/>
        </p:nvSpPr>
        <p:spPr>
          <a:xfrm>
            <a:off x="9739884" y="3673412"/>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19" name="Image 96" descr="InfoLysis"/>
          <p:cNvPicPr>
            <a:picLocks noChangeAspect="1"/>
          </p:cNvPicPr>
          <p:nvPr/>
        </p:nvPicPr>
        <p:blipFill>
          <a:blip r:embed="rId99"/>
          <a:stretch>
            <a:fillRect/>
          </a:stretch>
        </p:blipFill>
        <p:spPr>
          <a:xfrm>
            <a:off x="9962757" y="3705416"/>
            <a:ext cx="304760" cy="231997"/>
          </a:xfrm>
          <a:prstGeom prst="rect">
            <a:avLst/>
          </a:prstGeom>
        </p:spPr>
      </p:pic>
      <p:sp>
        <p:nvSpPr>
          <p:cNvPr id="220" name="Shape 106"/>
          <p:cNvSpPr/>
          <p:nvPr/>
        </p:nvSpPr>
        <p:spPr>
          <a:xfrm>
            <a:off x="10531539" y="3673412"/>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21" name="Image 97" descr="Infosys"/>
          <p:cNvPicPr>
            <a:picLocks noChangeAspect="1"/>
          </p:cNvPicPr>
          <p:nvPr/>
        </p:nvPicPr>
        <p:blipFill>
          <a:blip r:embed="rId100"/>
          <a:stretch>
            <a:fillRect/>
          </a:stretch>
        </p:blipFill>
        <p:spPr>
          <a:xfrm>
            <a:off x="10592219" y="3705416"/>
            <a:ext cx="629145" cy="231997"/>
          </a:xfrm>
          <a:prstGeom prst="rect">
            <a:avLst/>
          </a:prstGeom>
        </p:spPr>
      </p:pic>
      <p:sp>
        <p:nvSpPr>
          <p:cNvPr id="222" name="Shape 107"/>
          <p:cNvSpPr/>
          <p:nvPr/>
        </p:nvSpPr>
        <p:spPr>
          <a:xfrm>
            <a:off x="240030" y="3996849"/>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23" name="Image 98" descr="Intel"/>
          <p:cNvPicPr>
            <a:picLocks noChangeAspect="1"/>
          </p:cNvPicPr>
          <p:nvPr/>
        </p:nvPicPr>
        <p:blipFill>
          <a:blip r:embed="rId101"/>
          <a:stretch>
            <a:fillRect/>
          </a:stretch>
        </p:blipFill>
        <p:spPr>
          <a:xfrm>
            <a:off x="328276" y="4028853"/>
            <a:ext cx="574014" cy="231997"/>
          </a:xfrm>
          <a:prstGeom prst="rect">
            <a:avLst/>
          </a:prstGeom>
        </p:spPr>
      </p:pic>
      <p:sp>
        <p:nvSpPr>
          <p:cNvPr id="224" name="Shape 108"/>
          <p:cNvSpPr/>
          <p:nvPr/>
        </p:nvSpPr>
        <p:spPr>
          <a:xfrm>
            <a:off x="1031684" y="3996849"/>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25" name="Image 99" descr="Intersec"/>
          <p:cNvPicPr>
            <a:picLocks noChangeAspect="1"/>
          </p:cNvPicPr>
          <p:nvPr/>
        </p:nvPicPr>
        <p:blipFill>
          <a:blip r:embed="rId102"/>
          <a:stretch>
            <a:fillRect/>
          </a:stretch>
        </p:blipFill>
        <p:spPr>
          <a:xfrm>
            <a:off x="1295157" y="4028853"/>
            <a:ext cx="223561" cy="231997"/>
          </a:xfrm>
          <a:prstGeom prst="rect">
            <a:avLst/>
          </a:prstGeom>
        </p:spPr>
      </p:pic>
      <p:sp>
        <p:nvSpPr>
          <p:cNvPr id="226" name="Shape 109"/>
          <p:cNvSpPr/>
          <p:nvPr/>
        </p:nvSpPr>
        <p:spPr>
          <a:xfrm>
            <a:off x="1823339" y="3996849"/>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27" name="Image 100" descr="Intracom Single Member S. A. Telecom Solutions"/>
          <p:cNvPicPr>
            <a:picLocks noChangeAspect="1"/>
          </p:cNvPicPr>
          <p:nvPr/>
        </p:nvPicPr>
        <p:blipFill>
          <a:blip r:embed="rId103"/>
          <a:stretch>
            <a:fillRect/>
          </a:stretch>
        </p:blipFill>
        <p:spPr>
          <a:xfrm>
            <a:off x="1873631" y="4071058"/>
            <a:ext cx="649923" cy="147587"/>
          </a:xfrm>
          <a:prstGeom prst="rect">
            <a:avLst/>
          </a:prstGeom>
        </p:spPr>
      </p:pic>
      <p:sp>
        <p:nvSpPr>
          <p:cNvPr id="228" name="Shape 110"/>
          <p:cNvSpPr/>
          <p:nvPr/>
        </p:nvSpPr>
        <p:spPr>
          <a:xfrm>
            <a:off x="2614993" y="3996849"/>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29" name="Image 101" descr="ION"/>
          <p:cNvPicPr>
            <a:picLocks noChangeAspect="1"/>
          </p:cNvPicPr>
          <p:nvPr/>
        </p:nvPicPr>
        <p:blipFill>
          <a:blip r:embed="rId104"/>
          <a:stretch>
            <a:fillRect/>
          </a:stretch>
        </p:blipFill>
        <p:spPr>
          <a:xfrm>
            <a:off x="2890066" y="4028853"/>
            <a:ext cx="200361" cy="231997"/>
          </a:xfrm>
          <a:prstGeom prst="rect">
            <a:avLst/>
          </a:prstGeom>
        </p:spPr>
      </p:pic>
      <p:sp>
        <p:nvSpPr>
          <p:cNvPr id="230" name="Shape 111"/>
          <p:cNvSpPr/>
          <p:nvPr/>
        </p:nvSpPr>
        <p:spPr>
          <a:xfrm>
            <a:off x="3406648" y="3996849"/>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31" name="Image 102" descr="IPification"/>
          <p:cNvPicPr>
            <a:picLocks noChangeAspect="1"/>
          </p:cNvPicPr>
          <p:nvPr/>
        </p:nvPicPr>
        <p:blipFill>
          <a:blip r:embed="rId105"/>
          <a:stretch>
            <a:fillRect/>
          </a:stretch>
        </p:blipFill>
        <p:spPr>
          <a:xfrm>
            <a:off x="3456940" y="4074443"/>
            <a:ext cx="649923" cy="140817"/>
          </a:xfrm>
          <a:prstGeom prst="rect">
            <a:avLst/>
          </a:prstGeom>
        </p:spPr>
      </p:pic>
      <p:sp>
        <p:nvSpPr>
          <p:cNvPr id="232" name="Shape 112"/>
          <p:cNvSpPr/>
          <p:nvPr/>
        </p:nvSpPr>
        <p:spPr>
          <a:xfrm>
            <a:off x="4198303" y="3996849"/>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33" name="Image 103" descr="Iquall Networks"/>
          <p:cNvPicPr>
            <a:picLocks noChangeAspect="1"/>
          </p:cNvPicPr>
          <p:nvPr/>
        </p:nvPicPr>
        <p:blipFill>
          <a:blip r:embed="rId106"/>
          <a:stretch>
            <a:fillRect/>
          </a:stretch>
        </p:blipFill>
        <p:spPr>
          <a:xfrm>
            <a:off x="4248595" y="4096784"/>
            <a:ext cx="649923" cy="96134"/>
          </a:xfrm>
          <a:prstGeom prst="rect">
            <a:avLst/>
          </a:prstGeom>
        </p:spPr>
      </p:pic>
      <p:sp>
        <p:nvSpPr>
          <p:cNvPr id="234" name="Shape 113"/>
          <p:cNvSpPr/>
          <p:nvPr/>
        </p:nvSpPr>
        <p:spPr>
          <a:xfrm>
            <a:off x="4989957" y="3996849"/>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35" name="Image 104" descr="Italtel"/>
          <p:cNvPicPr>
            <a:picLocks noChangeAspect="1"/>
          </p:cNvPicPr>
          <p:nvPr/>
        </p:nvPicPr>
        <p:blipFill>
          <a:blip r:embed="rId107"/>
          <a:stretch>
            <a:fillRect/>
          </a:stretch>
        </p:blipFill>
        <p:spPr>
          <a:xfrm>
            <a:off x="5040249" y="4058195"/>
            <a:ext cx="649923" cy="173313"/>
          </a:xfrm>
          <a:prstGeom prst="rect">
            <a:avLst/>
          </a:prstGeom>
        </p:spPr>
      </p:pic>
      <p:sp>
        <p:nvSpPr>
          <p:cNvPr id="236" name="Shape 114"/>
          <p:cNvSpPr/>
          <p:nvPr/>
        </p:nvSpPr>
        <p:spPr>
          <a:xfrm>
            <a:off x="5781612" y="3996849"/>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37" name="Image 105" descr="JIO Platforms"/>
          <p:cNvPicPr>
            <a:picLocks noChangeAspect="1"/>
          </p:cNvPicPr>
          <p:nvPr/>
        </p:nvPicPr>
        <p:blipFill>
          <a:blip r:embed="rId108"/>
          <a:stretch>
            <a:fillRect/>
          </a:stretch>
        </p:blipFill>
        <p:spPr>
          <a:xfrm>
            <a:off x="5836868" y="4028853"/>
            <a:ext cx="639993" cy="231997"/>
          </a:xfrm>
          <a:prstGeom prst="rect">
            <a:avLst/>
          </a:prstGeom>
        </p:spPr>
      </p:pic>
      <p:sp>
        <p:nvSpPr>
          <p:cNvPr id="238" name="Shape 115"/>
          <p:cNvSpPr/>
          <p:nvPr/>
        </p:nvSpPr>
        <p:spPr>
          <a:xfrm>
            <a:off x="6573266" y="3996849"/>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39" name="Image 106" descr="JLinc"/>
          <p:cNvPicPr>
            <a:picLocks noChangeAspect="1"/>
          </p:cNvPicPr>
          <p:nvPr/>
        </p:nvPicPr>
        <p:blipFill>
          <a:blip r:embed="rId109"/>
          <a:stretch>
            <a:fillRect/>
          </a:stretch>
        </p:blipFill>
        <p:spPr>
          <a:xfrm>
            <a:off x="6623558" y="4054810"/>
            <a:ext cx="649923" cy="180083"/>
          </a:xfrm>
          <a:prstGeom prst="rect">
            <a:avLst/>
          </a:prstGeom>
        </p:spPr>
      </p:pic>
      <p:sp>
        <p:nvSpPr>
          <p:cNvPr id="240" name="Shape 116"/>
          <p:cNvSpPr/>
          <p:nvPr/>
        </p:nvSpPr>
        <p:spPr>
          <a:xfrm>
            <a:off x="7364921" y="3996849"/>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41" name="Image 107" descr="KDDI"/>
          <p:cNvPicPr>
            <a:picLocks noChangeAspect="1"/>
          </p:cNvPicPr>
          <p:nvPr/>
        </p:nvPicPr>
        <p:blipFill>
          <a:blip r:embed="rId110"/>
          <a:stretch>
            <a:fillRect/>
          </a:stretch>
        </p:blipFill>
        <p:spPr>
          <a:xfrm>
            <a:off x="7528213" y="4028853"/>
            <a:ext cx="423922" cy="231997"/>
          </a:xfrm>
          <a:prstGeom prst="rect">
            <a:avLst/>
          </a:prstGeom>
        </p:spPr>
      </p:pic>
      <p:sp>
        <p:nvSpPr>
          <p:cNvPr id="242" name="Shape 117"/>
          <p:cNvSpPr/>
          <p:nvPr/>
        </p:nvSpPr>
        <p:spPr>
          <a:xfrm>
            <a:off x="8156575" y="3996849"/>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43" name="Image 108" descr="KPN"/>
          <p:cNvPicPr>
            <a:picLocks noChangeAspect="1"/>
          </p:cNvPicPr>
          <p:nvPr/>
        </p:nvPicPr>
        <p:blipFill>
          <a:blip r:embed="rId111"/>
          <a:stretch>
            <a:fillRect/>
          </a:stretch>
        </p:blipFill>
        <p:spPr>
          <a:xfrm>
            <a:off x="8321976" y="4028853"/>
            <a:ext cx="419704" cy="231997"/>
          </a:xfrm>
          <a:prstGeom prst="rect">
            <a:avLst/>
          </a:prstGeom>
        </p:spPr>
      </p:pic>
      <p:sp>
        <p:nvSpPr>
          <p:cNvPr id="244" name="Shape 118"/>
          <p:cNvSpPr/>
          <p:nvPr/>
        </p:nvSpPr>
        <p:spPr>
          <a:xfrm>
            <a:off x="8948230" y="3996849"/>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45" name="Image 109" descr="KT"/>
          <p:cNvPicPr>
            <a:picLocks noChangeAspect="1"/>
          </p:cNvPicPr>
          <p:nvPr/>
        </p:nvPicPr>
        <p:blipFill>
          <a:blip r:embed="rId112"/>
          <a:stretch>
            <a:fillRect/>
          </a:stretch>
        </p:blipFill>
        <p:spPr>
          <a:xfrm>
            <a:off x="9181121" y="4028853"/>
            <a:ext cx="284724" cy="231997"/>
          </a:xfrm>
          <a:prstGeom prst="rect">
            <a:avLst/>
          </a:prstGeom>
        </p:spPr>
      </p:pic>
      <p:sp>
        <p:nvSpPr>
          <p:cNvPr id="246" name="Shape 119"/>
          <p:cNvSpPr/>
          <p:nvPr/>
        </p:nvSpPr>
        <p:spPr>
          <a:xfrm>
            <a:off x="9739884" y="3996849"/>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47" name="Image 110" descr="Kubermatic"/>
          <p:cNvPicPr>
            <a:picLocks noChangeAspect="1"/>
          </p:cNvPicPr>
          <p:nvPr/>
        </p:nvPicPr>
        <p:blipFill>
          <a:blip r:embed="rId113"/>
          <a:stretch>
            <a:fillRect/>
          </a:stretch>
        </p:blipFill>
        <p:spPr>
          <a:xfrm>
            <a:off x="9883140" y="4028853"/>
            <a:ext cx="463995" cy="231997"/>
          </a:xfrm>
          <a:prstGeom prst="rect">
            <a:avLst/>
          </a:prstGeom>
        </p:spPr>
      </p:pic>
      <p:sp>
        <p:nvSpPr>
          <p:cNvPr id="248" name="Shape 120"/>
          <p:cNvSpPr/>
          <p:nvPr/>
        </p:nvSpPr>
        <p:spPr>
          <a:xfrm>
            <a:off x="10531539" y="3996849"/>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49" name="Image 111" descr="KYXSTART"/>
          <p:cNvPicPr>
            <a:picLocks noChangeAspect="1"/>
          </p:cNvPicPr>
          <p:nvPr/>
        </p:nvPicPr>
        <p:blipFill>
          <a:blip r:embed="rId114"/>
          <a:stretch>
            <a:fillRect/>
          </a:stretch>
        </p:blipFill>
        <p:spPr>
          <a:xfrm>
            <a:off x="10581831" y="4069027"/>
            <a:ext cx="649923" cy="151649"/>
          </a:xfrm>
          <a:prstGeom prst="rect">
            <a:avLst/>
          </a:prstGeom>
        </p:spPr>
      </p:pic>
      <p:sp>
        <p:nvSpPr>
          <p:cNvPr id="250" name="Shape 121"/>
          <p:cNvSpPr/>
          <p:nvPr/>
        </p:nvSpPr>
        <p:spPr>
          <a:xfrm>
            <a:off x="240030" y="4320286"/>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51" name="Image 112" descr="LatenceTech"/>
          <p:cNvPicPr>
            <a:picLocks noChangeAspect="1"/>
          </p:cNvPicPr>
          <p:nvPr/>
        </p:nvPicPr>
        <p:blipFill>
          <a:blip r:embed="rId115"/>
          <a:stretch>
            <a:fillRect/>
          </a:stretch>
        </p:blipFill>
        <p:spPr>
          <a:xfrm>
            <a:off x="467649" y="4352290"/>
            <a:ext cx="295269" cy="231997"/>
          </a:xfrm>
          <a:prstGeom prst="rect">
            <a:avLst/>
          </a:prstGeom>
        </p:spPr>
      </p:pic>
      <p:sp>
        <p:nvSpPr>
          <p:cNvPr id="252" name="Shape 122"/>
          <p:cNvSpPr/>
          <p:nvPr/>
        </p:nvSpPr>
        <p:spPr>
          <a:xfrm>
            <a:off x="1031684" y="4320286"/>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53" name="Image 113" descr="Lenovo"/>
          <p:cNvPicPr>
            <a:picLocks noChangeAspect="1"/>
          </p:cNvPicPr>
          <p:nvPr/>
        </p:nvPicPr>
        <p:blipFill>
          <a:blip r:embed="rId116"/>
          <a:stretch>
            <a:fillRect/>
          </a:stretch>
        </p:blipFill>
        <p:spPr>
          <a:xfrm>
            <a:off x="1081976" y="4359292"/>
            <a:ext cx="649923" cy="217995"/>
          </a:xfrm>
          <a:prstGeom prst="rect">
            <a:avLst/>
          </a:prstGeom>
        </p:spPr>
      </p:pic>
      <p:sp>
        <p:nvSpPr>
          <p:cNvPr id="254" name="Shape 123"/>
          <p:cNvSpPr/>
          <p:nvPr/>
        </p:nvSpPr>
        <p:spPr>
          <a:xfrm>
            <a:off x="1823339" y="4320286"/>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55" name="Image 114" descr="LFOD"/>
          <p:cNvPicPr>
            <a:picLocks noChangeAspect="1"/>
          </p:cNvPicPr>
          <p:nvPr/>
        </p:nvPicPr>
        <p:blipFill>
          <a:blip r:embed="rId117"/>
          <a:stretch>
            <a:fillRect/>
          </a:stretch>
        </p:blipFill>
        <p:spPr>
          <a:xfrm>
            <a:off x="2082594" y="4352290"/>
            <a:ext cx="231997" cy="231997"/>
          </a:xfrm>
          <a:prstGeom prst="rect">
            <a:avLst/>
          </a:prstGeom>
        </p:spPr>
      </p:pic>
      <p:sp>
        <p:nvSpPr>
          <p:cNvPr id="256" name="Shape 124"/>
          <p:cNvSpPr/>
          <p:nvPr/>
        </p:nvSpPr>
        <p:spPr>
          <a:xfrm>
            <a:off x="2614993" y="4320286"/>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57" name="Image 115" descr="LG U+"/>
          <p:cNvPicPr>
            <a:picLocks noChangeAspect="1"/>
          </p:cNvPicPr>
          <p:nvPr/>
        </p:nvPicPr>
        <p:blipFill>
          <a:blip r:embed="rId118"/>
          <a:stretch>
            <a:fillRect/>
          </a:stretch>
        </p:blipFill>
        <p:spPr>
          <a:xfrm>
            <a:off x="2665286" y="4378925"/>
            <a:ext cx="649923" cy="178729"/>
          </a:xfrm>
          <a:prstGeom prst="rect">
            <a:avLst/>
          </a:prstGeom>
        </p:spPr>
      </p:pic>
      <p:sp>
        <p:nvSpPr>
          <p:cNvPr id="258" name="Shape 125"/>
          <p:cNvSpPr/>
          <p:nvPr/>
        </p:nvSpPr>
        <p:spPr>
          <a:xfrm>
            <a:off x="3406648" y="4320286"/>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59" name="Image 116" descr="Linux Foundation"/>
          <p:cNvPicPr>
            <a:picLocks noChangeAspect="1"/>
          </p:cNvPicPr>
          <p:nvPr/>
        </p:nvPicPr>
        <p:blipFill>
          <a:blip r:embed="rId119"/>
          <a:stretch>
            <a:fillRect/>
          </a:stretch>
        </p:blipFill>
        <p:spPr>
          <a:xfrm>
            <a:off x="3456940" y="4361323"/>
            <a:ext cx="649923" cy="213933"/>
          </a:xfrm>
          <a:prstGeom prst="rect">
            <a:avLst/>
          </a:prstGeom>
        </p:spPr>
      </p:pic>
      <p:sp>
        <p:nvSpPr>
          <p:cNvPr id="260" name="Shape 126"/>
          <p:cNvSpPr/>
          <p:nvPr/>
        </p:nvSpPr>
        <p:spPr>
          <a:xfrm>
            <a:off x="4198303" y="4320286"/>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61" name="Image 117" descr="LocationGuru Solutions FZCO"/>
          <p:cNvPicPr>
            <a:picLocks noChangeAspect="1"/>
          </p:cNvPicPr>
          <p:nvPr/>
        </p:nvPicPr>
        <p:blipFill>
          <a:blip r:embed="rId120"/>
          <a:stretch>
            <a:fillRect/>
          </a:stretch>
        </p:blipFill>
        <p:spPr>
          <a:xfrm>
            <a:off x="4248595" y="4403297"/>
            <a:ext cx="649923" cy="129984"/>
          </a:xfrm>
          <a:prstGeom prst="rect">
            <a:avLst/>
          </a:prstGeom>
        </p:spPr>
      </p:pic>
      <p:sp>
        <p:nvSpPr>
          <p:cNvPr id="262" name="Shape 127"/>
          <p:cNvSpPr/>
          <p:nvPr/>
        </p:nvSpPr>
        <p:spPr>
          <a:xfrm>
            <a:off x="4989957" y="4320286"/>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63" name="Image 118" descr="LotusFlare"/>
          <p:cNvPicPr>
            <a:picLocks noChangeAspect="1"/>
          </p:cNvPicPr>
          <p:nvPr/>
        </p:nvPicPr>
        <p:blipFill>
          <a:blip r:embed="rId121"/>
          <a:stretch>
            <a:fillRect/>
          </a:stretch>
        </p:blipFill>
        <p:spPr>
          <a:xfrm>
            <a:off x="5040249" y="4368093"/>
            <a:ext cx="649923" cy="200393"/>
          </a:xfrm>
          <a:prstGeom prst="rect">
            <a:avLst/>
          </a:prstGeom>
        </p:spPr>
      </p:pic>
      <p:sp>
        <p:nvSpPr>
          <p:cNvPr id="264" name="Shape 128"/>
          <p:cNvSpPr/>
          <p:nvPr/>
        </p:nvSpPr>
        <p:spPr>
          <a:xfrm>
            <a:off x="5781612" y="4320286"/>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65" name="Image 119" descr="Lytn"/>
          <p:cNvPicPr>
            <a:picLocks noChangeAspect="1"/>
          </p:cNvPicPr>
          <p:nvPr/>
        </p:nvPicPr>
        <p:blipFill>
          <a:blip r:embed="rId122"/>
          <a:stretch>
            <a:fillRect/>
          </a:stretch>
        </p:blipFill>
        <p:spPr>
          <a:xfrm>
            <a:off x="5957031" y="4352290"/>
            <a:ext cx="399668" cy="231997"/>
          </a:xfrm>
          <a:prstGeom prst="rect">
            <a:avLst/>
          </a:prstGeom>
        </p:spPr>
      </p:pic>
      <p:sp>
        <p:nvSpPr>
          <p:cNvPr id="266" name="Shape 129"/>
          <p:cNvSpPr/>
          <p:nvPr/>
        </p:nvSpPr>
        <p:spPr>
          <a:xfrm>
            <a:off x="6573266" y="4320286"/>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67" name="Image 120" descr="M1"/>
          <p:cNvPicPr>
            <a:picLocks noChangeAspect="1"/>
          </p:cNvPicPr>
          <p:nvPr/>
        </p:nvPicPr>
        <p:blipFill>
          <a:blip r:embed="rId123"/>
          <a:stretch>
            <a:fillRect/>
          </a:stretch>
        </p:blipFill>
        <p:spPr>
          <a:xfrm>
            <a:off x="6832521" y="4352290"/>
            <a:ext cx="231997" cy="231997"/>
          </a:xfrm>
          <a:prstGeom prst="rect">
            <a:avLst/>
          </a:prstGeom>
        </p:spPr>
      </p:pic>
      <p:sp>
        <p:nvSpPr>
          <p:cNvPr id="268" name="Shape 130"/>
          <p:cNvSpPr/>
          <p:nvPr/>
        </p:nvSpPr>
        <p:spPr>
          <a:xfrm>
            <a:off x="7364921" y="4320286"/>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69" name="Image 121" descr="M800"/>
          <p:cNvPicPr>
            <a:picLocks noChangeAspect="1"/>
          </p:cNvPicPr>
          <p:nvPr/>
        </p:nvPicPr>
        <p:blipFill>
          <a:blip r:embed="rId124"/>
          <a:stretch>
            <a:fillRect/>
          </a:stretch>
        </p:blipFill>
        <p:spPr>
          <a:xfrm>
            <a:off x="7509758" y="4352290"/>
            <a:ext cx="460831" cy="231997"/>
          </a:xfrm>
          <a:prstGeom prst="rect">
            <a:avLst/>
          </a:prstGeom>
        </p:spPr>
      </p:pic>
      <p:sp>
        <p:nvSpPr>
          <p:cNvPr id="270" name="Shape 131"/>
          <p:cNvSpPr/>
          <p:nvPr/>
        </p:nvSpPr>
        <p:spPr>
          <a:xfrm>
            <a:off x="8156575" y="4320286"/>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71" name="Image 122" descr="Matrixx Software"/>
          <p:cNvPicPr>
            <a:picLocks noChangeAspect="1"/>
          </p:cNvPicPr>
          <p:nvPr/>
        </p:nvPicPr>
        <p:blipFill>
          <a:blip r:embed="rId125"/>
          <a:stretch>
            <a:fillRect/>
          </a:stretch>
        </p:blipFill>
        <p:spPr>
          <a:xfrm>
            <a:off x="8258890" y="4352290"/>
            <a:ext cx="545876" cy="231997"/>
          </a:xfrm>
          <a:prstGeom prst="rect">
            <a:avLst/>
          </a:prstGeom>
        </p:spPr>
      </p:pic>
      <p:sp>
        <p:nvSpPr>
          <p:cNvPr id="272" name="Shape 132"/>
          <p:cNvSpPr/>
          <p:nvPr/>
        </p:nvSpPr>
        <p:spPr>
          <a:xfrm>
            <a:off x="8948230" y="4320286"/>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73" name="Image 123" descr="Mavenir"/>
          <p:cNvPicPr>
            <a:picLocks noChangeAspect="1"/>
          </p:cNvPicPr>
          <p:nvPr/>
        </p:nvPicPr>
        <p:blipFill>
          <a:blip r:embed="rId126"/>
          <a:stretch>
            <a:fillRect/>
          </a:stretch>
        </p:blipFill>
        <p:spPr>
          <a:xfrm>
            <a:off x="8998522" y="4355906"/>
            <a:ext cx="649923" cy="224765"/>
          </a:xfrm>
          <a:prstGeom prst="rect">
            <a:avLst/>
          </a:prstGeom>
        </p:spPr>
      </p:pic>
      <p:sp>
        <p:nvSpPr>
          <p:cNvPr id="274" name="Shape 133"/>
          <p:cNvSpPr/>
          <p:nvPr/>
        </p:nvSpPr>
        <p:spPr>
          <a:xfrm>
            <a:off x="9739884" y="4320286"/>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75" name="Image 124" descr="MEO"/>
          <p:cNvPicPr>
            <a:picLocks noChangeAspect="1"/>
          </p:cNvPicPr>
          <p:nvPr/>
        </p:nvPicPr>
        <p:blipFill>
          <a:blip r:embed="rId127"/>
          <a:stretch>
            <a:fillRect/>
          </a:stretch>
        </p:blipFill>
        <p:spPr>
          <a:xfrm>
            <a:off x="9862049" y="4352290"/>
            <a:ext cx="506176" cy="231997"/>
          </a:xfrm>
          <a:prstGeom prst="rect">
            <a:avLst/>
          </a:prstGeom>
        </p:spPr>
      </p:pic>
      <p:sp>
        <p:nvSpPr>
          <p:cNvPr id="276" name="Shape 134"/>
          <p:cNvSpPr/>
          <p:nvPr/>
        </p:nvSpPr>
        <p:spPr>
          <a:xfrm>
            <a:off x="10531539" y="4320286"/>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77" name="Image 125" descr="Metricell"/>
          <p:cNvPicPr>
            <a:picLocks noChangeAspect="1"/>
          </p:cNvPicPr>
          <p:nvPr/>
        </p:nvPicPr>
        <p:blipFill>
          <a:blip r:embed="rId128"/>
          <a:stretch>
            <a:fillRect/>
          </a:stretch>
        </p:blipFill>
        <p:spPr>
          <a:xfrm>
            <a:off x="10669522" y="4352290"/>
            <a:ext cx="474540" cy="231997"/>
          </a:xfrm>
          <a:prstGeom prst="rect">
            <a:avLst/>
          </a:prstGeom>
        </p:spPr>
      </p:pic>
      <p:sp>
        <p:nvSpPr>
          <p:cNvPr id="278" name="Shape 135"/>
          <p:cNvSpPr/>
          <p:nvPr/>
        </p:nvSpPr>
        <p:spPr>
          <a:xfrm>
            <a:off x="240030" y="464372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79" name="Image 126" descr="Microcks"/>
          <p:cNvPicPr>
            <a:picLocks noChangeAspect="1"/>
          </p:cNvPicPr>
          <p:nvPr/>
        </p:nvPicPr>
        <p:blipFill>
          <a:blip r:embed="rId129"/>
          <a:stretch>
            <a:fillRect/>
          </a:stretch>
        </p:blipFill>
        <p:spPr>
          <a:xfrm>
            <a:off x="499285" y="4675728"/>
            <a:ext cx="231997" cy="231997"/>
          </a:xfrm>
          <a:prstGeom prst="rect">
            <a:avLst/>
          </a:prstGeom>
        </p:spPr>
      </p:pic>
      <p:sp>
        <p:nvSpPr>
          <p:cNvPr id="280" name="Shape 136"/>
          <p:cNvSpPr/>
          <p:nvPr/>
        </p:nvSpPr>
        <p:spPr>
          <a:xfrm>
            <a:off x="1031684" y="464372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81" name="Image 127" descr="Microsoft Corporation"/>
          <p:cNvPicPr>
            <a:picLocks noChangeAspect="1"/>
          </p:cNvPicPr>
          <p:nvPr/>
        </p:nvPicPr>
        <p:blipFill>
          <a:blip r:embed="rId130"/>
          <a:stretch>
            <a:fillRect/>
          </a:stretch>
        </p:blipFill>
        <p:spPr>
          <a:xfrm>
            <a:off x="1217649" y="4675728"/>
            <a:ext cx="378577" cy="231997"/>
          </a:xfrm>
          <a:prstGeom prst="rect">
            <a:avLst/>
          </a:prstGeom>
        </p:spPr>
      </p:pic>
      <p:sp>
        <p:nvSpPr>
          <p:cNvPr id="282" name="Shape 137"/>
          <p:cNvSpPr/>
          <p:nvPr/>
        </p:nvSpPr>
        <p:spPr>
          <a:xfrm>
            <a:off x="1823339" y="464372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83" name="Image 128" descr="MojoAuth"/>
          <p:cNvPicPr>
            <a:picLocks noChangeAspect="1"/>
          </p:cNvPicPr>
          <p:nvPr/>
        </p:nvPicPr>
        <p:blipFill>
          <a:blip r:embed="rId131"/>
          <a:stretch>
            <a:fillRect/>
          </a:stretch>
        </p:blipFill>
        <p:spPr>
          <a:xfrm>
            <a:off x="1873631" y="4680698"/>
            <a:ext cx="649923" cy="222057"/>
          </a:xfrm>
          <a:prstGeom prst="rect">
            <a:avLst/>
          </a:prstGeom>
        </p:spPr>
      </p:pic>
      <p:sp>
        <p:nvSpPr>
          <p:cNvPr id="284" name="Shape 138"/>
          <p:cNvSpPr/>
          <p:nvPr/>
        </p:nvSpPr>
        <p:spPr>
          <a:xfrm>
            <a:off x="2614993" y="464372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85" name="Image 129" descr="MQUEST Technologies"/>
          <p:cNvPicPr>
            <a:picLocks noChangeAspect="1"/>
          </p:cNvPicPr>
          <p:nvPr/>
        </p:nvPicPr>
        <p:blipFill>
          <a:blip r:embed="rId132"/>
          <a:stretch>
            <a:fillRect/>
          </a:stretch>
        </p:blipFill>
        <p:spPr>
          <a:xfrm>
            <a:off x="2721264" y="4675728"/>
            <a:ext cx="537965" cy="231997"/>
          </a:xfrm>
          <a:prstGeom prst="rect">
            <a:avLst/>
          </a:prstGeom>
        </p:spPr>
      </p:pic>
      <p:sp>
        <p:nvSpPr>
          <p:cNvPr id="286" name="Shape 139"/>
          <p:cNvSpPr/>
          <p:nvPr/>
        </p:nvSpPr>
        <p:spPr>
          <a:xfrm>
            <a:off x="3406648" y="464372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87" name="Image 130" descr="Nabstract.io"/>
          <p:cNvPicPr>
            <a:picLocks noChangeAspect="1"/>
          </p:cNvPicPr>
          <p:nvPr/>
        </p:nvPicPr>
        <p:blipFill>
          <a:blip r:embed="rId133"/>
          <a:stretch>
            <a:fillRect/>
          </a:stretch>
        </p:blipFill>
        <p:spPr>
          <a:xfrm>
            <a:off x="3664321" y="4675728"/>
            <a:ext cx="235161" cy="231997"/>
          </a:xfrm>
          <a:prstGeom prst="rect">
            <a:avLst/>
          </a:prstGeom>
        </p:spPr>
      </p:pic>
      <p:sp>
        <p:nvSpPr>
          <p:cNvPr id="288" name="Shape 140"/>
          <p:cNvSpPr/>
          <p:nvPr/>
        </p:nvSpPr>
        <p:spPr>
          <a:xfrm>
            <a:off x="4198303" y="464372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89" name="Image 131" descr="National Centre of Scientific Research - Demokritos"/>
          <p:cNvPicPr>
            <a:picLocks noChangeAspect="1"/>
          </p:cNvPicPr>
          <p:nvPr/>
        </p:nvPicPr>
        <p:blipFill>
          <a:blip r:embed="rId134"/>
          <a:stretch>
            <a:fillRect/>
          </a:stretch>
        </p:blipFill>
        <p:spPr>
          <a:xfrm>
            <a:off x="4469684" y="4675728"/>
            <a:ext cx="207743" cy="231997"/>
          </a:xfrm>
          <a:prstGeom prst="rect">
            <a:avLst/>
          </a:prstGeom>
        </p:spPr>
      </p:pic>
      <p:sp>
        <p:nvSpPr>
          <p:cNvPr id="290" name="Shape 141"/>
          <p:cNvSpPr/>
          <p:nvPr/>
        </p:nvSpPr>
        <p:spPr>
          <a:xfrm>
            <a:off x="4989957" y="464372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91" name="Image 132" descr="Netcracker"/>
          <p:cNvPicPr>
            <a:picLocks noChangeAspect="1"/>
          </p:cNvPicPr>
          <p:nvPr/>
        </p:nvPicPr>
        <p:blipFill>
          <a:blip r:embed="rId135"/>
          <a:stretch>
            <a:fillRect/>
          </a:stretch>
        </p:blipFill>
        <p:spPr>
          <a:xfrm>
            <a:off x="5249212" y="4675728"/>
            <a:ext cx="231997" cy="231997"/>
          </a:xfrm>
          <a:prstGeom prst="rect">
            <a:avLst/>
          </a:prstGeom>
        </p:spPr>
      </p:pic>
      <p:sp>
        <p:nvSpPr>
          <p:cNvPr id="292" name="Shape 142"/>
          <p:cNvSpPr/>
          <p:nvPr/>
        </p:nvSpPr>
        <p:spPr>
          <a:xfrm>
            <a:off x="5781612" y="464372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93" name="Image 133" descr="NetoAI"/>
          <p:cNvPicPr>
            <a:picLocks noChangeAspect="1"/>
          </p:cNvPicPr>
          <p:nvPr/>
        </p:nvPicPr>
        <p:blipFill>
          <a:blip r:embed="rId136"/>
          <a:stretch>
            <a:fillRect/>
          </a:stretch>
        </p:blipFill>
        <p:spPr>
          <a:xfrm>
            <a:off x="6040866" y="4675728"/>
            <a:ext cx="231997" cy="231997"/>
          </a:xfrm>
          <a:prstGeom prst="rect">
            <a:avLst/>
          </a:prstGeom>
        </p:spPr>
      </p:pic>
      <p:sp>
        <p:nvSpPr>
          <p:cNvPr id="294" name="Shape 143"/>
          <p:cNvSpPr/>
          <p:nvPr/>
        </p:nvSpPr>
        <p:spPr>
          <a:xfrm>
            <a:off x="6573266" y="464372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95" name="Image 134" descr="NGMN Alliance"/>
          <p:cNvPicPr>
            <a:picLocks noChangeAspect="1"/>
          </p:cNvPicPr>
          <p:nvPr/>
        </p:nvPicPr>
        <p:blipFill>
          <a:blip r:embed="rId137"/>
          <a:stretch>
            <a:fillRect/>
          </a:stretch>
        </p:blipFill>
        <p:spPr>
          <a:xfrm>
            <a:off x="6833048" y="4675728"/>
            <a:ext cx="230943" cy="231997"/>
          </a:xfrm>
          <a:prstGeom prst="rect">
            <a:avLst/>
          </a:prstGeom>
        </p:spPr>
      </p:pic>
      <p:sp>
        <p:nvSpPr>
          <p:cNvPr id="296" name="Shape 144"/>
          <p:cNvSpPr/>
          <p:nvPr/>
        </p:nvSpPr>
        <p:spPr>
          <a:xfrm>
            <a:off x="7364921" y="464372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97" name="Image 135" descr="NOS"/>
          <p:cNvPicPr>
            <a:picLocks noChangeAspect="1"/>
          </p:cNvPicPr>
          <p:nvPr/>
        </p:nvPicPr>
        <p:blipFill>
          <a:blip r:embed="rId138"/>
          <a:stretch>
            <a:fillRect/>
          </a:stretch>
        </p:blipFill>
        <p:spPr>
          <a:xfrm>
            <a:off x="7626284" y="4675728"/>
            <a:ext cx="227779" cy="231997"/>
          </a:xfrm>
          <a:prstGeom prst="rect">
            <a:avLst/>
          </a:prstGeom>
        </p:spPr>
      </p:pic>
      <p:sp>
        <p:nvSpPr>
          <p:cNvPr id="298" name="Shape 145"/>
          <p:cNvSpPr/>
          <p:nvPr/>
        </p:nvSpPr>
        <p:spPr>
          <a:xfrm>
            <a:off x="8156575" y="464372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299" name="Image 136" descr="NTT"/>
          <p:cNvPicPr>
            <a:picLocks noChangeAspect="1"/>
          </p:cNvPicPr>
          <p:nvPr/>
        </p:nvPicPr>
        <p:blipFill>
          <a:blip r:embed="rId139"/>
          <a:stretch>
            <a:fillRect/>
          </a:stretch>
        </p:blipFill>
        <p:spPr>
          <a:xfrm>
            <a:off x="8213661" y="4675728"/>
            <a:ext cx="636335" cy="231997"/>
          </a:xfrm>
          <a:prstGeom prst="rect">
            <a:avLst/>
          </a:prstGeom>
        </p:spPr>
      </p:pic>
      <p:sp>
        <p:nvSpPr>
          <p:cNvPr id="300" name="Shape 146"/>
          <p:cNvSpPr/>
          <p:nvPr/>
        </p:nvSpPr>
        <p:spPr>
          <a:xfrm>
            <a:off x="8948230" y="464372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01" name="Image 137" descr="NTT DATA"/>
          <p:cNvPicPr>
            <a:picLocks noChangeAspect="1"/>
          </p:cNvPicPr>
          <p:nvPr/>
        </p:nvPicPr>
        <p:blipFill>
          <a:blip r:embed="rId140"/>
          <a:stretch>
            <a:fillRect/>
          </a:stretch>
        </p:blipFill>
        <p:spPr>
          <a:xfrm>
            <a:off x="8998522" y="4745013"/>
            <a:ext cx="649923" cy="93426"/>
          </a:xfrm>
          <a:prstGeom prst="rect">
            <a:avLst/>
          </a:prstGeom>
        </p:spPr>
      </p:pic>
      <p:sp>
        <p:nvSpPr>
          <p:cNvPr id="302" name="Shape 147"/>
          <p:cNvSpPr/>
          <p:nvPr/>
        </p:nvSpPr>
        <p:spPr>
          <a:xfrm>
            <a:off x="9739884" y="464372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03" name="Image 138" descr="Open Sesame"/>
          <p:cNvPicPr>
            <a:picLocks noChangeAspect="1"/>
          </p:cNvPicPr>
          <p:nvPr/>
        </p:nvPicPr>
        <p:blipFill>
          <a:blip r:embed="rId141"/>
          <a:stretch>
            <a:fillRect/>
          </a:stretch>
        </p:blipFill>
        <p:spPr>
          <a:xfrm>
            <a:off x="9790176" y="4715225"/>
            <a:ext cx="649923" cy="153003"/>
          </a:xfrm>
          <a:prstGeom prst="rect">
            <a:avLst/>
          </a:prstGeom>
        </p:spPr>
      </p:pic>
      <p:sp>
        <p:nvSpPr>
          <p:cNvPr id="304" name="Shape 148"/>
          <p:cNvSpPr/>
          <p:nvPr/>
        </p:nvSpPr>
        <p:spPr>
          <a:xfrm>
            <a:off x="10531539" y="4643724"/>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05" name="Image 139" descr="Openexpand"/>
          <p:cNvPicPr>
            <a:picLocks noChangeAspect="1"/>
          </p:cNvPicPr>
          <p:nvPr/>
        </p:nvPicPr>
        <p:blipFill>
          <a:blip r:embed="rId142"/>
          <a:stretch>
            <a:fillRect/>
          </a:stretch>
        </p:blipFill>
        <p:spPr>
          <a:xfrm>
            <a:off x="10581831" y="4730796"/>
            <a:ext cx="649923" cy="121860"/>
          </a:xfrm>
          <a:prstGeom prst="rect">
            <a:avLst/>
          </a:prstGeom>
        </p:spPr>
      </p:pic>
      <p:sp>
        <p:nvSpPr>
          <p:cNvPr id="306" name="Shape 149"/>
          <p:cNvSpPr/>
          <p:nvPr/>
        </p:nvSpPr>
        <p:spPr>
          <a:xfrm>
            <a:off x="240030" y="4967161"/>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07" name="Image 140" descr="Optare Solutions"/>
          <p:cNvPicPr>
            <a:picLocks noChangeAspect="1"/>
          </p:cNvPicPr>
          <p:nvPr/>
        </p:nvPicPr>
        <p:blipFill>
          <a:blip r:embed="rId143"/>
          <a:stretch>
            <a:fillRect/>
          </a:stretch>
        </p:blipFill>
        <p:spPr>
          <a:xfrm>
            <a:off x="499285" y="4999165"/>
            <a:ext cx="231997" cy="231997"/>
          </a:xfrm>
          <a:prstGeom prst="rect">
            <a:avLst/>
          </a:prstGeom>
        </p:spPr>
      </p:pic>
      <p:sp>
        <p:nvSpPr>
          <p:cNvPr id="308" name="Shape 150"/>
          <p:cNvSpPr/>
          <p:nvPr/>
        </p:nvSpPr>
        <p:spPr>
          <a:xfrm>
            <a:off x="1031684" y="4967161"/>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09" name="Image 141" descr="Optiva"/>
          <p:cNvPicPr>
            <a:picLocks noChangeAspect="1"/>
          </p:cNvPicPr>
          <p:nvPr/>
        </p:nvPicPr>
        <p:blipFill>
          <a:blip r:embed="rId144"/>
          <a:stretch>
            <a:fillRect/>
          </a:stretch>
        </p:blipFill>
        <p:spPr>
          <a:xfrm>
            <a:off x="1081976" y="5000073"/>
            <a:ext cx="649923" cy="230181"/>
          </a:xfrm>
          <a:prstGeom prst="rect">
            <a:avLst/>
          </a:prstGeom>
        </p:spPr>
      </p:pic>
      <p:sp>
        <p:nvSpPr>
          <p:cNvPr id="310" name="Shape 151"/>
          <p:cNvSpPr/>
          <p:nvPr/>
        </p:nvSpPr>
        <p:spPr>
          <a:xfrm>
            <a:off x="1823339" y="4967161"/>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11" name="Image 142" descr="Oracle"/>
          <p:cNvPicPr>
            <a:picLocks noChangeAspect="1"/>
          </p:cNvPicPr>
          <p:nvPr/>
        </p:nvPicPr>
        <p:blipFill>
          <a:blip r:embed="rId145"/>
          <a:stretch>
            <a:fillRect/>
          </a:stretch>
        </p:blipFill>
        <p:spPr>
          <a:xfrm>
            <a:off x="1873631" y="5014967"/>
            <a:ext cx="649923" cy="200393"/>
          </a:xfrm>
          <a:prstGeom prst="rect">
            <a:avLst/>
          </a:prstGeom>
        </p:spPr>
      </p:pic>
      <p:sp>
        <p:nvSpPr>
          <p:cNvPr id="312" name="Shape 152"/>
          <p:cNvSpPr/>
          <p:nvPr/>
        </p:nvSpPr>
        <p:spPr>
          <a:xfrm>
            <a:off x="2614993" y="4967161"/>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13" name="Image 143" descr="phine.tech GmbH"/>
          <p:cNvPicPr>
            <a:picLocks noChangeAspect="1"/>
          </p:cNvPicPr>
          <p:nvPr/>
        </p:nvPicPr>
        <p:blipFill>
          <a:blip r:embed="rId146"/>
          <a:stretch>
            <a:fillRect/>
          </a:stretch>
        </p:blipFill>
        <p:spPr>
          <a:xfrm>
            <a:off x="2744541" y="4999165"/>
            <a:ext cx="491412" cy="231997"/>
          </a:xfrm>
          <a:prstGeom prst="rect">
            <a:avLst/>
          </a:prstGeom>
        </p:spPr>
      </p:pic>
      <p:sp>
        <p:nvSpPr>
          <p:cNvPr id="314" name="Shape 153"/>
          <p:cNvSpPr/>
          <p:nvPr/>
        </p:nvSpPr>
        <p:spPr>
          <a:xfrm>
            <a:off x="3406648" y="4967161"/>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15" name="Image 144" descr="plusmo"/>
          <p:cNvPicPr>
            <a:picLocks noChangeAspect="1"/>
          </p:cNvPicPr>
          <p:nvPr/>
        </p:nvPicPr>
        <p:blipFill>
          <a:blip r:embed="rId147"/>
          <a:stretch>
            <a:fillRect/>
          </a:stretch>
        </p:blipFill>
        <p:spPr>
          <a:xfrm>
            <a:off x="3575213" y="4999165"/>
            <a:ext cx="413377" cy="231997"/>
          </a:xfrm>
          <a:prstGeom prst="rect">
            <a:avLst/>
          </a:prstGeom>
        </p:spPr>
      </p:pic>
      <p:sp>
        <p:nvSpPr>
          <p:cNvPr id="316" name="Shape 154"/>
          <p:cNvSpPr/>
          <p:nvPr/>
        </p:nvSpPr>
        <p:spPr>
          <a:xfrm>
            <a:off x="4198303" y="4967161"/>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17" name="Image 145" descr="Proximus"/>
          <p:cNvPicPr>
            <a:picLocks noChangeAspect="1"/>
          </p:cNvPicPr>
          <p:nvPr/>
        </p:nvPicPr>
        <p:blipFill>
          <a:blip r:embed="rId148"/>
          <a:stretch>
            <a:fillRect/>
          </a:stretch>
        </p:blipFill>
        <p:spPr>
          <a:xfrm>
            <a:off x="4248595" y="5041370"/>
            <a:ext cx="649923" cy="147587"/>
          </a:xfrm>
          <a:prstGeom prst="rect">
            <a:avLst/>
          </a:prstGeom>
        </p:spPr>
      </p:pic>
      <p:sp>
        <p:nvSpPr>
          <p:cNvPr id="318" name="Shape 155"/>
          <p:cNvSpPr/>
          <p:nvPr/>
        </p:nvSpPr>
        <p:spPr>
          <a:xfrm>
            <a:off x="4989957" y="4967161"/>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19" name="Image 146" descr="Pryvx"/>
          <p:cNvPicPr>
            <a:picLocks noChangeAspect="1"/>
          </p:cNvPicPr>
          <p:nvPr/>
        </p:nvPicPr>
        <p:blipFill>
          <a:blip r:embed="rId149"/>
          <a:stretch>
            <a:fillRect/>
          </a:stretch>
        </p:blipFill>
        <p:spPr>
          <a:xfrm>
            <a:off x="5187521" y="4999165"/>
            <a:ext cx="355378" cy="231997"/>
          </a:xfrm>
          <a:prstGeom prst="rect">
            <a:avLst/>
          </a:prstGeom>
        </p:spPr>
      </p:pic>
      <p:sp>
        <p:nvSpPr>
          <p:cNvPr id="320" name="Shape 156"/>
          <p:cNvSpPr/>
          <p:nvPr/>
        </p:nvSpPr>
        <p:spPr>
          <a:xfrm>
            <a:off x="5781612" y="4967161"/>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21" name="Image 147" descr="Quobis"/>
          <p:cNvPicPr>
            <a:picLocks noChangeAspect="1"/>
          </p:cNvPicPr>
          <p:nvPr/>
        </p:nvPicPr>
        <p:blipFill>
          <a:blip r:embed="rId150"/>
          <a:stretch>
            <a:fillRect/>
          </a:stretch>
        </p:blipFill>
        <p:spPr>
          <a:xfrm>
            <a:off x="5831904" y="5014290"/>
            <a:ext cx="649923" cy="201747"/>
          </a:xfrm>
          <a:prstGeom prst="rect">
            <a:avLst/>
          </a:prstGeom>
        </p:spPr>
      </p:pic>
      <p:sp>
        <p:nvSpPr>
          <p:cNvPr id="322" name="Shape 157"/>
          <p:cNvSpPr/>
          <p:nvPr/>
        </p:nvSpPr>
        <p:spPr>
          <a:xfrm>
            <a:off x="6573266" y="4967161"/>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23" name="Image 148" descr="Radisys"/>
          <p:cNvPicPr>
            <a:picLocks noChangeAspect="1"/>
          </p:cNvPicPr>
          <p:nvPr/>
        </p:nvPicPr>
        <p:blipFill>
          <a:blip r:embed="rId151"/>
          <a:stretch>
            <a:fillRect/>
          </a:stretch>
        </p:blipFill>
        <p:spPr>
          <a:xfrm>
            <a:off x="6623558" y="5017675"/>
            <a:ext cx="649923" cy="194977"/>
          </a:xfrm>
          <a:prstGeom prst="rect">
            <a:avLst/>
          </a:prstGeom>
        </p:spPr>
      </p:pic>
      <p:sp>
        <p:nvSpPr>
          <p:cNvPr id="324" name="Shape 158"/>
          <p:cNvSpPr/>
          <p:nvPr/>
        </p:nvSpPr>
        <p:spPr>
          <a:xfrm>
            <a:off x="7364921" y="4967161"/>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25" name="Image 149" descr="Rakuten"/>
          <p:cNvPicPr>
            <a:picLocks noChangeAspect="1"/>
          </p:cNvPicPr>
          <p:nvPr/>
        </p:nvPicPr>
        <p:blipFill>
          <a:blip r:embed="rId152"/>
          <a:stretch>
            <a:fillRect/>
          </a:stretch>
        </p:blipFill>
        <p:spPr>
          <a:xfrm>
            <a:off x="7546667" y="4999165"/>
            <a:ext cx="387014" cy="231997"/>
          </a:xfrm>
          <a:prstGeom prst="rect">
            <a:avLst/>
          </a:prstGeom>
        </p:spPr>
      </p:pic>
      <p:sp>
        <p:nvSpPr>
          <p:cNvPr id="326" name="Shape 159"/>
          <p:cNvSpPr/>
          <p:nvPr/>
        </p:nvSpPr>
        <p:spPr>
          <a:xfrm>
            <a:off x="8156575" y="4967161"/>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27" name="Image 150" descr="Randra"/>
          <p:cNvPicPr>
            <a:picLocks noChangeAspect="1"/>
          </p:cNvPicPr>
          <p:nvPr/>
        </p:nvPicPr>
        <p:blipFill>
          <a:blip r:embed="rId153"/>
          <a:stretch>
            <a:fillRect/>
          </a:stretch>
        </p:blipFill>
        <p:spPr>
          <a:xfrm>
            <a:off x="8415830" y="4999165"/>
            <a:ext cx="231997" cy="231997"/>
          </a:xfrm>
          <a:prstGeom prst="rect">
            <a:avLst/>
          </a:prstGeom>
        </p:spPr>
      </p:pic>
      <p:sp>
        <p:nvSpPr>
          <p:cNvPr id="328" name="Shape 160"/>
          <p:cNvSpPr/>
          <p:nvPr/>
        </p:nvSpPr>
        <p:spPr>
          <a:xfrm>
            <a:off x="8948230" y="4967161"/>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29" name="Image 151" descr="Red Hat"/>
          <p:cNvPicPr>
            <a:picLocks noChangeAspect="1"/>
          </p:cNvPicPr>
          <p:nvPr/>
        </p:nvPicPr>
        <p:blipFill>
          <a:blip r:embed="rId154"/>
          <a:stretch>
            <a:fillRect/>
          </a:stretch>
        </p:blipFill>
        <p:spPr>
          <a:xfrm>
            <a:off x="8998522" y="5029184"/>
            <a:ext cx="649923" cy="171959"/>
          </a:xfrm>
          <a:prstGeom prst="rect">
            <a:avLst/>
          </a:prstGeom>
        </p:spPr>
      </p:pic>
      <p:sp>
        <p:nvSpPr>
          <p:cNvPr id="330" name="Shape 161"/>
          <p:cNvSpPr/>
          <p:nvPr/>
        </p:nvSpPr>
        <p:spPr>
          <a:xfrm>
            <a:off x="9739884" y="4967161"/>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31" name="Image 152" descr="Reevolute"/>
          <p:cNvPicPr>
            <a:picLocks noChangeAspect="1"/>
          </p:cNvPicPr>
          <p:nvPr/>
        </p:nvPicPr>
        <p:blipFill>
          <a:blip r:embed="rId155"/>
          <a:stretch>
            <a:fillRect/>
          </a:stretch>
        </p:blipFill>
        <p:spPr>
          <a:xfrm>
            <a:off x="9790176" y="5007520"/>
            <a:ext cx="649923" cy="215287"/>
          </a:xfrm>
          <a:prstGeom prst="rect">
            <a:avLst/>
          </a:prstGeom>
        </p:spPr>
      </p:pic>
      <p:sp>
        <p:nvSpPr>
          <p:cNvPr id="332" name="Shape 162"/>
          <p:cNvSpPr/>
          <p:nvPr/>
        </p:nvSpPr>
        <p:spPr>
          <a:xfrm>
            <a:off x="10531539" y="4967161"/>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33" name="Image 153" descr="Reply"/>
          <p:cNvPicPr>
            <a:picLocks noChangeAspect="1"/>
          </p:cNvPicPr>
          <p:nvPr/>
        </p:nvPicPr>
        <p:blipFill>
          <a:blip r:embed="rId156"/>
          <a:stretch>
            <a:fillRect/>
          </a:stretch>
        </p:blipFill>
        <p:spPr>
          <a:xfrm>
            <a:off x="10581831" y="5054910"/>
            <a:ext cx="649923" cy="120506"/>
          </a:xfrm>
          <a:prstGeom prst="rect">
            <a:avLst/>
          </a:prstGeom>
        </p:spPr>
      </p:pic>
      <p:sp>
        <p:nvSpPr>
          <p:cNvPr id="334" name="Shape 163"/>
          <p:cNvSpPr/>
          <p:nvPr/>
        </p:nvSpPr>
        <p:spPr>
          <a:xfrm>
            <a:off x="240030" y="5290598"/>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35" name="Image 154" descr="Rogers"/>
          <p:cNvPicPr>
            <a:picLocks noChangeAspect="1"/>
          </p:cNvPicPr>
          <p:nvPr/>
        </p:nvPicPr>
        <p:blipFill>
          <a:blip r:embed="rId157"/>
          <a:stretch>
            <a:fillRect/>
          </a:stretch>
        </p:blipFill>
        <p:spPr>
          <a:xfrm>
            <a:off x="290322" y="5381733"/>
            <a:ext cx="649923" cy="113736"/>
          </a:xfrm>
          <a:prstGeom prst="rect">
            <a:avLst/>
          </a:prstGeom>
        </p:spPr>
      </p:pic>
      <p:sp>
        <p:nvSpPr>
          <p:cNvPr id="336" name="Shape 164"/>
          <p:cNvSpPr/>
          <p:nvPr/>
        </p:nvSpPr>
        <p:spPr>
          <a:xfrm>
            <a:off x="1031684" y="5290598"/>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37" name="Image 155" descr="Saudi Telecom Company (STC)"/>
          <p:cNvPicPr>
            <a:picLocks noChangeAspect="1"/>
          </p:cNvPicPr>
          <p:nvPr/>
        </p:nvPicPr>
        <p:blipFill>
          <a:blip r:embed="rId158"/>
          <a:stretch>
            <a:fillRect/>
          </a:stretch>
        </p:blipFill>
        <p:spPr>
          <a:xfrm>
            <a:off x="1222394" y="5322602"/>
            <a:ext cx="369087" cy="231997"/>
          </a:xfrm>
          <a:prstGeom prst="rect">
            <a:avLst/>
          </a:prstGeom>
        </p:spPr>
      </p:pic>
      <p:sp>
        <p:nvSpPr>
          <p:cNvPr id="338" name="Shape 165"/>
          <p:cNvSpPr/>
          <p:nvPr/>
        </p:nvSpPr>
        <p:spPr>
          <a:xfrm>
            <a:off x="1823339" y="5290598"/>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39" name="Image 156" descr="Scenera Inc"/>
          <p:cNvPicPr>
            <a:picLocks noChangeAspect="1"/>
          </p:cNvPicPr>
          <p:nvPr/>
        </p:nvPicPr>
        <p:blipFill>
          <a:blip r:embed="rId159"/>
          <a:stretch>
            <a:fillRect/>
          </a:stretch>
        </p:blipFill>
        <p:spPr>
          <a:xfrm>
            <a:off x="2082594" y="5322602"/>
            <a:ext cx="231997" cy="231997"/>
          </a:xfrm>
          <a:prstGeom prst="rect">
            <a:avLst/>
          </a:prstGeom>
        </p:spPr>
      </p:pic>
      <p:sp>
        <p:nvSpPr>
          <p:cNvPr id="340" name="Shape 166"/>
          <p:cNvSpPr/>
          <p:nvPr/>
        </p:nvSpPr>
        <p:spPr>
          <a:xfrm>
            <a:off x="2614993" y="5290598"/>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41" name="Image 157" descr="Sekura"/>
          <p:cNvPicPr>
            <a:picLocks noChangeAspect="1"/>
          </p:cNvPicPr>
          <p:nvPr/>
        </p:nvPicPr>
        <p:blipFill>
          <a:blip r:embed="rId160"/>
          <a:stretch>
            <a:fillRect/>
          </a:stretch>
        </p:blipFill>
        <p:spPr>
          <a:xfrm>
            <a:off x="2665286" y="5362099"/>
            <a:ext cx="649923" cy="153003"/>
          </a:xfrm>
          <a:prstGeom prst="rect">
            <a:avLst/>
          </a:prstGeom>
        </p:spPr>
      </p:pic>
      <p:sp>
        <p:nvSpPr>
          <p:cNvPr id="342" name="Shape 167"/>
          <p:cNvSpPr/>
          <p:nvPr/>
        </p:nvSpPr>
        <p:spPr>
          <a:xfrm>
            <a:off x="3406648" y="5290598"/>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43" name="Image 158" descr="Simptel"/>
          <p:cNvPicPr>
            <a:picLocks noChangeAspect="1"/>
          </p:cNvPicPr>
          <p:nvPr/>
        </p:nvPicPr>
        <p:blipFill>
          <a:blip r:embed="rId161"/>
          <a:stretch>
            <a:fillRect/>
          </a:stretch>
        </p:blipFill>
        <p:spPr>
          <a:xfrm>
            <a:off x="3456940" y="5332311"/>
            <a:ext cx="649923" cy="212579"/>
          </a:xfrm>
          <a:prstGeom prst="rect">
            <a:avLst/>
          </a:prstGeom>
        </p:spPr>
      </p:pic>
      <p:sp>
        <p:nvSpPr>
          <p:cNvPr id="344" name="Shape 168"/>
          <p:cNvSpPr/>
          <p:nvPr/>
        </p:nvSpPr>
        <p:spPr>
          <a:xfrm>
            <a:off x="4198303" y="5290598"/>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45" name="Image 159" descr="Sinch"/>
          <p:cNvPicPr>
            <a:picLocks noChangeAspect="1"/>
          </p:cNvPicPr>
          <p:nvPr/>
        </p:nvPicPr>
        <p:blipFill>
          <a:blip r:embed="rId162"/>
          <a:stretch>
            <a:fillRect/>
          </a:stretch>
        </p:blipFill>
        <p:spPr>
          <a:xfrm>
            <a:off x="4270951" y="5322602"/>
            <a:ext cx="605210" cy="231997"/>
          </a:xfrm>
          <a:prstGeom prst="rect">
            <a:avLst/>
          </a:prstGeom>
        </p:spPr>
      </p:pic>
      <p:sp>
        <p:nvSpPr>
          <p:cNvPr id="346" name="Shape 169"/>
          <p:cNvSpPr/>
          <p:nvPr/>
        </p:nvSpPr>
        <p:spPr>
          <a:xfrm>
            <a:off x="4989957" y="5290598"/>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47" name="Image 160" descr="Singtel"/>
          <p:cNvPicPr>
            <a:picLocks noChangeAspect="1"/>
          </p:cNvPicPr>
          <p:nvPr/>
        </p:nvPicPr>
        <p:blipFill>
          <a:blip r:embed="rId163"/>
          <a:stretch>
            <a:fillRect/>
          </a:stretch>
        </p:blipFill>
        <p:spPr>
          <a:xfrm>
            <a:off x="5200703" y="5322602"/>
            <a:ext cx="329014" cy="231997"/>
          </a:xfrm>
          <a:prstGeom prst="rect">
            <a:avLst/>
          </a:prstGeom>
        </p:spPr>
      </p:pic>
      <p:sp>
        <p:nvSpPr>
          <p:cNvPr id="348" name="Shape 170"/>
          <p:cNvSpPr/>
          <p:nvPr/>
        </p:nvSpPr>
        <p:spPr>
          <a:xfrm>
            <a:off x="5781612" y="5290598"/>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49" name="Image 161" descr="SK Telecom"/>
          <p:cNvPicPr>
            <a:picLocks noChangeAspect="1"/>
          </p:cNvPicPr>
          <p:nvPr/>
        </p:nvPicPr>
        <p:blipFill>
          <a:blip r:embed="rId164"/>
          <a:stretch>
            <a:fillRect/>
          </a:stretch>
        </p:blipFill>
        <p:spPr>
          <a:xfrm>
            <a:off x="5857513" y="5322602"/>
            <a:ext cx="598703" cy="231997"/>
          </a:xfrm>
          <a:prstGeom prst="rect">
            <a:avLst/>
          </a:prstGeom>
        </p:spPr>
      </p:pic>
      <p:sp>
        <p:nvSpPr>
          <p:cNvPr id="350" name="Shape 171"/>
          <p:cNvSpPr/>
          <p:nvPr/>
        </p:nvSpPr>
        <p:spPr>
          <a:xfrm>
            <a:off x="6573266" y="5290598"/>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51" name="Image 162" descr="Spry Fox Networks"/>
          <p:cNvPicPr>
            <a:picLocks noChangeAspect="1"/>
          </p:cNvPicPr>
          <p:nvPr/>
        </p:nvPicPr>
        <p:blipFill>
          <a:blip r:embed="rId165"/>
          <a:stretch>
            <a:fillRect/>
          </a:stretch>
        </p:blipFill>
        <p:spPr>
          <a:xfrm>
            <a:off x="6680830" y="5322602"/>
            <a:ext cx="535378" cy="231997"/>
          </a:xfrm>
          <a:prstGeom prst="rect">
            <a:avLst/>
          </a:prstGeom>
        </p:spPr>
      </p:pic>
      <p:sp>
        <p:nvSpPr>
          <p:cNvPr id="352" name="Shape 172"/>
          <p:cNvSpPr/>
          <p:nvPr/>
        </p:nvSpPr>
        <p:spPr>
          <a:xfrm>
            <a:off x="7364921" y="5290598"/>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53" name="Image 163" descr="StarHub"/>
          <p:cNvPicPr>
            <a:picLocks noChangeAspect="1"/>
          </p:cNvPicPr>
          <p:nvPr/>
        </p:nvPicPr>
        <p:blipFill>
          <a:blip r:embed="rId166"/>
          <a:stretch>
            <a:fillRect/>
          </a:stretch>
        </p:blipFill>
        <p:spPr>
          <a:xfrm>
            <a:off x="7658447" y="5322602"/>
            <a:ext cx="163453" cy="231997"/>
          </a:xfrm>
          <a:prstGeom prst="rect">
            <a:avLst/>
          </a:prstGeom>
        </p:spPr>
      </p:pic>
      <p:sp>
        <p:nvSpPr>
          <p:cNvPr id="354" name="Shape 173"/>
          <p:cNvSpPr/>
          <p:nvPr/>
        </p:nvSpPr>
        <p:spPr>
          <a:xfrm>
            <a:off x="8156575" y="5290598"/>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55" name="Image 164" descr="Startelelogic"/>
          <p:cNvPicPr>
            <a:picLocks noChangeAspect="1"/>
          </p:cNvPicPr>
          <p:nvPr/>
        </p:nvPicPr>
        <p:blipFill>
          <a:blip r:embed="rId167"/>
          <a:stretch>
            <a:fillRect/>
          </a:stretch>
        </p:blipFill>
        <p:spPr>
          <a:xfrm>
            <a:off x="8415830" y="5322602"/>
            <a:ext cx="231997" cy="231997"/>
          </a:xfrm>
          <a:prstGeom prst="rect">
            <a:avLst/>
          </a:prstGeom>
        </p:spPr>
      </p:pic>
      <p:sp>
        <p:nvSpPr>
          <p:cNvPr id="356" name="Shape 174"/>
          <p:cNvSpPr/>
          <p:nvPr/>
        </p:nvSpPr>
        <p:spPr>
          <a:xfrm>
            <a:off x="8948230" y="5290598"/>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57" name="Image 165" descr="Stechs"/>
          <p:cNvPicPr>
            <a:picLocks noChangeAspect="1"/>
          </p:cNvPicPr>
          <p:nvPr/>
        </p:nvPicPr>
        <p:blipFill>
          <a:blip r:embed="rId168"/>
          <a:stretch>
            <a:fillRect/>
          </a:stretch>
        </p:blipFill>
        <p:spPr>
          <a:xfrm>
            <a:off x="9086740" y="5322602"/>
            <a:ext cx="473485" cy="231997"/>
          </a:xfrm>
          <a:prstGeom prst="rect">
            <a:avLst/>
          </a:prstGeom>
        </p:spPr>
      </p:pic>
      <p:sp>
        <p:nvSpPr>
          <p:cNvPr id="358" name="Shape 175"/>
          <p:cNvSpPr/>
          <p:nvPr/>
        </p:nvSpPr>
        <p:spPr>
          <a:xfrm>
            <a:off x="9739884" y="5290598"/>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59" name="Image 166" descr="Summit"/>
          <p:cNvPicPr>
            <a:picLocks noChangeAspect="1"/>
          </p:cNvPicPr>
          <p:nvPr/>
        </p:nvPicPr>
        <p:blipFill>
          <a:blip r:embed="rId169"/>
          <a:stretch>
            <a:fillRect/>
          </a:stretch>
        </p:blipFill>
        <p:spPr>
          <a:xfrm>
            <a:off x="9999139" y="5322602"/>
            <a:ext cx="231997" cy="231997"/>
          </a:xfrm>
          <a:prstGeom prst="rect">
            <a:avLst/>
          </a:prstGeom>
        </p:spPr>
      </p:pic>
      <p:sp>
        <p:nvSpPr>
          <p:cNvPr id="360" name="Shape 176"/>
          <p:cNvSpPr/>
          <p:nvPr/>
        </p:nvSpPr>
        <p:spPr>
          <a:xfrm>
            <a:off x="10531539" y="5290598"/>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61" name="Image 167" descr="Swisscom"/>
          <p:cNvPicPr>
            <a:picLocks noChangeAspect="1"/>
          </p:cNvPicPr>
          <p:nvPr/>
        </p:nvPicPr>
        <p:blipFill>
          <a:blip r:embed="rId170"/>
          <a:stretch>
            <a:fillRect/>
          </a:stretch>
        </p:blipFill>
        <p:spPr>
          <a:xfrm>
            <a:off x="10581831" y="5350590"/>
            <a:ext cx="649923" cy="176021"/>
          </a:xfrm>
          <a:prstGeom prst="rect">
            <a:avLst/>
          </a:prstGeom>
        </p:spPr>
      </p:pic>
      <p:sp>
        <p:nvSpPr>
          <p:cNvPr id="362" name="Shape 177"/>
          <p:cNvSpPr/>
          <p:nvPr/>
        </p:nvSpPr>
        <p:spPr>
          <a:xfrm>
            <a:off x="240030" y="5614035"/>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63" name="Image 168" descr="Symponica"/>
          <p:cNvPicPr>
            <a:picLocks noChangeAspect="1"/>
          </p:cNvPicPr>
          <p:nvPr/>
        </p:nvPicPr>
        <p:blipFill>
          <a:blip r:embed="rId171"/>
          <a:stretch>
            <a:fillRect/>
          </a:stretch>
        </p:blipFill>
        <p:spPr>
          <a:xfrm>
            <a:off x="290322" y="5682152"/>
            <a:ext cx="649923" cy="159773"/>
          </a:xfrm>
          <a:prstGeom prst="rect">
            <a:avLst/>
          </a:prstGeom>
        </p:spPr>
      </p:pic>
      <p:sp>
        <p:nvSpPr>
          <p:cNvPr id="364" name="Shape 178"/>
          <p:cNvSpPr/>
          <p:nvPr/>
        </p:nvSpPr>
        <p:spPr>
          <a:xfrm>
            <a:off x="1031684" y="5614035"/>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65" name="Image 169" descr="Syniverse"/>
          <p:cNvPicPr>
            <a:picLocks noChangeAspect="1"/>
          </p:cNvPicPr>
          <p:nvPr/>
        </p:nvPicPr>
        <p:blipFill>
          <a:blip r:embed="rId172"/>
          <a:stretch>
            <a:fillRect/>
          </a:stretch>
        </p:blipFill>
        <p:spPr>
          <a:xfrm>
            <a:off x="1081976" y="5665227"/>
            <a:ext cx="649923" cy="193623"/>
          </a:xfrm>
          <a:prstGeom prst="rect">
            <a:avLst/>
          </a:prstGeom>
        </p:spPr>
      </p:pic>
      <p:sp>
        <p:nvSpPr>
          <p:cNvPr id="366" name="Shape 179"/>
          <p:cNvSpPr/>
          <p:nvPr/>
        </p:nvSpPr>
        <p:spPr>
          <a:xfrm>
            <a:off x="1823339" y="5614035"/>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67" name="Image 170" descr="Tata Consultancy Services (TCS)"/>
          <p:cNvPicPr>
            <a:picLocks noChangeAspect="1"/>
          </p:cNvPicPr>
          <p:nvPr/>
        </p:nvPicPr>
        <p:blipFill>
          <a:blip r:embed="rId173"/>
          <a:stretch>
            <a:fillRect/>
          </a:stretch>
        </p:blipFill>
        <p:spPr>
          <a:xfrm>
            <a:off x="1903993" y="5646039"/>
            <a:ext cx="589199" cy="231997"/>
          </a:xfrm>
          <a:prstGeom prst="rect">
            <a:avLst/>
          </a:prstGeom>
        </p:spPr>
      </p:pic>
      <p:sp>
        <p:nvSpPr>
          <p:cNvPr id="368" name="Shape 180"/>
          <p:cNvSpPr/>
          <p:nvPr/>
        </p:nvSpPr>
        <p:spPr>
          <a:xfrm>
            <a:off x="2614993" y="5614035"/>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69" name="Image 171" descr="Tata Elxsi"/>
          <p:cNvPicPr>
            <a:picLocks noChangeAspect="1"/>
          </p:cNvPicPr>
          <p:nvPr/>
        </p:nvPicPr>
        <p:blipFill>
          <a:blip r:embed="rId174"/>
          <a:stretch>
            <a:fillRect/>
          </a:stretch>
        </p:blipFill>
        <p:spPr>
          <a:xfrm>
            <a:off x="2860539" y="5646039"/>
            <a:ext cx="259415" cy="231997"/>
          </a:xfrm>
          <a:prstGeom prst="rect">
            <a:avLst/>
          </a:prstGeom>
        </p:spPr>
      </p:pic>
      <p:sp>
        <p:nvSpPr>
          <p:cNvPr id="370" name="Shape 181"/>
          <p:cNvSpPr/>
          <p:nvPr/>
        </p:nvSpPr>
        <p:spPr>
          <a:xfrm>
            <a:off x="3406648" y="5614035"/>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71" name="Image 172" descr="Telcoflo"/>
          <p:cNvPicPr>
            <a:picLocks noChangeAspect="1"/>
          </p:cNvPicPr>
          <p:nvPr/>
        </p:nvPicPr>
        <p:blipFill>
          <a:blip r:embed="rId175"/>
          <a:stretch>
            <a:fillRect/>
          </a:stretch>
        </p:blipFill>
        <p:spPr>
          <a:xfrm>
            <a:off x="3456940" y="5649656"/>
            <a:ext cx="649923" cy="224765"/>
          </a:xfrm>
          <a:prstGeom prst="rect">
            <a:avLst/>
          </a:prstGeom>
        </p:spPr>
      </p:pic>
      <p:sp>
        <p:nvSpPr>
          <p:cNvPr id="372" name="Shape 182"/>
          <p:cNvSpPr/>
          <p:nvPr/>
        </p:nvSpPr>
        <p:spPr>
          <a:xfrm>
            <a:off x="4198303" y="5614035"/>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73" name="Image 173" descr="Telenor"/>
          <p:cNvPicPr>
            <a:picLocks noChangeAspect="1"/>
          </p:cNvPicPr>
          <p:nvPr/>
        </p:nvPicPr>
        <p:blipFill>
          <a:blip r:embed="rId176"/>
          <a:stretch>
            <a:fillRect/>
          </a:stretch>
        </p:blipFill>
        <p:spPr>
          <a:xfrm>
            <a:off x="4248595" y="5669289"/>
            <a:ext cx="649923" cy="185499"/>
          </a:xfrm>
          <a:prstGeom prst="rect">
            <a:avLst/>
          </a:prstGeom>
        </p:spPr>
      </p:pic>
      <p:sp>
        <p:nvSpPr>
          <p:cNvPr id="374" name="Shape 183"/>
          <p:cNvSpPr/>
          <p:nvPr/>
        </p:nvSpPr>
        <p:spPr>
          <a:xfrm>
            <a:off x="4989957" y="5614035"/>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75" name="Image 174" descr="Telkomsel"/>
          <p:cNvPicPr>
            <a:picLocks noChangeAspect="1"/>
          </p:cNvPicPr>
          <p:nvPr/>
        </p:nvPicPr>
        <p:blipFill>
          <a:blip r:embed="rId177"/>
          <a:stretch>
            <a:fillRect/>
          </a:stretch>
        </p:blipFill>
        <p:spPr>
          <a:xfrm>
            <a:off x="5040249" y="5664550"/>
            <a:ext cx="649923" cy="194977"/>
          </a:xfrm>
          <a:prstGeom prst="rect">
            <a:avLst/>
          </a:prstGeom>
        </p:spPr>
      </p:pic>
      <p:sp>
        <p:nvSpPr>
          <p:cNvPr id="376" name="Shape 184"/>
          <p:cNvSpPr/>
          <p:nvPr/>
        </p:nvSpPr>
        <p:spPr>
          <a:xfrm>
            <a:off x="5781612" y="5614035"/>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77" name="Image 175" descr="TelliSIM"/>
          <p:cNvPicPr>
            <a:picLocks noChangeAspect="1"/>
          </p:cNvPicPr>
          <p:nvPr/>
        </p:nvPicPr>
        <p:blipFill>
          <a:blip r:embed="rId178"/>
          <a:stretch>
            <a:fillRect/>
          </a:stretch>
        </p:blipFill>
        <p:spPr>
          <a:xfrm>
            <a:off x="6040866" y="5646039"/>
            <a:ext cx="231997" cy="231997"/>
          </a:xfrm>
          <a:prstGeom prst="rect">
            <a:avLst/>
          </a:prstGeom>
        </p:spPr>
      </p:pic>
      <p:sp>
        <p:nvSpPr>
          <p:cNvPr id="378" name="Shape 185"/>
          <p:cNvSpPr/>
          <p:nvPr/>
        </p:nvSpPr>
        <p:spPr>
          <a:xfrm>
            <a:off x="6573266" y="5614035"/>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79" name="Image 176" descr="Telqon"/>
          <p:cNvPicPr>
            <a:picLocks noChangeAspect="1"/>
          </p:cNvPicPr>
          <p:nvPr/>
        </p:nvPicPr>
        <p:blipFill>
          <a:blip r:embed="rId179"/>
          <a:stretch>
            <a:fillRect/>
          </a:stretch>
        </p:blipFill>
        <p:spPr>
          <a:xfrm>
            <a:off x="6832521" y="5646039"/>
            <a:ext cx="231997" cy="231997"/>
          </a:xfrm>
          <a:prstGeom prst="rect">
            <a:avLst/>
          </a:prstGeom>
        </p:spPr>
      </p:pic>
      <p:sp>
        <p:nvSpPr>
          <p:cNvPr id="380" name="Shape 186"/>
          <p:cNvSpPr/>
          <p:nvPr/>
        </p:nvSpPr>
        <p:spPr>
          <a:xfrm>
            <a:off x="7364921" y="5614035"/>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81" name="Image 177" descr="Telstra"/>
          <p:cNvPicPr>
            <a:picLocks noChangeAspect="1"/>
          </p:cNvPicPr>
          <p:nvPr/>
        </p:nvPicPr>
        <p:blipFill>
          <a:blip r:embed="rId180"/>
          <a:stretch>
            <a:fillRect/>
          </a:stretch>
        </p:blipFill>
        <p:spPr>
          <a:xfrm>
            <a:off x="7638939" y="5646039"/>
            <a:ext cx="202470" cy="231997"/>
          </a:xfrm>
          <a:prstGeom prst="rect">
            <a:avLst/>
          </a:prstGeom>
        </p:spPr>
      </p:pic>
      <p:sp>
        <p:nvSpPr>
          <p:cNvPr id="382" name="Shape 187"/>
          <p:cNvSpPr/>
          <p:nvPr/>
        </p:nvSpPr>
        <p:spPr>
          <a:xfrm>
            <a:off x="8156575" y="5614035"/>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83" name="Image 178" descr="TIM"/>
          <p:cNvPicPr>
            <a:picLocks noChangeAspect="1"/>
          </p:cNvPicPr>
          <p:nvPr/>
        </p:nvPicPr>
        <p:blipFill>
          <a:blip r:embed="rId181"/>
          <a:stretch>
            <a:fillRect/>
          </a:stretch>
        </p:blipFill>
        <p:spPr>
          <a:xfrm>
            <a:off x="8415830" y="5646039"/>
            <a:ext cx="231997" cy="231997"/>
          </a:xfrm>
          <a:prstGeom prst="rect">
            <a:avLst/>
          </a:prstGeom>
        </p:spPr>
      </p:pic>
      <p:sp>
        <p:nvSpPr>
          <p:cNvPr id="384" name="Shape 188"/>
          <p:cNvSpPr/>
          <p:nvPr/>
        </p:nvSpPr>
        <p:spPr>
          <a:xfrm>
            <a:off x="8948230" y="5614035"/>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85" name="Image 179" descr="TruSense"/>
          <p:cNvPicPr>
            <a:picLocks noChangeAspect="1"/>
          </p:cNvPicPr>
          <p:nvPr/>
        </p:nvPicPr>
        <p:blipFill>
          <a:blip r:embed="rId182"/>
          <a:stretch>
            <a:fillRect/>
          </a:stretch>
        </p:blipFill>
        <p:spPr>
          <a:xfrm>
            <a:off x="9194302" y="5646039"/>
            <a:ext cx="258361" cy="231997"/>
          </a:xfrm>
          <a:prstGeom prst="rect">
            <a:avLst/>
          </a:prstGeom>
        </p:spPr>
      </p:pic>
      <p:sp>
        <p:nvSpPr>
          <p:cNvPr id="386" name="Shape 189"/>
          <p:cNvSpPr/>
          <p:nvPr/>
        </p:nvSpPr>
        <p:spPr>
          <a:xfrm>
            <a:off x="9739884" y="5614035"/>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87" name="Image 180" descr="Unryo Inc"/>
          <p:cNvPicPr>
            <a:picLocks noChangeAspect="1"/>
          </p:cNvPicPr>
          <p:nvPr/>
        </p:nvPicPr>
        <p:blipFill>
          <a:blip r:embed="rId183"/>
          <a:stretch>
            <a:fillRect/>
          </a:stretch>
        </p:blipFill>
        <p:spPr>
          <a:xfrm>
            <a:off x="9790176" y="5659134"/>
            <a:ext cx="649923" cy="205809"/>
          </a:xfrm>
          <a:prstGeom prst="rect">
            <a:avLst/>
          </a:prstGeom>
        </p:spPr>
      </p:pic>
      <p:sp>
        <p:nvSpPr>
          <p:cNvPr id="388" name="Shape 190"/>
          <p:cNvSpPr/>
          <p:nvPr/>
        </p:nvSpPr>
        <p:spPr>
          <a:xfrm>
            <a:off x="10531539" y="5614035"/>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89" name="Image 181" descr="UTH UK Limited"/>
          <p:cNvPicPr>
            <a:picLocks noChangeAspect="1"/>
          </p:cNvPicPr>
          <p:nvPr/>
        </p:nvPicPr>
        <p:blipFill>
          <a:blip r:embed="rId184"/>
          <a:stretch>
            <a:fillRect/>
          </a:stretch>
        </p:blipFill>
        <p:spPr>
          <a:xfrm>
            <a:off x="10765484" y="5646039"/>
            <a:ext cx="282615" cy="231997"/>
          </a:xfrm>
          <a:prstGeom prst="rect">
            <a:avLst/>
          </a:prstGeom>
        </p:spPr>
      </p:pic>
      <p:sp>
        <p:nvSpPr>
          <p:cNvPr id="390" name="Shape 191"/>
          <p:cNvSpPr/>
          <p:nvPr/>
        </p:nvSpPr>
        <p:spPr>
          <a:xfrm>
            <a:off x="240030" y="593747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91" name="Image 182" descr="VIAVI Solutions"/>
          <p:cNvPicPr>
            <a:picLocks noChangeAspect="1"/>
          </p:cNvPicPr>
          <p:nvPr/>
        </p:nvPicPr>
        <p:blipFill>
          <a:blip r:embed="rId185"/>
          <a:stretch>
            <a:fillRect/>
          </a:stretch>
        </p:blipFill>
        <p:spPr>
          <a:xfrm>
            <a:off x="371686" y="5969477"/>
            <a:ext cx="487194" cy="231997"/>
          </a:xfrm>
          <a:prstGeom prst="rect">
            <a:avLst/>
          </a:prstGeom>
        </p:spPr>
      </p:pic>
      <p:sp>
        <p:nvSpPr>
          <p:cNvPr id="392" name="Shape 192"/>
          <p:cNvSpPr/>
          <p:nvPr/>
        </p:nvSpPr>
        <p:spPr>
          <a:xfrm>
            <a:off x="1031684" y="593747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93" name="Image 183" descr="VIRTUS - Research, Development and Innovation Center"/>
          <p:cNvPicPr>
            <a:picLocks noChangeAspect="1"/>
          </p:cNvPicPr>
          <p:nvPr/>
        </p:nvPicPr>
        <p:blipFill>
          <a:blip r:embed="rId186"/>
          <a:stretch>
            <a:fillRect/>
          </a:stretch>
        </p:blipFill>
        <p:spPr>
          <a:xfrm>
            <a:off x="1081976" y="5977832"/>
            <a:ext cx="649923" cy="215287"/>
          </a:xfrm>
          <a:prstGeom prst="rect">
            <a:avLst/>
          </a:prstGeom>
        </p:spPr>
      </p:pic>
      <p:sp>
        <p:nvSpPr>
          <p:cNvPr id="394" name="Shape 193"/>
          <p:cNvSpPr/>
          <p:nvPr/>
        </p:nvSpPr>
        <p:spPr>
          <a:xfrm>
            <a:off x="1823339" y="593747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95" name="Image 184" descr="Vonage"/>
          <p:cNvPicPr>
            <a:picLocks noChangeAspect="1"/>
          </p:cNvPicPr>
          <p:nvPr/>
        </p:nvPicPr>
        <p:blipFill>
          <a:blip r:embed="rId187"/>
          <a:stretch>
            <a:fillRect/>
          </a:stretch>
        </p:blipFill>
        <p:spPr>
          <a:xfrm>
            <a:off x="2082594" y="5969477"/>
            <a:ext cx="231997" cy="231997"/>
          </a:xfrm>
          <a:prstGeom prst="rect">
            <a:avLst/>
          </a:prstGeom>
        </p:spPr>
      </p:pic>
      <p:sp>
        <p:nvSpPr>
          <p:cNvPr id="396" name="Shape 194"/>
          <p:cNvSpPr/>
          <p:nvPr/>
        </p:nvSpPr>
        <p:spPr>
          <a:xfrm>
            <a:off x="2614993" y="593747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97" name="Image 185" descr="VROMBR"/>
          <p:cNvPicPr>
            <a:picLocks noChangeAspect="1"/>
          </p:cNvPicPr>
          <p:nvPr/>
        </p:nvPicPr>
        <p:blipFill>
          <a:blip r:embed="rId188"/>
          <a:stretch>
            <a:fillRect/>
          </a:stretch>
        </p:blipFill>
        <p:spPr>
          <a:xfrm>
            <a:off x="2764577" y="5969477"/>
            <a:ext cx="451340" cy="231997"/>
          </a:xfrm>
          <a:prstGeom prst="rect">
            <a:avLst/>
          </a:prstGeom>
        </p:spPr>
      </p:pic>
      <p:sp>
        <p:nvSpPr>
          <p:cNvPr id="398" name="Shape 195"/>
          <p:cNvSpPr/>
          <p:nvPr/>
        </p:nvSpPr>
        <p:spPr>
          <a:xfrm>
            <a:off x="3406648" y="593747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399" name="Image 186" descr="WCG"/>
          <p:cNvPicPr>
            <a:picLocks noChangeAspect="1"/>
          </p:cNvPicPr>
          <p:nvPr/>
        </p:nvPicPr>
        <p:blipFill>
          <a:blip r:embed="rId189"/>
          <a:stretch>
            <a:fillRect/>
          </a:stretch>
        </p:blipFill>
        <p:spPr>
          <a:xfrm>
            <a:off x="3456940" y="6027253"/>
            <a:ext cx="649923" cy="116444"/>
          </a:xfrm>
          <a:prstGeom prst="rect">
            <a:avLst/>
          </a:prstGeom>
        </p:spPr>
      </p:pic>
      <p:sp>
        <p:nvSpPr>
          <p:cNvPr id="400" name="Shape 196"/>
          <p:cNvSpPr/>
          <p:nvPr/>
        </p:nvSpPr>
        <p:spPr>
          <a:xfrm>
            <a:off x="4198303" y="593747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401" name="Image 187" descr="Whale Cloud"/>
          <p:cNvPicPr>
            <a:picLocks noChangeAspect="1"/>
          </p:cNvPicPr>
          <p:nvPr/>
        </p:nvPicPr>
        <p:blipFill>
          <a:blip r:embed="rId190"/>
          <a:stretch>
            <a:fillRect/>
          </a:stretch>
        </p:blipFill>
        <p:spPr>
          <a:xfrm>
            <a:off x="4248595" y="6025899"/>
            <a:ext cx="649923" cy="119152"/>
          </a:xfrm>
          <a:prstGeom prst="rect">
            <a:avLst/>
          </a:prstGeom>
        </p:spPr>
      </p:pic>
      <p:sp>
        <p:nvSpPr>
          <p:cNvPr id="402" name="Shape 197"/>
          <p:cNvSpPr/>
          <p:nvPr/>
        </p:nvSpPr>
        <p:spPr>
          <a:xfrm>
            <a:off x="4989957" y="593747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403" name="Image 188" descr="Xacria"/>
          <p:cNvPicPr>
            <a:picLocks noChangeAspect="1"/>
          </p:cNvPicPr>
          <p:nvPr/>
        </p:nvPicPr>
        <p:blipFill>
          <a:blip r:embed="rId191"/>
          <a:stretch>
            <a:fillRect/>
          </a:stretch>
        </p:blipFill>
        <p:spPr>
          <a:xfrm>
            <a:off x="5228648" y="5969477"/>
            <a:ext cx="273124" cy="231997"/>
          </a:xfrm>
          <a:prstGeom prst="rect">
            <a:avLst/>
          </a:prstGeom>
        </p:spPr>
      </p:pic>
      <p:sp>
        <p:nvSpPr>
          <p:cNvPr id="404" name="Shape 198"/>
          <p:cNvSpPr/>
          <p:nvPr/>
        </p:nvSpPr>
        <p:spPr>
          <a:xfrm>
            <a:off x="5781612" y="593747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405" name="Image 189" descr="Xecurity Pulse"/>
          <p:cNvPicPr>
            <a:picLocks noChangeAspect="1"/>
          </p:cNvPicPr>
          <p:nvPr/>
        </p:nvPicPr>
        <p:blipFill>
          <a:blip r:embed="rId192"/>
          <a:stretch>
            <a:fillRect/>
          </a:stretch>
        </p:blipFill>
        <p:spPr>
          <a:xfrm>
            <a:off x="6067229" y="5969477"/>
            <a:ext cx="179271" cy="231997"/>
          </a:xfrm>
          <a:prstGeom prst="rect">
            <a:avLst/>
          </a:prstGeom>
        </p:spPr>
      </p:pic>
      <p:sp>
        <p:nvSpPr>
          <p:cNvPr id="406" name="Shape 199"/>
          <p:cNvSpPr/>
          <p:nvPr/>
        </p:nvSpPr>
        <p:spPr>
          <a:xfrm>
            <a:off x="6573266" y="593747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407" name="Image 190" descr="XFlow Software Technology LLC"/>
          <p:cNvPicPr>
            <a:picLocks noChangeAspect="1"/>
          </p:cNvPicPr>
          <p:nvPr/>
        </p:nvPicPr>
        <p:blipFill>
          <a:blip r:embed="rId193"/>
          <a:stretch>
            <a:fillRect/>
          </a:stretch>
        </p:blipFill>
        <p:spPr>
          <a:xfrm>
            <a:off x="6623558" y="5985279"/>
            <a:ext cx="649923" cy="200393"/>
          </a:xfrm>
          <a:prstGeom prst="rect">
            <a:avLst/>
          </a:prstGeom>
        </p:spPr>
      </p:pic>
      <p:sp>
        <p:nvSpPr>
          <p:cNvPr id="408" name="Shape 200"/>
          <p:cNvSpPr/>
          <p:nvPr/>
        </p:nvSpPr>
        <p:spPr>
          <a:xfrm>
            <a:off x="7364921" y="593747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409" name="Image 191" descr="Yaana"/>
          <p:cNvPicPr>
            <a:picLocks noChangeAspect="1"/>
          </p:cNvPicPr>
          <p:nvPr/>
        </p:nvPicPr>
        <p:blipFill>
          <a:blip r:embed="rId194"/>
          <a:stretch>
            <a:fillRect/>
          </a:stretch>
        </p:blipFill>
        <p:spPr>
          <a:xfrm>
            <a:off x="7523994" y="5969477"/>
            <a:ext cx="432359" cy="231997"/>
          </a:xfrm>
          <a:prstGeom prst="rect">
            <a:avLst/>
          </a:prstGeom>
        </p:spPr>
      </p:pic>
      <p:sp>
        <p:nvSpPr>
          <p:cNvPr id="410" name="Shape 201"/>
          <p:cNvSpPr/>
          <p:nvPr/>
        </p:nvSpPr>
        <p:spPr>
          <a:xfrm>
            <a:off x="8156575" y="593747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411" name="Image 192" descr="ZTE Corporation"/>
          <p:cNvPicPr>
            <a:picLocks noChangeAspect="1"/>
          </p:cNvPicPr>
          <p:nvPr/>
        </p:nvPicPr>
        <p:blipFill>
          <a:blip r:embed="rId195"/>
          <a:stretch>
            <a:fillRect/>
          </a:stretch>
        </p:blipFill>
        <p:spPr>
          <a:xfrm>
            <a:off x="8336212" y="5969477"/>
            <a:ext cx="391232" cy="231997"/>
          </a:xfrm>
          <a:prstGeom prst="rect">
            <a:avLst/>
          </a:prstGeom>
        </p:spPr>
      </p:pic>
      <p:sp>
        <p:nvSpPr>
          <p:cNvPr id="412" name="Shape 202"/>
          <p:cNvSpPr/>
          <p:nvPr/>
        </p:nvSpPr>
        <p:spPr>
          <a:xfrm>
            <a:off x="8948230" y="5937473"/>
            <a:ext cx="750507" cy="296005"/>
          </a:xfrm>
          <a:prstGeom prst="rect">
            <a:avLst/>
          </a:prstGeom>
          <a:solidFill>
            <a:srgbClr val="FFFFFF">
              <a:alpha val="0"/>
            </a:srgbClr>
          </a:solidFill>
          <a:ln w="8255">
            <a:solidFill>
              <a:srgbClr val="B7BEC5"/>
            </a:solidFill>
            <a:prstDash val="solid"/>
          </a:ln>
        </p:spPr>
        <p:txBody>
          <a:bodyPr/>
          <a:lstStyle/>
          <a:p>
            <a:endParaRPr lang="de-DE"/>
          </a:p>
        </p:txBody>
      </p:sp>
      <p:pic>
        <p:nvPicPr>
          <p:cNvPr id="413" name="Image 193" descr="Zumigo"/>
          <p:cNvPicPr>
            <a:picLocks noChangeAspect="1"/>
          </p:cNvPicPr>
          <p:nvPr/>
        </p:nvPicPr>
        <p:blipFill>
          <a:blip r:embed="rId196"/>
          <a:stretch>
            <a:fillRect/>
          </a:stretch>
        </p:blipFill>
        <p:spPr>
          <a:xfrm>
            <a:off x="8998522" y="6008297"/>
            <a:ext cx="649923" cy="154357"/>
          </a:xfrm>
          <a:prstGeom prst="rect">
            <a:avLst/>
          </a:prstGeom>
        </p:spPr>
      </p:pic>
    </p:spTree>
    <p:extLst>
      <p:ext uri="{BB962C8B-B14F-4D97-AF65-F5344CB8AC3E}">
        <p14:creationId xmlns:p14="http://schemas.microsoft.com/office/powerpoint/2010/main" val="30885153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19"/>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Release Management</a:t>
            </a:r>
            <a:br>
              <a:rPr lang="en-US"/>
            </a:br>
            <a:r>
              <a:rPr lang="en-US"/>
              <a:t>Motivation and Benefits</a:t>
            </a:r>
            <a:endParaRPr/>
          </a:p>
        </p:txBody>
      </p:sp>
      <p:sp>
        <p:nvSpPr>
          <p:cNvPr id="458" name="Google Shape;458;p19"/>
          <p:cNvSpPr txBox="1">
            <a:spLocks noGrp="1"/>
          </p:cNvSpPr>
          <p:nvPr>
            <p:ph type="body" idx="1"/>
          </p:nvPr>
        </p:nvSpPr>
        <p:spPr>
          <a:xfrm>
            <a:off x="444373" y="2423746"/>
            <a:ext cx="10944300" cy="4124400"/>
          </a:xfrm>
          <a:prstGeom prst="rect">
            <a:avLst/>
          </a:prstGeom>
          <a:noFill/>
          <a:ln>
            <a:noFill/>
          </a:ln>
        </p:spPr>
        <p:txBody>
          <a:bodyPr spcFirstLastPara="1" wrap="square" lIns="0" tIns="0" rIns="0" bIns="0" anchor="t" anchorCtr="0">
            <a:noAutofit/>
          </a:bodyPr>
          <a:lstStyle/>
          <a:p>
            <a:pPr marL="285750" lvl="0" indent="-260350" algn="l" rtl="0">
              <a:lnSpc>
                <a:spcPct val="104000"/>
              </a:lnSpc>
              <a:spcBef>
                <a:spcPts val="0"/>
              </a:spcBef>
              <a:spcAft>
                <a:spcPts val="0"/>
              </a:spcAft>
              <a:buClr>
                <a:srgbClr val="3A9BF3"/>
              </a:buClr>
              <a:buSzPts val="1200"/>
              <a:buFont typeface="Montserrat"/>
              <a:buChar char="•"/>
            </a:pPr>
            <a:r>
              <a:rPr lang="en-US" sz="1200" dirty="0"/>
              <a:t>A </a:t>
            </a:r>
            <a:r>
              <a:rPr lang="en-US" sz="1200" dirty="0">
                <a:solidFill>
                  <a:srgbClr val="3A9BF3"/>
                </a:solidFill>
                <a:latin typeface="Montserrat SemiBold"/>
                <a:ea typeface="Montserrat SemiBold"/>
                <a:cs typeface="Montserrat SemiBold"/>
                <a:sym typeface="Montserrat SemiBold"/>
              </a:rPr>
              <a:t>CAMARA meta-release</a:t>
            </a:r>
            <a:r>
              <a:rPr lang="en-US" sz="1200" dirty="0">
                <a:latin typeface="Montserrat SemiBold"/>
                <a:ea typeface="Montserrat SemiBold"/>
                <a:cs typeface="Montserrat SemiBold"/>
                <a:sym typeface="Montserrat SemiBold"/>
              </a:rPr>
              <a:t> </a:t>
            </a:r>
            <a:r>
              <a:rPr lang="en-US" sz="1200" dirty="0"/>
              <a:t>combines a set of CAMARA API versions into a </a:t>
            </a:r>
            <a:r>
              <a:rPr lang="en-US" sz="1200" dirty="0">
                <a:latin typeface="Montserrat SemiBold"/>
                <a:ea typeface="Montserrat SemiBold"/>
                <a:cs typeface="Montserrat SemiBold"/>
                <a:sym typeface="Montserrat SemiBold"/>
              </a:rPr>
              <a:t>consistent</a:t>
            </a:r>
            <a:r>
              <a:rPr lang="en-US" sz="1200" dirty="0"/>
              <a:t> release.</a:t>
            </a:r>
            <a:endParaRPr sz="1200" dirty="0"/>
          </a:p>
          <a:p>
            <a:pPr marL="285750" lvl="0" indent="-260350" algn="l" rtl="0">
              <a:lnSpc>
                <a:spcPct val="104000"/>
              </a:lnSpc>
              <a:spcBef>
                <a:spcPts val="1200"/>
              </a:spcBef>
              <a:spcAft>
                <a:spcPts val="0"/>
              </a:spcAft>
              <a:buClr>
                <a:srgbClr val="3A9BF3"/>
              </a:buClr>
              <a:buSzPts val="1200"/>
              <a:buFont typeface="Montserrat"/>
              <a:buChar char="•"/>
            </a:pPr>
            <a:r>
              <a:rPr lang="en-US" sz="1200" dirty="0"/>
              <a:t>There are </a:t>
            </a:r>
            <a:r>
              <a:rPr lang="en-US" sz="1200" dirty="0">
                <a:latin typeface="Montserrat SemiBold"/>
                <a:ea typeface="Montserrat SemiBold"/>
                <a:cs typeface="Montserrat SemiBold"/>
                <a:sym typeface="Montserrat SemiBold"/>
              </a:rPr>
              <a:t>two meta-releases per year </a:t>
            </a:r>
            <a:r>
              <a:rPr lang="en-US" sz="1200" dirty="0"/>
              <a:t>(in spring and fall).</a:t>
            </a:r>
            <a:endParaRPr sz="1200" dirty="0"/>
          </a:p>
          <a:p>
            <a:pPr marL="645750" lvl="2" indent="-290830" algn="l" rtl="0">
              <a:lnSpc>
                <a:spcPct val="104000"/>
              </a:lnSpc>
              <a:spcBef>
                <a:spcPts val="300"/>
              </a:spcBef>
              <a:spcAft>
                <a:spcPts val="0"/>
              </a:spcAft>
              <a:buClr>
                <a:srgbClr val="3A9BF3"/>
              </a:buClr>
              <a:buSzPts val="1200"/>
              <a:buFont typeface="Montserrat"/>
              <a:buChar char="•"/>
            </a:pPr>
            <a:r>
              <a:rPr lang="en-US" sz="1200" dirty="0"/>
              <a:t>API providers (e.g. Network operators, Channel Partners) can plan their implementations and deployments in production.</a:t>
            </a:r>
            <a:endParaRPr sz="1200" dirty="0"/>
          </a:p>
          <a:p>
            <a:pPr marL="645750" lvl="2" indent="-290830" algn="l" rtl="0">
              <a:lnSpc>
                <a:spcPct val="104000"/>
              </a:lnSpc>
              <a:spcBef>
                <a:spcPts val="300"/>
              </a:spcBef>
              <a:spcAft>
                <a:spcPts val="0"/>
              </a:spcAft>
              <a:buClr>
                <a:srgbClr val="3A9BF3"/>
              </a:buClr>
              <a:buSzPts val="1200"/>
              <a:buFont typeface="Montserrat"/>
              <a:buChar char="•"/>
            </a:pPr>
            <a:r>
              <a:rPr lang="en-US" sz="1200" dirty="0"/>
              <a:t>API consumers can plan the integration in their platform and applications.</a:t>
            </a:r>
            <a:endParaRPr sz="1200" dirty="0"/>
          </a:p>
          <a:p>
            <a:pPr marL="285750" lvl="0" indent="-260350" algn="l" rtl="0">
              <a:lnSpc>
                <a:spcPct val="104000"/>
              </a:lnSpc>
              <a:spcBef>
                <a:spcPts val="1200"/>
              </a:spcBef>
              <a:spcAft>
                <a:spcPts val="0"/>
              </a:spcAft>
              <a:buClr>
                <a:srgbClr val="3A9BF3"/>
              </a:buClr>
              <a:buSzPts val="1200"/>
              <a:buFont typeface="Montserrat"/>
              <a:buChar char="•"/>
            </a:pPr>
            <a:r>
              <a:rPr lang="en-US" sz="1200" dirty="0"/>
              <a:t>All API versions in a meta-release </a:t>
            </a:r>
            <a:r>
              <a:rPr lang="en-US" sz="1200" dirty="0">
                <a:latin typeface="Montserrat SemiBold"/>
                <a:ea typeface="Montserrat SemiBold"/>
                <a:cs typeface="Montserrat SemiBold"/>
                <a:sym typeface="Montserrat SemiBold"/>
              </a:rPr>
              <a:t>fulfill defined quality criteria </a:t>
            </a:r>
            <a:r>
              <a:rPr lang="en-US" sz="1200" dirty="0"/>
              <a:t>and are </a:t>
            </a:r>
            <a:r>
              <a:rPr lang="en-US" sz="1200" dirty="0">
                <a:latin typeface="Montserrat SemiBold"/>
                <a:ea typeface="Montserrat SemiBold"/>
                <a:cs typeface="Montserrat SemiBold"/>
                <a:sym typeface="Montserrat SemiBold"/>
              </a:rPr>
              <a:t>compliant to the CAMARA guidelines </a:t>
            </a:r>
            <a:r>
              <a:rPr lang="en-US" sz="1200" dirty="0"/>
              <a:t>from CAMARA Commonalities and Identity and Consent Management of that meta-release.</a:t>
            </a:r>
            <a:endParaRPr sz="1200" dirty="0"/>
          </a:p>
          <a:p>
            <a:pPr marL="285750" lvl="0" indent="-260350" algn="l" rtl="0">
              <a:lnSpc>
                <a:spcPct val="104000"/>
              </a:lnSpc>
              <a:spcBef>
                <a:spcPts val="1200"/>
              </a:spcBef>
              <a:spcAft>
                <a:spcPts val="0"/>
              </a:spcAft>
              <a:buClr>
                <a:srgbClr val="3A9BF3"/>
              </a:buClr>
              <a:buSzPts val="1200"/>
              <a:buFont typeface="Montserrat"/>
              <a:buChar char="•"/>
            </a:pPr>
            <a:r>
              <a:rPr lang="en-US" sz="1200" dirty="0">
                <a:solidFill>
                  <a:srgbClr val="3A9BF3"/>
                </a:solidFill>
                <a:latin typeface="Montserrat SemiBold"/>
                <a:ea typeface="Montserrat SemiBold"/>
                <a:cs typeface="Montserrat SemiBold"/>
                <a:sym typeface="Montserrat SemiBold"/>
              </a:rPr>
              <a:t>CAMARA meta-releases</a:t>
            </a:r>
            <a:r>
              <a:rPr lang="en-US" sz="1200" dirty="0">
                <a:latin typeface="Montserrat SemiBold"/>
                <a:ea typeface="Montserrat SemiBold"/>
                <a:cs typeface="Montserrat SemiBold"/>
                <a:sym typeface="Montserrat SemiBold"/>
              </a:rPr>
              <a:t> </a:t>
            </a:r>
            <a:r>
              <a:rPr lang="en-US" sz="1200" dirty="0"/>
              <a:t>ensure the</a:t>
            </a:r>
            <a:endParaRPr sz="1200" dirty="0"/>
          </a:p>
          <a:p>
            <a:pPr marL="645750" lvl="2" indent="-290830" algn="l" rtl="0">
              <a:lnSpc>
                <a:spcPct val="104000"/>
              </a:lnSpc>
              <a:spcBef>
                <a:spcPts val="300"/>
              </a:spcBef>
              <a:spcAft>
                <a:spcPts val="0"/>
              </a:spcAft>
              <a:buClr>
                <a:srgbClr val="3A9BF3"/>
              </a:buClr>
              <a:buSzPts val="1200"/>
              <a:buFont typeface="Montserrat"/>
              <a:buChar char="•"/>
            </a:pPr>
            <a:r>
              <a:rPr lang="en-US" sz="1200" dirty="0"/>
              <a:t>Availability of consistent API definitions (by use of guidelines, templates, and linting),</a:t>
            </a:r>
            <a:endParaRPr sz="1200" dirty="0"/>
          </a:p>
          <a:p>
            <a:pPr marL="645750" lvl="2" indent="-290830" algn="l" rtl="0">
              <a:lnSpc>
                <a:spcPct val="104000"/>
              </a:lnSpc>
              <a:spcBef>
                <a:spcPts val="300"/>
              </a:spcBef>
              <a:spcAft>
                <a:spcPts val="0"/>
              </a:spcAft>
              <a:buClr>
                <a:srgbClr val="3A9BF3"/>
              </a:buClr>
              <a:buSzPts val="1200"/>
              <a:buFont typeface="Montserrat"/>
              <a:buChar char="•"/>
            </a:pPr>
            <a:r>
              <a:rPr lang="en-US" sz="1200" dirty="0"/>
              <a:t>Quality of API definitions (by use of checklists, test definitions, and release management),</a:t>
            </a:r>
            <a:endParaRPr sz="1200" dirty="0"/>
          </a:p>
          <a:p>
            <a:pPr marL="645750" lvl="2" indent="-290830" algn="l" rtl="0">
              <a:lnSpc>
                <a:spcPct val="104000"/>
              </a:lnSpc>
              <a:spcBef>
                <a:spcPts val="300"/>
              </a:spcBef>
              <a:spcAft>
                <a:spcPts val="0"/>
              </a:spcAft>
              <a:buClr>
                <a:srgbClr val="3A9BF3"/>
              </a:buClr>
              <a:buSzPts val="1200"/>
              <a:buFont typeface="Montserrat"/>
              <a:buChar char="•"/>
            </a:pPr>
            <a:r>
              <a:rPr lang="en-US" sz="1200" dirty="0"/>
              <a:t>Stability of API definitions (clear criteria for stable versus initial API versions) and</a:t>
            </a:r>
            <a:endParaRPr sz="1200" dirty="0"/>
          </a:p>
          <a:p>
            <a:pPr marL="645750" lvl="2" indent="-290830" algn="l" rtl="0">
              <a:lnSpc>
                <a:spcPct val="104000"/>
              </a:lnSpc>
              <a:spcBef>
                <a:spcPts val="300"/>
              </a:spcBef>
              <a:spcAft>
                <a:spcPts val="0"/>
              </a:spcAft>
              <a:buClr>
                <a:srgbClr val="3A9BF3"/>
              </a:buClr>
              <a:buSzPts val="1200"/>
              <a:buFont typeface="Montserrat"/>
              <a:buChar char="•"/>
            </a:pPr>
            <a:r>
              <a:rPr lang="en-US" sz="1200" dirty="0"/>
              <a:t>Reliability of schedule and deliverables (with defined milestones and release candidates).</a:t>
            </a:r>
            <a:endParaRPr sz="1200" dirty="0"/>
          </a:p>
          <a:p>
            <a:pPr marL="285750" lvl="0" indent="-260350" algn="l" rtl="0">
              <a:lnSpc>
                <a:spcPct val="104000"/>
              </a:lnSpc>
              <a:spcBef>
                <a:spcPts val="1200"/>
              </a:spcBef>
              <a:spcAft>
                <a:spcPts val="0"/>
              </a:spcAft>
              <a:buClr>
                <a:srgbClr val="3A9BF3"/>
              </a:buClr>
              <a:buSzPts val="1200"/>
              <a:buFont typeface="Montserrat"/>
              <a:buChar char="•"/>
            </a:pPr>
            <a:r>
              <a:rPr lang="en-US" sz="1200" dirty="0">
                <a:solidFill>
                  <a:srgbClr val="3A9BF3"/>
                </a:solidFill>
                <a:latin typeface="Montserrat SemiBold"/>
                <a:ea typeface="Montserrat SemiBold"/>
                <a:cs typeface="Montserrat SemiBold"/>
                <a:sym typeface="Montserrat SemiBold"/>
              </a:rPr>
              <a:t>CAMARA meta-releases</a:t>
            </a:r>
            <a:r>
              <a:rPr lang="en-US" sz="1200" dirty="0">
                <a:latin typeface="Montserrat SemiBold"/>
                <a:ea typeface="Montserrat SemiBold"/>
                <a:cs typeface="Montserrat SemiBold"/>
                <a:sym typeface="Montserrat SemiBold"/>
              </a:rPr>
              <a:t> </a:t>
            </a:r>
            <a:r>
              <a:rPr lang="en-US" sz="1200" dirty="0"/>
              <a:t>provide the foundation for API version management in production.</a:t>
            </a:r>
            <a:endParaRPr sz="1200" dirty="0"/>
          </a:p>
          <a:p>
            <a:pPr marL="285750" lvl="0" indent="-184150" algn="l" rtl="0">
              <a:lnSpc>
                <a:spcPct val="104000"/>
              </a:lnSpc>
              <a:spcBef>
                <a:spcPts val="1200"/>
              </a:spcBef>
              <a:spcAft>
                <a:spcPts val="0"/>
              </a:spcAft>
              <a:buClr>
                <a:schemeClr val="dk2"/>
              </a:buClr>
              <a:buSzPts val="1600"/>
              <a:buFont typeface="Arial"/>
              <a:buNone/>
            </a:pPr>
            <a:endParaRPr sz="1200" dirty="0"/>
          </a:p>
          <a:p>
            <a:pPr marL="645750" lvl="2" indent="-214630" algn="l" rtl="0">
              <a:lnSpc>
                <a:spcPct val="104000"/>
              </a:lnSpc>
              <a:spcBef>
                <a:spcPts val="300"/>
              </a:spcBef>
              <a:spcAft>
                <a:spcPts val="0"/>
              </a:spcAft>
              <a:buSzPts val="1120"/>
              <a:buFont typeface="Arial"/>
              <a:buNone/>
            </a:pPr>
            <a:endParaRPr sz="12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20"/>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a:buNone/>
            </a:pPr>
            <a:r>
              <a:rPr lang="en-US">
                <a:latin typeface="Montserrat"/>
                <a:ea typeface="Montserrat"/>
                <a:cs typeface="Montserrat"/>
                <a:sym typeface="Montserrat"/>
              </a:rPr>
              <a:t>Release Management</a:t>
            </a:r>
            <a:br>
              <a:rPr lang="en-US">
                <a:latin typeface="Montserrat"/>
                <a:ea typeface="Montserrat"/>
                <a:cs typeface="Montserrat"/>
                <a:sym typeface="Montserrat"/>
              </a:rPr>
            </a:br>
            <a:r>
              <a:rPr lang="en-US">
                <a:latin typeface="Montserrat"/>
                <a:ea typeface="Montserrat"/>
                <a:cs typeface="Montserrat"/>
                <a:sym typeface="Montserrat"/>
              </a:rPr>
              <a:t>Release Cycle</a:t>
            </a:r>
            <a:endParaRPr/>
          </a:p>
        </p:txBody>
      </p:sp>
      <p:grpSp>
        <p:nvGrpSpPr>
          <p:cNvPr id="465" name="Google Shape;465;p20"/>
          <p:cNvGrpSpPr/>
          <p:nvPr/>
        </p:nvGrpSpPr>
        <p:grpSpPr>
          <a:xfrm>
            <a:off x="5561718" y="1552766"/>
            <a:ext cx="4320000" cy="4320000"/>
            <a:chOff x="3757886" y="1690552"/>
            <a:chExt cx="4320000" cy="4320000"/>
          </a:xfrm>
        </p:grpSpPr>
        <p:sp>
          <p:nvSpPr>
            <p:cNvPr id="466" name="Google Shape;466;p20"/>
            <p:cNvSpPr/>
            <p:nvPr/>
          </p:nvSpPr>
          <p:spPr>
            <a:xfrm rot="5400000">
              <a:off x="3757886" y="1690552"/>
              <a:ext cx="4320000" cy="4320000"/>
            </a:xfrm>
            <a:custGeom>
              <a:avLst/>
              <a:gdLst/>
              <a:ahLst/>
              <a:cxnLst/>
              <a:rect l="l" t="t" r="r" b="b"/>
              <a:pathLst>
                <a:path w="120000" h="120000" extrusionOk="0">
                  <a:moveTo>
                    <a:pt x="7592" y="30787"/>
                  </a:moveTo>
                  <a:lnTo>
                    <a:pt x="7592" y="30787"/>
                  </a:lnTo>
                  <a:cubicBezTo>
                    <a:pt x="17206" y="13539"/>
                    <a:pt x="34693" y="2125"/>
                    <a:pt x="54353" y="266"/>
                  </a:cubicBezTo>
                  <a:lnTo>
                    <a:pt x="54353" y="266"/>
                  </a:lnTo>
                  <a:lnTo>
                    <a:pt x="59310" y="5022"/>
                  </a:lnTo>
                  <a:lnTo>
                    <a:pt x="54479" y="10340"/>
                  </a:lnTo>
                  <a:lnTo>
                    <a:pt x="54479" y="10340"/>
                  </a:lnTo>
                  <a:lnTo>
                    <a:pt x="54479" y="10340"/>
                  </a:lnTo>
                  <a:cubicBezTo>
                    <a:pt x="38424" y="12125"/>
                    <a:pt x="24222" y="21563"/>
                    <a:pt x="16356" y="3567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467" name="Google Shape;467;p20"/>
            <p:cNvSpPr/>
            <p:nvPr/>
          </p:nvSpPr>
          <p:spPr>
            <a:xfrm rot="5400000">
              <a:off x="3757886" y="1690552"/>
              <a:ext cx="4320000" cy="4320000"/>
            </a:xfrm>
            <a:custGeom>
              <a:avLst/>
              <a:gdLst/>
              <a:ahLst/>
              <a:cxnLst/>
              <a:rect l="l" t="t" r="r" b="b"/>
              <a:pathLst>
                <a:path w="120000" h="120000" extrusionOk="0">
                  <a:moveTo>
                    <a:pt x="110218" y="92835"/>
                  </a:moveTo>
                  <a:lnTo>
                    <a:pt x="110218" y="92835"/>
                  </a:lnTo>
                  <a:cubicBezTo>
                    <a:pt x="100636" y="107491"/>
                    <a:pt x="85129" y="117229"/>
                    <a:pt x="67766" y="119495"/>
                  </a:cubicBezTo>
                  <a:lnTo>
                    <a:pt x="67766" y="119495"/>
                  </a:lnTo>
                  <a:lnTo>
                    <a:pt x="62643" y="114919"/>
                  </a:lnTo>
                  <a:lnTo>
                    <a:pt x="67281" y="109432"/>
                  </a:lnTo>
                  <a:lnTo>
                    <a:pt x="67281" y="109432"/>
                  </a:lnTo>
                  <a:lnTo>
                    <a:pt x="67281" y="109432"/>
                  </a:lnTo>
                  <a:cubicBezTo>
                    <a:pt x="81424" y="107349"/>
                    <a:pt x="93997" y="99308"/>
                    <a:pt x="101820" y="8734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468" name="Google Shape;468;p20"/>
            <p:cNvSpPr/>
            <p:nvPr/>
          </p:nvSpPr>
          <p:spPr>
            <a:xfrm rot="5400000">
              <a:off x="3757886" y="1690552"/>
              <a:ext cx="4320000" cy="4320000"/>
            </a:xfrm>
            <a:custGeom>
              <a:avLst/>
              <a:gdLst/>
              <a:ahLst/>
              <a:cxnLst/>
              <a:rect l="l" t="t" r="r" b="b"/>
              <a:pathLst>
                <a:path w="120000" h="120000" extrusionOk="0">
                  <a:moveTo>
                    <a:pt x="61752" y="119974"/>
                  </a:moveTo>
                  <a:lnTo>
                    <a:pt x="61752" y="119974"/>
                  </a:lnTo>
                  <a:cubicBezTo>
                    <a:pt x="41323" y="120571"/>
                    <a:pt x="21995" y="110728"/>
                    <a:pt x="10463" y="93854"/>
                  </a:cubicBezTo>
                  <a:cubicBezTo>
                    <a:pt x="-1069" y="76980"/>
                    <a:pt x="-3218" y="55397"/>
                    <a:pt x="4760" y="36580"/>
                  </a:cubicBezTo>
                  <a:lnTo>
                    <a:pt x="4760" y="36580"/>
                  </a:lnTo>
                  <a:lnTo>
                    <a:pt x="11665" y="34709"/>
                  </a:lnTo>
                  <a:lnTo>
                    <a:pt x="14453" y="41652"/>
                  </a:lnTo>
                  <a:lnTo>
                    <a:pt x="14453" y="41652"/>
                  </a:lnTo>
                  <a:lnTo>
                    <a:pt x="14453" y="41652"/>
                  </a:lnTo>
                  <a:cubicBezTo>
                    <a:pt x="8262" y="57021"/>
                    <a:pt x="10239" y="74476"/>
                    <a:pt x="19710" y="88071"/>
                  </a:cubicBezTo>
                  <a:cubicBezTo>
                    <a:pt x="29182" y="101665"/>
                    <a:pt x="44872" y="109567"/>
                    <a:pt x="61434" y="109083"/>
                  </a:cubicBezTo>
                  <a:close/>
                </a:path>
              </a:pathLst>
            </a:custGeom>
            <a:solidFill>
              <a:srgbClr val="FFBFA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469" name="Google Shape;469;p20"/>
            <p:cNvSpPr/>
            <p:nvPr/>
          </p:nvSpPr>
          <p:spPr>
            <a:xfrm rot="5400000">
              <a:off x="3757886" y="1690552"/>
              <a:ext cx="4320000" cy="4320000"/>
            </a:xfrm>
            <a:custGeom>
              <a:avLst/>
              <a:gdLst/>
              <a:ahLst/>
              <a:cxnLst/>
              <a:rect l="l" t="t" r="r" b="b"/>
              <a:pathLst>
                <a:path w="120000" h="120000" extrusionOk="0">
                  <a:moveTo>
                    <a:pt x="60649" y="4"/>
                  </a:moveTo>
                  <a:lnTo>
                    <a:pt x="60649" y="4"/>
                  </a:lnTo>
                  <a:cubicBezTo>
                    <a:pt x="81478" y="229"/>
                    <a:pt x="100700" y="11241"/>
                    <a:pt x="111429" y="29096"/>
                  </a:cubicBezTo>
                  <a:cubicBezTo>
                    <a:pt x="122158" y="46950"/>
                    <a:pt x="122859" y="69092"/>
                    <a:pt x="113281" y="87589"/>
                  </a:cubicBezTo>
                  <a:lnTo>
                    <a:pt x="113281" y="87589"/>
                  </a:lnTo>
                  <a:lnTo>
                    <a:pt x="106599" y="89183"/>
                  </a:lnTo>
                  <a:lnTo>
                    <a:pt x="104742" y="82242"/>
                  </a:lnTo>
                  <a:lnTo>
                    <a:pt x="104742" y="82242"/>
                  </a:lnTo>
                  <a:lnTo>
                    <a:pt x="104742" y="82242"/>
                  </a:lnTo>
                  <a:cubicBezTo>
                    <a:pt x="112399" y="66840"/>
                    <a:pt x="111595" y="48582"/>
                    <a:pt x="102615" y="33913"/>
                  </a:cubicBezTo>
                  <a:cubicBezTo>
                    <a:pt x="93634" y="19243"/>
                    <a:pt x="77740" y="10223"/>
                    <a:pt x="60541" y="10037"/>
                  </a:cubicBezTo>
                  <a:close/>
                </a:path>
              </a:pathLst>
            </a:custGeom>
            <a:solidFill>
              <a:srgbClr val="FFBFA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ontserrat"/>
                <a:ea typeface="Montserrat"/>
                <a:cs typeface="Montserrat"/>
                <a:sym typeface="Montserrat"/>
              </a:endParaRPr>
            </a:p>
          </p:txBody>
        </p:sp>
      </p:grpSp>
      <p:sp>
        <p:nvSpPr>
          <p:cNvPr id="470" name="Google Shape;470;p20"/>
          <p:cNvSpPr/>
          <p:nvPr/>
        </p:nvSpPr>
        <p:spPr>
          <a:xfrm>
            <a:off x="6101719" y="2092766"/>
            <a:ext cx="3240000" cy="3240000"/>
          </a:xfrm>
          <a:custGeom>
            <a:avLst/>
            <a:gdLst/>
            <a:ahLst/>
            <a:cxnLst/>
            <a:rect l="l" t="t" r="r" b="b"/>
            <a:pathLst>
              <a:path w="120000" h="120000" extrusionOk="0">
                <a:moveTo>
                  <a:pt x="6385" y="55940"/>
                </a:moveTo>
                <a:cubicBezTo>
                  <a:pt x="8257" y="31220"/>
                  <a:pt x="26787" y="10985"/>
                  <a:pt x="51247" y="6949"/>
                </a:cubicBezTo>
                <a:cubicBezTo>
                  <a:pt x="75706" y="2913"/>
                  <a:pt x="99755" y="16124"/>
                  <a:pt x="109469" y="38931"/>
                </a:cubicBezTo>
                <a:lnTo>
                  <a:pt x="115368" y="37686"/>
                </a:lnTo>
                <a:lnTo>
                  <a:pt x="104029" y="50702"/>
                </a:lnTo>
                <a:lnTo>
                  <a:pt x="86015" y="43884"/>
                </a:lnTo>
                <a:lnTo>
                  <a:pt x="91813" y="42660"/>
                </a:lnTo>
                <a:cubicBezTo>
                  <a:pt x="84129" y="28563"/>
                  <a:pt x="68083" y="21203"/>
                  <a:pt x="52386" y="24577"/>
                </a:cubicBezTo>
                <a:cubicBezTo>
                  <a:pt x="36689" y="27952"/>
                  <a:pt x="25084" y="41254"/>
                  <a:pt x="23872" y="5726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471" name="Google Shape;471;p20"/>
          <p:cNvSpPr/>
          <p:nvPr/>
        </p:nvSpPr>
        <p:spPr>
          <a:xfrm>
            <a:off x="6105979" y="2092766"/>
            <a:ext cx="3240000" cy="3240000"/>
          </a:xfrm>
          <a:custGeom>
            <a:avLst/>
            <a:gdLst/>
            <a:ahLst/>
            <a:cxnLst/>
            <a:rect l="l" t="t" r="r" b="b"/>
            <a:pathLst>
              <a:path w="120000" h="120000" extrusionOk="0">
                <a:moveTo>
                  <a:pt x="114593" y="58479"/>
                </a:moveTo>
                <a:lnTo>
                  <a:pt x="114593" y="58479"/>
                </a:lnTo>
                <a:cubicBezTo>
                  <a:pt x="115323" y="84689"/>
                  <a:pt x="97325" y="107719"/>
                  <a:pt x="71715" y="113343"/>
                </a:cubicBezTo>
                <a:cubicBezTo>
                  <a:pt x="46105" y="118967"/>
                  <a:pt x="20113" y="105598"/>
                  <a:pt x="9793" y="81495"/>
                </a:cubicBezTo>
                <a:lnTo>
                  <a:pt x="4711" y="82562"/>
                </a:lnTo>
                <a:lnTo>
                  <a:pt x="14596" y="69537"/>
                </a:lnTo>
                <a:lnTo>
                  <a:pt x="31341" y="76968"/>
                </a:lnTo>
                <a:lnTo>
                  <a:pt x="26345" y="78018"/>
                </a:lnTo>
                <a:lnTo>
                  <a:pt x="26345" y="78018"/>
                </a:lnTo>
                <a:cubicBezTo>
                  <a:pt x="34701" y="93626"/>
                  <a:pt x="52692" y="101441"/>
                  <a:pt x="69803" y="96894"/>
                </a:cubicBezTo>
                <a:cubicBezTo>
                  <a:pt x="86913" y="92348"/>
                  <a:pt x="98653" y="76634"/>
                  <a:pt x="98160" y="5893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472" name="Google Shape;472;p20"/>
          <p:cNvSpPr/>
          <p:nvPr/>
        </p:nvSpPr>
        <p:spPr>
          <a:xfrm>
            <a:off x="8593909" y="3374206"/>
            <a:ext cx="677120" cy="677120"/>
          </a:xfrm>
          <a:prstGeom prst="ellipse">
            <a:avLst/>
          </a:prstGeom>
          <a:solidFill>
            <a:srgbClr val="D0D0D0"/>
          </a:solidFill>
          <a:ln>
            <a:noFill/>
          </a:ln>
        </p:spPr>
        <p:txBody>
          <a:bodyPr spcFirstLastPara="1" wrap="square" lIns="216000" tIns="45700" rIns="216000" bIns="45700" anchor="ctr" anchorCtr="0">
            <a:normAutofit/>
          </a:bodyPr>
          <a:lstStyle/>
          <a:p>
            <a:pPr marL="0" marR="0" lvl="0" indent="0" algn="l" rtl="0">
              <a:lnSpc>
                <a:spcPct val="80000"/>
              </a:lnSpc>
              <a:spcBef>
                <a:spcPts val="0"/>
              </a:spcBef>
              <a:spcAft>
                <a:spcPts val="0"/>
              </a:spcAft>
              <a:buNone/>
            </a:pPr>
            <a:endParaRPr/>
          </a:p>
        </p:txBody>
      </p:sp>
      <p:sp>
        <p:nvSpPr>
          <p:cNvPr id="473" name="Google Shape;473;p20"/>
          <p:cNvSpPr/>
          <p:nvPr/>
        </p:nvSpPr>
        <p:spPr>
          <a:xfrm>
            <a:off x="6128961" y="3374206"/>
            <a:ext cx="677120" cy="677120"/>
          </a:xfrm>
          <a:prstGeom prst="ellipse">
            <a:avLst/>
          </a:prstGeom>
          <a:solidFill>
            <a:srgbClr val="D0D0D0"/>
          </a:solidFill>
          <a:ln>
            <a:noFill/>
          </a:ln>
        </p:spPr>
        <p:txBody>
          <a:bodyPr spcFirstLastPara="1" wrap="square" lIns="216000" tIns="45700" rIns="216000" bIns="45700" anchor="ctr" anchorCtr="0">
            <a:normAutofit/>
          </a:bodyPr>
          <a:lstStyle/>
          <a:p>
            <a:pPr marL="0" marR="0" lvl="0" indent="0" algn="l" rtl="0">
              <a:lnSpc>
                <a:spcPct val="80000"/>
              </a:lnSpc>
              <a:spcBef>
                <a:spcPts val="0"/>
              </a:spcBef>
              <a:spcAft>
                <a:spcPts val="0"/>
              </a:spcAft>
              <a:buNone/>
            </a:pPr>
            <a:endParaRPr/>
          </a:p>
        </p:txBody>
      </p:sp>
      <p:sp>
        <p:nvSpPr>
          <p:cNvPr id="474" name="Google Shape;474;p20"/>
          <p:cNvSpPr/>
          <p:nvPr/>
        </p:nvSpPr>
        <p:spPr>
          <a:xfrm>
            <a:off x="6908244" y="2529395"/>
            <a:ext cx="304800" cy="304800"/>
          </a:xfrm>
          <a:prstGeom prst="ellipse">
            <a:avLst/>
          </a:prstGeom>
          <a:solidFill>
            <a:srgbClr val="D0D0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00"/>
          </a:p>
        </p:txBody>
      </p:sp>
      <p:sp>
        <p:nvSpPr>
          <p:cNvPr id="475" name="Google Shape;475;p20"/>
          <p:cNvSpPr/>
          <p:nvPr/>
        </p:nvSpPr>
        <p:spPr>
          <a:xfrm>
            <a:off x="8238893" y="2536382"/>
            <a:ext cx="304800" cy="304800"/>
          </a:xfrm>
          <a:prstGeom prst="ellipse">
            <a:avLst/>
          </a:prstGeom>
          <a:solidFill>
            <a:srgbClr val="D0D0D0"/>
          </a:solidFill>
          <a:ln>
            <a:noFill/>
          </a:ln>
        </p:spPr>
        <p:txBody>
          <a:bodyPr spcFirstLastPara="1" wrap="square" lIns="91425" tIns="45700" rIns="91425" bIns="45700" anchor="ctr" anchorCtr="0">
            <a:normAutofit fontScale="92500" lnSpcReduction="20000"/>
          </a:bodyPr>
          <a:lstStyle/>
          <a:p>
            <a:pPr marL="0" marR="0" lvl="0" indent="0" algn="ctr" rtl="0">
              <a:lnSpc>
                <a:spcPct val="80000"/>
              </a:lnSpc>
              <a:spcBef>
                <a:spcPts val="0"/>
              </a:spcBef>
              <a:spcAft>
                <a:spcPts val="0"/>
              </a:spcAft>
              <a:buNone/>
            </a:pPr>
            <a:endParaRPr/>
          </a:p>
        </p:txBody>
      </p:sp>
      <p:sp>
        <p:nvSpPr>
          <p:cNvPr id="476" name="Google Shape;476;p20"/>
          <p:cNvSpPr txBox="1"/>
          <p:nvPr/>
        </p:nvSpPr>
        <p:spPr>
          <a:xfrm>
            <a:off x="7195265" y="3452476"/>
            <a:ext cx="1061400" cy="5541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a:solidFill>
                  <a:schemeClr val="dk1"/>
                </a:solidFill>
                <a:latin typeface="Montserrat"/>
                <a:ea typeface="Montserrat"/>
                <a:cs typeface="Montserrat"/>
                <a:sym typeface="Montserrat"/>
              </a:rPr>
              <a:t>CAMARA</a:t>
            </a:r>
            <a:br>
              <a:rPr lang="en-US" sz="1000">
                <a:solidFill>
                  <a:schemeClr val="dk1"/>
                </a:solidFill>
                <a:latin typeface="Montserrat"/>
                <a:ea typeface="Montserrat"/>
                <a:cs typeface="Montserrat"/>
                <a:sym typeface="Montserrat"/>
              </a:rPr>
            </a:br>
            <a:r>
              <a:rPr lang="en-US" sz="1000">
                <a:solidFill>
                  <a:schemeClr val="dk1"/>
                </a:solidFill>
                <a:latin typeface="Montserrat"/>
                <a:ea typeface="Montserrat"/>
                <a:cs typeface="Montserrat"/>
                <a:sym typeface="Montserrat"/>
              </a:rPr>
              <a:t>Guidelines</a:t>
            </a:r>
            <a:endParaRPr sz="1000"/>
          </a:p>
          <a:p>
            <a:pPr marL="0" marR="0" lvl="0" indent="0" algn="ctr" rtl="0">
              <a:spcBef>
                <a:spcPts val="0"/>
              </a:spcBef>
              <a:spcAft>
                <a:spcPts val="0"/>
              </a:spcAft>
              <a:buNone/>
            </a:pPr>
            <a:r>
              <a:rPr lang="en-US" sz="1000">
                <a:solidFill>
                  <a:schemeClr val="dk1"/>
                </a:solidFill>
                <a:latin typeface="Montserrat"/>
                <a:ea typeface="Montserrat"/>
                <a:cs typeface="Montserrat"/>
                <a:sym typeface="Montserrat"/>
              </a:rPr>
              <a:t>&amp; Templates</a:t>
            </a:r>
            <a:endParaRPr sz="1000"/>
          </a:p>
        </p:txBody>
      </p:sp>
      <p:grpSp>
        <p:nvGrpSpPr>
          <p:cNvPr id="477" name="Google Shape;477;p20"/>
          <p:cNvGrpSpPr/>
          <p:nvPr/>
        </p:nvGrpSpPr>
        <p:grpSpPr>
          <a:xfrm rot="8448290">
            <a:off x="6968729" y="2978065"/>
            <a:ext cx="1523920" cy="1521919"/>
            <a:chOff x="245251" y="2230552"/>
            <a:chExt cx="3244260" cy="3240000"/>
          </a:xfrm>
        </p:grpSpPr>
        <p:sp>
          <p:nvSpPr>
            <p:cNvPr id="478" name="Google Shape;478;p20"/>
            <p:cNvSpPr/>
            <p:nvPr/>
          </p:nvSpPr>
          <p:spPr>
            <a:xfrm>
              <a:off x="245251" y="2230552"/>
              <a:ext cx="3240000" cy="3240000"/>
            </a:xfrm>
            <a:custGeom>
              <a:avLst/>
              <a:gdLst/>
              <a:ahLst/>
              <a:cxnLst/>
              <a:rect l="l" t="t" r="r" b="b"/>
              <a:pathLst>
                <a:path w="120000" h="120000" extrusionOk="0">
                  <a:moveTo>
                    <a:pt x="6385" y="55940"/>
                  </a:moveTo>
                  <a:lnTo>
                    <a:pt x="6385" y="55940"/>
                  </a:lnTo>
                  <a:cubicBezTo>
                    <a:pt x="8257" y="31220"/>
                    <a:pt x="26787" y="10985"/>
                    <a:pt x="51247" y="6949"/>
                  </a:cubicBezTo>
                  <a:cubicBezTo>
                    <a:pt x="75706" y="2913"/>
                    <a:pt x="99755" y="16124"/>
                    <a:pt x="109469" y="38931"/>
                  </a:cubicBezTo>
                  <a:lnTo>
                    <a:pt x="115368" y="37686"/>
                  </a:lnTo>
                  <a:lnTo>
                    <a:pt x="104029" y="50702"/>
                  </a:lnTo>
                  <a:lnTo>
                    <a:pt x="86015" y="43884"/>
                  </a:lnTo>
                  <a:lnTo>
                    <a:pt x="91813" y="42660"/>
                  </a:lnTo>
                  <a:cubicBezTo>
                    <a:pt x="84129" y="28563"/>
                    <a:pt x="68083" y="21203"/>
                    <a:pt x="52386" y="24577"/>
                  </a:cubicBezTo>
                  <a:cubicBezTo>
                    <a:pt x="36689" y="27952"/>
                    <a:pt x="25084" y="41254"/>
                    <a:pt x="23872" y="5726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479" name="Google Shape;479;p20"/>
            <p:cNvSpPr/>
            <p:nvPr/>
          </p:nvSpPr>
          <p:spPr>
            <a:xfrm>
              <a:off x="249511" y="2230552"/>
              <a:ext cx="3240000" cy="3240000"/>
            </a:xfrm>
            <a:custGeom>
              <a:avLst/>
              <a:gdLst/>
              <a:ahLst/>
              <a:cxnLst/>
              <a:rect l="l" t="t" r="r" b="b"/>
              <a:pathLst>
                <a:path w="120000" h="120000" extrusionOk="0">
                  <a:moveTo>
                    <a:pt x="114328" y="65582"/>
                  </a:moveTo>
                  <a:cubicBezTo>
                    <a:pt x="111785" y="90340"/>
                    <a:pt x="92824" y="110247"/>
                    <a:pt x="68219" y="113992"/>
                  </a:cubicBezTo>
                  <a:cubicBezTo>
                    <a:pt x="43614" y="117738"/>
                    <a:pt x="19589" y="104374"/>
                    <a:pt x="9793" y="81495"/>
                  </a:cubicBezTo>
                  <a:lnTo>
                    <a:pt x="4711" y="82562"/>
                  </a:lnTo>
                  <a:lnTo>
                    <a:pt x="14596" y="69537"/>
                  </a:lnTo>
                  <a:lnTo>
                    <a:pt x="31341" y="76968"/>
                  </a:lnTo>
                  <a:lnTo>
                    <a:pt x="26345" y="78018"/>
                  </a:lnTo>
                  <a:cubicBezTo>
                    <a:pt x="34265" y="92811"/>
                    <a:pt x="50917" y="100699"/>
                    <a:pt x="67381" y="97454"/>
                  </a:cubicBezTo>
                  <a:cubicBezTo>
                    <a:pt x="83845" y="94209"/>
                    <a:pt x="96260" y="80594"/>
                    <a:pt x="97975" y="6390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ontserrat"/>
                <a:ea typeface="Montserrat"/>
                <a:cs typeface="Montserrat"/>
                <a:sym typeface="Montserrat"/>
              </a:endParaRPr>
            </a:p>
          </p:txBody>
        </p:sp>
      </p:grpSp>
      <p:sp>
        <p:nvSpPr>
          <p:cNvPr id="480" name="Google Shape;480;p20"/>
          <p:cNvSpPr/>
          <p:nvPr/>
        </p:nvSpPr>
        <p:spPr>
          <a:xfrm>
            <a:off x="7575088" y="3078763"/>
            <a:ext cx="164700" cy="164700"/>
          </a:xfrm>
          <a:prstGeom prst="ellipse">
            <a:avLst/>
          </a:prstGeom>
          <a:solidFill>
            <a:srgbClr val="D0D0D0"/>
          </a:solidFill>
          <a:ln>
            <a:noFill/>
          </a:ln>
        </p:spPr>
        <p:txBody>
          <a:bodyPr spcFirstLastPara="1" wrap="square" lIns="91425" tIns="45700" rIns="91425" bIns="45700" anchor="ctr" anchorCtr="0">
            <a:normAutofit fontScale="25000" lnSpcReduction="20000"/>
          </a:bodyPr>
          <a:lstStyle/>
          <a:p>
            <a:pPr marL="0" marR="0" lvl="0" indent="0" algn="l" rtl="0">
              <a:lnSpc>
                <a:spcPct val="80000"/>
              </a:lnSpc>
              <a:spcBef>
                <a:spcPts val="0"/>
              </a:spcBef>
              <a:spcAft>
                <a:spcPts val="0"/>
              </a:spcAft>
              <a:buNone/>
            </a:pPr>
            <a:endParaRPr/>
          </a:p>
        </p:txBody>
      </p:sp>
      <p:sp>
        <p:nvSpPr>
          <p:cNvPr id="481" name="Google Shape;481;p20"/>
          <p:cNvSpPr/>
          <p:nvPr/>
        </p:nvSpPr>
        <p:spPr>
          <a:xfrm>
            <a:off x="7739931" y="4215530"/>
            <a:ext cx="164843" cy="164843"/>
          </a:xfrm>
          <a:prstGeom prst="ellipse">
            <a:avLst/>
          </a:prstGeom>
          <a:solidFill>
            <a:srgbClr val="D0D0D0"/>
          </a:solidFill>
          <a:ln>
            <a:noFill/>
          </a:ln>
        </p:spPr>
        <p:txBody>
          <a:bodyPr spcFirstLastPara="1" wrap="square" lIns="91425" tIns="45700" rIns="91425" bIns="45700" anchor="ctr" anchorCtr="0">
            <a:normAutofit fontScale="25000" lnSpcReduction="20000"/>
          </a:bodyPr>
          <a:lstStyle/>
          <a:p>
            <a:pPr marL="0" marR="0" lvl="0" indent="0" algn="l" rtl="0">
              <a:lnSpc>
                <a:spcPct val="80000"/>
              </a:lnSpc>
              <a:spcBef>
                <a:spcPts val="0"/>
              </a:spcBef>
              <a:spcAft>
                <a:spcPts val="0"/>
              </a:spcAft>
              <a:buNone/>
            </a:pPr>
            <a:endParaRPr/>
          </a:p>
        </p:txBody>
      </p:sp>
      <p:sp>
        <p:nvSpPr>
          <p:cNvPr id="482" name="Google Shape;482;p20"/>
          <p:cNvSpPr txBox="1"/>
          <p:nvPr/>
        </p:nvSpPr>
        <p:spPr>
          <a:xfrm>
            <a:off x="7144493" y="2306722"/>
            <a:ext cx="1144800" cy="430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a:solidFill>
                  <a:schemeClr val="lt1"/>
                </a:solidFill>
                <a:latin typeface="Montserrat"/>
                <a:ea typeface="Montserrat"/>
                <a:cs typeface="Montserrat"/>
                <a:sym typeface="Montserrat"/>
              </a:rPr>
              <a:t>CAMARA API </a:t>
            </a:r>
            <a:br>
              <a:rPr lang="en-US" sz="1100">
                <a:solidFill>
                  <a:schemeClr val="lt1"/>
                </a:solidFill>
                <a:latin typeface="Montserrat"/>
                <a:ea typeface="Montserrat"/>
                <a:cs typeface="Montserrat"/>
                <a:sym typeface="Montserrat"/>
              </a:rPr>
            </a:br>
            <a:r>
              <a:rPr lang="en-US" sz="1100">
                <a:solidFill>
                  <a:schemeClr val="lt1"/>
                </a:solidFill>
                <a:latin typeface="Montserrat"/>
                <a:ea typeface="Montserrat"/>
                <a:cs typeface="Montserrat"/>
                <a:sym typeface="Montserrat"/>
              </a:rPr>
              <a:t>definitions</a:t>
            </a:r>
            <a:endParaRPr/>
          </a:p>
        </p:txBody>
      </p:sp>
      <p:sp>
        <p:nvSpPr>
          <p:cNvPr id="483" name="Google Shape;483;p20"/>
          <p:cNvSpPr txBox="1"/>
          <p:nvPr/>
        </p:nvSpPr>
        <p:spPr>
          <a:xfrm>
            <a:off x="7144516" y="4721456"/>
            <a:ext cx="1144800" cy="430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a:solidFill>
                  <a:schemeClr val="lt1"/>
                </a:solidFill>
                <a:latin typeface="Montserrat"/>
                <a:ea typeface="Montserrat"/>
                <a:cs typeface="Montserrat"/>
                <a:sym typeface="Montserrat"/>
              </a:rPr>
              <a:t>CAMARA API </a:t>
            </a:r>
            <a:br>
              <a:rPr lang="en-US" sz="1100">
                <a:solidFill>
                  <a:schemeClr val="lt1"/>
                </a:solidFill>
                <a:latin typeface="Montserrat"/>
                <a:ea typeface="Montserrat"/>
                <a:cs typeface="Montserrat"/>
                <a:sym typeface="Montserrat"/>
              </a:rPr>
            </a:br>
            <a:r>
              <a:rPr lang="en-US" sz="1100">
                <a:solidFill>
                  <a:schemeClr val="lt1"/>
                </a:solidFill>
                <a:latin typeface="Montserrat"/>
                <a:ea typeface="Montserrat"/>
                <a:cs typeface="Montserrat"/>
                <a:sym typeface="Montserrat"/>
              </a:rPr>
              <a:t>definitions</a:t>
            </a:r>
            <a:endParaRPr/>
          </a:p>
        </p:txBody>
      </p:sp>
      <p:sp>
        <p:nvSpPr>
          <p:cNvPr id="484" name="Google Shape;484;p20"/>
          <p:cNvSpPr txBox="1"/>
          <p:nvPr/>
        </p:nvSpPr>
        <p:spPr>
          <a:xfrm>
            <a:off x="9331700" y="1552775"/>
            <a:ext cx="2046900" cy="831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(Operator/Vendor)</a:t>
            </a:r>
            <a:br>
              <a:rPr lang="en-US" sz="1200">
                <a:solidFill>
                  <a:schemeClr val="dk1"/>
                </a:solidFill>
                <a:latin typeface="Montserrat Medium"/>
                <a:ea typeface="Montserrat Medium"/>
                <a:cs typeface="Montserrat Medium"/>
                <a:sym typeface="Montserrat Medium"/>
              </a:rPr>
            </a:br>
            <a:r>
              <a:rPr lang="en-US" sz="1200">
                <a:solidFill>
                  <a:schemeClr val="dk1"/>
                </a:solidFill>
                <a:latin typeface="Montserrat Medium"/>
                <a:ea typeface="Montserrat Medium"/>
                <a:cs typeface="Montserrat Medium"/>
                <a:sym typeface="Montserrat Medium"/>
              </a:rPr>
              <a:t>Lab implementations</a:t>
            </a:r>
            <a:br>
              <a:rPr lang="en-US" sz="1200">
                <a:solidFill>
                  <a:schemeClr val="dk1"/>
                </a:solidFill>
                <a:latin typeface="Montserrat Medium"/>
                <a:ea typeface="Montserrat Medium"/>
                <a:cs typeface="Montserrat Medium"/>
                <a:sym typeface="Montserrat Medium"/>
              </a:rPr>
            </a:br>
            <a:r>
              <a:rPr lang="en-US" sz="1200">
                <a:solidFill>
                  <a:schemeClr val="dk1"/>
                </a:solidFill>
                <a:latin typeface="Montserrat Medium"/>
                <a:ea typeface="Montserrat Medium"/>
                <a:cs typeface="Montserrat Medium"/>
                <a:sym typeface="Montserrat Medium"/>
              </a:rPr>
              <a:t>&amp; tests of release </a:t>
            </a:r>
            <a:br>
              <a:rPr lang="en-US" sz="1200">
                <a:solidFill>
                  <a:schemeClr val="dk1"/>
                </a:solidFill>
                <a:latin typeface="Montserrat Medium"/>
                <a:ea typeface="Montserrat Medium"/>
                <a:cs typeface="Montserrat Medium"/>
                <a:sym typeface="Montserrat Medium"/>
              </a:rPr>
            </a:br>
            <a:r>
              <a:rPr lang="en-US" sz="1200">
                <a:solidFill>
                  <a:schemeClr val="dk1"/>
                </a:solidFill>
                <a:latin typeface="Montserrat Medium"/>
                <a:ea typeface="Montserrat Medium"/>
                <a:cs typeface="Montserrat Medium"/>
                <a:sym typeface="Montserrat Medium"/>
              </a:rPr>
              <a:t>candidates (rc)</a:t>
            </a:r>
            <a:endParaRPr sz="1200">
              <a:latin typeface="Montserrat Medium"/>
              <a:ea typeface="Montserrat Medium"/>
              <a:cs typeface="Montserrat Medium"/>
              <a:sym typeface="Montserrat Medium"/>
            </a:endParaRPr>
          </a:p>
        </p:txBody>
      </p:sp>
      <p:sp>
        <p:nvSpPr>
          <p:cNvPr id="485" name="Google Shape;485;p20"/>
          <p:cNvSpPr txBox="1"/>
          <p:nvPr/>
        </p:nvSpPr>
        <p:spPr>
          <a:xfrm>
            <a:off x="4129536" y="4950050"/>
            <a:ext cx="1917300" cy="831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(Operator/Vendor)</a:t>
            </a:r>
            <a:endParaRPr sz="1200">
              <a:latin typeface="Montserrat Medium"/>
              <a:ea typeface="Montserrat Medium"/>
              <a:cs typeface="Montserrat Medium"/>
              <a:sym typeface="Montserrat Medium"/>
            </a:endParaRPr>
          </a:p>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Lab implementations</a:t>
            </a:r>
            <a:br>
              <a:rPr lang="en-US" sz="1200">
                <a:solidFill>
                  <a:schemeClr val="dk1"/>
                </a:solidFill>
                <a:latin typeface="Montserrat Medium"/>
                <a:ea typeface="Montserrat Medium"/>
                <a:cs typeface="Montserrat Medium"/>
                <a:sym typeface="Montserrat Medium"/>
              </a:rPr>
            </a:br>
            <a:r>
              <a:rPr lang="en-US" sz="1200">
                <a:solidFill>
                  <a:schemeClr val="dk1"/>
                </a:solidFill>
                <a:latin typeface="Montserrat Medium"/>
                <a:ea typeface="Montserrat Medium"/>
                <a:cs typeface="Montserrat Medium"/>
                <a:sym typeface="Montserrat Medium"/>
              </a:rPr>
              <a:t>&amp; tests of release </a:t>
            </a:r>
            <a:br>
              <a:rPr lang="en-US" sz="1200">
                <a:solidFill>
                  <a:schemeClr val="dk1"/>
                </a:solidFill>
                <a:latin typeface="Montserrat Medium"/>
                <a:ea typeface="Montserrat Medium"/>
                <a:cs typeface="Montserrat Medium"/>
                <a:sym typeface="Montserrat Medium"/>
              </a:rPr>
            </a:br>
            <a:r>
              <a:rPr lang="en-US" sz="1200">
                <a:solidFill>
                  <a:schemeClr val="dk1"/>
                </a:solidFill>
                <a:latin typeface="Montserrat Medium"/>
                <a:ea typeface="Montserrat Medium"/>
                <a:cs typeface="Montserrat Medium"/>
                <a:sym typeface="Montserrat Medium"/>
              </a:rPr>
              <a:t>candidates (rc)</a:t>
            </a:r>
            <a:endParaRPr sz="1200">
              <a:latin typeface="Montserrat Medium"/>
              <a:ea typeface="Montserrat Medium"/>
              <a:cs typeface="Montserrat Medium"/>
              <a:sym typeface="Montserrat Medium"/>
            </a:endParaRPr>
          </a:p>
        </p:txBody>
      </p:sp>
      <p:sp>
        <p:nvSpPr>
          <p:cNvPr id="486" name="Google Shape;486;p20"/>
          <p:cNvSpPr txBox="1"/>
          <p:nvPr/>
        </p:nvSpPr>
        <p:spPr>
          <a:xfrm>
            <a:off x="9341725" y="4950050"/>
            <a:ext cx="2046900" cy="12006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Operator production </a:t>
            </a:r>
            <a:br>
              <a:rPr lang="en-US" sz="1200">
                <a:solidFill>
                  <a:schemeClr val="dk1"/>
                </a:solidFill>
                <a:latin typeface="Montserrat Medium"/>
                <a:ea typeface="Montserrat Medium"/>
                <a:cs typeface="Montserrat Medium"/>
                <a:sym typeface="Montserrat Medium"/>
              </a:rPr>
            </a:br>
            <a:r>
              <a:rPr lang="en-US" sz="1200">
                <a:solidFill>
                  <a:schemeClr val="dk1"/>
                </a:solidFill>
                <a:latin typeface="Montserrat Medium"/>
                <a:ea typeface="Montserrat Medium"/>
                <a:cs typeface="Montserrat Medium"/>
                <a:sym typeface="Montserrat Medium"/>
              </a:rPr>
              <a:t>deployments, certifications </a:t>
            </a:r>
            <a:br>
              <a:rPr lang="en-US" sz="1200">
                <a:solidFill>
                  <a:schemeClr val="dk1"/>
                </a:solidFill>
                <a:latin typeface="Montserrat Medium"/>
                <a:ea typeface="Montserrat Medium"/>
                <a:cs typeface="Montserrat Medium"/>
                <a:sym typeface="Montserrat Medium"/>
              </a:rPr>
            </a:br>
            <a:r>
              <a:rPr lang="en-US" sz="1200">
                <a:solidFill>
                  <a:schemeClr val="dk1"/>
                </a:solidFill>
                <a:latin typeface="Montserrat Medium"/>
                <a:ea typeface="Montserrat Medium"/>
                <a:cs typeface="Montserrat Medium"/>
                <a:sym typeface="Montserrat Medium"/>
              </a:rPr>
              <a:t>&amp; channel integrations</a:t>
            </a:r>
            <a:endParaRPr sz="1200">
              <a:latin typeface="Montserrat Medium"/>
              <a:ea typeface="Montserrat Medium"/>
              <a:cs typeface="Montserrat Medium"/>
              <a:sym typeface="Montserrat Medium"/>
            </a:endParaRPr>
          </a:p>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of CAMARA Fall meta-release</a:t>
            </a:r>
            <a:endParaRPr sz="1200">
              <a:solidFill>
                <a:schemeClr val="dk1"/>
              </a:solidFill>
              <a:latin typeface="Montserrat Medium"/>
              <a:ea typeface="Montserrat Medium"/>
              <a:cs typeface="Montserrat Medium"/>
              <a:sym typeface="Montserrat Medium"/>
            </a:endParaRPr>
          </a:p>
        </p:txBody>
      </p:sp>
      <p:sp>
        <p:nvSpPr>
          <p:cNvPr id="487" name="Google Shape;487;p20"/>
          <p:cNvSpPr txBox="1"/>
          <p:nvPr/>
        </p:nvSpPr>
        <p:spPr>
          <a:xfrm>
            <a:off x="3851279" y="1560889"/>
            <a:ext cx="2473800" cy="1015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Operator production </a:t>
            </a:r>
            <a:br>
              <a:rPr lang="en-US" sz="1200">
                <a:solidFill>
                  <a:schemeClr val="dk1"/>
                </a:solidFill>
                <a:latin typeface="Montserrat Medium"/>
                <a:ea typeface="Montserrat Medium"/>
                <a:cs typeface="Montserrat Medium"/>
                <a:sym typeface="Montserrat Medium"/>
              </a:rPr>
            </a:br>
            <a:r>
              <a:rPr lang="en-US" sz="1200">
                <a:solidFill>
                  <a:schemeClr val="dk1"/>
                </a:solidFill>
                <a:latin typeface="Montserrat Medium"/>
                <a:ea typeface="Montserrat Medium"/>
                <a:cs typeface="Montserrat Medium"/>
                <a:sym typeface="Montserrat Medium"/>
              </a:rPr>
              <a:t>deployments, certifications </a:t>
            </a:r>
            <a:br>
              <a:rPr lang="en-US" sz="1200">
                <a:solidFill>
                  <a:schemeClr val="dk1"/>
                </a:solidFill>
                <a:latin typeface="Montserrat Medium"/>
                <a:ea typeface="Montserrat Medium"/>
                <a:cs typeface="Montserrat Medium"/>
                <a:sym typeface="Montserrat Medium"/>
              </a:rPr>
            </a:br>
            <a:r>
              <a:rPr lang="en-US" sz="1200">
                <a:solidFill>
                  <a:schemeClr val="dk1"/>
                </a:solidFill>
                <a:latin typeface="Montserrat Medium"/>
                <a:ea typeface="Montserrat Medium"/>
                <a:cs typeface="Montserrat Medium"/>
                <a:sym typeface="Montserrat Medium"/>
              </a:rPr>
              <a:t>&amp; channel integrations</a:t>
            </a:r>
            <a:endParaRPr sz="1200">
              <a:latin typeface="Montserrat Medium"/>
              <a:ea typeface="Montserrat Medium"/>
              <a:cs typeface="Montserrat Medium"/>
              <a:sym typeface="Montserrat Medium"/>
            </a:endParaRPr>
          </a:p>
          <a:p>
            <a:pPr marL="0" marR="0" lvl="0" indent="0" algn="ctr" rtl="0">
              <a:spcBef>
                <a:spcPts val="0"/>
              </a:spcBef>
              <a:spcAft>
                <a:spcPts val="0"/>
              </a:spcAft>
              <a:buNone/>
            </a:pPr>
            <a:r>
              <a:rPr lang="en-US" sz="1200">
                <a:solidFill>
                  <a:schemeClr val="dk1"/>
                </a:solidFill>
                <a:latin typeface="Montserrat Medium"/>
                <a:ea typeface="Montserrat Medium"/>
                <a:cs typeface="Montserrat Medium"/>
                <a:sym typeface="Montserrat Medium"/>
              </a:rPr>
              <a:t>of CAMARA Spring meta-release</a:t>
            </a:r>
            <a:endParaRPr sz="1200">
              <a:solidFill>
                <a:schemeClr val="dk1"/>
              </a:solidFill>
              <a:latin typeface="Montserrat Medium"/>
              <a:ea typeface="Montserrat Medium"/>
              <a:cs typeface="Montserrat Medium"/>
              <a:sym typeface="Montserrat Medium"/>
            </a:endParaRPr>
          </a:p>
        </p:txBody>
      </p:sp>
      <p:sp>
        <p:nvSpPr>
          <p:cNvPr id="488" name="Google Shape;488;p20"/>
          <p:cNvSpPr txBox="1">
            <a:spLocks noGrp="1"/>
          </p:cNvSpPr>
          <p:nvPr>
            <p:ph type="body" idx="1"/>
          </p:nvPr>
        </p:nvSpPr>
        <p:spPr>
          <a:xfrm>
            <a:off x="563800" y="1804650"/>
            <a:ext cx="3422400" cy="4245300"/>
          </a:xfrm>
          <a:prstGeom prst="rect">
            <a:avLst/>
          </a:prstGeom>
          <a:noFill/>
          <a:ln>
            <a:noFill/>
          </a:ln>
        </p:spPr>
        <p:txBody>
          <a:bodyPr spcFirstLastPara="1" wrap="square" lIns="0" tIns="0" rIns="0" bIns="0" anchor="t" anchorCtr="0">
            <a:noAutofit/>
          </a:bodyPr>
          <a:lstStyle/>
          <a:p>
            <a:pPr marL="285750" lvl="0" indent="-285750" algn="l" rtl="0">
              <a:lnSpc>
                <a:spcPct val="104000"/>
              </a:lnSpc>
              <a:spcBef>
                <a:spcPts val="0"/>
              </a:spcBef>
              <a:spcAft>
                <a:spcPts val="0"/>
              </a:spcAft>
              <a:buClr>
                <a:srgbClr val="3A9BF3"/>
              </a:buClr>
              <a:buSzPts val="1200"/>
              <a:buFont typeface="Montserrat"/>
              <a:buChar char="•"/>
            </a:pPr>
            <a:r>
              <a:rPr lang="en-US" sz="1200" dirty="0">
                <a:latin typeface="Montserrat"/>
                <a:ea typeface="Montserrat"/>
                <a:cs typeface="Montserrat"/>
                <a:sym typeface="Montserrat"/>
              </a:rPr>
              <a:t>2 meta-releases per year</a:t>
            </a:r>
            <a:endParaRPr sz="1200" dirty="0"/>
          </a:p>
          <a:p>
            <a:pPr marL="465750" lvl="1" indent="-313055" algn="l" rtl="0">
              <a:lnSpc>
                <a:spcPct val="104000"/>
              </a:lnSpc>
              <a:spcBef>
                <a:spcPts val="300"/>
              </a:spcBef>
              <a:spcAft>
                <a:spcPts val="0"/>
              </a:spcAft>
              <a:buClr>
                <a:schemeClr val="dk2"/>
              </a:buClr>
              <a:buSzPts val="1200"/>
              <a:buFont typeface="Montserrat"/>
              <a:buChar char="•"/>
            </a:pPr>
            <a:r>
              <a:rPr lang="en-US" sz="1200" dirty="0">
                <a:latin typeface="Montserrat"/>
                <a:ea typeface="Montserrat"/>
                <a:cs typeface="Montserrat"/>
                <a:sym typeface="Montserrat"/>
              </a:rPr>
              <a:t>Fall (in September)</a:t>
            </a:r>
            <a:endParaRPr sz="1200" dirty="0"/>
          </a:p>
          <a:p>
            <a:pPr marL="465750" lvl="1" indent="-313055" algn="l" rtl="0">
              <a:lnSpc>
                <a:spcPct val="104000"/>
              </a:lnSpc>
              <a:spcBef>
                <a:spcPts val="300"/>
              </a:spcBef>
              <a:spcAft>
                <a:spcPts val="0"/>
              </a:spcAft>
              <a:buClr>
                <a:schemeClr val="dk2"/>
              </a:buClr>
              <a:buSzPts val="1200"/>
              <a:buFont typeface="Montserrat"/>
              <a:buChar char="•"/>
            </a:pPr>
            <a:r>
              <a:rPr lang="en-US" sz="1200" dirty="0">
                <a:latin typeface="Montserrat"/>
                <a:ea typeface="Montserrat"/>
                <a:cs typeface="Montserrat"/>
                <a:sym typeface="Montserrat"/>
              </a:rPr>
              <a:t>Spring (in March)</a:t>
            </a:r>
            <a:endParaRPr sz="1200" dirty="0"/>
          </a:p>
          <a:p>
            <a:pPr marL="285750" lvl="0" indent="-285750" algn="l" rtl="0">
              <a:lnSpc>
                <a:spcPct val="104000"/>
              </a:lnSpc>
              <a:spcBef>
                <a:spcPts val="1200"/>
              </a:spcBef>
              <a:spcAft>
                <a:spcPts val="0"/>
              </a:spcAft>
              <a:buClr>
                <a:srgbClr val="3A9BF3"/>
              </a:buClr>
              <a:buSzPts val="1200"/>
              <a:buFont typeface="Montserrat"/>
              <a:buChar char="•"/>
            </a:pPr>
            <a:r>
              <a:rPr lang="en-US" sz="1200" dirty="0">
                <a:latin typeface="Montserrat"/>
                <a:ea typeface="Montserrat"/>
                <a:cs typeface="Montserrat"/>
                <a:sym typeface="Montserrat"/>
              </a:rPr>
              <a:t>Continuous and overlapping cycles</a:t>
            </a:r>
            <a:endParaRPr sz="1200" dirty="0"/>
          </a:p>
          <a:p>
            <a:pPr marL="465750" lvl="1" indent="-313055" algn="l" rtl="0">
              <a:lnSpc>
                <a:spcPct val="104000"/>
              </a:lnSpc>
              <a:spcBef>
                <a:spcPts val="300"/>
              </a:spcBef>
              <a:spcAft>
                <a:spcPts val="0"/>
              </a:spcAft>
              <a:buClr>
                <a:schemeClr val="dk2"/>
              </a:buClr>
              <a:buSzPts val="1200"/>
              <a:buFont typeface="Montserrat"/>
              <a:buChar char="•"/>
            </a:pPr>
            <a:r>
              <a:rPr lang="en-US" sz="1200" dirty="0">
                <a:latin typeface="Montserrat"/>
                <a:ea typeface="Montserrat"/>
                <a:cs typeface="Montserrat"/>
                <a:sym typeface="Montserrat"/>
              </a:rPr>
              <a:t>Update of CAMARA guidelines</a:t>
            </a:r>
            <a:endParaRPr sz="1200" dirty="0"/>
          </a:p>
          <a:p>
            <a:pPr marL="465750" lvl="1" indent="-313055" algn="l" rtl="0">
              <a:lnSpc>
                <a:spcPct val="104000"/>
              </a:lnSpc>
              <a:spcBef>
                <a:spcPts val="300"/>
              </a:spcBef>
              <a:spcAft>
                <a:spcPts val="0"/>
              </a:spcAft>
              <a:buClr>
                <a:schemeClr val="dk2"/>
              </a:buClr>
              <a:buSzPts val="1200"/>
              <a:buFont typeface="Montserrat"/>
              <a:buChar char="•"/>
            </a:pPr>
            <a:r>
              <a:rPr lang="en-US" sz="1200" dirty="0">
                <a:latin typeface="Montserrat"/>
                <a:ea typeface="Montserrat"/>
                <a:cs typeface="Montserrat"/>
                <a:sym typeface="Montserrat"/>
              </a:rPr>
              <a:t>Development and updates of API definitions in CAMARA</a:t>
            </a:r>
            <a:endParaRPr sz="1200" dirty="0"/>
          </a:p>
          <a:p>
            <a:pPr marL="465750" lvl="1" indent="-313055" algn="l" rtl="0">
              <a:lnSpc>
                <a:spcPct val="104000"/>
              </a:lnSpc>
              <a:spcBef>
                <a:spcPts val="300"/>
              </a:spcBef>
              <a:spcAft>
                <a:spcPts val="0"/>
              </a:spcAft>
              <a:buClr>
                <a:schemeClr val="dk2"/>
              </a:buClr>
              <a:buSzPts val="1200"/>
              <a:buFont typeface="Montserrat"/>
              <a:buChar char="•"/>
            </a:pPr>
            <a:r>
              <a:rPr lang="en-US" sz="1200" dirty="0">
                <a:latin typeface="Montserrat"/>
                <a:ea typeface="Montserrat"/>
                <a:cs typeface="Montserrat"/>
                <a:sym typeface="Montserrat"/>
              </a:rPr>
              <a:t>Lab implementations and production deployments at network operators</a:t>
            </a:r>
            <a:endParaRPr sz="1200" dirty="0"/>
          </a:p>
          <a:p>
            <a:pPr marL="285750" lvl="0" indent="-285750" algn="l" rtl="0">
              <a:lnSpc>
                <a:spcPct val="104000"/>
              </a:lnSpc>
              <a:spcBef>
                <a:spcPts val="1200"/>
              </a:spcBef>
              <a:spcAft>
                <a:spcPts val="0"/>
              </a:spcAft>
              <a:buClr>
                <a:srgbClr val="3A9BF3"/>
              </a:buClr>
              <a:buSzPts val="1200"/>
              <a:buFont typeface="Montserrat"/>
              <a:buChar char="•"/>
            </a:pPr>
            <a:r>
              <a:rPr lang="en-US" sz="1200" dirty="0">
                <a:latin typeface="Montserrat"/>
                <a:ea typeface="Montserrat"/>
                <a:cs typeface="Montserrat"/>
                <a:sym typeface="Montserrat"/>
              </a:rPr>
              <a:t>Tests of API release candidates</a:t>
            </a:r>
            <a:endParaRPr sz="1200" dirty="0"/>
          </a:p>
          <a:p>
            <a:pPr marL="465750" lvl="1" indent="-313055" algn="l" rtl="0">
              <a:lnSpc>
                <a:spcPct val="104000"/>
              </a:lnSpc>
              <a:spcBef>
                <a:spcPts val="300"/>
              </a:spcBef>
              <a:spcAft>
                <a:spcPts val="0"/>
              </a:spcAft>
              <a:buClr>
                <a:schemeClr val="dk2"/>
              </a:buClr>
              <a:buSzPts val="1200"/>
              <a:buFont typeface="Montserrat"/>
              <a:buChar char="•"/>
            </a:pPr>
            <a:r>
              <a:rPr lang="en-US" sz="1200" dirty="0">
                <a:latin typeface="Montserrat"/>
                <a:ea typeface="Montserrat"/>
                <a:cs typeface="Montserrat"/>
                <a:sym typeface="Montserrat"/>
              </a:rPr>
              <a:t>In operator (lab) implementations</a:t>
            </a:r>
            <a:endParaRPr sz="1200" dirty="0"/>
          </a:p>
          <a:p>
            <a:pPr marL="465750" lvl="1" indent="-313055" algn="l" rtl="0">
              <a:lnSpc>
                <a:spcPct val="104000"/>
              </a:lnSpc>
              <a:spcBef>
                <a:spcPts val="300"/>
              </a:spcBef>
              <a:spcAft>
                <a:spcPts val="0"/>
              </a:spcAft>
              <a:buClr>
                <a:schemeClr val="dk2"/>
              </a:buClr>
              <a:buSzPts val="1200"/>
              <a:buFont typeface="Montserrat"/>
              <a:buChar char="•"/>
            </a:pPr>
            <a:r>
              <a:rPr lang="en-US" sz="1200" dirty="0">
                <a:latin typeface="Montserrat"/>
                <a:ea typeface="Montserrat"/>
                <a:cs typeface="Montserrat"/>
                <a:sym typeface="Montserrat"/>
              </a:rPr>
              <a:t>Based on CAMARA test definitions</a:t>
            </a:r>
            <a:endParaRPr sz="1200" dirty="0"/>
          </a:p>
          <a:p>
            <a:pPr marL="285750" lvl="0" indent="-285750" algn="l" rtl="0">
              <a:lnSpc>
                <a:spcPct val="104000"/>
              </a:lnSpc>
              <a:spcBef>
                <a:spcPts val="1200"/>
              </a:spcBef>
              <a:spcAft>
                <a:spcPts val="0"/>
              </a:spcAft>
              <a:buClr>
                <a:srgbClr val="3A9BF3"/>
              </a:buClr>
              <a:buSzPts val="1200"/>
              <a:buFont typeface="Montserrat"/>
              <a:buChar char="•"/>
            </a:pPr>
            <a:r>
              <a:rPr lang="en-US" sz="1200" dirty="0">
                <a:latin typeface="Montserrat"/>
                <a:ea typeface="Montserrat"/>
                <a:cs typeface="Montserrat"/>
                <a:sym typeface="Montserrat"/>
              </a:rPr>
              <a:t>Feedback in all phases</a:t>
            </a:r>
            <a:endParaRPr sz="1200" dirty="0"/>
          </a:p>
          <a:p>
            <a:pPr marL="465750" lvl="1" indent="-313055" algn="l" rtl="0">
              <a:lnSpc>
                <a:spcPct val="104000"/>
              </a:lnSpc>
              <a:spcBef>
                <a:spcPts val="300"/>
              </a:spcBef>
              <a:spcAft>
                <a:spcPts val="0"/>
              </a:spcAft>
              <a:buClr>
                <a:schemeClr val="dk2"/>
              </a:buClr>
              <a:buSzPts val="1200"/>
              <a:buFont typeface="Montserrat"/>
              <a:buChar char="•"/>
            </a:pPr>
            <a:r>
              <a:rPr lang="en-US" sz="1200" dirty="0">
                <a:latin typeface="Montserrat"/>
                <a:ea typeface="Montserrat"/>
                <a:cs typeface="Montserrat"/>
                <a:sym typeface="Montserrat"/>
              </a:rPr>
              <a:t>From (lab) implementations and  deployments to CAMARA API definitions and guidelines</a:t>
            </a:r>
            <a:endParaRPr sz="1200" dirty="0"/>
          </a:p>
          <a:p>
            <a:pPr marL="465750" lvl="1" indent="-313055" algn="l" rtl="0">
              <a:lnSpc>
                <a:spcPct val="104000"/>
              </a:lnSpc>
              <a:spcBef>
                <a:spcPts val="300"/>
              </a:spcBef>
              <a:spcAft>
                <a:spcPts val="0"/>
              </a:spcAft>
              <a:buClr>
                <a:schemeClr val="dk2"/>
              </a:buClr>
              <a:buSzPts val="1200"/>
              <a:buFont typeface="Montserrat"/>
              <a:buChar char="•"/>
            </a:pPr>
            <a:r>
              <a:rPr lang="en-US" sz="1200" dirty="0">
                <a:latin typeface="Montserrat"/>
                <a:ea typeface="Montserrat"/>
                <a:cs typeface="Montserrat"/>
                <a:sym typeface="Montserrat"/>
              </a:rPr>
              <a:t>From API definition work to </a:t>
            </a:r>
            <a:br>
              <a:rPr lang="en-US" sz="1200" dirty="0">
                <a:latin typeface="Montserrat"/>
                <a:ea typeface="Montserrat"/>
                <a:cs typeface="Montserrat"/>
                <a:sym typeface="Montserrat"/>
              </a:rPr>
            </a:br>
            <a:r>
              <a:rPr lang="en-US" sz="1200" dirty="0">
                <a:latin typeface="Montserrat"/>
                <a:ea typeface="Montserrat"/>
                <a:cs typeface="Montserrat"/>
                <a:sym typeface="Montserrat"/>
              </a:rPr>
              <a:t>CAMARA guidelines</a:t>
            </a:r>
            <a:endParaRPr sz="1200" dirty="0"/>
          </a:p>
        </p:txBody>
      </p:sp>
      <p:sp>
        <p:nvSpPr>
          <p:cNvPr id="489" name="Google Shape;489;p20"/>
          <p:cNvSpPr txBox="1"/>
          <p:nvPr/>
        </p:nvSpPr>
        <p:spPr>
          <a:xfrm>
            <a:off x="1526532" y="6093614"/>
            <a:ext cx="8469000" cy="276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chemeClr val="dk2"/>
                </a:solidFill>
                <a:latin typeface="Montserrat Medium"/>
                <a:ea typeface="Montserrat Medium"/>
                <a:cs typeface="Montserrat Medium"/>
                <a:sym typeface="Montserrat Medium"/>
              </a:rPr>
              <a:t>For details see:</a:t>
            </a:r>
            <a:r>
              <a:rPr lang="en-US" sz="1200" b="1">
                <a:solidFill>
                  <a:srgbClr val="3A9BF3"/>
                </a:solidFill>
                <a:latin typeface="Montserrat"/>
                <a:ea typeface="Montserrat"/>
                <a:cs typeface="Montserrat"/>
                <a:sym typeface="Montserrat"/>
              </a:rPr>
              <a:t> </a:t>
            </a:r>
            <a:r>
              <a:rPr lang="en-US" sz="1200" u="sng">
                <a:solidFill>
                  <a:srgbClr val="3A9BF3"/>
                </a:solidFill>
                <a:latin typeface="Montserrat Medium"/>
                <a:ea typeface="Montserrat Medium"/>
                <a:cs typeface="Montserrat Medium"/>
                <a:sym typeface="Montserrat Medium"/>
              </a:rPr>
              <a:t>https://wiki.camaraproject.org/display/CAM/Meta-release+Process</a:t>
            </a:r>
            <a:endParaRPr sz="1200" u="sng">
              <a:solidFill>
                <a:srgbClr val="3A9BF3"/>
              </a:solidFill>
              <a:latin typeface="Montserrat Medium"/>
              <a:ea typeface="Montserrat Medium"/>
              <a:cs typeface="Montserrat Medium"/>
              <a:sym typeface="Montserrat Medium"/>
            </a:endParaRPr>
          </a:p>
        </p:txBody>
      </p:sp>
      <p:sp>
        <p:nvSpPr>
          <p:cNvPr id="490" name="Google Shape;490;p20"/>
          <p:cNvSpPr txBox="1"/>
          <p:nvPr/>
        </p:nvSpPr>
        <p:spPr>
          <a:xfrm>
            <a:off x="6857701" y="2597200"/>
            <a:ext cx="405900" cy="169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00">
                <a:solidFill>
                  <a:schemeClr val="dk2"/>
                </a:solidFill>
                <a:latin typeface="Montserrat Medium"/>
                <a:ea typeface="Montserrat Medium"/>
                <a:cs typeface="Montserrat Medium"/>
                <a:sym typeface="Montserrat Medium"/>
              </a:rPr>
              <a:t>Alpha</a:t>
            </a:r>
            <a:endParaRPr sz="500">
              <a:solidFill>
                <a:schemeClr val="dk2"/>
              </a:solidFill>
              <a:latin typeface="Montserrat Medium"/>
              <a:ea typeface="Montserrat Medium"/>
              <a:cs typeface="Montserrat Medium"/>
              <a:sym typeface="Montserrat Medium"/>
            </a:endParaRPr>
          </a:p>
        </p:txBody>
      </p:sp>
      <p:sp>
        <p:nvSpPr>
          <p:cNvPr id="491" name="Google Shape;491;p20"/>
          <p:cNvSpPr txBox="1"/>
          <p:nvPr/>
        </p:nvSpPr>
        <p:spPr>
          <a:xfrm>
            <a:off x="7454501" y="3076525"/>
            <a:ext cx="405900" cy="169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00">
                <a:solidFill>
                  <a:schemeClr val="dk2"/>
                </a:solidFill>
                <a:latin typeface="Montserrat"/>
                <a:ea typeface="Montserrat"/>
                <a:cs typeface="Montserrat"/>
                <a:sym typeface="Montserrat"/>
              </a:rPr>
              <a:t>RC</a:t>
            </a:r>
            <a:endParaRPr sz="500">
              <a:solidFill>
                <a:schemeClr val="dk2"/>
              </a:solidFill>
            </a:endParaRPr>
          </a:p>
        </p:txBody>
      </p:sp>
      <p:sp>
        <p:nvSpPr>
          <p:cNvPr id="492" name="Google Shape;492;p20"/>
          <p:cNvSpPr txBox="1"/>
          <p:nvPr/>
        </p:nvSpPr>
        <p:spPr>
          <a:xfrm>
            <a:off x="7619401" y="4213350"/>
            <a:ext cx="405900" cy="169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00">
                <a:solidFill>
                  <a:schemeClr val="dk2"/>
                </a:solidFill>
                <a:latin typeface="Montserrat"/>
                <a:ea typeface="Montserrat"/>
                <a:cs typeface="Montserrat"/>
                <a:sym typeface="Montserrat"/>
              </a:rPr>
              <a:t>RC</a:t>
            </a:r>
            <a:endParaRPr sz="500">
              <a:solidFill>
                <a:schemeClr val="dk2"/>
              </a:solidFill>
            </a:endParaRPr>
          </a:p>
        </p:txBody>
      </p:sp>
      <p:sp>
        <p:nvSpPr>
          <p:cNvPr id="493" name="Google Shape;493;p20"/>
          <p:cNvSpPr txBox="1"/>
          <p:nvPr/>
        </p:nvSpPr>
        <p:spPr>
          <a:xfrm>
            <a:off x="8188351" y="2604175"/>
            <a:ext cx="405900" cy="169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00">
                <a:solidFill>
                  <a:schemeClr val="dk1"/>
                </a:solidFill>
                <a:latin typeface="Montserrat Medium"/>
                <a:ea typeface="Montserrat Medium"/>
                <a:cs typeface="Montserrat Medium"/>
                <a:sym typeface="Montserrat Medium"/>
              </a:rPr>
              <a:t>RC</a:t>
            </a:r>
            <a:endParaRPr sz="500">
              <a:latin typeface="Montserrat Medium"/>
              <a:ea typeface="Montserrat Medium"/>
              <a:cs typeface="Montserrat Medium"/>
              <a:sym typeface="Montserrat Medium"/>
            </a:endParaRPr>
          </a:p>
        </p:txBody>
      </p:sp>
      <p:sp>
        <p:nvSpPr>
          <p:cNvPr id="494" name="Google Shape;494;p20"/>
          <p:cNvSpPr txBox="1"/>
          <p:nvPr/>
        </p:nvSpPr>
        <p:spPr>
          <a:xfrm>
            <a:off x="8593925" y="3481913"/>
            <a:ext cx="6771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
                <a:solidFill>
                  <a:srgbClr val="3A9BF3"/>
                </a:solidFill>
                <a:latin typeface="Montserrat Medium"/>
                <a:ea typeface="Montserrat Medium"/>
                <a:cs typeface="Montserrat Medium"/>
                <a:sym typeface="Montserrat Medium"/>
              </a:rPr>
              <a:t>Fall Meta-</a:t>
            </a:r>
            <a:endParaRPr sz="800">
              <a:solidFill>
                <a:srgbClr val="3A9BF3"/>
              </a:solidFill>
              <a:latin typeface="Montserrat Medium"/>
              <a:ea typeface="Montserrat Medium"/>
              <a:cs typeface="Montserrat Medium"/>
              <a:sym typeface="Montserrat Medium"/>
            </a:endParaRPr>
          </a:p>
          <a:p>
            <a:pPr marL="0" marR="0" lvl="0" indent="0" algn="ctr" rtl="0">
              <a:spcBef>
                <a:spcPts val="0"/>
              </a:spcBef>
              <a:spcAft>
                <a:spcPts val="0"/>
              </a:spcAft>
              <a:buNone/>
            </a:pPr>
            <a:r>
              <a:rPr lang="en-US" sz="800">
                <a:solidFill>
                  <a:srgbClr val="3A9BF3"/>
                </a:solidFill>
                <a:latin typeface="Montserrat Medium"/>
                <a:ea typeface="Montserrat Medium"/>
                <a:cs typeface="Montserrat Medium"/>
                <a:sym typeface="Montserrat Medium"/>
              </a:rPr>
              <a:t>release</a:t>
            </a:r>
            <a:endParaRPr sz="800">
              <a:solidFill>
                <a:srgbClr val="3A9BF3"/>
              </a:solidFill>
              <a:latin typeface="Montserrat Medium"/>
              <a:ea typeface="Montserrat Medium"/>
              <a:cs typeface="Montserrat Medium"/>
              <a:sym typeface="Montserrat Medium"/>
            </a:endParaRPr>
          </a:p>
        </p:txBody>
      </p:sp>
      <p:sp>
        <p:nvSpPr>
          <p:cNvPr id="495" name="Google Shape;495;p20"/>
          <p:cNvSpPr txBox="1"/>
          <p:nvPr/>
        </p:nvSpPr>
        <p:spPr>
          <a:xfrm>
            <a:off x="6128962" y="3481913"/>
            <a:ext cx="6771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
                <a:solidFill>
                  <a:srgbClr val="3A9BF3"/>
                </a:solidFill>
                <a:latin typeface="Montserrat Medium"/>
                <a:ea typeface="Montserrat Medium"/>
                <a:cs typeface="Montserrat Medium"/>
                <a:sym typeface="Montserrat Medium"/>
              </a:rPr>
              <a:t>Spring Meta-</a:t>
            </a:r>
            <a:endParaRPr sz="800">
              <a:solidFill>
                <a:srgbClr val="3A9BF3"/>
              </a:solidFill>
              <a:latin typeface="Montserrat Medium"/>
              <a:ea typeface="Montserrat Medium"/>
              <a:cs typeface="Montserrat Medium"/>
              <a:sym typeface="Montserrat Medium"/>
            </a:endParaRPr>
          </a:p>
          <a:p>
            <a:pPr marL="0" marR="0" lvl="0" indent="0" algn="ctr" rtl="0">
              <a:spcBef>
                <a:spcPts val="0"/>
              </a:spcBef>
              <a:spcAft>
                <a:spcPts val="0"/>
              </a:spcAft>
              <a:buNone/>
            </a:pPr>
            <a:r>
              <a:rPr lang="en-US" sz="800">
                <a:solidFill>
                  <a:srgbClr val="3A9BF3"/>
                </a:solidFill>
                <a:latin typeface="Montserrat Medium"/>
                <a:ea typeface="Montserrat Medium"/>
                <a:cs typeface="Montserrat Medium"/>
                <a:sym typeface="Montserrat Medium"/>
              </a:rPr>
              <a:t>release</a:t>
            </a:r>
            <a:endParaRPr sz="800">
              <a:solidFill>
                <a:srgbClr val="3A9BF3"/>
              </a:solidFill>
              <a:latin typeface="Montserrat Medium"/>
              <a:ea typeface="Montserrat Medium"/>
              <a:cs typeface="Montserrat Medium"/>
              <a:sym typeface="Montserrat Medium"/>
            </a:endParaRPr>
          </a:p>
        </p:txBody>
      </p:sp>
      <p:sp>
        <p:nvSpPr>
          <p:cNvPr id="496" name="Google Shape;496;p20"/>
          <p:cNvSpPr/>
          <p:nvPr/>
        </p:nvSpPr>
        <p:spPr>
          <a:xfrm>
            <a:off x="6908232" y="4624845"/>
            <a:ext cx="304800" cy="304800"/>
          </a:xfrm>
          <a:prstGeom prst="ellipse">
            <a:avLst/>
          </a:prstGeom>
          <a:solidFill>
            <a:srgbClr val="D0D0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00"/>
          </a:p>
        </p:txBody>
      </p:sp>
      <p:sp>
        <p:nvSpPr>
          <p:cNvPr id="497" name="Google Shape;497;p20"/>
          <p:cNvSpPr/>
          <p:nvPr/>
        </p:nvSpPr>
        <p:spPr>
          <a:xfrm>
            <a:off x="8238881" y="4624857"/>
            <a:ext cx="304800" cy="304800"/>
          </a:xfrm>
          <a:prstGeom prst="ellipse">
            <a:avLst/>
          </a:prstGeom>
          <a:solidFill>
            <a:srgbClr val="D0D0D0"/>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endParaRPr/>
          </a:p>
        </p:txBody>
      </p:sp>
      <p:sp>
        <p:nvSpPr>
          <p:cNvPr id="498" name="Google Shape;498;p20"/>
          <p:cNvSpPr txBox="1"/>
          <p:nvPr/>
        </p:nvSpPr>
        <p:spPr>
          <a:xfrm>
            <a:off x="6857689" y="4692650"/>
            <a:ext cx="405900" cy="169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00">
                <a:solidFill>
                  <a:schemeClr val="dk2"/>
                </a:solidFill>
                <a:latin typeface="Montserrat Medium"/>
                <a:ea typeface="Montserrat Medium"/>
                <a:cs typeface="Montserrat Medium"/>
                <a:sym typeface="Montserrat Medium"/>
              </a:rPr>
              <a:t>RC</a:t>
            </a:r>
            <a:endParaRPr sz="500">
              <a:solidFill>
                <a:schemeClr val="dk2"/>
              </a:solidFill>
              <a:latin typeface="Montserrat Medium"/>
              <a:ea typeface="Montserrat Medium"/>
              <a:cs typeface="Montserrat Medium"/>
              <a:sym typeface="Montserrat Medium"/>
            </a:endParaRPr>
          </a:p>
        </p:txBody>
      </p:sp>
      <p:sp>
        <p:nvSpPr>
          <p:cNvPr id="499" name="Google Shape;499;p20"/>
          <p:cNvSpPr txBox="1"/>
          <p:nvPr/>
        </p:nvSpPr>
        <p:spPr>
          <a:xfrm>
            <a:off x="8188339" y="4692650"/>
            <a:ext cx="405900" cy="169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00">
                <a:solidFill>
                  <a:schemeClr val="dk1"/>
                </a:solidFill>
                <a:latin typeface="Montserrat Medium"/>
                <a:ea typeface="Montserrat Medium"/>
                <a:cs typeface="Montserrat Medium"/>
                <a:sym typeface="Montserrat Medium"/>
              </a:rPr>
              <a:t>Alpha</a:t>
            </a:r>
            <a:endParaRPr sz="500">
              <a:latin typeface="Montserrat Medium"/>
              <a:ea typeface="Montserrat Medium"/>
              <a:cs typeface="Montserrat Medium"/>
              <a:sym typeface="Montserrat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xmlns="" id="{8BABC550-5CF1-8215-5CB4-D3E6F4153BBE}"/>
            </a:ext>
          </a:extLst>
        </p:cNvPr>
        <p:cNvGrpSpPr/>
        <p:nvPr/>
      </p:nvGrpSpPr>
      <p:grpSpPr>
        <a:xfrm>
          <a:off x="0" y="0"/>
          <a:ext cx="0" cy="0"/>
          <a:chOff x="0" y="0"/>
          <a:chExt cx="0" cy="0"/>
        </a:xfrm>
      </p:grpSpPr>
      <p:sp>
        <p:nvSpPr>
          <p:cNvPr id="6" name="Google Shape;235;p20">
            <a:extLst>
              <a:ext uri="{FF2B5EF4-FFF2-40B4-BE49-F238E27FC236}">
                <a16:creationId xmlns:a16="http://schemas.microsoft.com/office/drawing/2014/main" xmlns="" id="{B6F7144C-6D7C-D563-F722-976ABB1C841C}"/>
              </a:ext>
            </a:extLst>
          </p:cNvPr>
          <p:cNvSpPr/>
          <p:nvPr/>
        </p:nvSpPr>
        <p:spPr>
          <a:xfrm>
            <a:off x="4268783" y="1241524"/>
            <a:ext cx="6176880" cy="2672823"/>
          </a:xfrm>
          <a:prstGeom prst="roundRect">
            <a:avLst>
              <a:gd name="adj" fmla="val 5074"/>
            </a:avLst>
          </a:prstGeom>
          <a:solidFill>
            <a:schemeClr val="bg1"/>
          </a:solidFill>
          <a:ln w="12700" cap="flat" cmpd="sng">
            <a:solidFill>
              <a:schemeClr val="dk2"/>
            </a:solidFill>
            <a:prstDash val="solid"/>
            <a:miter lim="800000"/>
            <a:headEnd type="none" w="sm" len="sm"/>
            <a:tailEnd type="none" w="sm" len="sm"/>
          </a:ln>
        </p:spPr>
        <p:txBody>
          <a:bodyPr spcFirstLastPara="1" wrap="square" lIns="72000" tIns="0" rIns="72000" bIns="720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Montserrat Light"/>
              <a:buNone/>
              <a:tabLst/>
              <a:defRPr/>
            </a:pPr>
            <a:endParaRPr kumimoji="0" lang="en-US" sz="1400" b="0" i="0" u="none" strike="noStrike" kern="0" cap="none" spc="0" normalizeH="0" baseline="30000" dirty="0">
              <a:ln>
                <a:noFill/>
              </a:ln>
              <a:solidFill>
                <a:srgbClr val="000000"/>
              </a:solidFill>
              <a:effectLst/>
              <a:uLnTx/>
              <a:uFillTx/>
              <a:latin typeface="Montserrat Light" panose="00000400000000000000" pitchFamily="2" charset="0"/>
              <a:cs typeface="Montserrat Light"/>
              <a:sym typeface="Montserrat Light"/>
            </a:endParaRPr>
          </a:p>
        </p:txBody>
      </p:sp>
      <p:sp>
        <p:nvSpPr>
          <p:cNvPr id="160" name="Google Shape;160;p3">
            <a:extLst>
              <a:ext uri="{FF2B5EF4-FFF2-40B4-BE49-F238E27FC236}">
                <a16:creationId xmlns:a16="http://schemas.microsoft.com/office/drawing/2014/main" xmlns="" id="{405064E7-4678-6101-F3E3-5EC66FE595CE}"/>
              </a:ext>
            </a:extLst>
          </p:cNvPr>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lvl="0"/>
            <a:r>
              <a:rPr lang="en-US" dirty="0"/>
              <a:t>CAMARA Fall 25 meta-release</a:t>
            </a:r>
            <a:br>
              <a:rPr lang="en-US" dirty="0"/>
            </a:br>
            <a:r>
              <a:rPr lang="en-US" dirty="0"/>
              <a:t>60 #total CAMARA APIs</a:t>
            </a:r>
            <a:endParaRPr dirty="0"/>
          </a:p>
        </p:txBody>
      </p:sp>
      <p:sp>
        <p:nvSpPr>
          <p:cNvPr id="2" name="TextBox 3">
            <a:extLst>
              <a:ext uri="{FF2B5EF4-FFF2-40B4-BE49-F238E27FC236}">
                <a16:creationId xmlns:a16="http://schemas.microsoft.com/office/drawing/2014/main" xmlns="" id="{F8CEA50C-21A6-7D7A-7CD9-39A7AB3D7E18}"/>
              </a:ext>
            </a:extLst>
          </p:cNvPr>
          <p:cNvSpPr txBox="1"/>
          <p:nvPr/>
        </p:nvSpPr>
        <p:spPr>
          <a:xfrm>
            <a:off x="861676" y="1544513"/>
            <a:ext cx="2975175" cy="2185214"/>
          </a:xfrm>
          <a:prstGeom prst="rect">
            <a:avLst/>
          </a:prstGeom>
          <a:solidFill>
            <a:schemeClr val="bg1"/>
          </a:solidFill>
        </p:spPr>
        <p:txBody>
          <a:bodyPr wrap="square" rtlCol="0">
            <a:spAutoFit/>
          </a:bodyPr>
          <a:lstStyle/>
          <a:p>
            <a:pPr marL="198900" lvl="0" algn="ctr"/>
            <a:r>
              <a:rPr lang="en-US" sz="1600" dirty="0">
                <a:effectLst/>
                <a:latin typeface="Montserrat SemiBold" panose="00000700000000000000" pitchFamily="2" charset="0"/>
                <a:ea typeface="Times New Roman" panose="02020603050405020304" pitchFamily="18" charset="0"/>
                <a:cs typeface="Leelawadee UI Semilight" panose="020B0402040204020203" pitchFamily="34" charset="-34"/>
              </a:rPr>
              <a:t>STABLE APIs</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device-reachability-status</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device-roaming-status</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device-swap</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location-verification</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number-verification</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one-time-password-</a:t>
            </a:r>
            <a:r>
              <a:rPr lang="en-US" sz="1200" dirty="0" err="1">
                <a:effectLst/>
                <a:latin typeface="Montserrat Light" panose="00000400000000000000" pitchFamily="2" charset="0"/>
                <a:ea typeface="Times New Roman" panose="02020603050405020304" pitchFamily="18" charset="0"/>
              </a:rPr>
              <a:t>sms</a:t>
            </a:r>
            <a:endParaRPr lang="en-US" sz="1200" dirty="0">
              <a:effectLst/>
              <a:latin typeface="Montserrat Light" panose="00000400000000000000" pitchFamily="2" charset="0"/>
              <a:ea typeface="Times New Roman" panose="02020603050405020304" pitchFamily="18" charset="0"/>
            </a:endParaRPr>
          </a:p>
          <a:p>
            <a:pPr marL="342900" lvl="0" indent="-144000">
              <a:buFont typeface="Wingdings" panose="05000000000000000000" pitchFamily="2" charset="2"/>
              <a:buChar char=""/>
            </a:pPr>
            <a:r>
              <a:rPr lang="en-US" sz="1200" dirty="0" err="1">
                <a:effectLst/>
                <a:latin typeface="Montserrat Light" panose="00000400000000000000" pitchFamily="2" charset="0"/>
                <a:ea typeface="Times New Roman" panose="02020603050405020304" pitchFamily="18" charset="0"/>
              </a:rPr>
              <a:t>qos</a:t>
            </a:r>
            <a:r>
              <a:rPr lang="en-US" sz="1200" dirty="0">
                <a:effectLst/>
                <a:latin typeface="Montserrat Light" panose="00000400000000000000" pitchFamily="2" charset="0"/>
                <a:ea typeface="Times New Roman" panose="02020603050405020304" pitchFamily="18" charset="0"/>
              </a:rPr>
              <a:t>-profiles</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quality-on-demand</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sim-swap</a:t>
            </a:r>
          </a:p>
          <a:p>
            <a:pPr marL="342900" indent="-144000">
              <a:buFont typeface="Wingdings" panose="05000000000000000000" pitchFamily="2" charset="2"/>
              <a:buChar char=""/>
            </a:pPr>
            <a:r>
              <a:rPr lang="en-US" sz="1200" dirty="0">
                <a:latin typeface="Montserrat Light" panose="00000400000000000000" pitchFamily="2" charset="0"/>
                <a:ea typeface="Times New Roman" panose="02020603050405020304" pitchFamily="18" charset="0"/>
              </a:rPr>
              <a:t>simple-edge-discovery</a:t>
            </a:r>
          </a:p>
        </p:txBody>
      </p:sp>
      <p:sp>
        <p:nvSpPr>
          <p:cNvPr id="3" name="TextBox 4">
            <a:extLst>
              <a:ext uri="{FF2B5EF4-FFF2-40B4-BE49-F238E27FC236}">
                <a16:creationId xmlns:a16="http://schemas.microsoft.com/office/drawing/2014/main" xmlns="" id="{46DBDDBC-5E42-5124-D2A2-9EF312E4195A}"/>
              </a:ext>
            </a:extLst>
          </p:cNvPr>
          <p:cNvSpPr txBox="1"/>
          <p:nvPr/>
        </p:nvSpPr>
        <p:spPr>
          <a:xfrm>
            <a:off x="7479389" y="1305148"/>
            <a:ext cx="2822839" cy="2308324"/>
          </a:xfrm>
          <a:prstGeom prst="rect">
            <a:avLst/>
          </a:prstGeom>
          <a:noFill/>
        </p:spPr>
        <p:txBody>
          <a:bodyPr wrap="square" rtlCol="0">
            <a:spAutoFit/>
          </a:bodyPr>
          <a:lstStyle/>
          <a:p>
            <a:pPr marL="285750" marR="0" indent="-144000">
              <a:buFont typeface="Wingdings" panose="05000000000000000000" pitchFamily="2" charset="2"/>
              <a:buChar char="§"/>
            </a:pPr>
            <a:endParaRPr lang="fr-FR" sz="1200" dirty="0">
              <a:effectLst/>
              <a:latin typeface="Montserrat Light" panose="00000400000000000000" pitchFamily="2" charset="0"/>
            </a:endParaRPr>
          </a:p>
          <a:p>
            <a:pPr marL="342900" lvl="0" indent="-144000">
              <a:buFont typeface="Wingdings" panose="05000000000000000000" pitchFamily="2" charset="2"/>
              <a:buChar char=""/>
            </a:pPr>
            <a:r>
              <a:rPr lang="en-US" sz="1200" dirty="0">
                <a:latin typeface="Montserrat Light" panose="00000400000000000000" pitchFamily="2" charset="0"/>
                <a:ea typeface="Times New Roman" panose="02020603050405020304" pitchFamily="18" charset="0"/>
              </a:rPr>
              <a:t>most-frequent-location</a:t>
            </a:r>
          </a:p>
          <a:p>
            <a:pPr marL="342900" lvl="0" indent="-144000">
              <a:buFont typeface="Wingdings" panose="05000000000000000000" pitchFamily="2" charset="2"/>
              <a:buChar char=""/>
            </a:pPr>
            <a:r>
              <a:rPr lang="en-US" sz="1200" dirty="0">
                <a:latin typeface="Montserrat Light" panose="00000400000000000000" pitchFamily="2" charset="0"/>
                <a:ea typeface="Times New Roman" panose="02020603050405020304" pitchFamily="18" charset="0"/>
              </a:rPr>
              <a:t>network-slice-booking</a:t>
            </a:r>
          </a:p>
          <a:p>
            <a:pPr marL="342900" lvl="0" indent="-144000">
              <a:buFont typeface="Wingdings" panose="05000000000000000000" pitchFamily="2" charset="2"/>
              <a:buChar char=""/>
            </a:pPr>
            <a:r>
              <a:rPr lang="en-US" sz="1200" dirty="0">
                <a:latin typeface="Montserrat Light" panose="00000400000000000000" pitchFamily="2" charset="0"/>
                <a:ea typeface="Times New Roman" panose="02020603050405020304" pitchFamily="18" charset="0"/>
              </a:rPr>
              <a:t>optimal-edge-discovery</a:t>
            </a:r>
          </a:p>
          <a:p>
            <a:pPr marL="342900" lvl="0" indent="-144000">
              <a:buFont typeface="Wingdings" panose="05000000000000000000" pitchFamily="2" charset="2"/>
              <a:buChar char=""/>
            </a:pPr>
            <a:r>
              <a:rPr lang="en-US" sz="1200" dirty="0">
                <a:latin typeface="Montserrat Light" panose="00000400000000000000" pitchFamily="2" charset="0"/>
                <a:ea typeface="Times New Roman" panose="02020603050405020304" pitchFamily="18" charset="0"/>
              </a:rPr>
              <a:t>predictive-connectivity-data</a:t>
            </a:r>
          </a:p>
          <a:p>
            <a:pPr marL="342900" lvl="0" indent="-144000">
              <a:buFont typeface="Wingdings" panose="05000000000000000000" pitchFamily="2" charset="2"/>
              <a:buChar char=""/>
            </a:pPr>
            <a:r>
              <a:rPr lang="en-US" sz="1200" dirty="0" err="1">
                <a:latin typeface="Montserrat Light" panose="00000400000000000000" pitchFamily="2" charset="0"/>
                <a:ea typeface="Times New Roman" panose="02020603050405020304" pitchFamily="18" charset="0"/>
              </a:rPr>
              <a:t>qa</a:t>
            </a:r>
            <a:r>
              <a:rPr lang="en-US" sz="1200" dirty="0">
                <a:latin typeface="Montserrat Light" panose="00000400000000000000" pitchFamily="2" charset="0"/>
                <a:ea typeface="Times New Roman" panose="02020603050405020304" pitchFamily="18" charset="0"/>
              </a:rPr>
              <a:t>-assistant-manage</a:t>
            </a:r>
          </a:p>
          <a:p>
            <a:pPr marL="342900" lvl="0" indent="-144000">
              <a:buFont typeface="Wingdings" panose="05000000000000000000" pitchFamily="2" charset="2"/>
              <a:buChar char=""/>
            </a:pPr>
            <a:r>
              <a:rPr lang="en-US" sz="1200" dirty="0" err="1">
                <a:latin typeface="Montserrat Light" panose="00000400000000000000" pitchFamily="2" charset="0"/>
                <a:ea typeface="Times New Roman" panose="02020603050405020304" pitchFamily="18" charset="0"/>
              </a:rPr>
              <a:t>qa</a:t>
            </a:r>
            <a:r>
              <a:rPr lang="en-US" sz="1200" dirty="0">
                <a:latin typeface="Montserrat Light" panose="00000400000000000000" pitchFamily="2" charset="0"/>
                <a:ea typeface="Times New Roman" panose="02020603050405020304" pitchFamily="18" charset="0"/>
              </a:rPr>
              <a:t>-assistant-service</a:t>
            </a:r>
          </a:p>
          <a:p>
            <a:pPr marL="342900" lvl="0" indent="-144000">
              <a:buFont typeface="Wingdings" panose="05000000000000000000" pitchFamily="2" charset="2"/>
              <a:buChar char=""/>
            </a:pPr>
            <a:r>
              <a:rPr lang="en-US" sz="1200" dirty="0" err="1">
                <a:latin typeface="Montserrat Light" panose="00000400000000000000" pitchFamily="2" charset="0"/>
                <a:ea typeface="Times New Roman" panose="02020603050405020304" pitchFamily="18" charset="0"/>
              </a:rPr>
              <a:t>qos</a:t>
            </a:r>
            <a:r>
              <a:rPr lang="en-US" sz="1200" dirty="0">
                <a:latin typeface="Montserrat Light" panose="00000400000000000000" pitchFamily="2" charset="0"/>
                <a:ea typeface="Times New Roman" panose="02020603050405020304" pitchFamily="18" charset="0"/>
              </a:rPr>
              <a:t>-booking</a:t>
            </a:r>
          </a:p>
          <a:p>
            <a:pPr marL="342900" lvl="0" indent="-144000">
              <a:buFont typeface="Wingdings" panose="05000000000000000000" pitchFamily="2" charset="2"/>
              <a:buChar char=""/>
            </a:pPr>
            <a:r>
              <a:rPr lang="en-US" sz="1200" dirty="0" err="1">
                <a:latin typeface="Montserrat Light" panose="00000400000000000000" pitchFamily="2" charset="0"/>
                <a:ea typeface="Times New Roman" panose="02020603050405020304" pitchFamily="18" charset="0"/>
              </a:rPr>
              <a:t>qos</a:t>
            </a:r>
            <a:r>
              <a:rPr lang="en-US" sz="1200" dirty="0">
                <a:latin typeface="Montserrat Light" panose="00000400000000000000" pitchFamily="2" charset="0"/>
                <a:ea typeface="Times New Roman" panose="02020603050405020304" pitchFamily="18" charset="0"/>
              </a:rPr>
              <a:t>-booking-and-assignment</a:t>
            </a:r>
          </a:p>
          <a:p>
            <a:pPr marL="342900" lvl="0" indent="-144000">
              <a:buFont typeface="Wingdings" panose="05000000000000000000" pitchFamily="2" charset="2"/>
              <a:buChar char=""/>
            </a:pPr>
            <a:r>
              <a:rPr lang="en-US" sz="1200" dirty="0">
                <a:latin typeface="Montserrat Light" panose="00000400000000000000" pitchFamily="2" charset="0"/>
                <a:ea typeface="Times New Roman" panose="02020603050405020304" pitchFamily="18" charset="0"/>
              </a:rPr>
              <a:t>subscription-status</a:t>
            </a:r>
          </a:p>
          <a:p>
            <a:pPr marL="342900" indent="-144000">
              <a:buFont typeface="Wingdings" panose="05000000000000000000" pitchFamily="2" charset="2"/>
              <a:buChar char=""/>
            </a:pPr>
            <a:r>
              <a:rPr lang="en-US" sz="1200" dirty="0">
                <a:latin typeface="Montserrat Light" panose="00000400000000000000" pitchFamily="2" charset="0"/>
                <a:ea typeface="Times New Roman" panose="02020603050405020304" pitchFamily="18" charset="0"/>
              </a:rPr>
              <a:t>traffic-influence</a:t>
            </a:r>
          </a:p>
          <a:p>
            <a:pPr marL="342900" lvl="0" indent="-144000">
              <a:buFont typeface="Wingdings" panose="05000000000000000000" pitchFamily="2" charset="2"/>
              <a:buChar char=""/>
            </a:pPr>
            <a:r>
              <a:rPr lang="en-US" sz="1200" dirty="0">
                <a:latin typeface="Montserrat Light" panose="00000400000000000000" pitchFamily="2" charset="0"/>
                <a:ea typeface="Times New Roman" panose="02020603050405020304" pitchFamily="18" charset="0"/>
              </a:rPr>
              <a:t>verified-caller</a:t>
            </a:r>
          </a:p>
        </p:txBody>
      </p:sp>
      <p:sp>
        <p:nvSpPr>
          <p:cNvPr id="4" name="TextBox 6">
            <a:extLst>
              <a:ext uri="{FF2B5EF4-FFF2-40B4-BE49-F238E27FC236}">
                <a16:creationId xmlns:a16="http://schemas.microsoft.com/office/drawing/2014/main" xmlns="" id="{B949A663-62C0-3523-6CDB-4EA35E46FA3D}"/>
              </a:ext>
            </a:extLst>
          </p:cNvPr>
          <p:cNvSpPr txBox="1"/>
          <p:nvPr/>
        </p:nvSpPr>
        <p:spPr>
          <a:xfrm>
            <a:off x="4188978" y="1241525"/>
            <a:ext cx="3368230" cy="2554545"/>
          </a:xfrm>
          <a:prstGeom prst="rect">
            <a:avLst/>
          </a:prstGeom>
          <a:noFill/>
        </p:spPr>
        <p:txBody>
          <a:bodyPr wrap="none" rtlCol="0">
            <a:spAutoFit/>
          </a:bodyPr>
          <a:lstStyle/>
          <a:p>
            <a:pPr marL="198900" lvl="0" algn="ctr"/>
            <a:r>
              <a:rPr lang="en-US" sz="1600" dirty="0">
                <a:latin typeface="Montserrat SemiBold" panose="00000700000000000000" pitchFamily="2" charset="0"/>
                <a:cs typeface="Leelawadee UI Semilight" panose="020B0402040204020203" pitchFamily="34" charset="-34"/>
              </a:rPr>
              <a:t>NEW INITIAL APIs (v0.y.z)</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application-endpoint-discovery</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application-endpoint-registration</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blockchain-public-address-validation</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brand-registration</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consent-info</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dedicated-network</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dedicated-network-accesses</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dedicated-network-profiles</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device-data-volume</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device-data-volume-subscriptions</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energy-footprint-notification</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knowledge-base</a:t>
            </a:r>
          </a:p>
        </p:txBody>
      </p:sp>
      <p:sp>
        <p:nvSpPr>
          <p:cNvPr id="5" name="Google Shape;235;p20">
            <a:extLst>
              <a:ext uri="{FF2B5EF4-FFF2-40B4-BE49-F238E27FC236}">
                <a16:creationId xmlns:a16="http://schemas.microsoft.com/office/drawing/2014/main" xmlns="" id="{6C6F03FC-8B37-89EE-B0BC-B7F91C6D72AD}"/>
              </a:ext>
            </a:extLst>
          </p:cNvPr>
          <p:cNvSpPr/>
          <p:nvPr/>
        </p:nvSpPr>
        <p:spPr>
          <a:xfrm>
            <a:off x="988939" y="1544512"/>
            <a:ext cx="2812670" cy="2229461"/>
          </a:xfrm>
          <a:prstGeom prst="roundRect">
            <a:avLst>
              <a:gd name="adj" fmla="val 5074"/>
            </a:avLst>
          </a:prstGeom>
          <a:noFill/>
          <a:ln w="12700" cap="flat" cmpd="sng">
            <a:solidFill>
              <a:schemeClr val="dk2"/>
            </a:solidFill>
            <a:prstDash val="solid"/>
            <a:miter lim="800000"/>
            <a:headEnd type="none" w="sm" len="sm"/>
            <a:tailEnd type="none" w="sm" len="sm"/>
          </a:ln>
        </p:spPr>
        <p:txBody>
          <a:bodyPr spcFirstLastPara="1" wrap="square" lIns="72000" tIns="0" rIns="72000" bIns="720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Montserrat Light"/>
              <a:buNone/>
              <a:tabLst/>
              <a:defRPr/>
            </a:pPr>
            <a:endParaRPr kumimoji="0" lang="en-US" sz="1400" b="0" i="0" u="none" strike="noStrike" kern="0" cap="none" spc="0" normalizeH="0" baseline="30000" dirty="0">
              <a:ln>
                <a:noFill/>
              </a:ln>
              <a:solidFill>
                <a:srgbClr val="000000"/>
              </a:solidFill>
              <a:effectLst/>
              <a:uLnTx/>
              <a:uFillTx/>
              <a:latin typeface="Montserrat Light" panose="00000400000000000000" pitchFamily="2" charset="0"/>
              <a:cs typeface="Montserrat Light"/>
              <a:sym typeface="Montserrat Light"/>
            </a:endParaRPr>
          </a:p>
        </p:txBody>
      </p:sp>
      <p:sp>
        <p:nvSpPr>
          <p:cNvPr id="7" name="Oval 7">
            <a:extLst>
              <a:ext uri="{FF2B5EF4-FFF2-40B4-BE49-F238E27FC236}">
                <a16:creationId xmlns:a16="http://schemas.microsoft.com/office/drawing/2014/main" xmlns="" id="{67FF7ACF-5236-127E-EBC1-E2E5C5A5C6B8}"/>
              </a:ext>
            </a:extLst>
          </p:cNvPr>
          <p:cNvSpPr/>
          <p:nvPr/>
        </p:nvSpPr>
        <p:spPr>
          <a:xfrm>
            <a:off x="4162773" y="1087636"/>
            <a:ext cx="360000" cy="360000"/>
          </a:xfrm>
          <a:prstGeom prst="ellipse">
            <a:avLst/>
          </a:prstGeom>
          <a:solidFill>
            <a:srgbClr val="529A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latin typeface="Montserrat SemiBold" panose="00000700000000000000" pitchFamily="2" charset="0"/>
              </a:rPr>
              <a:t>23</a:t>
            </a:r>
          </a:p>
        </p:txBody>
      </p:sp>
      <p:sp>
        <p:nvSpPr>
          <p:cNvPr id="8" name="Oval 11">
            <a:extLst>
              <a:ext uri="{FF2B5EF4-FFF2-40B4-BE49-F238E27FC236}">
                <a16:creationId xmlns:a16="http://schemas.microsoft.com/office/drawing/2014/main" xmlns="" id="{6191C39A-7D18-85A9-5E6F-3F72485DBFF1}"/>
              </a:ext>
            </a:extLst>
          </p:cNvPr>
          <p:cNvSpPr/>
          <p:nvPr/>
        </p:nvSpPr>
        <p:spPr>
          <a:xfrm>
            <a:off x="861677" y="1390624"/>
            <a:ext cx="360000" cy="360000"/>
          </a:xfrm>
          <a:prstGeom prst="ellipse">
            <a:avLst/>
          </a:prstGeom>
          <a:solidFill>
            <a:srgbClr val="529A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latin typeface="Montserrat SemiBold" panose="00000700000000000000" pitchFamily="2" charset="0"/>
              </a:rPr>
              <a:t>10</a:t>
            </a:r>
          </a:p>
        </p:txBody>
      </p:sp>
      <p:sp>
        <p:nvSpPr>
          <p:cNvPr id="9" name="TextBox 3">
            <a:extLst>
              <a:ext uri="{FF2B5EF4-FFF2-40B4-BE49-F238E27FC236}">
                <a16:creationId xmlns:a16="http://schemas.microsoft.com/office/drawing/2014/main" xmlns="" id="{75A7DEB3-3EA3-3E01-CA9A-B4E950F8D743}"/>
              </a:ext>
            </a:extLst>
          </p:cNvPr>
          <p:cNvSpPr txBox="1"/>
          <p:nvPr/>
        </p:nvSpPr>
        <p:spPr>
          <a:xfrm>
            <a:off x="919257" y="4063743"/>
            <a:ext cx="5026124" cy="2369880"/>
          </a:xfrm>
          <a:prstGeom prst="rect">
            <a:avLst/>
          </a:prstGeom>
          <a:noFill/>
        </p:spPr>
        <p:txBody>
          <a:bodyPr wrap="square" rtlCol="0">
            <a:spAutoFit/>
          </a:bodyPr>
          <a:lstStyle/>
          <a:p>
            <a:pPr marL="198900"/>
            <a:r>
              <a:rPr lang="fr-FR" sz="1600" dirty="0">
                <a:latin typeface="Montserrat SemiBold" panose="00000700000000000000" pitchFamily="2" charset="0"/>
                <a:cs typeface="Leelawadee UI Semilight" panose="020B0402040204020203" pitchFamily="34" charset="-34"/>
              </a:rPr>
              <a:t>   SPRING25 UPDATED INITIAL APIs </a:t>
            </a:r>
            <a:r>
              <a:rPr lang="en-US" sz="1600" dirty="0">
                <a:latin typeface="Montserrat SemiBold" panose="00000700000000000000" pitchFamily="2" charset="0"/>
                <a:cs typeface="Leelawadee UI Semilight" panose="020B0402040204020203" pitchFamily="34" charset="-34"/>
              </a:rPr>
              <a:t>(v0.y.z)</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application-profiles</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blockchain-public-address</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call-forwarding-signal</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carrier-billing</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carrier-billing-refund</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connected-network-type</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connected-network-type-subscriptions</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connectivity-insights</a:t>
            </a:r>
          </a:p>
          <a:p>
            <a:pPr marL="342900" lvl="0" indent="-144000">
              <a:buFont typeface="Wingdings" panose="05000000000000000000" pitchFamily="2" charset="2"/>
              <a:buChar char=""/>
            </a:pPr>
            <a:r>
              <a:rPr lang="en-US" sz="1200" dirty="0">
                <a:effectLst/>
                <a:latin typeface="Montserrat Light" panose="00000400000000000000" pitchFamily="2" charset="0"/>
                <a:ea typeface="Times New Roman" panose="02020603050405020304" pitchFamily="18" charset="0"/>
              </a:rPr>
              <a:t>connectivity-insights-subscriptions</a:t>
            </a:r>
          </a:p>
          <a:p>
            <a:pPr marL="342900" indent="-144000">
              <a:buFont typeface="Wingdings" panose="05000000000000000000" pitchFamily="2" charset="2"/>
              <a:buChar char=""/>
            </a:pPr>
            <a:r>
              <a:rPr lang="en-US" sz="1200" dirty="0">
                <a:latin typeface="Montserrat Light" panose="00000400000000000000" pitchFamily="2" charset="0"/>
                <a:ea typeface="Times New Roman" panose="02020603050405020304" pitchFamily="18" charset="0"/>
              </a:rPr>
              <a:t>customer-insights</a:t>
            </a:r>
            <a:endParaRPr lang="en-US" sz="1200" dirty="0">
              <a:effectLst/>
              <a:latin typeface="Montserrat Light" panose="00000400000000000000" pitchFamily="2" charset="0"/>
              <a:ea typeface="Times New Roman" panose="02020603050405020304" pitchFamily="18" charset="0"/>
            </a:endParaRPr>
          </a:p>
          <a:p>
            <a:pPr marL="342900" lvl="0" indent="-144000">
              <a:buFont typeface="Wingdings" panose="05000000000000000000" pitchFamily="2" charset="2"/>
              <a:buChar char=""/>
            </a:pPr>
            <a:endParaRPr lang="en-US" sz="1200" dirty="0">
              <a:effectLst/>
              <a:latin typeface="Montserrat Light" panose="00000400000000000000" pitchFamily="2" charset="0"/>
              <a:ea typeface="Calibri" panose="020F0502020204030204" pitchFamily="34" charset="0"/>
            </a:endParaRPr>
          </a:p>
        </p:txBody>
      </p:sp>
      <p:sp>
        <p:nvSpPr>
          <p:cNvPr id="10" name="TextBox 4">
            <a:extLst>
              <a:ext uri="{FF2B5EF4-FFF2-40B4-BE49-F238E27FC236}">
                <a16:creationId xmlns:a16="http://schemas.microsoft.com/office/drawing/2014/main" xmlns="" id="{33B1ADF0-6F43-DD35-C3E1-67A3DD7007A8}"/>
              </a:ext>
            </a:extLst>
          </p:cNvPr>
          <p:cNvSpPr txBox="1"/>
          <p:nvPr/>
        </p:nvSpPr>
        <p:spPr>
          <a:xfrm>
            <a:off x="4360612" y="4364333"/>
            <a:ext cx="3904201" cy="1938992"/>
          </a:xfrm>
          <a:prstGeom prst="rect">
            <a:avLst/>
          </a:prstGeom>
          <a:noFill/>
        </p:spPr>
        <p:txBody>
          <a:bodyPr wrap="square" rtlCol="0">
            <a:spAutoFit/>
          </a:bodyPr>
          <a:lstStyle/>
          <a:p>
            <a:pPr marL="342900" lvl="0" indent="-144000">
              <a:buFont typeface="Wingdings" panose="05000000000000000000" pitchFamily="2" charset="2"/>
              <a:buChar char=""/>
            </a:pPr>
            <a:r>
              <a:rPr lang="en-US" sz="1200" dirty="0">
                <a:latin typeface="Montserrat Light" panose="00000400000000000000" pitchFamily="2" charset="0"/>
                <a:ea typeface="Times New Roman" panose="02020603050405020304" pitchFamily="18" charset="0"/>
              </a:rPr>
              <a:t>device-identifier</a:t>
            </a:r>
          </a:p>
          <a:p>
            <a:pPr marL="342900" lvl="0" indent="-144000">
              <a:buFont typeface="Wingdings" panose="05000000000000000000" pitchFamily="2" charset="2"/>
              <a:buChar char=""/>
            </a:pPr>
            <a:r>
              <a:rPr lang="en-US" sz="1200" dirty="0">
                <a:latin typeface="Montserrat Light" panose="00000400000000000000" pitchFamily="2" charset="0"/>
                <a:ea typeface="Times New Roman" panose="02020603050405020304" pitchFamily="18" charset="0"/>
              </a:rPr>
              <a:t>device-reachability-status-subscriptions</a:t>
            </a:r>
          </a:p>
          <a:p>
            <a:pPr marL="342900" lvl="0" indent="-144000">
              <a:buFont typeface="Wingdings" panose="05000000000000000000" pitchFamily="2" charset="2"/>
              <a:buChar char=""/>
            </a:pPr>
            <a:r>
              <a:rPr lang="en-US" sz="1200" dirty="0">
                <a:latin typeface="Montserrat Light" panose="00000400000000000000" pitchFamily="2" charset="0"/>
                <a:ea typeface="Times New Roman" panose="02020603050405020304" pitchFamily="18" charset="0"/>
              </a:rPr>
              <a:t>device-roaming-status-subscriptions</a:t>
            </a:r>
          </a:p>
          <a:p>
            <a:pPr marL="342900" lvl="0" indent="-144000">
              <a:buFont typeface="Wingdings" panose="05000000000000000000" pitchFamily="2" charset="2"/>
              <a:buChar char=""/>
            </a:pPr>
            <a:r>
              <a:rPr lang="en-US" sz="1200" dirty="0">
                <a:latin typeface="Montserrat Light" panose="00000400000000000000" pitchFamily="2" charset="0"/>
                <a:ea typeface="Times New Roman" panose="02020603050405020304" pitchFamily="18" charset="0"/>
              </a:rPr>
              <a:t>geofencing-subscriptions</a:t>
            </a:r>
          </a:p>
          <a:p>
            <a:pPr marL="342900" lvl="0" indent="-144000">
              <a:buFont typeface="Wingdings" panose="05000000000000000000" pitchFamily="2" charset="2"/>
              <a:buChar char=""/>
            </a:pPr>
            <a:r>
              <a:rPr lang="en-US" sz="1200" dirty="0" err="1">
                <a:latin typeface="Montserrat Light" panose="00000400000000000000" pitchFamily="2" charset="0"/>
                <a:ea typeface="Times New Roman" panose="02020603050405020304" pitchFamily="18" charset="0"/>
              </a:rPr>
              <a:t>kyc</a:t>
            </a:r>
            <a:r>
              <a:rPr lang="en-US" sz="1200" dirty="0">
                <a:latin typeface="Montserrat Light" panose="00000400000000000000" pitchFamily="2" charset="0"/>
                <a:ea typeface="Times New Roman" panose="02020603050405020304" pitchFamily="18" charset="0"/>
              </a:rPr>
              <a:t>-age-verification</a:t>
            </a:r>
          </a:p>
          <a:p>
            <a:pPr marL="342900" lvl="0" indent="-144000">
              <a:buFont typeface="Wingdings" panose="05000000000000000000" pitchFamily="2" charset="2"/>
              <a:buChar char=""/>
            </a:pPr>
            <a:r>
              <a:rPr lang="en-US" sz="1200" dirty="0" err="1">
                <a:latin typeface="Montserrat Light" panose="00000400000000000000" pitchFamily="2" charset="0"/>
                <a:ea typeface="Times New Roman" panose="02020603050405020304" pitchFamily="18" charset="0"/>
              </a:rPr>
              <a:t>kyc</a:t>
            </a:r>
            <a:r>
              <a:rPr lang="en-US" sz="1200" dirty="0">
                <a:latin typeface="Montserrat Light" panose="00000400000000000000" pitchFamily="2" charset="0"/>
                <a:ea typeface="Times New Roman" panose="02020603050405020304" pitchFamily="18" charset="0"/>
              </a:rPr>
              <a:t>-fill-in</a:t>
            </a:r>
          </a:p>
          <a:p>
            <a:pPr marL="342900" lvl="0" indent="-144000">
              <a:buFont typeface="Wingdings" panose="05000000000000000000" pitchFamily="2" charset="2"/>
              <a:buChar char=""/>
            </a:pPr>
            <a:r>
              <a:rPr lang="en-US" sz="1200" dirty="0" err="1">
                <a:latin typeface="Montserrat Light" panose="00000400000000000000" pitchFamily="2" charset="0"/>
                <a:ea typeface="Times New Roman" panose="02020603050405020304" pitchFamily="18" charset="0"/>
              </a:rPr>
              <a:t>kyc</a:t>
            </a:r>
            <a:r>
              <a:rPr lang="en-US" sz="1200" dirty="0">
                <a:latin typeface="Montserrat Light" panose="00000400000000000000" pitchFamily="2" charset="0"/>
                <a:ea typeface="Times New Roman" panose="02020603050405020304" pitchFamily="18" charset="0"/>
              </a:rPr>
              <a:t>-match</a:t>
            </a:r>
          </a:p>
          <a:p>
            <a:pPr marL="342900" lvl="0" indent="-144000">
              <a:buFont typeface="Wingdings" panose="05000000000000000000" pitchFamily="2" charset="2"/>
              <a:buChar char=""/>
            </a:pPr>
            <a:r>
              <a:rPr lang="en-US" sz="1200" dirty="0" err="1">
                <a:latin typeface="Montserrat Light" panose="00000400000000000000" pitchFamily="2" charset="0"/>
                <a:ea typeface="Times New Roman" panose="02020603050405020304" pitchFamily="18" charset="0"/>
              </a:rPr>
              <a:t>kyc</a:t>
            </a:r>
            <a:r>
              <a:rPr lang="en-US" sz="1200" dirty="0">
                <a:latin typeface="Montserrat Light" panose="00000400000000000000" pitchFamily="2" charset="0"/>
                <a:ea typeface="Times New Roman" panose="02020603050405020304" pitchFamily="18" charset="0"/>
              </a:rPr>
              <a:t>-tenure</a:t>
            </a:r>
          </a:p>
          <a:p>
            <a:pPr marL="342900" lvl="0" indent="-144000">
              <a:buFont typeface="Wingdings" panose="05000000000000000000" pitchFamily="2" charset="2"/>
              <a:buChar char=""/>
            </a:pPr>
            <a:r>
              <a:rPr lang="en-US" sz="1200" dirty="0">
                <a:latin typeface="Montserrat Light" panose="00000400000000000000" pitchFamily="2" charset="0"/>
                <a:ea typeface="Times New Roman" panose="02020603050405020304" pitchFamily="18" charset="0"/>
              </a:rPr>
              <a:t>location-retrieval</a:t>
            </a:r>
          </a:p>
          <a:p>
            <a:pPr marL="342900" lvl="0" indent="-144000">
              <a:buFont typeface="Wingdings" panose="05000000000000000000" pitchFamily="2" charset="2"/>
              <a:buChar char=""/>
            </a:pPr>
            <a:r>
              <a:rPr lang="en-US" sz="1200" dirty="0">
                <a:latin typeface="Montserrat Light" panose="00000400000000000000" pitchFamily="2" charset="0"/>
                <a:ea typeface="Times New Roman" panose="02020603050405020304" pitchFamily="18" charset="0"/>
              </a:rPr>
              <a:t>number-recycling</a:t>
            </a:r>
          </a:p>
        </p:txBody>
      </p:sp>
      <p:sp>
        <p:nvSpPr>
          <p:cNvPr id="11" name="Google Shape;235;p20">
            <a:extLst>
              <a:ext uri="{FF2B5EF4-FFF2-40B4-BE49-F238E27FC236}">
                <a16:creationId xmlns:a16="http://schemas.microsoft.com/office/drawing/2014/main" xmlns="" id="{9C9B50AA-2A52-4C54-61B9-197DB2234141}"/>
              </a:ext>
            </a:extLst>
          </p:cNvPr>
          <p:cNvSpPr/>
          <p:nvPr/>
        </p:nvSpPr>
        <p:spPr>
          <a:xfrm>
            <a:off x="1076411" y="4019887"/>
            <a:ext cx="9369252" cy="2413736"/>
          </a:xfrm>
          <a:prstGeom prst="roundRect">
            <a:avLst>
              <a:gd name="adj" fmla="val 5074"/>
            </a:avLst>
          </a:prstGeom>
          <a:noFill/>
          <a:ln w="12700" cap="flat" cmpd="sng">
            <a:solidFill>
              <a:schemeClr val="dk2"/>
            </a:solidFill>
            <a:prstDash val="solid"/>
            <a:miter lim="800000"/>
            <a:headEnd type="none" w="sm" len="sm"/>
            <a:tailEnd type="none" w="sm" len="sm"/>
          </a:ln>
        </p:spPr>
        <p:txBody>
          <a:bodyPr spcFirstLastPara="1" wrap="square" lIns="72000" tIns="0" rIns="72000" bIns="720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Montserrat Light"/>
              <a:buNone/>
              <a:tabLst/>
              <a:defRPr/>
            </a:pPr>
            <a:endParaRPr kumimoji="0" lang="en-US" sz="1400" b="0" i="0" u="none" strike="noStrike" kern="0" cap="none" spc="0" normalizeH="0" baseline="30000" dirty="0">
              <a:ln>
                <a:noFill/>
              </a:ln>
              <a:solidFill>
                <a:srgbClr val="000000"/>
              </a:solidFill>
              <a:effectLst/>
              <a:uLnTx/>
              <a:uFillTx/>
              <a:latin typeface="Montserrat Light" panose="00000400000000000000" pitchFamily="2" charset="0"/>
              <a:cs typeface="Montserrat Light"/>
              <a:sym typeface="Montserrat Light"/>
            </a:endParaRPr>
          </a:p>
        </p:txBody>
      </p:sp>
      <p:sp>
        <p:nvSpPr>
          <p:cNvPr id="12" name="TextBox 2">
            <a:extLst>
              <a:ext uri="{FF2B5EF4-FFF2-40B4-BE49-F238E27FC236}">
                <a16:creationId xmlns:a16="http://schemas.microsoft.com/office/drawing/2014/main" xmlns="" id="{1BBA5170-1E85-73EF-7A1D-7E81CE19DA1D}"/>
              </a:ext>
            </a:extLst>
          </p:cNvPr>
          <p:cNvSpPr txBox="1"/>
          <p:nvPr/>
        </p:nvSpPr>
        <p:spPr>
          <a:xfrm>
            <a:off x="7916627" y="4364333"/>
            <a:ext cx="2493179" cy="1569660"/>
          </a:xfrm>
          <a:prstGeom prst="rect">
            <a:avLst/>
          </a:prstGeom>
          <a:noFill/>
        </p:spPr>
        <p:txBody>
          <a:bodyPr wrap="square" rtlCol="0">
            <a:spAutoFit/>
          </a:bodyPr>
          <a:lstStyle/>
          <a:p>
            <a:pPr marL="342900" lvl="0" indent="-144000">
              <a:buFont typeface="Wingdings" panose="05000000000000000000" pitchFamily="2" charset="2"/>
              <a:buChar char=""/>
            </a:pPr>
            <a:r>
              <a:rPr lang="en-US" sz="1200" dirty="0">
                <a:latin typeface="Montserrat Light" panose="00000400000000000000" pitchFamily="2" charset="0"/>
                <a:ea typeface="Times New Roman" panose="02020603050405020304" pitchFamily="18" charset="0"/>
              </a:rPr>
              <a:t>population-density-data</a:t>
            </a:r>
          </a:p>
          <a:p>
            <a:pPr marL="342900" lvl="0" indent="-144000">
              <a:buFont typeface="Wingdings" panose="05000000000000000000" pitchFamily="2" charset="2"/>
              <a:buChar char=""/>
            </a:pPr>
            <a:r>
              <a:rPr lang="en-US" sz="1200" dirty="0" err="1">
                <a:latin typeface="Montserrat Light" panose="00000400000000000000" pitchFamily="2" charset="0"/>
                <a:ea typeface="Times New Roman" panose="02020603050405020304" pitchFamily="18" charset="0"/>
              </a:rPr>
              <a:t>qos</a:t>
            </a:r>
            <a:r>
              <a:rPr lang="en-US" sz="1200" dirty="0">
                <a:latin typeface="Montserrat Light" panose="00000400000000000000" pitchFamily="2" charset="0"/>
                <a:ea typeface="Times New Roman" panose="02020603050405020304" pitchFamily="18" charset="0"/>
              </a:rPr>
              <a:t>-provisioning</a:t>
            </a:r>
          </a:p>
          <a:p>
            <a:pPr marL="342900" lvl="0" indent="-144000">
              <a:buFont typeface="Wingdings" panose="05000000000000000000" pitchFamily="2" charset="2"/>
              <a:buChar char=""/>
            </a:pPr>
            <a:r>
              <a:rPr lang="en-US" sz="1200" dirty="0">
                <a:latin typeface="Montserrat Light" panose="00000400000000000000" pitchFamily="2" charset="0"/>
                <a:ea typeface="Times New Roman" panose="02020603050405020304" pitchFamily="18" charset="0"/>
              </a:rPr>
              <a:t>region-device-count</a:t>
            </a:r>
          </a:p>
          <a:p>
            <a:pPr marL="342900" lvl="0" indent="-144000">
              <a:buFont typeface="Wingdings" panose="05000000000000000000" pitchFamily="2" charset="2"/>
              <a:buChar char=""/>
            </a:pPr>
            <a:r>
              <a:rPr lang="en-US" sz="1200" dirty="0">
                <a:latin typeface="Montserrat Light" panose="00000400000000000000" pitchFamily="2" charset="0"/>
                <a:ea typeface="Times New Roman" panose="02020603050405020304" pitchFamily="18" charset="0"/>
              </a:rPr>
              <a:t>sim-swap-subscriptions</a:t>
            </a:r>
          </a:p>
          <a:p>
            <a:pPr marL="342900" lvl="0" indent="-144000">
              <a:buFont typeface="Wingdings" panose="05000000000000000000" pitchFamily="2" charset="2"/>
              <a:buChar char=""/>
            </a:pPr>
            <a:r>
              <a:rPr lang="en-US" sz="1200" dirty="0" err="1">
                <a:latin typeface="Montserrat Light" panose="00000400000000000000" pitchFamily="2" charset="0"/>
                <a:ea typeface="Times New Roman" panose="02020603050405020304" pitchFamily="18" charset="0"/>
              </a:rPr>
              <a:t>webrtc</a:t>
            </a:r>
            <a:r>
              <a:rPr lang="en-US" sz="1200" dirty="0">
                <a:latin typeface="Montserrat Light" panose="00000400000000000000" pitchFamily="2" charset="0"/>
                <a:ea typeface="Times New Roman" panose="02020603050405020304" pitchFamily="18" charset="0"/>
              </a:rPr>
              <a:t>-call-handling</a:t>
            </a:r>
          </a:p>
          <a:p>
            <a:pPr marL="342900" lvl="0" indent="-144000">
              <a:buFont typeface="Wingdings" panose="05000000000000000000" pitchFamily="2" charset="2"/>
              <a:buChar char=""/>
            </a:pPr>
            <a:r>
              <a:rPr lang="en-US" sz="1200" dirty="0" err="1">
                <a:latin typeface="Montserrat Light" panose="00000400000000000000" pitchFamily="2" charset="0"/>
                <a:ea typeface="Times New Roman" panose="02020603050405020304" pitchFamily="18" charset="0"/>
              </a:rPr>
              <a:t>webrtc</a:t>
            </a:r>
            <a:r>
              <a:rPr lang="en-US" sz="1200" dirty="0">
                <a:latin typeface="Montserrat Light" panose="00000400000000000000" pitchFamily="2" charset="0"/>
                <a:ea typeface="Times New Roman" panose="02020603050405020304" pitchFamily="18" charset="0"/>
              </a:rPr>
              <a:t>-events</a:t>
            </a:r>
          </a:p>
          <a:p>
            <a:pPr marL="342900" lvl="0" indent="-144000">
              <a:buFont typeface="Wingdings" panose="05000000000000000000" pitchFamily="2" charset="2"/>
              <a:buChar char=""/>
            </a:pPr>
            <a:r>
              <a:rPr lang="en-US" sz="1200" dirty="0" err="1">
                <a:latin typeface="Montserrat Light" panose="00000400000000000000" pitchFamily="2" charset="0"/>
                <a:ea typeface="Times New Roman" panose="02020603050405020304" pitchFamily="18" charset="0"/>
              </a:rPr>
              <a:t>webrtc</a:t>
            </a:r>
            <a:r>
              <a:rPr lang="en-US" sz="1200" dirty="0">
                <a:latin typeface="Montserrat Light" panose="00000400000000000000" pitchFamily="2" charset="0"/>
                <a:ea typeface="Times New Roman" panose="02020603050405020304" pitchFamily="18" charset="0"/>
              </a:rPr>
              <a:t>-registration</a:t>
            </a:r>
          </a:p>
          <a:p>
            <a:pPr marL="285750" marR="0" indent="-144000">
              <a:buFont typeface="Wingdings" panose="05000000000000000000" pitchFamily="2" charset="2"/>
              <a:buChar char="§"/>
            </a:pPr>
            <a:endParaRPr lang="fr-FR" sz="1200" dirty="0">
              <a:effectLst/>
              <a:latin typeface="Montserrat Light" panose="00000400000000000000" pitchFamily="2" charset="0"/>
            </a:endParaRPr>
          </a:p>
        </p:txBody>
      </p:sp>
      <p:sp>
        <p:nvSpPr>
          <p:cNvPr id="13" name="Oval 11">
            <a:extLst>
              <a:ext uri="{FF2B5EF4-FFF2-40B4-BE49-F238E27FC236}">
                <a16:creationId xmlns:a16="http://schemas.microsoft.com/office/drawing/2014/main" xmlns="" id="{DD2DDE0B-1B95-A83A-AD62-97650E46E197}"/>
              </a:ext>
            </a:extLst>
          </p:cNvPr>
          <p:cNvSpPr/>
          <p:nvPr/>
        </p:nvSpPr>
        <p:spPr>
          <a:xfrm>
            <a:off x="949148" y="3865999"/>
            <a:ext cx="360000" cy="360000"/>
          </a:xfrm>
          <a:prstGeom prst="ellipse">
            <a:avLst/>
          </a:prstGeom>
          <a:solidFill>
            <a:srgbClr val="529A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latin typeface="Montserrat SemiBold" panose="00000700000000000000" pitchFamily="2" charset="0"/>
              </a:rPr>
              <a:t>27</a:t>
            </a:r>
          </a:p>
        </p:txBody>
      </p:sp>
      <p:pic>
        <p:nvPicPr>
          <p:cNvPr id="14" name="Picture 2" descr="chequered flag">
            <a:extLst>
              <a:ext uri="{FF2B5EF4-FFF2-40B4-BE49-F238E27FC236}">
                <a16:creationId xmlns:a16="http://schemas.microsoft.com/office/drawing/2014/main" xmlns="" id="{89C9A91B-E150-4316-8AD1-597EDE0901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949996">
            <a:off x="6395466" y="410320"/>
            <a:ext cx="704594" cy="704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71893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7F2321E1-4158-C6E1-EB8F-96A44C8D6085}"/>
              </a:ext>
            </a:extLst>
          </p:cNvPr>
          <p:cNvGraphicFramePr>
            <a:graphicFrameLocks/>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4" name="thinkcell Folie" r:id="rId5" imgW="532" imgH="533" progId="TCLayout.ActiveDocument.1">
                  <p:embed/>
                </p:oleObj>
              </mc:Choice>
              <mc:Fallback>
                <p:oleObj name="thinkcell Folie" r:id="rId5" imgW="532" imgH="533" progId="TCLayout.ActiveDocument.1">
                  <p:embed/>
                  <p:pic>
                    <p:nvPicPr>
                      <p:cNvPr id="7" name="think-cell data - do not delete" hidden="1">
                        <a:extLst>
                          <a:ext uri="{FF2B5EF4-FFF2-40B4-BE49-F238E27FC236}">
                            <a16:creationId xmlns:a16="http://schemas.microsoft.com/office/drawing/2014/main" xmlns="" id="{7F2321E1-4158-C6E1-EB8F-96A44C8D608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92" name="Google Shape;592;g3128783cbcc_0_230"/>
          <p:cNvSpPr txBox="1">
            <a:spLocks noGrp="1"/>
          </p:cNvSpPr>
          <p:nvPr>
            <p:ph type="title"/>
          </p:nvPr>
        </p:nvSpPr>
        <p:spPr>
          <a:xfrm>
            <a:off x="444373" y="413152"/>
            <a:ext cx="10944300" cy="784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dirty="0"/>
              <a:t>CAMARA API Overview</a:t>
            </a:r>
            <a:endParaRPr dirty="0"/>
          </a:p>
        </p:txBody>
      </p:sp>
      <p:sp>
        <p:nvSpPr>
          <p:cNvPr id="4" name="Google Shape;441;p17">
            <a:extLst>
              <a:ext uri="{FF2B5EF4-FFF2-40B4-BE49-F238E27FC236}">
                <a16:creationId xmlns:a16="http://schemas.microsoft.com/office/drawing/2014/main" xmlns="" id="{89253471-8516-3D20-B79F-E01CAAE0495D}"/>
              </a:ext>
            </a:extLst>
          </p:cNvPr>
          <p:cNvSpPr txBox="1">
            <a:spLocks noGrp="1"/>
          </p:cNvSpPr>
          <p:nvPr>
            <p:ph type="body" idx="1"/>
          </p:nvPr>
        </p:nvSpPr>
        <p:spPr>
          <a:xfrm>
            <a:off x="7444273" y="1989775"/>
            <a:ext cx="3744300" cy="3561954"/>
          </a:xfrm>
          <a:prstGeom prst="rect">
            <a:avLst/>
          </a:prstGeom>
          <a:noFill/>
          <a:ln>
            <a:noFill/>
          </a:ln>
        </p:spPr>
        <p:txBody>
          <a:bodyPr spcFirstLastPara="1" wrap="square" lIns="0" tIns="0" rIns="0" bIns="0" anchor="t" anchorCtr="0">
            <a:noAutofit/>
          </a:bodyPr>
          <a:lstStyle/>
          <a:p>
            <a:pPr marL="285750" lvl="0" indent="-311150" algn="l" rtl="0">
              <a:lnSpc>
                <a:spcPct val="104000"/>
              </a:lnSpc>
              <a:spcBef>
                <a:spcPts val="0"/>
              </a:spcBef>
              <a:spcAft>
                <a:spcPts val="0"/>
              </a:spcAft>
              <a:buClr>
                <a:srgbClr val="3A9BF3"/>
              </a:buClr>
              <a:buSzPts val="2000"/>
              <a:buFont typeface="Montserrat"/>
              <a:buChar char="•"/>
            </a:pPr>
            <a:r>
              <a:rPr lang="en-US" sz="1800" dirty="0">
                <a:hlinkClick r:id="rId7"/>
              </a:rPr>
              <a:t>https://camaraproject.org/api-overview/</a:t>
            </a:r>
            <a:endParaRPr lang="en-US" sz="1800" dirty="0"/>
          </a:p>
          <a:p>
            <a:pPr marL="285750" lvl="0" indent="-311150" algn="l" rtl="0">
              <a:lnSpc>
                <a:spcPct val="104000"/>
              </a:lnSpc>
              <a:spcBef>
                <a:spcPts val="0"/>
              </a:spcBef>
              <a:spcAft>
                <a:spcPts val="0"/>
              </a:spcAft>
              <a:buClr>
                <a:srgbClr val="3A9BF3"/>
              </a:buClr>
              <a:buSzPts val="2000"/>
              <a:buFont typeface="Montserrat"/>
              <a:buChar char="•"/>
            </a:pPr>
            <a:endParaRPr lang="en-US" sz="1800" dirty="0"/>
          </a:p>
          <a:p>
            <a:pPr marL="285750" lvl="0" indent="-311150" algn="l" rtl="0">
              <a:lnSpc>
                <a:spcPct val="104000"/>
              </a:lnSpc>
              <a:spcBef>
                <a:spcPts val="0"/>
              </a:spcBef>
              <a:spcAft>
                <a:spcPts val="0"/>
              </a:spcAft>
              <a:buClr>
                <a:srgbClr val="3A9BF3"/>
              </a:buClr>
              <a:buSzPts val="2000"/>
              <a:buFont typeface="Montserrat"/>
              <a:buChar char="•"/>
            </a:pPr>
            <a:r>
              <a:rPr lang="en-US" sz="1800" dirty="0"/>
              <a:t>Mature APIs</a:t>
            </a:r>
          </a:p>
          <a:p>
            <a:pPr marL="285750" lvl="0" indent="-311150" algn="l" rtl="0">
              <a:lnSpc>
                <a:spcPct val="104000"/>
              </a:lnSpc>
              <a:spcBef>
                <a:spcPts val="0"/>
              </a:spcBef>
              <a:spcAft>
                <a:spcPts val="0"/>
              </a:spcAft>
              <a:buClr>
                <a:srgbClr val="3A9BF3"/>
              </a:buClr>
              <a:buSzPts val="2000"/>
              <a:buFont typeface="Montserrat"/>
              <a:buChar char="•"/>
            </a:pPr>
            <a:endParaRPr lang="en-US" sz="1800" dirty="0"/>
          </a:p>
          <a:p>
            <a:pPr marL="285750" lvl="0" indent="-311150" algn="l" rtl="0">
              <a:lnSpc>
                <a:spcPct val="104000"/>
              </a:lnSpc>
              <a:spcBef>
                <a:spcPts val="0"/>
              </a:spcBef>
              <a:spcAft>
                <a:spcPts val="0"/>
              </a:spcAft>
              <a:buClr>
                <a:srgbClr val="3A9BF3"/>
              </a:buClr>
              <a:buSzPts val="2000"/>
              <a:buFont typeface="Montserrat"/>
              <a:buChar char="•"/>
            </a:pPr>
            <a:r>
              <a:rPr lang="en-US" sz="1800" dirty="0"/>
              <a:t>APIs in earlier development</a:t>
            </a:r>
            <a:endParaRPr sz="1800" dirty="0"/>
          </a:p>
        </p:txBody>
      </p:sp>
      <p:pic>
        <p:nvPicPr>
          <p:cNvPr id="5" name="Grafik 4">
            <a:extLst>
              <a:ext uri="{FF2B5EF4-FFF2-40B4-BE49-F238E27FC236}">
                <a16:creationId xmlns:a16="http://schemas.microsoft.com/office/drawing/2014/main" xmlns="" id="{2C1AD166-EA97-B8E8-34F6-A85129742B08}"/>
              </a:ext>
            </a:extLst>
          </p:cNvPr>
          <p:cNvPicPr>
            <a:picLocks noChangeAspect="1"/>
          </p:cNvPicPr>
          <p:nvPr/>
        </p:nvPicPr>
        <p:blipFill>
          <a:blip r:embed="rId8"/>
          <a:stretch>
            <a:fillRect/>
          </a:stretch>
        </p:blipFill>
        <p:spPr>
          <a:xfrm>
            <a:off x="616036" y="1919066"/>
            <a:ext cx="6129820" cy="4264863"/>
          </a:xfrm>
          <a:prstGeom prst="rect">
            <a:avLst/>
          </a:prstGeom>
          <a:ln w="3175">
            <a:solidFill>
              <a:schemeClr val="tx1"/>
            </a:solidFill>
          </a:ln>
        </p:spPr>
      </p:pic>
    </p:spTree>
    <p:extLst>
      <p:ext uri="{BB962C8B-B14F-4D97-AF65-F5344CB8AC3E}">
        <p14:creationId xmlns:p14="http://schemas.microsoft.com/office/powerpoint/2010/main" val="2243311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7F2321E1-4158-C6E1-EB8F-96A44C8D6085}"/>
              </a:ext>
            </a:extLst>
          </p:cNvPr>
          <p:cNvGraphicFramePr>
            <a:graphicFrameLocks/>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078" name="thinkcell Folie" r:id="rId5" imgW="532" imgH="533" progId="TCLayout.ActiveDocument.1">
                  <p:embed/>
                </p:oleObj>
              </mc:Choice>
              <mc:Fallback>
                <p:oleObj name="thinkcell Folie" r:id="rId5" imgW="532" imgH="533" progId="TCLayout.ActiveDocument.1">
                  <p:embed/>
                  <p:pic>
                    <p:nvPicPr>
                      <p:cNvPr id="7" name="think-cell data - do not delete" hidden="1">
                        <a:extLst>
                          <a:ext uri="{FF2B5EF4-FFF2-40B4-BE49-F238E27FC236}">
                            <a16:creationId xmlns:a16="http://schemas.microsoft.com/office/drawing/2014/main" xmlns="" id="{7F2321E1-4158-C6E1-EB8F-96A44C8D608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92" name="Google Shape;592;g3128783cbcc_0_230"/>
          <p:cNvSpPr txBox="1">
            <a:spLocks noGrp="1"/>
          </p:cNvSpPr>
          <p:nvPr>
            <p:ph type="title"/>
          </p:nvPr>
        </p:nvSpPr>
        <p:spPr>
          <a:xfrm>
            <a:off x="444373" y="413152"/>
            <a:ext cx="10944300" cy="784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dirty="0"/>
              <a:t>API Descriptions</a:t>
            </a:r>
            <a:endParaRPr dirty="0"/>
          </a:p>
        </p:txBody>
      </p:sp>
      <p:pic>
        <p:nvPicPr>
          <p:cNvPr id="3" name="Grafik 2">
            <a:extLst>
              <a:ext uri="{FF2B5EF4-FFF2-40B4-BE49-F238E27FC236}">
                <a16:creationId xmlns:a16="http://schemas.microsoft.com/office/drawing/2014/main" xmlns="" id="{E2341FBF-5D79-C5F0-C476-0907DEF971E5}"/>
              </a:ext>
            </a:extLst>
          </p:cNvPr>
          <p:cNvPicPr>
            <a:picLocks noChangeAspect="1"/>
          </p:cNvPicPr>
          <p:nvPr/>
        </p:nvPicPr>
        <p:blipFill>
          <a:blip r:embed="rId7"/>
          <a:stretch>
            <a:fillRect/>
          </a:stretch>
        </p:blipFill>
        <p:spPr>
          <a:xfrm>
            <a:off x="530608" y="1915691"/>
            <a:ext cx="6136507" cy="4279920"/>
          </a:xfrm>
          <a:prstGeom prst="rect">
            <a:avLst/>
          </a:prstGeom>
          <a:ln w="3175">
            <a:solidFill>
              <a:schemeClr val="tx1"/>
            </a:solidFill>
          </a:ln>
        </p:spPr>
      </p:pic>
      <p:sp>
        <p:nvSpPr>
          <p:cNvPr id="4" name="Google Shape;441;p17">
            <a:extLst>
              <a:ext uri="{FF2B5EF4-FFF2-40B4-BE49-F238E27FC236}">
                <a16:creationId xmlns:a16="http://schemas.microsoft.com/office/drawing/2014/main" xmlns="" id="{26107B30-C954-AE98-DA55-5EBE5B67E289}"/>
              </a:ext>
            </a:extLst>
          </p:cNvPr>
          <p:cNvSpPr txBox="1">
            <a:spLocks noGrp="1"/>
          </p:cNvSpPr>
          <p:nvPr>
            <p:ph type="body" idx="1"/>
          </p:nvPr>
        </p:nvSpPr>
        <p:spPr>
          <a:xfrm>
            <a:off x="7444273" y="1989775"/>
            <a:ext cx="3744300" cy="3561954"/>
          </a:xfrm>
          <a:prstGeom prst="rect">
            <a:avLst/>
          </a:prstGeom>
          <a:noFill/>
          <a:ln>
            <a:noFill/>
          </a:ln>
        </p:spPr>
        <p:txBody>
          <a:bodyPr spcFirstLastPara="1" wrap="square" lIns="0" tIns="0" rIns="0" bIns="0" anchor="t" anchorCtr="0">
            <a:noAutofit/>
          </a:bodyPr>
          <a:lstStyle/>
          <a:p>
            <a:pPr marL="285750" lvl="0" indent="-311150" algn="l" rtl="0">
              <a:lnSpc>
                <a:spcPct val="104000"/>
              </a:lnSpc>
              <a:spcBef>
                <a:spcPts val="0"/>
              </a:spcBef>
              <a:spcAft>
                <a:spcPts val="0"/>
              </a:spcAft>
              <a:buClr>
                <a:srgbClr val="3A9BF3"/>
              </a:buClr>
              <a:buSzPts val="2000"/>
              <a:buFont typeface="Montserrat"/>
              <a:buChar char="•"/>
            </a:pPr>
            <a:r>
              <a:rPr lang="en-US" sz="1800" dirty="0"/>
              <a:t>API description</a:t>
            </a:r>
          </a:p>
          <a:p>
            <a:pPr marL="285750" lvl="0" indent="-311150" algn="l" rtl="0">
              <a:lnSpc>
                <a:spcPct val="104000"/>
              </a:lnSpc>
              <a:spcBef>
                <a:spcPts val="0"/>
              </a:spcBef>
              <a:spcAft>
                <a:spcPts val="0"/>
              </a:spcAft>
              <a:buClr>
                <a:srgbClr val="3A9BF3"/>
              </a:buClr>
              <a:buSzPts val="2000"/>
              <a:buFont typeface="Montserrat"/>
              <a:buChar char="•"/>
            </a:pPr>
            <a:r>
              <a:rPr lang="en-US" sz="1800" dirty="0"/>
              <a:t>Use Cases</a:t>
            </a:r>
          </a:p>
          <a:p>
            <a:pPr marL="285750" lvl="0" indent="-311150" algn="l" rtl="0">
              <a:lnSpc>
                <a:spcPct val="104000"/>
              </a:lnSpc>
              <a:spcBef>
                <a:spcPts val="0"/>
              </a:spcBef>
              <a:spcAft>
                <a:spcPts val="0"/>
              </a:spcAft>
              <a:buClr>
                <a:srgbClr val="3A9BF3"/>
              </a:buClr>
              <a:buSzPts val="2000"/>
              <a:buFont typeface="Montserrat"/>
              <a:buChar char="•"/>
            </a:pPr>
            <a:r>
              <a:rPr lang="en-US" sz="1800" dirty="0"/>
              <a:t>Benefits</a:t>
            </a:r>
          </a:p>
          <a:p>
            <a:pPr marL="285750" lvl="0" indent="-311150" algn="l" rtl="0">
              <a:lnSpc>
                <a:spcPct val="104000"/>
              </a:lnSpc>
              <a:spcBef>
                <a:spcPts val="0"/>
              </a:spcBef>
              <a:spcAft>
                <a:spcPts val="0"/>
              </a:spcAft>
              <a:buClr>
                <a:srgbClr val="3A9BF3"/>
              </a:buClr>
              <a:buSzPts val="2000"/>
              <a:buFont typeface="Montserrat"/>
              <a:buChar char="•"/>
            </a:pPr>
            <a:endParaRPr lang="en-US" sz="1800" dirty="0"/>
          </a:p>
          <a:p>
            <a:pPr marL="285750" lvl="0" indent="-311150" algn="l" rtl="0">
              <a:lnSpc>
                <a:spcPct val="104000"/>
              </a:lnSpc>
              <a:spcBef>
                <a:spcPts val="0"/>
              </a:spcBef>
              <a:spcAft>
                <a:spcPts val="0"/>
              </a:spcAft>
              <a:buClr>
                <a:srgbClr val="3A9BF3"/>
              </a:buClr>
              <a:buSzPts val="2000"/>
              <a:buFont typeface="Montserrat"/>
              <a:buChar char="•"/>
            </a:pPr>
            <a:r>
              <a:rPr lang="en-US" sz="1800" dirty="0"/>
              <a:t>Links to</a:t>
            </a:r>
          </a:p>
          <a:p>
            <a:pPr marL="742950" lvl="1" indent="-311150">
              <a:spcBef>
                <a:spcPts val="0"/>
              </a:spcBef>
              <a:buClr>
                <a:srgbClr val="3A9BF3"/>
              </a:buClr>
              <a:buSzPts val="2000"/>
              <a:buFont typeface="Montserrat"/>
              <a:buChar char="•"/>
            </a:pPr>
            <a:r>
              <a:rPr lang="en-US" sz="1800" dirty="0"/>
              <a:t>Sub Project (contacts)</a:t>
            </a:r>
          </a:p>
          <a:p>
            <a:pPr marL="742950" lvl="1" indent="-311150">
              <a:spcBef>
                <a:spcPts val="0"/>
              </a:spcBef>
              <a:buClr>
                <a:srgbClr val="3A9BF3"/>
              </a:buClr>
              <a:buSzPts val="2000"/>
              <a:buFont typeface="Montserrat"/>
              <a:buChar char="•"/>
            </a:pPr>
            <a:r>
              <a:rPr lang="en-US" sz="1800" dirty="0"/>
              <a:t>API Wiki</a:t>
            </a:r>
          </a:p>
          <a:p>
            <a:pPr marL="742950" lvl="1" indent="-311150">
              <a:spcBef>
                <a:spcPts val="0"/>
              </a:spcBef>
              <a:buClr>
                <a:srgbClr val="3A9BF3"/>
              </a:buClr>
              <a:buSzPts val="2000"/>
              <a:buFont typeface="Montserrat"/>
              <a:buChar char="•"/>
            </a:pPr>
            <a:r>
              <a:rPr lang="en-US" sz="1800" dirty="0"/>
              <a:t>API repository</a:t>
            </a:r>
          </a:p>
          <a:p>
            <a:pPr marL="742950" lvl="1" indent="-311150">
              <a:spcBef>
                <a:spcPts val="0"/>
              </a:spcBef>
              <a:buClr>
                <a:srgbClr val="3A9BF3"/>
              </a:buClr>
              <a:buSzPts val="2000"/>
              <a:buFont typeface="Montserrat"/>
              <a:buChar char="•"/>
            </a:pPr>
            <a:r>
              <a:rPr lang="en-US" sz="1800" dirty="0"/>
              <a:t>API version(s)</a:t>
            </a:r>
          </a:p>
          <a:p>
            <a:pPr marL="742950" lvl="1" indent="-311150">
              <a:spcBef>
                <a:spcPts val="0"/>
              </a:spcBef>
              <a:buClr>
                <a:srgbClr val="3A9BF3"/>
              </a:buClr>
              <a:buSzPts val="2000"/>
              <a:buFont typeface="Montserrat"/>
              <a:buChar char="•"/>
            </a:pPr>
            <a:r>
              <a:rPr lang="en-US" sz="1800" dirty="0"/>
              <a:t>GSMA public launch status</a:t>
            </a:r>
            <a:endParaRPr sz="1800" dirty="0"/>
          </a:p>
        </p:txBody>
      </p:sp>
    </p:spTree>
    <p:extLst>
      <p:ext uri="{BB962C8B-B14F-4D97-AF65-F5344CB8AC3E}">
        <p14:creationId xmlns:p14="http://schemas.microsoft.com/office/powerpoint/2010/main" val="15354819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xmlns="" id="{EDEBCB3D-3F0E-46AB-AD66-382D1CF38991}"/>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102" name="thinkcell Folie" r:id="rId5" imgW="532" imgH="533" progId="TCLayout.ActiveDocument.1">
                  <p:embed/>
                </p:oleObj>
              </mc:Choice>
              <mc:Fallback>
                <p:oleObj name="thinkcell Folie" r:id="rId5" imgW="532" imgH="533" progId="TCLayout.ActiveDocument.1">
                  <p:embed/>
                  <p:pic>
                    <p:nvPicPr>
                      <p:cNvPr id="3" name="think-cell data - do not delete" hidden="1">
                        <a:extLst>
                          <a:ext uri="{FF2B5EF4-FFF2-40B4-BE49-F238E27FC236}">
                            <a16:creationId xmlns:a16="http://schemas.microsoft.com/office/drawing/2014/main" xmlns="" id="{EDEBCB3D-3F0E-46AB-AD66-382D1CF3899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98" name="Google Shape;798;p25"/>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dirty="0"/>
              <a:t>How CAMARA Works</a:t>
            </a:r>
            <a:endParaRPr dirty="0"/>
          </a:p>
        </p:txBody>
      </p:sp>
      <p:grpSp>
        <p:nvGrpSpPr>
          <p:cNvPr id="11" name="Gruppieren 10">
            <a:extLst>
              <a:ext uri="{FF2B5EF4-FFF2-40B4-BE49-F238E27FC236}">
                <a16:creationId xmlns:a16="http://schemas.microsoft.com/office/drawing/2014/main" xmlns="" id="{54309443-FB38-DD0A-3F50-1DF64489EF0F}"/>
              </a:ext>
            </a:extLst>
          </p:cNvPr>
          <p:cNvGrpSpPr/>
          <p:nvPr/>
        </p:nvGrpSpPr>
        <p:grpSpPr>
          <a:xfrm>
            <a:off x="7419917" y="4883099"/>
            <a:ext cx="1969200" cy="1261963"/>
            <a:chOff x="5905539" y="3318845"/>
            <a:chExt cx="1969200" cy="1261963"/>
          </a:xfrm>
        </p:grpSpPr>
        <p:sp>
          <p:nvSpPr>
            <p:cNvPr id="803" name="Google Shape;803;p25"/>
            <p:cNvSpPr/>
            <p:nvPr/>
          </p:nvSpPr>
          <p:spPr>
            <a:xfrm>
              <a:off x="6080139" y="3318845"/>
              <a:ext cx="1620000" cy="630300"/>
            </a:xfrm>
            <a:prstGeom prst="roundRect">
              <a:avLst>
                <a:gd name="adj" fmla="val 16667"/>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dirty="0">
                  <a:solidFill>
                    <a:srgbClr val="FFFFFF"/>
                  </a:solidFill>
                  <a:latin typeface="Montserrat SemiBold"/>
                  <a:ea typeface="Montserrat SemiBold"/>
                  <a:cs typeface="Montserrat SemiBold"/>
                  <a:sym typeface="Montserrat SemiBold"/>
                </a:rPr>
                <a:t>Marketing / Outreach</a:t>
              </a:r>
              <a:endParaRPr dirty="0"/>
            </a:p>
          </p:txBody>
        </p:sp>
        <p:sp>
          <p:nvSpPr>
            <p:cNvPr id="804" name="Google Shape;804;p25"/>
            <p:cNvSpPr txBox="1"/>
            <p:nvPr/>
          </p:nvSpPr>
          <p:spPr>
            <a:xfrm>
              <a:off x="5905539" y="3934308"/>
              <a:ext cx="19692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chemeClr val="dk1"/>
                  </a:solidFill>
                  <a:latin typeface="Montserrat Light"/>
                  <a:ea typeface="Montserrat Light"/>
                  <a:cs typeface="Montserrat Light"/>
                  <a:sym typeface="Montserrat Light"/>
                </a:rPr>
                <a:t>Plans and performs marketing activities for CAMARA</a:t>
              </a:r>
              <a:endParaRPr/>
            </a:p>
          </p:txBody>
        </p:sp>
      </p:grpSp>
      <p:grpSp>
        <p:nvGrpSpPr>
          <p:cNvPr id="5" name="Gruppieren 4">
            <a:extLst>
              <a:ext uri="{FF2B5EF4-FFF2-40B4-BE49-F238E27FC236}">
                <a16:creationId xmlns:a16="http://schemas.microsoft.com/office/drawing/2014/main" xmlns="" id="{870E3CF4-CD3C-B067-554B-098302425A05}"/>
              </a:ext>
            </a:extLst>
          </p:cNvPr>
          <p:cNvGrpSpPr/>
          <p:nvPr/>
        </p:nvGrpSpPr>
        <p:grpSpPr>
          <a:xfrm>
            <a:off x="2159403" y="4883099"/>
            <a:ext cx="1969200" cy="1077163"/>
            <a:chOff x="5905539" y="1872380"/>
            <a:chExt cx="1969200" cy="1077163"/>
          </a:xfrm>
        </p:grpSpPr>
        <p:sp>
          <p:nvSpPr>
            <p:cNvPr id="805" name="Google Shape;805;p25"/>
            <p:cNvSpPr/>
            <p:nvPr/>
          </p:nvSpPr>
          <p:spPr>
            <a:xfrm>
              <a:off x="6080139" y="1872380"/>
              <a:ext cx="1620000" cy="63030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dirty="0">
                  <a:solidFill>
                    <a:srgbClr val="FFFFFF"/>
                  </a:solidFill>
                  <a:latin typeface="Montserrat SemiBold"/>
                  <a:ea typeface="Montserrat SemiBold"/>
                  <a:cs typeface="Montserrat SemiBold"/>
                  <a:sym typeface="Montserrat SemiBold"/>
                </a:rPr>
                <a:t>API Backlog</a:t>
              </a:r>
              <a:endParaRPr dirty="0"/>
            </a:p>
          </p:txBody>
        </p:sp>
        <p:sp>
          <p:nvSpPr>
            <p:cNvPr id="806" name="Google Shape;806;p25"/>
            <p:cNvSpPr txBox="1"/>
            <p:nvPr/>
          </p:nvSpPr>
          <p:spPr>
            <a:xfrm>
              <a:off x="5905539" y="2487843"/>
              <a:ext cx="19692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chemeClr val="dk1"/>
                  </a:solidFill>
                  <a:latin typeface="Montserrat Light"/>
                  <a:ea typeface="Montserrat Light"/>
                  <a:cs typeface="Montserrat Light"/>
                  <a:sym typeface="Montserrat Light"/>
                </a:rPr>
                <a:t>Maintains the API Backlog for CAMARA</a:t>
              </a:r>
              <a:endParaRPr/>
            </a:p>
          </p:txBody>
        </p:sp>
      </p:grpSp>
      <p:grpSp>
        <p:nvGrpSpPr>
          <p:cNvPr id="12" name="Gruppieren 11">
            <a:extLst>
              <a:ext uri="{FF2B5EF4-FFF2-40B4-BE49-F238E27FC236}">
                <a16:creationId xmlns:a16="http://schemas.microsoft.com/office/drawing/2014/main" xmlns="" id="{0C86AAF6-AADE-120C-19FC-8310A3BD3787}"/>
              </a:ext>
            </a:extLst>
          </p:cNvPr>
          <p:cNvGrpSpPr/>
          <p:nvPr/>
        </p:nvGrpSpPr>
        <p:grpSpPr>
          <a:xfrm>
            <a:off x="9172367" y="4883099"/>
            <a:ext cx="1969200" cy="1446463"/>
            <a:chOff x="7685250" y="3318845"/>
            <a:chExt cx="1969200" cy="1446463"/>
          </a:xfrm>
        </p:grpSpPr>
        <p:sp>
          <p:nvSpPr>
            <p:cNvPr id="808" name="Google Shape;808;p25"/>
            <p:cNvSpPr/>
            <p:nvPr/>
          </p:nvSpPr>
          <p:spPr>
            <a:xfrm>
              <a:off x="7859850" y="3318845"/>
              <a:ext cx="1620000" cy="63030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dirty="0">
                  <a:solidFill>
                    <a:srgbClr val="FFFFFF"/>
                  </a:solidFill>
                  <a:latin typeface="Montserrat SemiBold"/>
                  <a:ea typeface="Montserrat SemiBold"/>
                  <a:cs typeface="Montserrat SemiBold"/>
                  <a:sym typeface="Montserrat SemiBold"/>
                </a:rPr>
                <a:t>Release Management</a:t>
              </a:r>
              <a:endParaRPr dirty="0"/>
            </a:p>
          </p:txBody>
        </p:sp>
        <p:sp>
          <p:nvSpPr>
            <p:cNvPr id="809" name="Google Shape;809;p25"/>
            <p:cNvSpPr txBox="1"/>
            <p:nvPr/>
          </p:nvSpPr>
          <p:spPr>
            <a:xfrm>
              <a:off x="7685250" y="3934308"/>
              <a:ext cx="1969200" cy="831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chemeClr val="dk1"/>
                  </a:solidFill>
                  <a:latin typeface="Montserrat Light"/>
                  <a:ea typeface="Montserrat Light"/>
                  <a:cs typeface="Montserrat Light"/>
                  <a:sym typeface="Montserrat Light"/>
                </a:rPr>
                <a:t> Guidelines and assets for Release Management in CAMARA</a:t>
              </a:r>
              <a:endParaRPr/>
            </a:p>
          </p:txBody>
        </p:sp>
      </p:grpSp>
      <p:grpSp>
        <p:nvGrpSpPr>
          <p:cNvPr id="6" name="Gruppieren 5">
            <a:extLst>
              <a:ext uri="{FF2B5EF4-FFF2-40B4-BE49-F238E27FC236}">
                <a16:creationId xmlns:a16="http://schemas.microsoft.com/office/drawing/2014/main" xmlns="" id="{54599F0C-9C59-C66E-1BF3-2BBFC2668AC1}"/>
              </a:ext>
            </a:extLst>
          </p:cNvPr>
          <p:cNvGrpSpPr/>
          <p:nvPr/>
        </p:nvGrpSpPr>
        <p:grpSpPr>
          <a:xfrm>
            <a:off x="3910832" y="4883099"/>
            <a:ext cx="1969200" cy="1259064"/>
            <a:chOff x="7685313" y="1872380"/>
            <a:chExt cx="1969200" cy="1259064"/>
          </a:xfrm>
        </p:grpSpPr>
        <p:sp>
          <p:nvSpPr>
            <p:cNvPr id="810" name="Google Shape;810;p25"/>
            <p:cNvSpPr/>
            <p:nvPr/>
          </p:nvSpPr>
          <p:spPr>
            <a:xfrm>
              <a:off x="7859913" y="1872380"/>
              <a:ext cx="1620000" cy="63030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dirty="0">
                  <a:solidFill>
                    <a:srgbClr val="FFFFFF"/>
                  </a:solidFill>
                  <a:latin typeface="Montserrat SemiBold"/>
                  <a:ea typeface="Montserrat SemiBold"/>
                  <a:cs typeface="Montserrat SemiBold"/>
                  <a:sym typeface="Montserrat SemiBold"/>
                </a:rPr>
                <a:t>Common-</a:t>
              </a:r>
              <a:endParaRPr sz="1400" b="1" dirty="0">
                <a:solidFill>
                  <a:srgbClr val="FFFFFF"/>
                </a:solidFill>
                <a:latin typeface="Montserrat SemiBold"/>
                <a:ea typeface="Montserrat SemiBold"/>
                <a:cs typeface="Montserrat SemiBold"/>
                <a:sym typeface="Montserrat SemiBold"/>
              </a:endParaRPr>
            </a:p>
            <a:p>
              <a:pPr marL="0" marR="0" lvl="0" indent="0" algn="ctr" rtl="0">
                <a:spcBef>
                  <a:spcPts val="0"/>
                </a:spcBef>
                <a:spcAft>
                  <a:spcPts val="0"/>
                </a:spcAft>
                <a:buNone/>
              </a:pPr>
              <a:r>
                <a:rPr lang="en-US" sz="1400" b="1" dirty="0" err="1">
                  <a:solidFill>
                    <a:srgbClr val="FFFFFF"/>
                  </a:solidFill>
                  <a:latin typeface="Montserrat SemiBold"/>
                  <a:ea typeface="Montserrat SemiBold"/>
                  <a:cs typeface="Montserrat SemiBold"/>
                  <a:sym typeface="Montserrat SemiBold"/>
                </a:rPr>
                <a:t>alities</a:t>
              </a:r>
              <a:endParaRPr sz="1400" b="1" dirty="0">
                <a:solidFill>
                  <a:srgbClr val="FFFFFF"/>
                </a:solidFill>
                <a:latin typeface="Montserrat SemiBold"/>
                <a:ea typeface="Montserrat SemiBold"/>
                <a:cs typeface="Montserrat SemiBold"/>
                <a:sym typeface="Montserrat SemiBold"/>
              </a:endParaRPr>
            </a:p>
          </p:txBody>
        </p:sp>
        <p:sp>
          <p:nvSpPr>
            <p:cNvPr id="811" name="Google Shape;811;p25"/>
            <p:cNvSpPr txBox="1"/>
            <p:nvPr/>
          </p:nvSpPr>
          <p:spPr>
            <a:xfrm>
              <a:off x="7685313" y="2484944"/>
              <a:ext cx="19692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dirty="0">
                  <a:solidFill>
                    <a:schemeClr val="dk1"/>
                  </a:solidFill>
                  <a:latin typeface="Montserrat Light"/>
                  <a:ea typeface="Montserrat Light"/>
                  <a:cs typeface="Montserrat Light"/>
                  <a:sym typeface="Montserrat Light"/>
                </a:rPr>
                <a:t>Guidelines and assets mandatory for all CAMARA Sub Projects</a:t>
              </a:r>
              <a:endParaRPr dirty="0"/>
            </a:p>
          </p:txBody>
        </p:sp>
      </p:grpSp>
      <p:grpSp>
        <p:nvGrpSpPr>
          <p:cNvPr id="7" name="Gruppieren 6">
            <a:extLst>
              <a:ext uri="{FF2B5EF4-FFF2-40B4-BE49-F238E27FC236}">
                <a16:creationId xmlns:a16="http://schemas.microsoft.com/office/drawing/2014/main" xmlns="" id="{48E350AC-2A57-6741-3DDA-9F74A8687679}"/>
              </a:ext>
            </a:extLst>
          </p:cNvPr>
          <p:cNvGrpSpPr/>
          <p:nvPr/>
        </p:nvGrpSpPr>
        <p:grpSpPr>
          <a:xfrm>
            <a:off x="5662262" y="4883099"/>
            <a:ext cx="1969200" cy="1446460"/>
            <a:chOff x="9514919" y="1872380"/>
            <a:chExt cx="1969200" cy="1446460"/>
          </a:xfrm>
        </p:grpSpPr>
        <p:sp>
          <p:nvSpPr>
            <p:cNvPr id="826" name="Google Shape;826;p25"/>
            <p:cNvSpPr/>
            <p:nvPr/>
          </p:nvSpPr>
          <p:spPr>
            <a:xfrm>
              <a:off x="9689519" y="1872380"/>
              <a:ext cx="1620000" cy="630324"/>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dirty="0">
                  <a:solidFill>
                    <a:srgbClr val="FFFFFF"/>
                  </a:solidFill>
                  <a:latin typeface="Montserrat SemiBold"/>
                  <a:ea typeface="Montserrat SemiBold"/>
                  <a:cs typeface="Montserrat SemiBold"/>
                  <a:sym typeface="Montserrat SemiBold"/>
                </a:rPr>
                <a:t>Identity and Consent M</a:t>
              </a:r>
              <a:r>
                <a:rPr lang="en-US" b="1" dirty="0">
                  <a:solidFill>
                    <a:srgbClr val="FFFFFF"/>
                  </a:solidFill>
                  <a:latin typeface="Montserrat SemiBold"/>
                  <a:ea typeface="Montserrat SemiBold"/>
                  <a:cs typeface="Montserrat SemiBold"/>
                  <a:sym typeface="Montserrat SemiBold"/>
                </a:rPr>
                <a:t>anagement</a:t>
              </a:r>
              <a:endParaRPr sz="1400" b="1" dirty="0">
                <a:solidFill>
                  <a:srgbClr val="FFFFFF"/>
                </a:solidFill>
                <a:latin typeface="Montserrat SemiBold"/>
                <a:ea typeface="Montserrat SemiBold"/>
                <a:cs typeface="Montserrat SemiBold"/>
                <a:sym typeface="Montserrat SemiBold"/>
              </a:endParaRPr>
            </a:p>
          </p:txBody>
        </p:sp>
        <p:sp>
          <p:nvSpPr>
            <p:cNvPr id="827" name="Google Shape;827;p25"/>
            <p:cNvSpPr txBox="1"/>
            <p:nvPr/>
          </p:nvSpPr>
          <p:spPr>
            <a:xfrm>
              <a:off x="9514919" y="2487843"/>
              <a:ext cx="196920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dirty="0">
                  <a:solidFill>
                    <a:schemeClr val="dk1"/>
                  </a:solidFill>
                  <a:latin typeface="Montserrat Light"/>
                  <a:ea typeface="Montserrat Light"/>
                  <a:cs typeface="Montserrat Light"/>
                  <a:sym typeface="Montserrat Light"/>
                </a:rPr>
                <a:t>Provides solutions to capture, store and manage user consent</a:t>
              </a:r>
              <a:endParaRPr dirty="0"/>
            </a:p>
          </p:txBody>
        </p:sp>
      </p:grpSp>
      <p:grpSp>
        <p:nvGrpSpPr>
          <p:cNvPr id="2" name="Gruppieren 1">
            <a:extLst>
              <a:ext uri="{FF2B5EF4-FFF2-40B4-BE49-F238E27FC236}">
                <a16:creationId xmlns:a16="http://schemas.microsoft.com/office/drawing/2014/main" xmlns="" id="{99AE14F2-0F04-09CB-1BAA-527B26F27103}"/>
              </a:ext>
            </a:extLst>
          </p:cNvPr>
          <p:cNvGrpSpPr/>
          <p:nvPr/>
        </p:nvGrpSpPr>
        <p:grpSpPr>
          <a:xfrm>
            <a:off x="402903" y="3500654"/>
            <a:ext cx="1969200" cy="1092862"/>
            <a:chOff x="2224187" y="1842531"/>
            <a:chExt cx="1969200" cy="1092862"/>
          </a:xfrm>
        </p:grpSpPr>
        <p:sp>
          <p:nvSpPr>
            <p:cNvPr id="4" name="Google Shape;779;p24">
              <a:extLst>
                <a:ext uri="{FF2B5EF4-FFF2-40B4-BE49-F238E27FC236}">
                  <a16:creationId xmlns:a16="http://schemas.microsoft.com/office/drawing/2014/main" xmlns="" id="{732357BC-AACC-E71B-A4F1-BEF66262D9B5}"/>
                </a:ext>
              </a:extLst>
            </p:cNvPr>
            <p:cNvSpPr/>
            <p:nvPr/>
          </p:nvSpPr>
          <p:spPr>
            <a:xfrm>
              <a:off x="2398787" y="1842531"/>
              <a:ext cx="1620000" cy="646500"/>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rgbClr val="FFFFFF"/>
                  </a:solidFill>
                  <a:latin typeface="Montserrat SemiBold"/>
                  <a:ea typeface="Montserrat SemiBold"/>
                  <a:cs typeface="Montserrat SemiBold"/>
                  <a:sym typeface="Montserrat SemiBold"/>
                </a:rPr>
                <a:t>Sub Project</a:t>
              </a:r>
              <a:endParaRPr dirty="0"/>
            </a:p>
          </p:txBody>
        </p:sp>
        <p:sp>
          <p:nvSpPr>
            <p:cNvPr id="8" name="Google Shape;780;p24">
              <a:extLst>
                <a:ext uri="{FF2B5EF4-FFF2-40B4-BE49-F238E27FC236}">
                  <a16:creationId xmlns:a16="http://schemas.microsoft.com/office/drawing/2014/main" xmlns="" id="{6E25F6EA-231A-659B-EE58-2688948C221E}"/>
                </a:ext>
              </a:extLst>
            </p:cNvPr>
            <p:cNvSpPr txBox="1"/>
            <p:nvPr/>
          </p:nvSpPr>
          <p:spPr>
            <a:xfrm>
              <a:off x="2224187" y="2473769"/>
              <a:ext cx="196920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dirty="0">
                  <a:solidFill>
                    <a:schemeClr val="dk1"/>
                  </a:solidFill>
                  <a:latin typeface="Montserrat Light"/>
                  <a:ea typeface="Montserrat Light"/>
                  <a:cs typeface="Montserrat Light"/>
                  <a:sym typeface="Montserrat Light"/>
                </a:rPr>
                <a:t>Drives one or more (mature) APIs</a:t>
              </a:r>
              <a:endParaRPr dirty="0"/>
            </a:p>
          </p:txBody>
        </p:sp>
      </p:grpSp>
      <p:grpSp>
        <p:nvGrpSpPr>
          <p:cNvPr id="9" name="Gruppieren 8">
            <a:extLst>
              <a:ext uri="{FF2B5EF4-FFF2-40B4-BE49-F238E27FC236}">
                <a16:creationId xmlns:a16="http://schemas.microsoft.com/office/drawing/2014/main" xmlns="" id="{5F9716FD-E0F0-47AF-B68D-95889B76D226}"/>
              </a:ext>
            </a:extLst>
          </p:cNvPr>
          <p:cNvGrpSpPr/>
          <p:nvPr/>
        </p:nvGrpSpPr>
        <p:grpSpPr>
          <a:xfrm>
            <a:off x="403543" y="2306887"/>
            <a:ext cx="1968560" cy="1092862"/>
            <a:chOff x="221736" y="1842531"/>
            <a:chExt cx="1968560" cy="1092862"/>
          </a:xfrm>
        </p:grpSpPr>
        <p:sp>
          <p:nvSpPr>
            <p:cNvPr id="10" name="Google Shape;786;p24">
              <a:extLst>
                <a:ext uri="{FF2B5EF4-FFF2-40B4-BE49-F238E27FC236}">
                  <a16:creationId xmlns:a16="http://schemas.microsoft.com/office/drawing/2014/main" xmlns="" id="{D0B04ADD-9B97-5A77-4591-D3F879D69DDC}"/>
                </a:ext>
              </a:extLst>
            </p:cNvPr>
            <p:cNvSpPr/>
            <p:nvPr/>
          </p:nvSpPr>
          <p:spPr>
            <a:xfrm>
              <a:off x="396016" y="1842531"/>
              <a:ext cx="1620000" cy="646500"/>
            </a:xfrm>
            <a:prstGeom prst="roundRect">
              <a:avLst>
                <a:gd name="adj" fmla="val 16667"/>
              </a:avLst>
            </a:prstGeom>
            <a:solidFill>
              <a:schemeClr val="accent1">
                <a:lumMod val="40000"/>
                <a:lumOff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rgbClr val="FFFFFF"/>
                  </a:solidFill>
                  <a:latin typeface="Montserrat SemiBold"/>
                  <a:ea typeface="Montserrat SemiBold"/>
                  <a:cs typeface="Montserrat SemiBold"/>
                  <a:sym typeface="Montserrat SemiBold"/>
                </a:rPr>
                <a:t>Independent Sandbox</a:t>
              </a:r>
              <a:endParaRPr dirty="0"/>
            </a:p>
          </p:txBody>
        </p:sp>
        <p:sp>
          <p:nvSpPr>
            <p:cNvPr id="13" name="Google Shape;787;p24">
              <a:extLst>
                <a:ext uri="{FF2B5EF4-FFF2-40B4-BE49-F238E27FC236}">
                  <a16:creationId xmlns:a16="http://schemas.microsoft.com/office/drawing/2014/main" xmlns="" id="{541C767C-B55C-2039-7996-E1A8B87FE410}"/>
                </a:ext>
              </a:extLst>
            </p:cNvPr>
            <p:cNvSpPr txBox="1"/>
            <p:nvPr/>
          </p:nvSpPr>
          <p:spPr>
            <a:xfrm>
              <a:off x="221736" y="2473769"/>
              <a:ext cx="196856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dirty="0">
                  <a:solidFill>
                    <a:schemeClr val="dk1"/>
                  </a:solidFill>
                  <a:latin typeface="Montserrat Light"/>
                  <a:ea typeface="Montserrat Light"/>
                  <a:cs typeface="Montserrat Light"/>
                  <a:sym typeface="Montserrat Light"/>
                </a:rPr>
                <a:t>Drives APIs in early development</a:t>
              </a:r>
              <a:endParaRPr dirty="0"/>
            </a:p>
          </p:txBody>
        </p:sp>
      </p:grpSp>
      <p:cxnSp>
        <p:nvCxnSpPr>
          <p:cNvPr id="15" name="Gerade Verbindung mit Pfeil 14">
            <a:extLst>
              <a:ext uri="{FF2B5EF4-FFF2-40B4-BE49-F238E27FC236}">
                <a16:creationId xmlns:a16="http://schemas.microsoft.com/office/drawing/2014/main" xmlns="" id="{0C0491FC-A99F-5BE6-E796-209FE98FE6B0}"/>
              </a:ext>
            </a:extLst>
          </p:cNvPr>
          <p:cNvCxnSpPr>
            <a:cxnSpLocks/>
          </p:cNvCxnSpPr>
          <p:nvPr/>
        </p:nvCxnSpPr>
        <p:spPr>
          <a:xfrm flipV="1">
            <a:off x="2394523" y="1847850"/>
            <a:ext cx="19050" cy="283493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Gerade Verbindung mit Pfeil 17">
            <a:extLst>
              <a:ext uri="{FF2B5EF4-FFF2-40B4-BE49-F238E27FC236}">
                <a16:creationId xmlns:a16="http://schemas.microsoft.com/office/drawing/2014/main" xmlns="" id="{A80FEC42-0A0E-3B09-BDDE-EC4B28A85561}"/>
              </a:ext>
            </a:extLst>
          </p:cNvPr>
          <p:cNvCxnSpPr>
            <a:cxnSpLocks/>
          </p:cNvCxnSpPr>
          <p:nvPr/>
        </p:nvCxnSpPr>
        <p:spPr>
          <a:xfrm>
            <a:off x="2394523" y="4682785"/>
            <a:ext cx="857244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Gerade Verbindung mit Pfeil 20">
            <a:extLst>
              <a:ext uri="{FF2B5EF4-FFF2-40B4-BE49-F238E27FC236}">
                <a16:creationId xmlns:a16="http://schemas.microsoft.com/office/drawing/2014/main" xmlns="" id="{6EC3FD76-9304-C406-2398-FDEA8ABC99DA}"/>
              </a:ext>
            </a:extLst>
          </p:cNvPr>
          <p:cNvCxnSpPr>
            <a:cxnSpLocks/>
          </p:cNvCxnSpPr>
          <p:nvPr/>
        </p:nvCxnSpPr>
        <p:spPr>
          <a:xfrm flipV="1">
            <a:off x="2404048" y="1898328"/>
            <a:ext cx="5151589" cy="276638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24" name="Gruppieren 23">
            <a:extLst>
              <a:ext uri="{FF2B5EF4-FFF2-40B4-BE49-F238E27FC236}">
                <a16:creationId xmlns:a16="http://schemas.microsoft.com/office/drawing/2014/main" xmlns="" id="{F53C378A-EF5F-67B8-302A-C8A755AE5119}"/>
              </a:ext>
            </a:extLst>
          </p:cNvPr>
          <p:cNvGrpSpPr/>
          <p:nvPr/>
        </p:nvGrpSpPr>
        <p:grpSpPr>
          <a:xfrm>
            <a:off x="7456862" y="1929106"/>
            <a:ext cx="1969200" cy="1077087"/>
            <a:chOff x="5905539" y="1872380"/>
            <a:chExt cx="1969200" cy="1077087"/>
          </a:xfrm>
        </p:grpSpPr>
        <p:sp>
          <p:nvSpPr>
            <p:cNvPr id="25" name="Google Shape;805;p25">
              <a:extLst>
                <a:ext uri="{FF2B5EF4-FFF2-40B4-BE49-F238E27FC236}">
                  <a16:creationId xmlns:a16="http://schemas.microsoft.com/office/drawing/2014/main" xmlns="" id="{CA33D07E-21D5-286F-68ED-BF0EBC008667}"/>
                </a:ext>
              </a:extLst>
            </p:cNvPr>
            <p:cNvSpPr/>
            <p:nvPr/>
          </p:nvSpPr>
          <p:spPr>
            <a:xfrm>
              <a:off x="6080139" y="1872380"/>
              <a:ext cx="1620000" cy="630300"/>
            </a:xfrm>
            <a:prstGeom prst="roundRect">
              <a:avLst>
                <a:gd name="adj" fmla="val 16667"/>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dirty="0">
                  <a:solidFill>
                    <a:srgbClr val="FFFFFF"/>
                  </a:solidFill>
                  <a:latin typeface="Montserrat SemiBold"/>
                  <a:ea typeface="Montserrat SemiBold"/>
                  <a:cs typeface="Montserrat SemiBold"/>
                  <a:sym typeface="Montserrat SemiBold"/>
                </a:rPr>
                <a:t>Governing Board</a:t>
              </a:r>
              <a:endParaRPr dirty="0"/>
            </a:p>
          </p:txBody>
        </p:sp>
        <p:sp>
          <p:nvSpPr>
            <p:cNvPr id="26" name="Google Shape;806;p25">
              <a:extLst>
                <a:ext uri="{FF2B5EF4-FFF2-40B4-BE49-F238E27FC236}">
                  <a16:creationId xmlns:a16="http://schemas.microsoft.com/office/drawing/2014/main" xmlns="" id="{5E26F49E-2A45-F743-C18C-30B610D85408}"/>
                </a:ext>
              </a:extLst>
            </p:cNvPr>
            <p:cNvSpPr txBox="1"/>
            <p:nvPr/>
          </p:nvSpPr>
          <p:spPr>
            <a:xfrm>
              <a:off x="5905539" y="2487843"/>
              <a:ext cx="196920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dirty="0">
                  <a:solidFill>
                    <a:schemeClr val="dk1"/>
                  </a:solidFill>
                  <a:latin typeface="Montserrat Light"/>
                  <a:ea typeface="Montserrat Light"/>
                  <a:cs typeface="Montserrat Light"/>
                  <a:sym typeface="Montserrat Light"/>
                </a:rPr>
                <a:t>Strategy, financials, outreach</a:t>
              </a:r>
              <a:endParaRPr dirty="0"/>
            </a:p>
          </p:txBody>
        </p:sp>
      </p:grpSp>
      <p:grpSp>
        <p:nvGrpSpPr>
          <p:cNvPr id="27" name="Gruppieren 26">
            <a:extLst>
              <a:ext uri="{FF2B5EF4-FFF2-40B4-BE49-F238E27FC236}">
                <a16:creationId xmlns:a16="http://schemas.microsoft.com/office/drawing/2014/main" xmlns="" id="{3B5F958D-D356-4053-E5CB-BD56B226D3F3}"/>
              </a:ext>
            </a:extLst>
          </p:cNvPr>
          <p:cNvGrpSpPr/>
          <p:nvPr/>
        </p:nvGrpSpPr>
        <p:grpSpPr>
          <a:xfrm>
            <a:off x="4444040" y="3552014"/>
            <a:ext cx="1969200" cy="1077087"/>
            <a:chOff x="5905539" y="1872380"/>
            <a:chExt cx="1969200" cy="1077087"/>
          </a:xfrm>
        </p:grpSpPr>
        <p:sp>
          <p:nvSpPr>
            <p:cNvPr id="28" name="Google Shape;805;p25">
              <a:extLst>
                <a:ext uri="{FF2B5EF4-FFF2-40B4-BE49-F238E27FC236}">
                  <a16:creationId xmlns:a16="http://schemas.microsoft.com/office/drawing/2014/main" xmlns="" id="{A349AAAF-BC3E-EBAC-033D-5087117E7CE1}"/>
                </a:ext>
              </a:extLst>
            </p:cNvPr>
            <p:cNvSpPr/>
            <p:nvPr/>
          </p:nvSpPr>
          <p:spPr>
            <a:xfrm>
              <a:off x="6080139" y="1872380"/>
              <a:ext cx="1620000" cy="630300"/>
            </a:xfrm>
            <a:prstGeom prst="roundRect">
              <a:avLst>
                <a:gd name="adj" fmla="val 16667"/>
              </a:avLst>
            </a:prstGeom>
            <a:solidFill>
              <a:schemeClr val="accent2">
                <a:lumMod val="75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dirty="0">
                  <a:solidFill>
                    <a:srgbClr val="FFFFFF"/>
                  </a:solidFill>
                  <a:latin typeface="Montserrat SemiBold"/>
                  <a:ea typeface="Montserrat SemiBold"/>
                  <a:cs typeface="Montserrat SemiBold"/>
                  <a:sym typeface="Montserrat SemiBold"/>
                </a:rPr>
                <a:t>TSC</a:t>
              </a:r>
              <a:endParaRPr dirty="0"/>
            </a:p>
          </p:txBody>
        </p:sp>
        <p:sp>
          <p:nvSpPr>
            <p:cNvPr id="29" name="Google Shape;806;p25">
              <a:extLst>
                <a:ext uri="{FF2B5EF4-FFF2-40B4-BE49-F238E27FC236}">
                  <a16:creationId xmlns:a16="http://schemas.microsoft.com/office/drawing/2014/main" xmlns="" id="{58E7981A-086D-1519-317F-EA3CAA24CFA7}"/>
                </a:ext>
              </a:extLst>
            </p:cNvPr>
            <p:cNvSpPr txBox="1"/>
            <p:nvPr/>
          </p:nvSpPr>
          <p:spPr>
            <a:xfrm>
              <a:off x="5905539" y="2487843"/>
              <a:ext cx="196920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dirty="0">
                  <a:solidFill>
                    <a:schemeClr val="dk1"/>
                  </a:solidFill>
                  <a:latin typeface="Montserrat Light"/>
                  <a:ea typeface="Montserrat Light"/>
                  <a:cs typeface="Montserrat Light"/>
                  <a:sym typeface="Montserrat Light"/>
                </a:rPr>
                <a:t>Technical guidelines and decisions</a:t>
              </a:r>
              <a:endParaRPr dirty="0"/>
            </a:p>
          </p:txBody>
        </p:sp>
      </p:grpSp>
      <p:grpSp>
        <p:nvGrpSpPr>
          <p:cNvPr id="30" name="Gruppieren 29">
            <a:extLst>
              <a:ext uri="{FF2B5EF4-FFF2-40B4-BE49-F238E27FC236}">
                <a16:creationId xmlns:a16="http://schemas.microsoft.com/office/drawing/2014/main" xmlns="" id="{1DACE324-C188-EC5E-E22D-D52D3E89D945}"/>
              </a:ext>
            </a:extLst>
          </p:cNvPr>
          <p:cNvGrpSpPr/>
          <p:nvPr/>
        </p:nvGrpSpPr>
        <p:grpSpPr>
          <a:xfrm>
            <a:off x="5951537" y="2754278"/>
            <a:ext cx="1969200" cy="1261753"/>
            <a:chOff x="5905539" y="1872380"/>
            <a:chExt cx="1969200" cy="1261753"/>
          </a:xfrm>
        </p:grpSpPr>
        <p:sp>
          <p:nvSpPr>
            <p:cNvPr id="31" name="Google Shape;805;p25">
              <a:extLst>
                <a:ext uri="{FF2B5EF4-FFF2-40B4-BE49-F238E27FC236}">
                  <a16:creationId xmlns:a16="http://schemas.microsoft.com/office/drawing/2014/main" xmlns="" id="{4B0C14BD-7065-5697-3EEB-379EFFB0621D}"/>
                </a:ext>
              </a:extLst>
            </p:cNvPr>
            <p:cNvSpPr/>
            <p:nvPr/>
          </p:nvSpPr>
          <p:spPr>
            <a:xfrm>
              <a:off x="6080139" y="1872380"/>
              <a:ext cx="1620000" cy="630300"/>
            </a:xfrm>
            <a:prstGeom prst="roundRect">
              <a:avLst>
                <a:gd name="adj" fmla="val 16667"/>
              </a:avLst>
            </a:prstGeom>
            <a:solidFill>
              <a:schemeClr val="accent2">
                <a:lumMod val="75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dirty="0">
                  <a:solidFill>
                    <a:srgbClr val="FFFFFF"/>
                  </a:solidFill>
                  <a:latin typeface="Montserrat SemiBold"/>
                  <a:ea typeface="Montserrat SemiBold"/>
                  <a:cs typeface="Montserrat SemiBold"/>
                  <a:sym typeface="Montserrat SemiBold"/>
                </a:rPr>
                <a:t>EUC</a:t>
              </a:r>
              <a:endParaRPr dirty="0"/>
            </a:p>
          </p:txBody>
        </p:sp>
        <p:sp>
          <p:nvSpPr>
            <p:cNvPr id="32" name="Google Shape;806;p25">
              <a:extLst>
                <a:ext uri="{FF2B5EF4-FFF2-40B4-BE49-F238E27FC236}">
                  <a16:creationId xmlns:a16="http://schemas.microsoft.com/office/drawing/2014/main" xmlns="" id="{E51484AC-CF84-7BB9-1070-30624CEF4EC3}"/>
                </a:ext>
              </a:extLst>
            </p:cNvPr>
            <p:cNvSpPr txBox="1"/>
            <p:nvPr/>
          </p:nvSpPr>
          <p:spPr>
            <a:xfrm>
              <a:off x="5905539" y="2487843"/>
              <a:ext cx="1969200"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dirty="0">
                  <a:solidFill>
                    <a:schemeClr val="dk1"/>
                  </a:solidFill>
                  <a:latin typeface="Montserrat Light"/>
                  <a:ea typeface="Montserrat Light"/>
                  <a:cs typeface="Montserrat Light"/>
                  <a:sym typeface="Montserrat Light"/>
                </a:rPr>
                <a:t>End User Council – Demands / Requirements</a:t>
              </a:r>
              <a:endParaRPr dirty="0"/>
            </a:p>
          </p:txBody>
        </p:sp>
      </p:grpSp>
    </p:spTree>
    <p:extLst>
      <p:ext uri="{BB962C8B-B14F-4D97-AF65-F5344CB8AC3E}">
        <p14:creationId xmlns:p14="http://schemas.microsoft.com/office/powerpoint/2010/main" val="21973399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p26"/>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CAMARA / Open Gateway</a:t>
            </a:r>
            <a:br>
              <a:rPr lang="en-US"/>
            </a:br>
            <a:r>
              <a:rPr lang="en-US"/>
              <a:t>API Showcases</a:t>
            </a:r>
            <a:endParaRPr/>
          </a:p>
        </p:txBody>
      </p:sp>
      <p:pic>
        <p:nvPicPr>
          <p:cNvPr id="835" name="Google Shape;835;p26" descr="Ein Bild, das Text, orange enthält.&#10;&#10;Automatisch generierte Beschreibung"/>
          <p:cNvPicPr preferRelativeResize="0"/>
          <p:nvPr/>
        </p:nvPicPr>
        <p:blipFill rotWithShape="1">
          <a:blip r:embed="rId3">
            <a:alphaModFix/>
          </a:blip>
          <a:srcRect/>
          <a:stretch/>
        </p:blipFill>
        <p:spPr>
          <a:xfrm>
            <a:off x="3846926" y="2852582"/>
            <a:ext cx="1905266" cy="952633"/>
          </a:xfrm>
          <a:prstGeom prst="rect">
            <a:avLst/>
          </a:prstGeom>
          <a:noFill/>
          <a:ln>
            <a:noFill/>
          </a:ln>
        </p:spPr>
      </p:pic>
      <p:pic>
        <p:nvPicPr>
          <p:cNvPr id="836" name="Google Shape;836;p26" descr="Ein Bild, das Straße, Im Haus, Auto enthält.&#10;&#10;Automatisch generierte Beschreibung"/>
          <p:cNvPicPr preferRelativeResize="0"/>
          <p:nvPr/>
        </p:nvPicPr>
        <p:blipFill rotWithShape="1">
          <a:blip r:embed="rId4">
            <a:alphaModFix/>
          </a:blip>
          <a:srcRect/>
          <a:stretch/>
        </p:blipFill>
        <p:spPr>
          <a:xfrm>
            <a:off x="9616809" y="4985294"/>
            <a:ext cx="1905266" cy="952633"/>
          </a:xfrm>
          <a:prstGeom prst="rect">
            <a:avLst/>
          </a:prstGeom>
          <a:noFill/>
          <a:ln>
            <a:noFill/>
          </a:ln>
        </p:spPr>
      </p:pic>
      <p:pic>
        <p:nvPicPr>
          <p:cNvPr id="837" name="Google Shape;837;p26" descr="Ein Bild, das Text, Person enthält.&#10;&#10;Automatisch generierte Beschreibung"/>
          <p:cNvPicPr preferRelativeResize="0"/>
          <p:nvPr/>
        </p:nvPicPr>
        <p:blipFill rotWithShape="1">
          <a:blip r:embed="rId5">
            <a:alphaModFix/>
          </a:blip>
          <a:srcRect/>
          <a:stretch/>
        </p:blipFill>
        <p:spPr>
          <a:xfrm>
            <a:off x="9616809" y="3914351"/>
            <a:ext cx="1905266" cy="952633"/>
          </a:xfrm>
          <a:prstGeom prst="rect">
            <a:avLst/>
          </a:prstGeom>
          <a:noFill/>
          <a:ln>
            <a:noFill/>
          </a:ln>
        </p:spPr>
      </p:pic>
      <p:pic>
        <p:nvPicPr>
          <p:cNvPr id="838" name="Google Shape;838;p26" descr="Ein Bild, das Text, Person enthält.&#10;&#10;Automatisch generierte Beschreibung"/>
          <p:cNvPicPr preferRelativeResize="0"/>
          <p:nvPr/>
        </p:nvPicPr>
        <p:blipFill rotWithShape="1">
          <a:blip r:embed="rId6">
            <a:alphaModFix/>
          </a:blip>
          <a:srcRect/>
          <a:stretch/>
        </p:blipFill>
        <p:spPr>
          <a:xfrm>
            <a:off x="9616809" y="2852582"/>
            <a:ext cx="1905266" cy="952633"/>
          </a:xfrm>
          <a:prstGeom prst="rect">
            <a:avLst/>
          </a:prstGeom>
          <a:noFill/>
          <a:ln>
            <a:noFill/>
          </a:ln>
        </p:spPr>
      </p:pic>
      <p:pic>
        <p:nvPicPr>
          <p:cNvPr id="839" name="Google Shape;839;p26" descr="Ein Bild, das Im Haus, Vorbereitung, Fräsmaschine enthält.&#10;&#10;Automatisch generierte Beschreibung"/>
          <p:cNvPicPr preferRelativeResize="0"/>
          <p:nvPr/>
        </p:nvPicPr>
        <p:blipFill rotWithShape="1">
          <a:blip r:embed="rId7">
            <a:alphaModFix/>
          </a:blip>
          <a:srcRect/>
          <a:stretch/>
        </p:blipFill>
        <p:spPr>
          <a:xfrm>
            <a:off x="9616809" y="1803898"/>
            <a:ext cx="1905266" cy="952633"/>
          </a:xfrm>
          <a:prstGeom prst="rect">
            <a:avLst/>
          </a:prstGeom>
          <a:noFill/>
          <a:ln>
            <a:noFill/>
          </a:ln>
        </p:spPr>
      </p:pic>
      <p:pic>
        <p:nvPicPr>
          <p:cNvPr id="840" name="Google Shape;840;p26"/>
          <p:cNvPicPr preferRelativeResize="0"/>
          <p:nvPr/>
        </p:nvPicPr>
        <p:blipFill rotWithShape="1">
          <a:blip r:embed="rId8">
            <a:alphaModFix/>
          </a:blip>
          <a:srcRect/>
          <a:stretch/>
        </p:blipFill>
        <p:spPr>
          <a:xfrm>
            <a:off x="5770389" y="2852582"/>
            <a:ext cx="1905266" cy="952633"/>
          </a:xfrm>
          <a:prstGeom prst="rect">
            <a:avLst/>
          </a:prstGeom>
          <a:noFill/>
          <a:ln>
            <a:noFill/>
          </a:ln>
        </p:spPr>
      </p:pic>
      <p:pic>
        <p:nvPicPr>
          <p:cNvPr id="841" name="Google Shape;841;p26" descr="Ein Bild, das Text, Himmel, Monitor, draußen enthält.&#10;&#10;Automatisch generierte Beschreibung"/>
          <p:cNvPicPr preferRelativeResize="0"/>
          <p:nvPr/>
        </p:nvPicPr>
        <p:blipFill rotWithShape="1">
          <a:blip r:embed="rId9">
            <a:alphaModFix/>
          </a:blip>
          <a:srcRect/>
          <a:stretch/>
        </p:blipFill>
        <p:spPr>
          <a:xfrm>
            <a:off x="5770086" y="3914351"/>
            <a:ext cx="1905266" cy="952633"/>
          </a:xfrm>
          <a:prstGeom prst="rect">
            <a:avLst/>
          </a:prstGeom>
          <a:noFill/>
          <a:ln>
            <a:noFill/>
          </a:ln>
        </p:spPr>
      </p:pic>
      <p:pic>
        <p:nvPicPr>
          <p:cNvPr id="842" name="Google Shape;842;p26" descr="Ein Bild, das Text enthält.&#10;&#10;Automatisch generierte Beschreibung"/>
          <p:cNvPicPr preferRelativeResize="0"/>
          <p:nvPr/>
        </p:nvPicPr>
        <p:blipFill rotWithShape="1">
          <a:blip r:embed="rId10">
            <a:alphaModFix/>
          </a:blip>
          <a:srcRect/>
          <a:stretch/>
        </p:blipFill>
        <p:spPr>
          <a:xfrm>
            <a:off x="7693448" y="4985294"/>
            <a:ext cx="1905266" cy="952633"/>
          </a:xfrm>
          <a:prstGeom prst="rect">
            <a:avLst/>
          </a:prstGeom>
          <a:noFill/>
          <a:ln>
            <a:noFill/>
          </a:ln>
        </p:spPr>
      </p:pic>
      <p:pic>
        <p:nvPicPr>
          <p:cNvPr id="843" name="Google Shape;843;p26"/>
          <p:cNvPicPr preferRelativeResize="0"/>
          <p:nvPr/>
        </p:nvPicPr>
        <p:blipFill rotWithShape="1">
          <a:blip r:embed="rId11">
            <a:alphaModFix/>
          </a:blip>
          <a:srcRect/>
          <a:stretch/>
        </p:blipFill>
        <p:spPr>
          <a:xfrm>
            <a:off x="7693448" y="3914351"/>
            <a:ext cx="1905266" cy="952633"/>
          </a:xfrm>
          <a:prstGeom prst="rect">
            <a:avLst/>
          </a:prstGeom>
          <a:noFill/>
          <a:ln>
            <a:noFill/>
          </a:ln>
        </p:spPr>
      </p:pic>
      <p:pic>
        <p:nvPicPr>
          <p:cNvPr id="844" name="Google Shape;844;p26" descr="Ein Bild, das Text, Person, Im Haus enthält.&#10;&#10;Automatisch generierte Beschreibung"/>
          <p:cNvPicPr preferRelativeResize="0"/>
          <p:nvPr/>
        </p:nvPicPr>
        <p:blipFill rotWithShape="1">
          <a:blip r:embed="rId12">
            <a:alphaModFix/>
          </a:blip>
          <a:srcRect/>
          <a:stretch/>
        </p:blipFill>
        <p:spPr>
          <a:xfrm>
            <a:off x="7693852" y="2852708"/>
            <a:ext cx="1904762" cy="952381"/>
          </a:xfrm>
          <a:prstGeom prst="rect">
            <a:avLst/>
          </a:prstGeom>
          <a:noFill/>
          <a:ln>
            <a:noFill/>
          </a:ln>
        </p:spPr>
      </p:pic>
      <p:pic>
        <p:nvPicPr>
          <p:cNvPr id="845" name="Google Shape;845;p26" descr="Ein Bild, das Text enthält.&#10;&#10;Automatisch generierte Beschreibung"/>
          <p:cNvPicPr preferRelativeResize="0"/>
          <p:nvPr/>
        </p:nvPicPr>
        <p:blipFill rotWithShape="1">
          <a:blip r:embed="rId13">
            <a:alphaModFix/>
          </a:blip>
          <a:srcRect/>
          <a:stretch/>
        </p:blipFill>
        <p:spPr>
          <a:xfrm>
            <a:off x="5770086" y="1803898"/>
            <a:ext cx="1905266" cy="952633"/>
          </a:xfrm>
          <a:prstGeom prst="rect">
            <a:avLst/>
          </a:prstGeom>
          <a:noFill/>
          <a:ln>
            <a:noFill/>
          </a:ln>
        </p:spPr>
      </p:pic>
      <p:pic>
        <p:nvPicPr>
          <p:cNvPr id="846" name="Google Shape;846;p26" descr="Ein Bild, das Text, Monitor, Screenshot enthält.&#10;&#10;Automatisch generierte Beschreibung"/>
          <p:cNvPicPr preferRelativeResize="0"/>
          <p:nvPr/>
        </p:nvPicPr>
        <p:blipFill rotWithShape="1">
          <a:blip r:embed="rId14">
            <a:alphaModFix/>
          </a:blip>
          <a:srcRect/>
          <a:stretch/>
        </p:blipFill>
        <p:spPr>
          <a:xfrm>
            <a:off x="3846724" y="4985294"/>
            <a:ext cx="1905266" cy="952633"/>
          </a:xfrm>
          <a:prstGeom prst="rect">
            <a:avLst/>
          </a:prstGeom>
          <a:noFill/>
          <a:ln>
            <a:noFill/>
          </a:ln>
        </p:spPr>
      </p:pic>
      <p:pic>
        <p:nvPicPr>
          <p:cNvPr id="847" name="Google Shape;847;p26" descr="Ein Bild, das Text, Person enthält.&#10;&#10;Automatisch generierte Beschreibung"/>
          <p:cNvPicPr preferRelativeResize="0"/>
          <p:nvPr/>
        </p:nvPicPr>
        <p:blipFill rotWithShape="1">
          <a:blip r:embed="rId15">
            <a:alphaModFix/>
          </a:blip>
          <a:srcRect/>
          <a:stretch/>
        </p:blipFill>
        <p:spPr>
          <a:xfrm>
            <a:off x="3846724" y="3914351"/>
            <a:ext cx="1905266" cy="952633"/>
          </a:xfrm>
          <a:prstGeom prst="rect">
            <a:avLst/>
          </a:prstGeom>
          <a:noFill/>
          <a:ln>
            <a:noFill/>
          </a:ln>
        </p:spPr>
      </p:pic>
      <p:pic>
        <p:nvPicPr>
          <p:cNvPr id="848" name="Google Shape;848;p26"/>
          <p:cNvPicPr preferRelativeResize="0"/>
          <p:nvPr/>
        </p:nvPicPr>
        <p:blipFill rotWithShape="1">
          <a:blip r:embed="rId16">
            <a:alphaModFix/>
          </a:blip>
          <a:srcRect/>
          <a:stretch/>
        </p:blipFill>
        <p:spPr>
          <a:xfrm>
            <a:off x="5770086" y="4985294"/>
            <a:ext cx="1905266" cy="952633"/>
          </a:xfrm>
          <a:prstGeom prst="rect">
            <a:avLst/>
          </a:prstGeom>
          <a:noFill/>
          <a:ln>
            <a:noFill/>
          </a:ln>
        </p:spPr>
      </p:pic>
      <p:pic>
        <p:nvPicPr>
          <p:cNvPr id="849" name="Google Shape;849;p26" descr="Ein Bild, das Diagramm enthält.&#10;&#10;Automatisch generierte Beschreibung"/>
          <p:cNvPicPr preferRelativeResize="0"/>
          <p:nvPr/>
        </p:nvPicPr>
        <p:blipFill rotWithShape="1">
          <a:blip r:embed="rId17">
            <a:alphaModFix/>
          </a:blip>
          <a:srcRect/>
          <a:stretch/>
        </p:blipFill>
        <p:spPr>
          <a:xfrm>
            <a:off x="3846724" y="1803898"/>
            <a:ext cx="1905266" cy="952633"/>
          </a:xfrm>
          <a:prstGeom prst="rect">
            <a:avLst/>
          </a:prstGeom>
          <a:noFill/>
          <a:ln>
            <a:noFill/>
          </a:ln>
        </p:spPr>
      </p:pic>
      <p:pic>
        <p:nvPicPr>
          <p:cNvPr id="850" name="Google Shape;850;p26" descr="Ein Bild, das draußen, Natur, Küste enthält.&#10;&#10;Automatisch generierte Beschreibung"/>
          <p:cNvPicPr preferRelativeResize="0"/>
          <p:nvPr/>
        </p:nvPicPr>
        <p:blipFill rotWithShape="1">
          <a:blip r:embed="rId18">
            <a:alphaModFix/>
          </a:blip>
          <a:srcRect/>
          <a:stretch/>
        </p:blipFill>
        <p:spPr>
          <a:xfrm>
            <a:off x="1923362" y="4985294"/>
            <a:ext cx="1905266" cy="952633"/>
          </a:xfrm>
          <a:prstGeom prst="rect">
            <a:avLst/>
          </a:prstGeom>
          <a:noFill/>
          <a:ln>
            <a:noFill/>
          </a:ln>
        </p:spPr>
      </p:pic>
      <p:pic>
        <p:nvPicPr>
          <p:cNvPr id="851" name="Google Shape;851;p26"/>
          <p:cNvPicPr preferRelativeResize="0"/>
          <p:nvPr/>
        </p:nvPicPr>
        <p:blipFill rotWithShape="1">
          <a:blip r:embed="rId19">
            <a:alphaModFix/>
          </a:blip>
          <a:srcRect/>
          <a:stretch/>
        </p:blipFill>
        <p:spPr>
          <a:xfrm>
            <a:off x="1923362" y="3914351"/>
            <a:ext cx="1905266" cy="952633"/>
          </a:xfrm>
          <a:prstGeom prst="rect">
            <a:avLst/>
          </a:prstGeom>
          <a:noFill/>
          <a:ln>
            <a:noFill/>
          </a:ln>
        </p:spPr>
      </p:pic>
      <p:pic>
        <p:nvPicPr>
          <p:cNvPr id="852" name="Google Shape;852;p26" descr="Ein Bild, das Text, Fernsehen, Person, Im Haus enthält.&#10;&#10;Automatisch generierte Beschreibung"/>
          <p:cNvPicPr preferRelativeResize="0"/>
          <p:nvPr/>
        </p:nvPicPr>
        <p:blipFill rotWithShape="1">
          <a:blip r:embed="rId20">
            <a:alphaModFix/>
          </a:blip>
          <a:srcRect/>
          <a:stretch/>
        </p:blipFill>
        <p:spPr>
          <a:xfrm>
            <a:off x="1923463" y="2852582"/>
            <a:ext cx="1905266" cy="952633"/>
          </a:xfrm>
          <a:prstGeom prst="rect">
            <a:avLst/>
          </a:prstGeom>
          <a:noFill/>
          <a:ln>
            <a:noFill/>
          </a:ln>
        </p:spPr>
      </p:pic>
      <p:pic>
        <p:nvPicPr>
          <p:cNvPr id="853" name="Google Shape;853;p26" descr="Ein Bild, das Person, Mann enthält.&#10;&#10;Automatisch generierte Beschreibung"/>
          <p:cNvPicPr preferRelativeResize="0"/>
          <p:nvPr/>
        </p:nvPicPr>
        <p:blipFill rotWithShape="1">
          <a:blip r:embed="rId21">
            <a:alphaModFix/>
          </a:blip>
          <a:srcRect/>
          <a:stretch/>
        </p:blipFill>
        <p:spPr>
          <a:xfrm>
            <a:off x="1923362" y="1803898"/>
            <a:ext cx="1905266" cy="952633"/>
          </a:xfrm>
          <a:prstGeom prst="rect">
            <a:avLst/>
          </a:prstGeom>
          <a:noFill/>
          <a:ln>
            <a:noFill/>
          </a:ln>
        </p:spPr>
      </p:pic>
      <p:pic>
        <p:nvPicPr>
          <p:cNvPr id="854" name="Google Shape;854;p26" descr="Ein Bild, das Website enthält.&#10;&#10;Automatisch generierte Beschreibung"/>
          <p:cNvPicPr preferRelativeResize="0"/>
          <p:nvPr/>
        </p:nvPicPr>
        <p:blipFill rotWithShape="1">
          <a:blip r:embed="rId22">
            <a:alphaModFix/>
          </a:blip>
          <a:srcRect/>
          <a:stretch/>
        </p:blipFill>
        <p:spPr>
          <a:xfrm>
            <a:off x="0" y="3914351"/>
            <a:ext cx="1905266" cy="952633"/>
          </a:xfrm>
          <a:prstGeom prst="rect">
            <a:avLst/>
          </a:prstGeom>
          <a:noFill/>
          <a:ln>
            <a:noFill/>
          </a:ln>
        </p:spPr>
      </p:pic>
      <p:pic>
        <p:nvPicPr>
          <p:cNvPr id="855" name="Google Shape;855;p26" descr="Ein Bild, das Diagramm enthält.&#10;&#10;Automatisch generierte Beschreibung"/>
          <p:cNvPicPr preferRelativeResize="0"/>
          <p:nvPr/>
        </p:nvPicPr>
        <p:blipFill rotWithShape="1">
          <a:blip r:embed="rId23">
            <a:alphaModFix/>
          </a:blip>
          <a:srcRect/>
          <a:stretch/>
        </p:blipFill>
        <p:spPr>
          <a:xfrm>
            <a:off x="7693448" y="1803898"/>
            <a:ext cx="1905266" cy="952633"/>
          </a:xfrm>
          <a:prstGeom prst="rect">
            <a:avLst/>
          </a:prstGeom>
          <a:noFill/>
          <a:ln>
            <a:noFill/>
          </a:ln>
        </p:spPr>
      </p:pic>
      <p:pic>
        <p:nvPicPr>
          <p:cNvPr id="856" name="Google Shape;856;p26" descr="Ein Bild, das Text enthält.&#10;&#10;Automatisch generierte Beschreibung"/>
          <p:cNvPicPr preferRelativeResize="0"/>
          <p:nvPr/>
        </p:nvPicPr>
        <p:blipFill rotWithShape="1">
          <a:blip r:embed="rId24">
            <a:alphaModFix/>
          </a:blip>
          <a:srcRect/>
          <a:stretch/>
        </p:blipFill>
        <p:spPr>
          <a:xfrm>
            <a:off x="0" y="4985294"/>
            <a:ext cx="1905266" cy="952633"/>
          </a:xfrm>
          <a:prstGeom prst="rect">
            <a:avLst/>
          </a:prstGeom>
          <a:noFill/>
          <a:ln>
            <a:noFill/>
          </a:ln>
        </p:spPr>
      </p:pic>
      <p:pic>
        <p:nvPicPr>
          <p:cNvPr id="857" name="Google Shape;857;p26"/>
          <p:cNvPicPr preferRelativeResize="0"/>
          <p:nvPr/>
        </p:nvPicPr>
        <p:blipFill rotWithShape="1">
          <a:blip r:embed="rId25">
            <a:alphaModFix/>
          </a:blip>
          <a:srcRect/>
          <a:stretch/>
        </p:blipFill>
        <p:spPr>
          <a:xfrm>
            <a:off x="0" y="1803898"/>
            <a:ext cx="1905266" cy="952633"/>
          </a:xfrm>
          <a:prstGeom prst="rect">
            <a:avLst/>
          </a:prstGeom>
          <a:noFill/>
          <a:ln>
            <a:noFill/>
          </a:ln>
        </p:spPr>
      </p:pic>
      <p:pic>
        <p:nvPicPr>
          <p:cNvPr id="858" name="Google Shape;858;p26"/>
          <p:cNvPicPr preferRelativeResize="0"/>
          <p:nvPr/>
        </p:nvPicPr>
        <p:blipFill rotWithShape="1">
          <a:blip r:embed="rId26">
            <a:alphaModFix/>
          </a:blip>
          <a:srcRect/>
          <a:stretch/>
        </p:blipFill>
        <p:spPr>
          <a:xfrm>
            <a:off x="0" y="2852582"/>
            <a:ext cx="1905266" cy="952633"/>
          </a:xfrm>
          <a:prstGeom prst="rect">
            <a:avLst/>
          </a:prstGeom>
          <a:noFill/>
          <a:ln>
            <a:noFill/>
          </a:ln>
        </p:spPr>
      </p:pic>
      <p:sp>
        <p:nvSpPr>
          <p:cNvPr id="860" name="Google Shape;860;p26"/>
          <p:cNvSpPr txBox="1"/>
          <p:nvPr/>
        </p:nvSpPr>
        <p:spPr>
          <a:xfrm>
            <a:off x="2313288" y="6049975"/>
            <a:ext cx="6895500" cy="253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400"/>
              <a:buFont typeface="Montserrat Light"/>
              <a:buNone/>
            </a:pPr>
            <a:r>
              <a:rPr lang="en-US" u="sng">
                <a:solidFill>
                  <a:schemeClr val="accent2"/>
                </a:solidFill>
                <a:latin typeface="Montserrat Medium"/>
                <a:ea typeface="Montserrat Medium"/>
                <a:cs typeface="Montserrat Medium"/>
                <a:sym typeface="Montserrat Medium"/>
                <a:hlinkClick r:id="rId27">
                  <a:extLst>
                    <a:ext uri="{A12FA001-AC4F-418D-AE19-62706E023703}">
                      <ahyp:hlinkClr xmlns:ahyp="http://schemas.microsoft.com/office/drawing/2018/hyperlinkcolor" xmlns="" val="tx"/>
                    </a:ext>
                  </a:extLst>
                </a:hlinkClick>
              </a:rPr>
              <a:t>https://camaraproject.org/resources/</a:t>
            </a:r>
            <a:endParaRPr i="0" u="none" strike="noStrike" cap="none">
              <a:solidFill>
                <a:srgbClr val="3A9BF3"/>
              </a:solidFill>
              <a:latin typeface="Montserrat Medium"/>
              <a:ea typeface="Montserrat Medium"/>
              <a:cs typeface="Montserrat Medium"/>
              <a:sym typeface="Montserrat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27"/>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CAMARA / Open Gateway</a:t>
            </a:r>
            <a:br>
              <a:rPr lang="en-US"/>
            </a:br>
            <a:r>
              <a:rPr lang="en-US"/>
              <a:t>API public launch status</a:t>
            </a:r>
            <a:endParaRPr/>
          </a:p>
        </p:txBody>
      </p:sp>
      <p:sp>
        <p:nvSpPr>
          <p:cNvPr id="867" name="Google Shape;867;p27"/>
          <p:cNvSpPr txBox="1"/>
          <p:nvPr/>
        </p:nvSpPr>
        <p:spPr>
          <a:xfrm>
            <a:off x="2313288" y="6049975"/>
            <a:ext cx="6895500" cy="253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400"/>
              <a:buFont typeface="Montserrat Light"/>
              <a:buNone/>
            </a:pPr>
            <a:r>
              <a:rPr lang="en-US" i="0" u="sng" strike="noStrike" cap="none" dirty="0">
                <a:solidFill>
                  <a:srgbClr val="3A9BF3"/>
                </a:solidFill>
                <a:latin typeface="Montserrat Medium"/>
                <a:ea typeface="Montserrat Medium"/>
                <a:cs typeface="Montserrat Medium"/>
                <a:sym typeface="Montserrat Medium"/>
                <a:hlinkClick r:id="rId3"/>
              </a:rPr>
              <a:t>https://open-gateway.gsma.com/</a:t>
            </a:r>
            <a:endParaRPr i="0" u="none" strike="noStrike" cap="none" dirty="0">
              <a:solidFill>
                <a:srgbClr val="3A9BF3"/>
              </a:solidFill>
              <a:latin typeface="Montserrat Medium"/>
              <a:ea typeface="Montserrat Medium"/>
              <a:cs typeface="Montserrat Medium"/>
              <a:sym typeface="Montserrat Medium"/>
            </a:endParaRPr>
          </a:p>
        </p:txBody>
      </p:sp>
      <p:pic>
        <p:nvPicPr>
          <p:cNvPr id="3" name="Grafik 2">
            <a:extLst>
              <a:ext uri="{FF2B5EF4-FFF2-40B4-BE49-F238E27FC236}">
                <a16:creationId xmlns:a16="http://schemas.microsoft.com/office/drawing/2014/main" xmlns="" id="{5C61FFDB-EA82-E386-5426-E142A18CF748}"/>
              </a:ext>
            </a:extLst>
          </p:cNvPr>
          <p:cNvPicPr>
            <a:picLocks noChangeAspect="1"/>
          </p:cNvPicPr>
          <p:nvPr/>
        </p:nvPicPr>
        <p:blipFill>
          <a:blip r:embed="rId4"/>
          <a:stretch>
            <a:fillRect/>
          </a:stretch>
        </p:blipFill>
        <p:spPr>
          <a:xfrm>
            <a:off x="1311410" y="1768921"/>
            <a:ext cx="8899254" cy="417122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27"/>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CAMARA / Open Gateway</a:t>
            </a:r>
            <a:br>
              <a:rPr lang="en-US"/>
            </a:br>
            <a:r>
              <a:rPr lang="en-US"/>
              <a:t>API public launch status</a:t>
            </a:r>
            <a:endParaRPr/>
          </a:p>
        </p:txBody>
      </p:sp>
      <p:pic>
        <p:nvPicPr>
          <p:cNvPr id="2" name="Grafik 1"/>
          <p:cNvPicPr>
            <a:picLocks noChangeAspect="1"/>
          </p:cNvPicPr>
          <p:nvPr/>
        </p:nvPicPr>
        <p:blipFill>
          <a:blip r:embed="rId3"/>
          <a:stretch>
            <a:fillRect/>
          </a:stretch>
        </p:blipFill>
        <p:spPr>
          <a:xfrm>
            <a:off x="805334" y="1714957"/>
            <a:ext cx="10222302" cy="4627536"/>
          </a:xfrm>
          <a:prstGeom prst="rect">
            <a:avLst/>
          </a:prstGeom>
        </p:spPr>
      </p:pic>
    </p:spTree>
    <p:extLst>
      <p:ext uri="{BB962C8B-B14F-4D97-AF65-F5344CB8AC3E}">
        <p14:creationId xmlns:p14="http://schemas.microsoft.com/office/powerpoint/2010/main" val="21389785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p28"/>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5G network capabilities</a:t>
            </a:r>
            <a:br>
              <a:rPr lang="en-US"/>
            </a:br>
            <a:r>
              <a:rPr lang="en-US"/>
              <a:t>Introduction</a:t>
            </a:r>
            <a:br>
              <a:rPr lang="en-US"/>
            </a:br>
            <a:endParaRPr/>
          </a:p>
        </p:txBody>
      </p:sp>
      <p:sp>
        <p:nvSpPr>
          <p:cNvPr id="876" name="Google Shape;876;p28"/>
          <p:cNvSpPr txBox="1">
            <a:spLocks noGrp="1"/>
          </p:cNvSpPr>
          <p:nvPr>
            <p:ph type="body" idx="1"/>
          </p:nvPr>
        </p:nvSpPr>
        <p:spPr>
          <a:xfrm>
            <a:off x="748875" y="2452600"/>
            <a:ext cx="10024200" cy="3684900"/>
          </a:xfrm>
          <a:prstGeom prst="rect">
            <a:avLst/>
          </a:prstGeom>
          <a:noFill/>
          <a:ln>
            <a:noFill/>
          </a:ln>
        </p:spPr>
        <p:txBody>
          <a:bodyPr spcFirstLastPara="1" wrap="square" lIns="0" tIns="0" rIns="0" bIns="0" anchor="t" anchorCtr="0">
            <a:noAutofit/>
          </a:bodyPr>
          <a:lstStyle/>
          <a:p>
            <a:pPr marL="0" lvl="0" indent="0" algn="ctr" rtl="0">
              <a:lnSpc>
                <a:spcPct val="104000"/>
              </a:lnSpc>
              <a:spcBef>
                <a:spcPts val="0"/>
              </a:spcBef>
              <a:spcAft>
                <a:spcPts val="0"/>
              </a:spcAft>
              <a:buClr>
                <a:schemeClr val="dk2"/>
              </a:buClr>
              <a:buSzPts val="2400"/>
              <a:buNone/>
            </a:pPr>
            <a:r>
              <a:rPr lang="en-US" sz="2000">
                <a:solidFill>
                  <a:srgbClr val="3A9BF3"/>
                </a:solidFill>
                <a:latin typeface="Montserrat Medium"/>
                <a:ea typeface="Montserrat Medium"/>
                <a:cs typeface="Montserrat Medium"/>
                <a:sym typeface="Montserrat Medium"/>
              </a:rPr>
              <a:t>Telco network capabilities</a:t>
            </a:r>
            <a:r>
              <a:rPr lang="en-US" sz="2000">
                <a:latin typeface="Montserrat SemiBold"/>
                <a:ea typeface="Montserrat SemiBold"/>
                <a:cs typeface="Montserrat SemiBold"/>
                <a:sym typeface="Montserrat SemiBold"/>
              </a:rPr>
              <a:t> </a:t>
            </a:r>
            <a:r>
              <a:rPr lang="en-US" sz="2000"/>
              <a:t>are functions partly available already in 4G but new and much more powerful in the 5G network. These functions enable to get information out of the network but also to configure the network. </a:t>
            </a:r>
            <a:endParaRPr sz="2000"/>
          </a:p>
          <a:p>
            <a:pPr marL="0" lvl="0" indent="0" algn="ctr" rtl="0">
              <a:lnSpc>
                <a:spcPct val="104000"/>
              </a:lnSpc>
              <a:spcBef>
                <a:spcPts val="1200"/>
              </a:spcBef>
              <a:spcAft>
                <a:spcPts val="0"/>
              </a:spcAft>
              <a:buClr>
                <a:schemeClr val="dk2"/>
              </a:buClr>
              <a:buSzPts val="2400"/>
              <a:buNone/>
            </a:pPr>
            <a:r>
              <a:rPr lang="en-US" sz="2000"/>
              <a:t>The on-demand, secure and controlled exposure of these capabilities pave the way for transforming operator networks into service enablement platforms, facilitating the application-to-network integration, which will be key to deliver enhanced and service-tailored customer experience in the 5G era.</a:t>
            </a:r>
            <a:endParaRPr sz="2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p29"/>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5G network capabilities</a:t>
            </a:r>
            <a:br>
              <a:rPr lang="en-US"/>
            </a:br>
            <a:r>
              <a:rPr lang="en-US"/>
              <a:t>Introduction</a:t>
            </a:r>
            <a:endParaRPr/>
          </a:p>
        </p:txBody>
      </p:sp>
      <p:sp>
        <p:nvSpPr>
          <p:cNvPr id="884" name="Google Shape;884;p29"/>
          <p:cNvSpPr txBox="1"/>
          <p:nvPr/>
        </p:nvSpPr>
        <p:spPr>
          <a:xfrm>
            <a:off x="521184" y="4224838"/>
            <a:ext cx="3316500" cy="369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2"/>
                </a:solidFill>
                <a:latin typeface="Montserrat Medium"/>
                <a:ea typeface="Montserrat Medium"/>
                <a:cs typeface="Montserrat Medium"/>
                <a:sym typeface="Montserrat Medium"/>
              </a:rPr>
              <a:t>Quality on Demand / Traffic influence</a:t>
            </a:r>
            <a:endParaRPr sz="1200">
              <a:solidFill>
                <a:schemeClr val="dk2"/>
              </a:solidFill>
              <a:latin typeface="Montserrat Medium"/>
              <a:ea typeface="Montserrat Medium"/>
              <a:cs typeface="Montserrat Medium"/>
              <a:sym typeface="Montserrat Medium"/>
            </a:endParaRPr>
          </a:p>
          <a:p>
            <a:pPr marL="0" marR="0" lvl="0" indent="0" algn="ctr" rtl="0">
              <a:spcBef>
                <a:spcPts val="0"/>
              </a:spcBef>
              <a:spcAft>
                <a:spcPts val="0"/>
              </a:spcAft>
              <a:buNone/>
            </a:pPr>
            <a:r>
              <a:rPr lang="en-US" sz="1200">
                <a:solidFill>
                  <a:schemeClr val="dk2"/>
                </a:solidFill>
                <a:latin typeface="Montserrat Medium"/>
                <a:ea typeface="Montserrat Medium"/>
                <a:cs typeface="Montserrat Medium"/>
                <a:sym typeface="Montserrat Medium"/>
              </a:rPr>
              <a:t>Enable augmented reality</a:t>
            </a:r>
            <a:endParaRPr sz="1200">
              <a:solidFill>
                <a:schemeClr val="dk2"/>
              </a:solidFill>
              <a:latin typeface="Montserrat Medium"/>
              <a:ea typeface="Montserrat Medium"/>
              <a:cs typeface="Montserrat Medium"/>
              <a:sym typeface="Montserrat Medium"/>
            </a:endParaRPr>
          </a:p>
        </p:txBody>
      </p:sp>
      <p:sp>
        <p:nvSpPr>
          <p:cNvPr id="885" name="Google Shape;885;p29"/>
          <p:cNvSpPr txBox="1"/>
          <p:nvPr/>
        </p:nvSpPr>
        <p:spPr>
          <a:xfrm>
            <a:off x="4330365" y="4224838"/>
            <a:ext cx="2774700" cy="369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2"/>
                </a:solidFill>
                <a:latin typeface="Montserrat Medium"/>
                <a:ea typeface="Montserrat Medium"/>
                <a:cs typeface="Montserrat Medium"/>
                <a:sym typeface="Montserrat Medium"/>
              </a:rPr>
              <a:t>Wake up UEs</a:t>
            </a:r>
            <a:endParaRPr sz="1200">
              <a:solidFill>
                <a:schemeClr val="dk2"/>
              </a:solidFill>
              <a:latin typeface="Montserrat Medium"/>
              <a:ea typeface="Montserrat Medium"/>
              <a:cs typeface="Montserrat Medium"/>
              <a:sym typeface="Montserrat Medium"/>
            </a:endParaRPr>
          </a:p>
          <a:p>
            <a:pPr marL="0" marR="0" lvl="0" indent="0" algn="ctr" rtl="0">
              <a:spcBef>
                <a:spcPts val="0"/>
              </a:spcBef>
              <a:spcAft>
                <a:spcPts val="0"/>
              </a:spcAft>
              <a:buNone/>
            </a:pPr>
            <a:r>
              <a:rPr lang="en-US" sz="1200">
                <a:solidFill>
                  <a:schemeClr val="dk2"/>
                </a:solidFill>
                <a:latin typeface="Montserrat Medium"/>
                <a:ea typeface="Montserrat Medium"/>
                <a:cs typeface="Montserrat Medium"/>
                <a:sym typeface="Montserrat Medium"/>
              </a:rPr>
              <a:t>Support low energy IoT devices</a:t>
            </a:r>
            <a:endParaRPr sz="1200">
              <a:solidFill>
                <a:schemeClr val="dk2"/>
              </a:solidFill>
              <a:latin typeface="Montserrat Medium"/>
              <a:ea typeface="Montserrat Medium"/>
              <a:cs typeface="Montserrat Medium"/>
              <a:sym typeface="Montserrat Medium"/>
            </a:endParaRPr>
          </a:p>
        </p:txBody>
      </p:sp>
      <p:sp>
        <p:nvSpPr>
          <p:cNvPr id="886" name="Google Shape;886;p29"/>
          <p:cNvSpPr txBox="1"/>
          <p:nvPr/>
        </p:nvSpPr>
        <p:spPr>
          <a:xfrm>
            <a:off x="7898247" y="4224838"/>
            <a:ext cx="2800500" cy="369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2"/>
                </a:solidFill>
                <a:latin typeface="Montserrat Medium"/>
                <a:ea typeface="Montserrat Medium"/>
                <a:cs typeface="Montserrat Medium"/>
                <a:sym typeface="Montserrat Medium"/>
              </a:rPr>
              <a:t>Block UEs in geographic region</a:t>
            </a:r>
            <a:endParaRPr sz="1200">
              <a:solidFill>
                <a:schemeClr val="dk2"/>
              </a:solidFill>
              <a:latin typeface="Montserrat Medium"/>
              <a:ea typeface="Montserrat Medium"/>
              <a:cs typeface="Montserrat Medium"/>
              <a:sym typeface="Montserrat Medium"/>
            </a:endParaRPr>
          </a:p>
          <a:p>
            <a:pPr marL="0" marR="0" lvl="0" indent="0" algn="ctr" rtl="0">
              <a:spcBef>
                <a:spcPts val="0"/>
              </a:spcBef>
              <a:spcAft>
                <a:spcPts val="0"/>
              </a:spcAft>
              <a:buNone/>
            </a:pPr>
            <a:r>
              <a:rPr lang="en-US" sz="1200">
                <a:solidFill>
                  <a:schemeClr val="dk2"/>
                </a:solidFill>
                <a:latin typeface="Montserrat Medium"/>
                <a:ea typeface="Montserrat Medium"/>
                <a:cs typeface="Montserrat Medium"/>
                <a:sym typeface="Montserrat Medium"/>
              </a:rPr>
              <a:t>Crisis management</a:t>
            </a:r>
            <a:endParaRPr sz="1200">
              <a:solidFill>
                <a:schemeClr val="dk2"/>
              </a:solidFill>
              <a:latin typeface="Montserrat Medium"/>
              <a:ea typeface="Montserrat Medium"/>
              <a:cs typeface="Montserrat Medium"/>
              <a:sym typeface="Montserrat Medium"/>
            </a:endParaRPr>
          </a:p>
        </p:txBody>
      </p:sp>
      <p:pic>
        <p:nvPicPr>
          <p:cNvPr id="887" name="Google Shape;887;p29"/>
          <p:cNvPicPr preferRelativeResize="0"/>
          <p:nvPr/>
        </p:nvPicPr>
        <p:blipFill rotWithShape="1">
          <a:blip r:embed="rId3">
            <a:alphaModFix/>
          </a:blip>
          <a:srcRect/>
          <a:stretch/>
        </p:blipFill>
        <p:spPr>
          <a:xfrm>
            <a:off x="7588967" y="4710911"/>
            <a:ext cx="3402188" cy="1360875"/>
          </a:xfrm>
          <a:prstGeom prst="rect">
            <a:avLst/>
          </a:prstGeom>
          <a:noFill/>
          <a:ln>
            <a:noFill/>
          </a:ln>
        </p:spPr>
      </p:pic>
      <p:pic>
        <p:nvPicPr>
          <p:cNvPr id="888" name="Google Shape;888;p29"/>
          <p:cNvPicPr preferRelativeResize="0"/>
          <p:nvPr/>
        </p:nvPicPr>
        <p:blipFill rotWithShape="1">
          <a:blip r:embed="rId4">
            <a:alphaModFix/>
          </a:blip>
          <a:srcRect/>
          <a:stretch/>
        </p:blipFill>
        <p:spPr>
          <a:xfrm>
            <a:off x="4016670" y="4710911"/>
            <a:ext cx="3402188" cy="1360875"/>
          </a:xfrm>
          <a:prstGeom prst="rect">
            <a:avLst/>
          </a:prstGeom>
          <a:noFill/>
          <a:ln>
            <a:noFill/>
          </a:ln>
        </p:spPr>
      </p:pic>
      <p:pic>
        <p:nvPicPr>
          <p:cNvPr id="889" name="Google Shape;889;p29"/>
          <p:cNvPicPr preferRelativeResize="0"/>
          <p:nvPr/>
        </p:nvPicPr>
        <p:blipFill rotWithShape="1">
          <a:blip r:embed="rId5">
            <a:alphaModFix/>
          </a:blip>
          <a:srcRect/>
          <a:stretch/>
        </p:blipFill>
        <p:spPr>
          <a:xfrm>
            <a:off x="444373" y="4710911"/>
            <a:ext cx="3402188" cy="1360875"/>
          </a:xfrm>
          <a:prstGeom prst="rect">
            <a:avLst/>
          </a:prstGeom>
          <a:noFill/>
          <a:ln>
            <a:noFill/>
          </a:ln>
        </p:spPr>
      </p:pic>
      <p:pic>
        <p:nvPicPr>
          <p:cNvPr id="890" name="Google Shape;890;p29"/>
          <p:cNvPicPr preferRelativeResize="0"/>
          <p:nvPr/>
        </p:nvPicPr>
        <p:blipFill rotWithShape="1">
          <a:blip r:embed="rId6">
            <a:alphaModFix/>
          </a:blip>
          <a:srcRect/>
          <a:stretch/>
        </p:blipFill>
        <p:spPr>
          <a:xfrm>
            <a:off x="478395" y="2477951"/>
            <a:ext cx="3402188" cy="1360875"/>
          </a:xfrm>
          <a:prstGeom prst="rect">
            <a:avLst/>
          </a:prstGeom>
          <a:noFill/>
          <a:ln>
            <a:noFill/>
          </a:ln>
        </p:spPr>
      </p:pic>
      <p:sp>
        <p:nvSpPr>
          <p:cNvPr id="891" name="Google Shape;891;p29"/>
          <p:cNvSpPr txBox="1"/>
          <p:nvPr/>
        </p:nvSpPr>
        <p:spPr>
          <a:xfrm>
            <a:off x="501945" y="1983615"/>
            <a:ext cx="3355200" cy="369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dirty="0">
                <a:solidFill>
                  <a:schemeClr val="dk2"/>
                </a:solidFill>
                <a:latin typeface="Montserrat Medium"/>
                <a:ea typeface="Montserrat Medium"/>
                <a:cs typeface="Montserrat Medium"/>
                <a:sym typeface="Montserrat Medium"/>
              </a:rPr>
              <a:t>Reachability and Location of UEs</a:t>
            </a:r>
            <a:endParaRPr sz="1200" dirty="0">
              <a:solidFill>
                <a:schemeClr val="dk2"/>
              </a:solidFill>
              <a:latin typeface="Montserrat Medium"/>
              <a:ea typeface="Montserrat Medium"/>
              <a:cs typeface="Montserrat Medium"/>
              <a:sym typeface="Montserrat Medium"/>
            </a:endParaRPr>
          </a:p>
          <a:p>
            <a:pPr marL="0" marR="0" lvl="0" indent="0" algn="ctr" rtl="0">
              <a:spcBef>
                <a:spcPts val="0"/>
              </a:spcBef>
              <a:spcAft>
                <a:spcPts val="0"/>
              </a:spcAft>
              <a:buNone/>
            </a:pPr>
            <a:r>
              <a:rPr lang="en-US" sz="1200" dirty="0">
                <a:solidFill>
                  <a:schemeClr val="dk2"/>
                </a:solidFill>
                <a:latin typeface="Montserrat Medium"/>
                <a:ea typeface="Montserrat Medium"/>
                <a:cs typeface="Montserrat Medium"/>
                <a:sym typeface="Montserrat Medium"/>
              </a:rPr>
              <a:t>Identify (last known) location of drone</a:t>
            </a:r>
            <a:endParaRPr sz="1200" dirty="0">
              <a:solidFill>
                <a:schemeClr val="dk2"/>
              </a:solidFill>
              <a:latin typeface="Montserrat Medium"/>
              <a:ea typeface="Montserrat Medium"/>
              <a:cs typeface="Montserrat Medium"/>
              <a:sym typeface="Montserrat Medium"/>
            </a:endParaRPr>
          </a:p>
        </p:txBody>
      </p:sp>
      <p:pic>
        <p:nvPicPr>
          <p:cNvPr id="892" name="Google Shape;892;p29"/>
          <p:cNvPicPr preferRelativeResize="0"/>
          <p:nvPr/>
        </p:nvPicPr>
        <p:blipFill rotWithShape="1">
          <a:blip r:embed="rId7">
            <a:alphaModFix/>
          </a:blip>
          <a:srcRect/>
          <a:stretch/>
        </p:blipFill>
        <p:spPr>
          <a:xfrm>
            <a:off x="4016670" y="2477951"/>
            <a:ext cx="3402188" cy="1360875"/>
          </a:xfrm>
          <a:prstGeom prst="rect">
            <a:avLst/>
          </a:prstGeom>
          <a:noFill/>
          <a:ln>
            <a:noFill/>
          </a:ln>
        </p:spPr>
      </p:pic>
      <p:sp>
        <p:nvSpPr>
          <p:cNvPr id="893" name="Google Shape;893;p29"/>
          <p:cNvSpPr txBox="1"/>
          <p:nvPr/>
        </p:nvSpPr>
        <p:spPr>
          <a:xfrm>
            <a:off x="4384866" y="1991879"/>
            <a:ext cx="2665800" cy="369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2"/>
                </a:solidFill>
                <a:latin typeface="Montserrat Medium"/>
                <a:ea typeface="Montserrat Medium"/>
                <a:cs typeface="Montserrat Medium"/>
                <a:sym typeface="Montserrat Medium"/>
              </a:rPr>
              <a:t># of UEs in geographic region</a:t>
            </a:r>
            <a:endParaRPr sz="1200">
              <a:solidFill>
                <a:schemeClr val="dk2"/>
              </a:solidFill>
              <a:latin typeface="Montserrat Medium"/>
              <a:ea typeface="Montserrat Medium"/>
              <a:cs typeface="Montserrat Medium"/>
              <a:sym typeface="Montserrat Medium"/>
            </a:endParaRPr>
          </a:p>
          <a:p>
            <a:pPr marL="0" marR="0" lvl="0" indent="0" algn="ctr" rtl="0">
              <a:spcBef>
                <a:spcPts val="0"/>
              </a:spcBef>
              <a:spcAft>
                <a:spcPts val="0"/>
              </a:spcAft>
              <a:buNone/>
            </a:pPr>
            <a:r>
              <a:rPr lang="en-US" sz="1200">
                <a:solidFill>
                  <a:schemeClr val="dk2"/>
                </a:solidFill>
                <a:latin typeface="Montserrat Medium"/>
                <a:ea typeface="Montserrat Medium"/>
                <a:cs typeface="Montserrat Medium"/>
                <a:sym typeface="Montserrat Medium"/>
              </a:rPr>
              <a:t>Traffic jam or Corona warning</a:t>
            </a:r>
            <a:endParaRPr sz="1200">
              <a:solidFill>
                <a:schemeClr val="dk2"/>
              </a:solidFill>
              <a:latin typeface="Montserrat Medium"/>
              <a:ea typeface="Montserrat Medium"/>
              <a:cs typeface="Montserrat Medium"/>
              <a:sym typeface="Montserrat Medium"/>
            </a:endParaRPr>
          </a:p>
        </p:txBody>
      </p:sp>
      <p:sp>
        <p:nvSpPr>
          <p:cNvPr id="894" name="Google Shape;894;p29"/>
          <p:cNvSpPr txBox="1"/>
          <p:nvPr/>
        </p:nvSpPr>
        <p:spPr>
          <a:xfrm>
            <a:off x="7546763" y="1991873"/>
            <a:ext cx="3486600" cy="369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2"/>
                </a:solidFill>
                <a:latin typeface="Montserrat Medium"/>
                <a:ea typeface="Montserrat Medium"/>
                <a:cs typeface="Montserrat Medium"/>
                <a:sym typeface="Montserrat Medium"/>
              </a:rPr>
              <a:t># of UEs in slice, network congestion</a:t>
            </a:r>
            <a:endParaRPr sz="1200">
              <a:solidFill>
                <a:schemeClr val="dk2"/>
              </a:solidFill>
              <a:latin typeface="Montserrat Medium"/>
              <a:ea typeface="Montserrat Medium"/>
              <a:cs typeface="Montserrat Medium"/>
              <a:sym typeface="Montserrat Medium"/>
            </a:endParaRPr>
          </a:p>
          <a:p>
            <a:pPr marL="0" marR="0" lvl="0" indent="0" algn="ctr" rtl="0">
              <a:spcBef>
                <a:spcPts val="0"/>
              </a:spcBef>
              <a:spcAft>
                <a:spcPts val="0"/>
              </a:spcAft>
              <a:buNone/>
            </a:pPr>
            <a:r>
              <a:rPr lang="en-US" sz="1200">
                <a:solidFill>
                  <a:schemeClr val="dk2"/>
                </a:solidFill>
                <a:latin typeface="Montserrat Medium"/>
                <a:ea typeface="Montserrat Medium"/>
                <a:cs typeface="Montserrat Medium"/>
                <a:sym typeface="Montserrat Medium"/>
              </a:rPr>
              <a:t>Adapt resolution for video transmission</a:t>
            </a:r>
            <a:endParaRPr sz="1200">
              <a:solidFill>
                <a:schemeClr val="dk2"/>
              </a:solidFill>
              <a:latin typeface="Montserrat Medium"/>
              <a:ea typeface="Montserrat Medium"/>
              <a:cs typeface="Montserrat Medium"/>
              <a:sym typeface="Montserrat Medium"/>
            </a:endParaRPr>
          </a:p>
        </p:txBody>
      </p:sp>
      <p:pic>
        <p:nvPicPr>
          <p:cNvPr id="895" name="Google Shape;895;p29"/>
          <p:cNvPicPr preferRelativeResize="0"/>
          <p:nvPr/>
        </p:nvPicPr>
        <p:blipFill rotWithShape="1">
          <a:blip r:embed="rId8">
            <a:alphaModFix/>
          </a:blip>
          <a:srcRect/>
          <a:stretch/>
        </p:blipFill>
        <p:spPr>
          <a:xfrm>
            <a:off x="7597377" y="2486471"/>
            <a:ext cx="3402188" cy="13608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30"/>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Potential Business Use Cases</a:t>
            </a:r>
            <a:endParaRPr/>
          </a:p>
        </p:txBody>
      </p:sp>
      <p:sp>
        <p:nvSpPr>
          <p:cNvPr id="903" name="Google Shape;903;p30"/>
          <p:cNvSpPr/>
          <p:nvPr/>
        </p:nvSpPr>
        <p:spPr>
          <a:xfrm>
            <a:off x="164409" y="1898981"/>
            <a:ext cx="1582500" cy="3605400"/>
          </a:xfrm>
          <a:prstGeom prst="roundRect">
            <a:avLst>
              <a:gd name="adj" fmla="val 9433"/>
            </a:avLst>
          </a:prstGeom>
          <a:solidFill>
            <a:schemeClr val="accent2"/>
          </a:solidFill>
          <a:ln>
            <a:noFill/>
          </a:ln>
        </p:spPr>
        <p:txBody>
          <a:bodyPr spcFirstLastPara="1" wrap="square" lIns="42650" tIns="121925" rIns="30450" bIns="60950" anchor="t" anchorCtr="0">
            <a:noAutofit/>
          </a:bodyPr>
          <a:lstStyle/>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p:txBody>
      </p:sp>
      <p:sp>
        <p:nvSpPr>
          <p:cNvPr id="904" name="Google Shape;904;p30"/>
          <p:cNvSpPr txBox="1"/>
          <p:nvPr/>
        </p:nvSpPr>
        <p:spPr>
          <a:xfrm>
            <a:off x="140497" y="1907748"/>
            <a:ext cx="1604100" cy="892512"/>
          </a:xfrm>
          <a:prstGeom prst="rect">
            <a:avLst/>
          </a:prstGeom>
          <a:noFill/>
          <a:ln>
            <a:noFill/>
          </a:ln>
        </p:spPr>
        <p:txBody>
          <a:bodyPr spcFirstLastPara="1" wrap="square" lIns="60950" tIns="121900" rIns="60950" bIns="121900" anchor="t" anchorCtr="0">
            <a:spAutoFit/>
          </a:bodyPr>
          <a:lstStyle/>
          <a:p>
            <a:pPr marL="0" marR="0" lvl="0" indent="0" algn="ctr" rtl="0">
              <a:spcBef>
                <a:spcPts val="0"/>
              </a:spcBef>
              <a:spcAft>
                <a:spcPts val="0"/>
              </a:spcAft>
              <a:buNone/>
            </a:pPr>
            <a:r>
              <a:rPr lang="en-US" sz="1400" b="1" dirty="0">
                <a:solidFill>
                  <a:schemeClr val="lt1"/>
                </a:solidFill>
                <a:latin typeface="Montserrat Light"/>
                <a:ea typeface="Montserrat Light"/>
                <a:cs typeface="Montserrat Light"/>
                <a:sym typeface="Montserrat Light"/>
              </a:rPr>
              <a:t>Authentication and Fraud Prevention</a:t>
            </a:r>
            <a:endParaRPr dirty="0"/>
          </a:p>
        </p:txBody>
      </p:sp>
      <p:sp>
        <p:nvSpPr>
          <p:cNvPr id="905" name="Google Shape;905;p30"/>
          <p:cNvSpPr txBox="1"/>
          <p:nvPr/>
        </p:nvSpPr>
        <p:spPr>
          <a:xfrm>
            <a:off x="137688" y="3642606"/>
            <a:ext cx="1584300" cy="1210800"/>
          </a:xfrm>
          <a:prstGeom prst="rect">
            <a:avLst/>
          </a:prstGeom>
          <a:noFill/>
          <a:ln>
            <a:noFill/>
          </a:ln>
        </p:spPr>
        <p:txBody>
          <a:bodyPr spcFirstLastPara="1" wrap="square" lIns="121900" tIns="121900" rIns="121900" bIns="121900" anchor="t" anchorCtr="0">
            <a:spAutoFit/>
          </a:bodyPr>
          <a:lstStyle/>
          <a:p>
            <a:pPr marL="0" marR="0" lvl="0" indent="0" algn="ctr" rtl="0">
              <a:spcBef>
                <a:spcPts val="400"/>
              </a:spcBef>
              <a:spcAft>
                <a:spcPts val="0"/>
              </a:spcAft>
              <a:buNone/>
            </a:pPr>
            <a:r>
              <a:rPr lang="en-US" sz="1400">
                <a:solidFill>
                  <a:schemeClr val="lt1"/>
                </a:solidFill>
                <a:latin typeface="Montserrat Light"/>
                <a:ea typeface="Montserrat Light"/>
                <a:cs typeface="Montserrat Light"/>
                <a:sym typeface="Montserrat Light"/>
              </a:rPr>
              <a:t>Secure Auth</a:t>
            </a:r>
            <a:endParaRPr/>
          </a:p>
          <a:p>
            <a:pPr marL="0" marR="0" lvl="0" indent="0" algn="ctr" rtl="0">
              <a:spcBef>
                <a:spcPts val="400"/>
              </a:spcBef>
              <a:spcAft>
                <a:spcPts val="0"/>
              </a:spcAft>
              <a:buNone/>
            </a:pPr>
            <a:endParaRPr sz="1400">
              <a:solidFill>
                <a:schemeClr val="lt1"/>
              </a:solidFill>
              <a:latin typeface="Montserrat Light"/>
              <a:ea typeface="Montserrat Light"/>
              <a:cs typeface="Montserrat Light"/>
              <a:sym typeface="Montserrat Light"/>
            </a:endParaRPr>
          </a:p>
          <a:p>
            <a:pPr marL="0" marR="0" lvl="0" indent="0" algn="ctr" rtl="0">
              <a:spcBef>
                <a:spcPts val="400"/>
              </a:spcBef>
              <a:spcAft>
                <a:spcPts val="0"/>
              </a:spcAft>
              <a:buNone/>
            </a:pPr>
            <a:r>
              <a:rPr lang="en-US" sz="1400">
                <a:solidFill>
                  <a:schemeClr val="lt1"/>
                </a:solidFill>
                <a:latin typeface="Montserrat Light"/>
                <a:ea typeface="Montserrat Light"/>
                <a:cs typeface="Montserrat Light"/>
                <a:sym typeface="Montserrat Light"/>
              </a:rPr>
              <a:t>Fraud Prevention</a:t>
            </a:r>
            <a:endParaRPr sz="1400">
              <a:solidFill>
                <a:schemeClr val="lt1"/>
              </a:solidFill>
              <a:latin typeface="Montserrat Light"/>
              <a:ea typeface="Montserrat Light"/>
              <a:cs typeface="Montserrat Light"/>
              <a:sym typeface="Montserrat Light"/>
            </a:endParaRPr>
          </a:p>
        </p:txBody>
      </p:sp>
      <p:pic>
        <p:nvPicPr>
          <p:cNvPr id="906" name="Google Shape;906;p30"/>
          <p:cNvPicPr preferRelativeResize="0"/>
          <p:nvPr/>
        </p:nvPicPr>
        <p:blipFill rotWithShape="1">
          <a:blip r:embed="rId3">
            <a:alphaModFix/>
          </a:blip>
          <a:srcRect l="24316" t="21186" r="23412" b="26859"/>
          <a:stretch/>
        </p:blipFill>
        <p:spPr>
          <a:xfrm>
            <a:off x="164650" y="2727700"/>
            <a:ext cx="1582351" cy="1034598"/>
          </a:xfrm>
          <a:prstGeom prst="rect">
            <a:avLst/>
          </a:prstGeom>
          <a:noFill/>
          <a:ln>
            <a:noFill/>
          </a:ln>
        </p:spPr>
      </p:pic>
      <p:sp>
        <p:nvSpPr>
          <p:cNvPr id="907" name="Google Shape;907;p30"/>
          <p:cNvSpPr/>
          <p:nvPr/>
        </p:nvSpPr>
        <p:spPr>
          <a:xfrm>
            <a:off x="157331" y="5582543"/>
            <a:ext cx="1582500" cy="570000"/>
          </a:xfrm>
          <a:prstGeom prst="roundRect">
            <a:avLst>
              <a:gd name="adj" fmla="val 16667"/>
            </a:avLst>
          </a:prstGeom>
          <a:solidFill>
            <a:schemeClr val="lt1"/>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ontserrat Light"/>
              <a:ea typeface="Montserrat Light"/>
              <a:cs typeface="Montserrat Light"/>
              <a:sym typeface="Montserrat Light"/>
            </a:endParaRPr>
          </a:p>
        </p:txBody>
      </p:sp>
      <p:sp>
        <p:nvSpPr>
          <p:cNvPr id="908" name="Google Shape;908;p30"/>
          <p:cNvSpPr/>
          <p:nvPr/>
        </p:nvSpPr>
        <p:spPr>
          <a:xfrm>
            <a:off x="194813" y="5677492"/>
            <a:ext cx="1495500" cy="380100"/>
          </a:xfrm>
          <a:prstGeom prst="rect">
            <a:avLst/>
          </a:prstGeom>
          <a:noFill/>
          <a:ln>
            <a:noFill/>
          </a:ln>
        </p:spPr>
        <p:txBody>
          <a:bodyPr spcFirstLastPara="1" wrap="square" lIns="72000" tIns="72000" rIns="72000" bIns="72000" anchor="ctr" anchorCtr="0">
            <a:noAutofit/>
          </a:bodyPr>
          <a:lstStyle/>
          <a:p>
            <a:pPr marL="0" marR="0" lvl="0" indent="3175" algn="ctr" rtl="0">
              <a:lnSpc>
                <a:spcPct val="104000"/>
              </a:lnSpc>
              <a:spcBef>
                <a:spcPts val="0"/>
              </a:spcBef>
              <a:spcAft>
                <a:spcPts val="0"/>
              </a:spcAft>
              <a:buClr>
                <a:srgbClr val="E20074"/>
              </a:buClr>
              <a:buSzPts val="1350"/>
              <a:buFont typeface="Montserrat Light"/>
              <a:buNone/>
            </a:pPr>
            <a:r>
              <a:rPr lang="en-US" sz="1200" b="1" u="none" strike="noStrike" cap="none">
                <a:solidFill>
                  <a:schemeClr val="dk2"/>
                </a:solidFill>
                <a:latin typeface="Montserrat Light"/>
                <a:ea typeface="Montserrat Light"/>
                <a:cs typeface="Montserrat Light"/>
                <a:sym typeface="Montserrat Light"/>
              </a:rPr>
              <a:t>Number</a:t>
            </a:r>
            <a:r>
              <a:rPr lang="en-US" sz="1200" b="1">
                <a:solidFill>
                  <a:schemeClr val="dk2"/>
                </a:solidFill>
                <a:latin typeface="Montserrat Light"/>
                <a:ea typeface="Montserrat Light"/>
                <a:cs typeface="Montserrat Light"/>
                <a:sym typeface="Montserrat Light"/>
              </a:rPr>
              <a:t> Verify, Sim Swap, etc.</a:t>
            </a:r>
            <a:endParaRPr sz="1200" b="0" u="none" strike="noStrike" cap="none">
              <a:solidFill>
                <a:schemeClr val="dk2"/>
              </a:solidFill>
              <a:latin typeface="Montserrat Light"/>
              <a:ea typeface="Montserrat Light"/>
              <a:cs typeface="Montserrat Light"/>
              <a:sym typeface="Montserrat Light"/>
            </a:endParaRPr>
          </a:p>
        </p:txBody>
      </p:sp>
      <p:sp>
        <p:nvSpPr>
          <p:cNvPr id="909" name="Google Shape;909;p30"/>
          <p:cNvSpPr/>
          <p:nvPr/>
        </p:nvSpPr>
        <p:spPr>
          <a:xfrm>
            <a:off x="3715588" y="1909968"/>
            <a:ext cx="1582500" cy="3605400"/>
          </a:xfrm>
          <a:prstGeom prst="roundRect">
            <a:avLst>
              <a:gd name="adj" fmla="val 9433"/>
            </a:avLst>
          </a:prstGeom>
          <a:solidFill>
            <a:schemeClr val="accent2"/>
          </a:solidFill>
          <a:ln>
            <a:noFill/>
          </a:ln>
        </p:spPr>
        <p:txBody>
          <a:bodyPr spcFirstLastPara="1" wrap="square" lIns="42650" tIns="121925" rIns="30450" bIns="60950" anchor="t" anchorCtr="0">
            <a:noAutofit/>
          </a:bodyPr>
          <a:lstStyle/>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p:txBody>
      </p:sp>
      <p:sp>
        <p:nvSpPr>
          <p:cNvPr id="910" name="Google Shape;910;p30"/>
          <p:cNvSpPr txBox="1"/>
          <p:nvPr/>
        </p:nvSpPr>
        <p:spPr>
          <a:xfrm>
            <a:off x="3706876" y="1918736"/>
            <a:ext cx="1604100" cy="677068"/>
          </a:xfrm>
          <a:prstGeom prst="rect">
            <a:avLst/>
          </a:prstGeom>
          <a:noFill/>
          <a:ln>
            <a:noFill/>
          </a:ln>
        </p:spPr>
        <p:txBody>
          <a:bodyPr spcFirstLastPara="1" wrap="square" lIns="60950" tIns="121900" rIns="60950" bIns="121900" anchor="t" anchorCtr="0">
            <a:spAutoFit/>
          </a:bodyPr>
          <a:lstStyle/>
          <a:p>
            <a:pPr marL="0" marR="0" lvl="0" indent="0" algn="ctr" rtl="0">
              <a:spcBef>
                <a:spcPts val="0"/>
              </a:spcBef>
              <a:spcAft>
                <a:spcPts val="0"/>
              </a:spcAft>
              <a:buNone/>
            </a:pPr>
            <a:r>
              <a:rPr lang="en-US" b="1" dirty="0">
                <a:solidFill>
                  <a:schemeClr val="lt1"/>
                </a:solidFill>
                <a:latin typeface="Montserrat Light"/>
                <a:ea typeface="Montserrat Light"/>
                <a:cs typeface="Montserrat Light"/>
                <a:sym typeface="Montserrat Light"/>
              </a:rPr>
              <a:t>C</a:t>
            </a:r>
            <a:r>
              <a:rPr lang="en-US" sz="1400" b="1" dirty="0">
                <a:solidFill>
                  <a:schemeClr val="lt1"/>
                </a:solidFill>
                <a:latin typeface="Montserrat Light"/>
                <a:ea typeface="Montserrat Light"/>
                <a:cs typeface="Montserrat Light"/>
                <a:sym typeface="Montserrat Light"/>
              </a:rPr>
              <a:t>ommunication Quality</a:t>
            </a:r>
            <a:endParaRPr sz="1400" b="1" dirty="0">
              <a:solidFill>
                <a:schemeClr val="lt1"/>
              </a:solidFill>
              <a:latin typeface="Montserrat Light"/>
              <a:ea typeface="Montserrat Light"/>
              <a:cs typeface="Montserrat Light"/>
              <a:sym typeface="Montserrat Light"/>
            </a:endParaRPr>
          </a:p>
        </p:txBody>
      </p:sp>
      <p:sp>
        <p:nvSpPr>
          <p:cNvPr id="911" name="Google Shape;911;p30"/>
          <p:cNvSpPr txBox="1"/>
          <p:nvPr/>
        </p:nvSpPr>
        <p:spPr>
          <a:xfrm>
            <a:off x="3704067" y="3653593"/>
            <a:ext cx="1584300" cy="1693200"/>
          </a:xfrm>
          <a:prstGeom prst="rect">
            <a:avLst/>
          </a:prstGeom>
          <a:noFill/>
          <a:ln>
            <a:noFill/>
          </a:ln>
        </p:spPr>
        <p:txBody>
          <a:bodyPr spcFirstLastPara="1" wrap="square" lIns="121900" tIns="121900" rIns="121900" bIns="121900" anchor="t" anchorCtr="0">
            <a:spAutoFit/>
          </a:bodyPr>
          <a:lstStyle/>
          <a:p>
            <a:pPr marL="0" marR="0" lvl="0" indent="0" algn="ctr" rtl="0">
              <a:spcBef>
                <a:spcPts val="400"/>
              </a:spcBef>
              <a:spcAft>
                <a:spcPts val="0"/>
              </a:spcAft>
              <a:buNone/>
            </a:pPr>
            <a:r>
              <a:rPr lang="en-US" sz="1400">
                <a:solidFill>
                  <a:schemeClr val="lt1"/>
                </a:solidFill>
                <a:latin typeface="Montserrat Light"/>
                <a:ea typeface="Montserrat Light"/>
                <a:cs typeface="Montserrat Light"/>
                <a:sym typeface="Montserrat Light"/>
              </a:rPr>
              <a:t>Safeguarding of Transactions</a:t>
            </a:r>
            <a:endParaRPr/>
          </a:p>
          <a:p>
            <a:pPr marL="0" marR="0" lvl="0" indent="0" algn="ctr" rtl="0">
              <a:spcBef>
                <a:spcPts val="400"/>
              </a:spcBef>
              <a:spcAft>
                <a:spcPts val="0"/>
              </a:spcAft>
              <a:buNone/>
            </a:pPr>
            <a:r>
              <a:rPr lang="en-US" sz="1400">
                <a:solidFill>
                  <a:schemeClr val="lt1"/>
                </a:solidFill>
                <a:latin typeface="Montserrat Light"/>
                <a:ea typeface="Montserrat Light"/>
                <a:cs typeface="Montserrat Light"/>
                <a:sym typeface="Montserrat Light"/>
              </a:rPr>
              <a:t>Remote Control</a:t>
            </a:r>
            <a:endParaRPr/>
          </a:p>
          <a:p>
            <a:pPr marL="0" marR="0" lvl="0" indent="0" algn="ctr" rtl="0">
              <a:spcBef>
                <a:spcPts val="400"/>
              </a:spcBef>
              <a:spcAft>
                <a:spcPts val="0"/>
              </a:spcAft>
              <a:buNone/>
            </a:pPr>
            <a:r>
              <a:rPr lang="en-US" sz="1400">
                <a:solidFill>
                  <a:schemeClr val="lt1"/>
                </a:solidFill>
                <a:latin typeface="Montserrat Light"/>
                <a:ea typeface="Montserrat Light"/>
                <a:cs typeface="Montserrat Light"/>
                <a:sym typeface="Montserrat Light"/>
              </a:rPr>
              <a:t>AR/VR/XR</a:t>
            </a:r>
            <a:endParaRPr/>
          </a:p>
          <a:p>
            <a:pPr marL="0" marR="0" lvl="0" indent="0" algn="ctr" rtl="0">
              <a:spcBef>
                <a:spcPts val="400"/>
              </a:spcBef>
              <a:spcAft>
                <a:spcPts val="0"/>
              </a:spcAft>
              <a:buNone/>
            </a:pPr>
            <a:r>
              <a:rPr lang="en-US" sz="1400">
                <a:solidFill>
                  <a:schemeClr val="lt1"/>
                </a:solidFill>
                <a:latin typeface="Montserrat Light"/>
                <a:ea typeface="Montserrat Light"/>
                <a:cs typeface="Montserrat Light"/>
                <a:sym typeface="Montserrat Light"/>
              </a:rPr>
              <a:t>Gaming</a:t>
            </a:r>
            <a:endParaRPr/>
          </a:p>
        </p:txBody>
      </p:sp>
      <p:sp>
        <p:nvSpPr>
          <p:cNvPr id="912" name="Google Shape;912;p30"/>
          <p:cNvSpPr/>
          <p:nvPr/>
        </p:nvSpPr>
        <p:spPr>
          <a:xfrm>
            <a:off x="3723700" y="5593525"/>
            <a:ext cx="1574400" cy="570000"/>
          </a:xfrm>
          <a:prstGeom prst="roundRect">
            <a:avLst>
              <a:gd name="adj" fmla="val 16667"/>
            </a:avLst>
          </a:prstGeom>
          <a:solidFill>
            <a:schemeClr val="lt1"/>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ontserrat Light"/>
              <a:ea typeface="Montserrat Light"/>
              <a:cs typeface="Montserrat Light"/>
              <a:sym typeface="Montserrat Light"/>
            </a:endParaRPr>
          </a:p>
        </p:txBody>
      </p:sp>
      <p:sp>
        <p:nvSpPr>
          <p:cNvPr id="913" name="Google Shape;913;p30"/>
          <p:cNvSpPr/>
          <p:nvPr/>
        </p:nvSpPr>
        <p:spPr>
          <a:xfrm>
            <a:off x="3777542" y="5688436"/>
            <a:ext cx="1487700" cy="380100"/>
          </a:xfrm>
          <a:prstGeom prst="rect">
            <a:avLst/>
          </a:prstGeom>
          <a:noFill/>
          <a:ln>
            <a:noFill/>
          </a:ln>
        </p:spPr>
        <p:txBody>
          <a:bodyPr spcFirstLastPara="1" wrap="square" lIns="72000" tIns="72000" rIns="72000" bIns="72000" anchor="ctr" anchorCtr="0">
            <a:noAutofit/>
          </a:bodyPr>
          <a:lstStyle/>
          <a:p>
            <a:pPr marL="0" marR="0" lvl="0" indent="3175" algn="ctr" rtl="0">
              <a:lnSpc>
                <a:spcPct val="104000"/>
              </a:lnSpc>
              <a:spcBef>
                <a:spcPts val="0"/>
              </a:spcBef>
              <a:spcAft>
                <a:spcPts val="0"/>
              </a:spcAft>
              <a:buClr>
                <a:srgbClr val="E20074"/>
              </a:buClr>
              <a:buSzPts val="1350"/>
              <a:buFont typeface="Montserrat Light"/>
              <a:buNone/>
            </a:pPr>
            <a:r>
              <a:rPr lang="en-US" sz="1200" b="1" u="none" strike="noStrike" cap="none">
                <a:solidFill>
                  <a:schemeClr val="dk2"/>
                </a:solidFill>
                <a:latin typeface="Montserrat Light"/>
                <a:ea typeface="Montserrat Light"/>
                <a:cs typeface="Montserrat Light"/>
                <a:sym typeface="Montserrat Light"/>
              </a:rPr>
              <a:t>Quality on Demand</a:t>
            </a:r>
            <a:endParaRPr sz="1200" b="0" u="none" strike="noStrike" cap="none">
              <a:solidFill>
                <a:schemeClr val="dk2"/>
              </a:solidFill>
              <a:latin typeface="Montserrat Light"/>
              <a:ea typeface="Montserrat Light"/>
              <a:cs typeface="Montserrat Light"/>
              <a:sym typeface="Montserrat Light"/>
            </a:endParaRPr>
          </a:p>
        </p:txBody>
      </p:sp>
      <p:pic>
        <p:nvPicPr>
          <p:cNvPr id="914" name="Google Shape;914;p30"/>
          <p:cNvPicPr preferRelativeResize="0"/>
          <p:nvPr/>
        </p:nvPicPr>
        <p:blipFill rotWithShape="1">
          <a:blip r:embed="rId4">
            <a:alphaModFix/>
          </a:blip>
          <a:srcRect l="39" r="-39" b="12762"/>
          <a:stretch/>
        </p:blipFill>
        <p:spPr>
          <a:xfrm>
            <a:off x="3714688" y="2738688"/>
            <a:ext cx="1584300" cy="1034600"/>
          </a:xfrm>
          <a:prstGeom prst="rect">
            <a:avLst/>
          </a:prstGeom>
          <a:solidFill>
            <a:srgbClr val="000000"/>
          </a:solidFill>
          <a:ln>
            <a:noFill/>
          </a:ln>
        </p:spPr>
      </p:pic>
      <p:sp>
        <p:nvSpPr>
          <p:cNvPr id="915" name="Google Shape;915;p30"/>
          <p:cNvSpPr/>
          <p:nvPr/>
        </p:nvSpPr>
        <p:spPr>
          <a:xfrm>
            <a:off x="1930534" y="1898981"/>
            <a:ext cx="1582500" cy="3605400"/>
          </a:xfrm>
          <a:prstGeom prst="roundRect">
            <a:avLst>
              <a:gd name="adj" fmla="val 9433"/>
            </a:avLst>
          </a:prstGeom>
          <a:solidFill>
            <a:schemeClr val="accent2"/>
          </a:solidFill>
          <a:ln>
            <a:noFill/>
          </a:ln>
        </p:spPr>
        <p:txBody>
          <a:bodyPr spcFirstLastPara="1" wrap="square" lIns="42650" tIns="121925" rIns="30450" bIns="60950" anchor="t" anchorCtr="0">
            <a:noAutofit/>
          </a:bodyPr>
          <a:lstStyle/>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p:txBody>
      </p:sp>
      <p:sp>
        <p:nvSpPr>
          <p:cNvPr id="916" name="Google Shape;916;p30"/>
          <p:cNvSpPr txBox="1"/>
          <p:nvPr/>
        </p:nvSpPr>
        <p:spPr>
          <a:xfrm>
            <a:off x="1913647" y="1907748"/>
            <a:ext cx="1604100" cy="677068"/>
          </a:xfrm>
          <a:prstGeom prst="rect">
            <a:avLst/>
          </a:prstGeom>
          <a:noFill/>
          <a:ln>
            <a:noFill/>
          </a:ln>
        </p:spPr>
        <p:txBody>
          <a:bodyPr spcFirstLastPara="1" wrap="square" lIns="60950" tIns="121900" rIns="60950" bIns="121900" anchor="t" anchorCtr="0">
            <a:spAutoFit/>
          </a:bodyPr>
          <a:lstStyle/>
          <a:p>
            <a:pPr marL="0" marR="0" lvl="0" indent="0" algn="ctr" rtl="0">
              <a:spcBef>
                <a:spcPts val="0"/>
              </a:spcBef>
              <a:spcAft>
                <a:spcPts val="0"/>
              </a:spcAft>
              <a:buNone/>
            </a:pPr>
            <a:r>
              <a:rPr lang="en-US" sz="1400" b="1" dirty="0">
                <a:solidFill>
                  <a:schemeClr val="lt1"/>
                </a:solidFill>
                <a:latin typeface="Montserrat Light"/>
                <a:ea typeface="Montserrat Light"/>
                <a:cs typeface="Montserrat Light"/>
                <a:sym typeface="Montserrat Light"/>
              </a:rPr>
              <a:t>Location Servi</a:t>
            </a:r>
            <a:r>
              <a:rPr lang="en-US" b="1" dirty="0">
                <a:solidFill>
                  <a:schemeClr val="lt1"/>
                </a:solidFill>
                <a:latin typeface="Montserrat Light"/>
                <a:ea typeface="Montserrat Light"/>
                <a:cs typeface="Montserrat Light"/>
                <a:sym typeface="Montserrat Light"/>
              </a:rPr>
              <a:t>ces</a:t>
            </a:r>
            <a:endParaRPr dirty="0"/>
          </a:p>
        </p:txBody>
      </p:sp>
      <p:sp>
        <p:nvSpPr>
          <p:cNvPr id="917" name="Google Shape;917;p30"/>
          <p:cNvSpPr txBox="1"/>
          <p:nvPr/>
        </p:nvSpPr>
        <p:spPr>
          <a:xfrm>
            <a:off x="1910838" y="3642606"/>
            <a:ext cx="1584300" cy="1641900"/>
          </a:xfrm>
          <a:prstGeom prst="rect">
            <a:avLst/>
          </a:prstGeom>
          <a:noFill/>
          <a:ln>
            <a:noFill/>
          </a:ln>
        </p:spPr>
        <p:txBody>
          <a:bodyPr spcFirstLastPara="1" wrap="square" lIns="121900" tIns="121900" rIns="121900" bIns="121900" anchor="t" anchorCtr="0">
            <a:spAutoFit/>
          </a:bodyPr>
          <a:lstStyle/>
          <a:p>
            <a:pPr marL="0" marR="0" lvl="0" indent="0" algn="ctr" rtl="0">
              <a:spcBef>
                <a:spcPts val="400"/>
              </a:spcBef>
              <a:spcAft>
                <a:spcPts val="0"/>
              </a:spcAft>
              <a:buNone/>
            </a:pPr>
            <a:r>
              <a:rPr lang="en-US" sz="1400">
                <a:solidFill>
                  <a:schemeClr val="lt1"/>
                </a:solidFill>
                <a:latin typeface="Montserrat Light"/>
                <a:ea typeface="Montserrat Light"/>
                <a:cs typeface="Montserrat Light"/>
                <a:sym typeface="Montserrat Light"/>
              </a:rPr>
              <a:t>Location Verification</a:t>
            </a:r>
            <a:endParaRPr sz="1400">
              <a:solidFill>
                <a:schemeClr val="lt1"/>
              </a:solidFill>
              <a:latin typeface="Montserrat Light"/>
              <a:ea typeface="Montserrat Light"/>
              <a:cs typeface="Montserrat Light"/>
              <a:sym typeface="Montserrat Light"/>
            </a:endParaRPr>
          </a:p>
          <a:p>
            <a:pPr marL="0" marR="0" lvl="0" indent="0" algn="ctr" rtl="0">
              <a:spcBef>
                <a:spcPts val="400"/>
              </a:spcBef>
              <a:spcAft>
                <a:spcPts val="0"/>
              </a:spcAft>
              <a:buNone/>
            </a:pPr>
            <a:r>
              <a:rPr lang="en-US" sz="1400">
                <a:solidFill>
                  <a:schemeClr val="lt1"/>
                </a:solidFill>
                <a:latin typeface="Montserrat Light"/>
                <a:ea typeface="Montserrat Light"/>
                <a:cs typeface="Montserrat Light"/>
                <a:sym typeface="Montserrat Light"/>
              </a:rPr>
              <a:t>Location Retrieval</a:t>
            </a:r>
            <a:endParaRPr/>
          </a:p>
          <a:p>
            <a:pPr marL="0" marR="0" lvl="0" indent="0" algn="ctr" rtl="0">
              <a:spcBef>
                <a:spcPts val="400"/>
              </a:spcBef>
              <a:spcAft>
                <a:spcPts val="0"/>
              </a:spcAft>
              <a:buNone/>
            </a:pPr>
            <a:r>
              <a:rPr lang="en-US" sz="1400">
                <a:solidFill>
                  <a:schemeClr val="lt1"/>
                </a:solidFill>
                <a:latin typeface="Montserrat Light"/>
                <a:ea typeface="Montserrat Light"/>
                <a:cs typeface="Montserrat Light"/>
                <a:sym typeface="Montserrat Light"/>
              </a:rPr>
              <a:t>Location Geofencing</a:t>
            </a:r>
            <a:endParaRPr sz="1400">
              <a:solidFill>
                <a:schemeClr val="lt1"/>
              </a:solidFill>
              <a:latin typeface="Montserrat Light"/>
              <a:ea typeface="Montserrat Light"/>
              <a:cs typeface="Montserrat Light"/>
              <a:sym typeface="Montserrat Light"/>
            </a:endParaRPr>
          </a:p>
        </p:txBody>
      </p:sp>
      <p:sp>
        <p:nvSpPr>
          <p:cNvPr id="918" name="Google Shape;918;p30"/>
          <p:cNvSpPr/>
          <p:nvPr/>
        </p:nvSpPr>
        <p:spPr>
          <a:xfrm>
            <a:off x="1930481" y="5582543"/>
            <a:ext cx="1582500" cy="570000"/>
          </a:xfrm>
          <a:prstGeom prst="roundRect">
            <a:avLst>
              <a:gd name="adj" fmla="val 16667"/>
            </a:avLst>
          </a:prstGeom>
          <a:solidFill>
            <a:schemeClr val="lt1"/>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ontserrat Light"/>
              <a:ea typeface="Montserrat Light"/>
              <a:cs typeface="Montserrat Light"/>
              <a:sym typeface="Montserrat Light"/>
            </a:endParaRPr>
          </a:p>
        </p:txBody>
      </p:sp>
      <p:sp>
        <p:nvSpPr>
          <p:cNvPr id="919" name="Google Shape;919;p30"/>
          <p:cNvSpPr/>
          <p:nvPr/>
        </p:nvSpPr>
        <p:spPr>
          <a:xfrm>
            <a:off x="1974000" y="5677454"/>
            <a:ext cx="1495500" cy="380100"/>
          </a:xfrm>
          <a:prstGeom prst="rect">
            <a:avLst/>
          </a:prstGeom>
          <a:noFill/>
          <a:ln>
            <a:noFill/>
          </a:ln>
        </p:spPr>
        <p:txBody>
          <a:bodyPr spcFirstLastPara="1" wrap="square" lIns="72000" tIns="72000" rIns="72000" bIns="72000" anchor="ctr" anchorCtr="0">
            <a:noAutofit/>
          </a:bodyPr>
          <a:lstStyle/>
          <a:p>
            <a:pPr marL="0" marR="0" lvl="0" indent="3175" algn="ctr" rtl="0">
              <a:lnSpc>
                <a:spcPct val="104000"/>
              </a:lnSpc>
              <a:spcBef>
                <a:spcPts val="0"/>
              </a:spcBef>
              <a:spcAft>
                <a:spcPts val="0"/>
              </a:spcAft>
              <a:buClr>
                <a:srgbClr val="E20074"/>
              </a:buClr>
              <a:buSzPts val="1350"/>
              <a:buFont typeface="Montserrat Light"/>
              <a:buNone/>
            </a:pPr>
            <a:r>
              <a:rPr lang="en-US" sz="1200" b="1" u="none" strike="noStrike" cap="none">
                <a:solidFill>
                  <a:schemeClr val="dk2"/>
                </a:solidFill>
                <a:latin typeface="Montserrat Light"/>
                <a:ea typeface="Montserrat Light"/>
                <a:cs typeface="Montserrat Light"/>
                <a:sym typeface="Montserrat Light"/>
              </a:rPr>
              <a:t>Location APIs</a:t>
            </a:r>
            <a:endParaRPr sz="1200" b="0" u="none" strike="noStrike" cap="none">
              <a:solidFill>
                <a:schemeClr val="dk2"/>
              </a:solidFill>
              <a:latin typeface="Montserrat Light"/>
              <a:ea typeface="Montserrat Light"/>
              <a:cs typeface="Montserrat Light"/>
              <a:sym typeface="Montserrat Light"/>
            </a:endParaRPr>
          </a:p>
        </p:txBody>
      </p:sp>
      <p:sp>
        <p:nvSpPr>
          <p:cNvPr id="920" name="Google Shape;920;p30"/>
          <p:cNvSpPr/>
          <p:nvPr/>
        </p:nvSpPr>
        <p:spPr>
          <a:xfrm>
            <a:off x="5485944" y="1909959"/>
            <a:ext cx="1582500" cy="3605400"/>
          </a:xfrm>
          <a:prstGeom prst="roundRect">
            <a:avLst>
              <a:gd name="adj" fmla="val 9433"/>
            </a:avLst>
          </a:prstGeom>
          <a:solidFill>
            <a:schemeClr val="accent2"/>
          </a:solidFill>
          <a:ln>
            <a:noFill/>
          </a:ln>
        </p:spPr>
        <p:txBody>
          <a:bodyPr spcFirstLastPara="1" wrap="square" lIns="42650" tIns="121925" rIns="30450" bIns="60950" anchor="t" anchorCtr="0">
            <a:noAutofit/>
          </a:bodyPr>
          <a:lstStyle/>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p:txBody>
      </p:sp>
      <p:sp>
        <p:nvSpPr>
          <p:cNvPr id="921" name="Google Shape;921;p30"/>
          <p:cNvSpPr txBox="1"/>
          <p:nvPr/>
        </p:nvSpPr>
        <p:spPr>
          <a:xfrm>
            <a:off x="5469107" y="1924801"/>
            <a:ext cx="1604100" cy="677068"/>
          </a:xfrm>
          <a:prstGeom prst="rect">
            <a:avLst/>
          </a:prstGeom>
          <a:noFill/>
          <a:ln>
            <a:noFill/>
          </a:ln>
        </p:spPr>
        <p:txBody>
          <a:bodyPr spcFirstLastPara="1" wrap="square" lIns="60950" tIns="121900" rIns="60950" bIns="121900" anchor="t" anchorCtr="0">
            <a:spAutoFit/>
          </a:bodyPr>
          <a:lstStyle/>
          <a:p>
            <a:pPr marL="0" marR="0" lvl="0" indent="0" algn="ctr" rtl="0">
              <a:spcBef>
                <a:spcPts val="0"/>
              </a:spcBef>
              <a:spcAft>
                <a:spcPts val="0"/>
              </a:spcAft>
              <a:buNone/>
            </a:pPr>
            <a:r>
              <a:rPr lang="en-US" sz="1400" b="1" dirty="0">
                <a:solidFill>
                  <a:schemeClr val="lt1"/>
                </a:solidFill>
                <a:latin typeface="Montserrat Light"/>
                <a:ea typeface="Montserrat Light"/>
                <a:cs typeface="Montserrat Light"/>
                <a:sym typeface="Montserrat Light"/>
              </a:rPr>
              <a:t>Device Information</a:t>
            </a:r>
            <a:endParaRPr sz="1400" b="1" dirty="0">
              <a:solidFill>
                <a:schemeClr val="lt1"/>
              </a:solidFill>
              <a:latin typeface="Montserrat Light"/>
              <a:ea typeface="Montserrat Light"/>
              <a:cs typeface="Montserrat Light"/>
              <a:sym typeface="Montserrat Light"/>
            </a:endParaRPr>
          </a:p>
        </p:txBody>
      </p:sp>
      <p:sp>
        <p:nvSpPr>
          <p:cNvPr id="922" name="Google Shape;922;p30"/>
          <p:cNvSpPr txBox="1"/>
          <p:nvPr/>
        </p:nvSpPr>
        <p:spPr>
          <a:xfrm>
            <a:off x="5466298" y="3659659"/>
            <a:ext cx="1584300" cy="728364"/>
          </a:xfrm>
          <a:prstGeom prst="rect">
            <a:avLst/>
          </a:prstGeom>
          <a:noFill/>
          <a:ln>
            <a:noFill/>
          </a:ln>
        </p:spPr>
        <p:txBody>
          <a:bodyPr spcFirstLastPara="1" wrap="square" lIns="121900" tIns="121900" rIns="121900" bIns="121900" anchor="t" anchorCtr="0">
            <a:spAutoFit/>
          </a:bodyPr>
          <a:lstStyle/>
          <a:p>
            <a:pPr marL="0" marR="0" lvl="0" indent="0" algn="ctr" rtl="0">
              <a:spcBef>
                <a:spcPts val="400"/>
              </a:spcBef>
              <a:spcAft>
                <a:spcPts val="0"/>
              </a:spcAft>
              <a:buNone/>
            </a:pPr>
            <a:r>
              <a:rPr lang="de-DE" dirty="0" err="1">
                <a:solidFill>
                  <a:schemeClr val="lt1"/>
                </a:solidFill>
                <a:latin typeface="Montserrat Light"/>
                <a:sym typeface="Montserrat Light"/>
              </a:rPr>
              <a:t>Proactive</a:t>
            </a:r>
            <a:r>
              <a:rPr lang="de-DE" dirty="0">
                <a:solidFill>
                  <a:schemeClr val="lt1"/>
                </a:solidFill>
                <a:latin typeface="Montserrat Light"/>
                <a:sym typeface="Montserrat Light"/>
              </a:rPr>
              <a:t> User Information</a:t>
            </a:r>
            <a:endParaRPr dirty="0"/>
          </a:p>
        </p:txBody>
      </p:sp>
      <p:sp>
        <p:nvSpPr>
          <p:cNvPr id="923" name="Google Shape;923;p30"/>
          <p:cNvSpPr/>
          <p:nvPr/>
        </p:nvSpPr>
        <p:spPr>
          <a:xfrm>
            <a:off x="5485941" y="5593496"/>
            <a:ext cx="1582500" cy="570000"/>
          </a:xfrm>
          <a:prstGeom prst="roundRect">
            <a:avLst>
              <a:gd name="adj" fmla="val 16667"/>
            </a:avLst>
          </a:prstGeom>
          <a:solidFill>
            <a:schemeClr val="lt1"/>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ontserrat Light"/>
              <a:ea typeface="Montserrat Light"/>
              <a:cs typeface="Montserrat Light"/>
              <a:sym typeface="Montserrat Light"/>
            </a:endParaRPr>
          </a:p>
        </p:txBody>
      </p:sp>
      <p:sp>
        <p:nvSpPr>
          <p:cNvPr id="924" name="Google Shape;924;p30"/>
          <p:cNvSpPr/>
          <p:nvPr/>
        </p:nvSpPr>
        <p:spPr>
          <a:xfrm>
            <a:off x="5529447" y="5682369"/>
            <a:ext cx="1495500" cy="380100"/>
          </a:xfrm>
          <a:prstGeom prst="rect">
            <a:avLst/>
          </a:prstGeom>
          <a:noFill/>
          <a:ln>
            <a:noFill/>
          </a:ln>
        </p:spPr>
        <p:txBody>
          <a:bodyPr spcFirstLastPara="1" wrap="square" lIns="72000" tIns="72000" rIns="72000" bIns="72000" anchor="ctr" anchorCtr="0">
            <a:noAutofit/>
          </a:bodyPr>
          <a:lstStyle/>
          <a:p>
            <a:pPr marL="0" marR="0" lvl="0" indent="3175" algn="ctr" rtl="0">
              <a:lnSpc>
                <a:spcPct val="104000"/>
              </a:lnSpc>
              <a:spcBef>
                <a:spcPts val="0"/>
              </a:spcBef>
              <a:spcAft>
                <a:spcPts val="0"/>
              </a:spcAft>
              <a:buClr>
                <a:srgbClr val="E20074"/>
              </a:buClr>
              <a:buSzPts val="1350"/>
              <a:buFont typeface="Montserrat Light"/>
              <a:buNone/>
            </a:pPr>
            <a:r>
              <a:rPr lang="en-US" sz="1200" b="1" u="none" strike="noStrike" cap="none" dirty="0">
                <a:solidFill>
                  <a:schemeClr val="dk2"/>
                </a:solidFill>
                <a:latin typeface="Montserrat Light"/>
                <a:ea typeface="Montserrat Light"/>
                <a:cs typeface="Montserrat Light"/>
                <a:sym typeface="Montserrat Light"/>
              </a:rPr>
              <a:t>Device Data Volume</a:t>
            </a:r>
            <a:endParaRPr sz="1200" b="0" u="none" strike="noStrike" cap="none" dirty="0">
              <a:solidFill>
                <a:schemeClr val="dk2"/>
              </a:solidFill>
              <a:latin typeface="Montserrat Light"/>
              <a:ea typeface="Montserrat Light"/>
              <a:cs typeface="Montserrat Light"/>
              <a:sym typeface="Montserrat Light"/>
            </a:endParaRPr>
          </a:p>
        </p:txBody>
      </p:sp>
      <p:pic>
        <p:nvPicPr>
          <p:cNvPr id="925" name="Google Shape;925;p30" descr="Event an drei Tagen: Telekom feiert ihr Mitarbeiterfest in der Beueler  Rheinaue"/>
          <p:cNvPicPr preferRelativeResize="0"/>
          <p:nvPr/>
        </p:nvPicPr>
        <p:blipFill rotWithShape="1">
          <a:blip r:embed="rId5">
            <a:alphaModFix/>
          </a:blip>
          <a:srcRect l="26701" r="9363" b="28146"/>
          <a:stretch/>
        </p:blipFill>
        <p:spPr>
          <a:xfrm>
            <a:off x="1930075" y="2730575"/>
            <a:ext cx="1582351" cy="1034601"/>
          </a:xfrm>
          <a:prstGeom prst="rect">
            <a:avLst/>
          </a:prstGeom>
          <a:noFill/>
          <a:ln>
            <a:noFill/>
          </a:ln>
        </p:spPr>
      </p:pic>
      <p:sp>
        <p:nvSpPr>
          <p:cNvPr id="928" name="Google Shape;928;p30"/>
          <p:cNvSpPr txBox="1"/>
          <p:nvPr/>
        </p:nvSpPr>
        <p:spPr>
          <a:xfrm>
            <a:off x="9046167" y="1909950"/>
            <a:ext cx="2147110" cy="41549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dirty="0">
                <a:solidFill>
                  <a:schemeClr val="dk1"/>
                </a:solidFill>
                <a:latin typeface="Montserrat Light"/>
                <a:ea typeface="Montserrat Light"/>
                <a:cs typeface="Montserrat Light"/>
                <a:sym typeface="Montserrat Light"/>
              </a:rPr>
              <a:t>Network APIs offer the opportunity</a:t>
            </a:r>
            <a:endParaRPr sz="1800" dirty="0"/>
          </a:p>
          <a:p>
            <a:pPr marL="0" marR="0" lvl="0" indent="0" algn="l" rtl="0">
              <a:spcBef>
                <a:spcPts val="0"/>
              </a:spcBef>
              <a:spcAft>
                <a:spcPts val="0"/>
              </a:spcAft>
              <a:buNone/>
            </a:pPr>
            <a:endParaRPr sz="1800" dirty="0">
              <a:solidFill>
                <a:schemeClr val="dk1"/>
              </a:solidFill>
              <a:latin typeface="Montserrat Light"/>
              <a:ea typeface="Montserrat Light"/>
              <a:cs typeface="Montserrat Light"/>
              <a:sym typeface="Montserrat Light"/>
            </a:endParaRPr>
          </a:p>
          <a:p>
            <a:pPr marL="285750" marR="0" lvl="0" indent="-311150" algn="l" rtl="0">
              <a:spcBef>
                <a:spcPts val="0"/>
              </a:spcBef>
              <a:spcAft>
                <a:spcPts val="0"/>
              </a:spcAft>
              <a:buClr>
                <a:srgbClr val="3A9BF3"/>
              </a:buClr>
              <a:buSzPts val="2000"/>
              <a:buFont typeface="Montserrat"/>
              <a:buChar char="•"/>
            </a:pPr>
            <a:r>
              <a:rPr lang="en-US" sz="1800" dirty="0">
                <a:solidFill>
                  <a:schemeClr val="dk1"/>
                </a:solidFill>
                <a:latin typeface="Montserrat Light"/>
                <a:ea typeface="Montserrat Light"/>
                <a:cs typeface="Montserrat Light"/>
                <a:sym typeface="Montserrat Light"/>
              </a:rPr>
              <a:t>For customers to optimize their use cases and applications</a:t>
            </a:r>
            <a:endParaRPr sz="1800" dirty="0"/>
          </a:p>
          <a:p>
            <a:pPr marL="285750" marR="0" lvl="0" indent="-184150" algn="l" rtl="0">
              <a:spcBef>
                <a:spcPts val="0"/>
              </a:spcBef>
              <a:spcAft>
                <a:spcPts val="0"/>
              </a:spcAft>
              <a:buClr>
                <a:schemeClr val="dk2"/>
              </a:buClr>
              <a:buSzPts val="1600"/>
              <a:buFont typeface="Montserrat Light"/>
              <a:buNone/>
            </a:pPr>
            <a:endParaRPr sz="1800" dirty="0">
              <a:solidFill>
                <a:schemeClr val="dk1"/>
              </a:solidFill>
              <a:latin typeface="Montserrat Light"/>
              <a:ea typeface="Montserrat Light"/>
              <a:cs typeface="Montserrat Light"/>
              <a:sym typeface="Montserrat Light"/>
            </a:endParaRPr>
          </a:p>
          <a:p>
            <a:pPr marL="285750" marR="0" lvl="0" indent="-311150" algn="l" rtl="0">
              <a:spcBef>
                <a:spcPts val="0"/>
              </a:spcBef>
              <a:spcAft>
                <a:spcPts val="0"/>
              </a:spcAft>
              <a:buClr>
                <a:srgbClr val="3A9BF3"/>
              </a:buClr>
              <a:buSzPts val="2000"/>
              <a:buFont typeface="Montserrat"/>
              <a:buChar char="•"/>
            </a:pPr>
            <a:r>
              <a:rPr lang="en-US" sz="1800" dirty="0">
                <a:solidFill>
                  <a:schemeClr val="dk1"/>
                </a:solidFill>
                <a:latin typeface="Montserrat Light"/>
                <a:ea typeface="Montserrat Light"/>
                <a:cs typeface="Montserrat Light"/>
                <a:sym typeface="Montserrat Light"/>
              </a:rPr>
              <a:t>For operators to monetize their invest in 5G infrastructure</a:t>
            </a:r>
            <a:endParaRPr sz="1800" dirty="0"/>
          </a:p>
          <a:p>
            <a:pPr marL="285750" marR="0" lvl="0" indent="-184150" algn="l" rtl="0">
              <a:spcBef>
                <a:spcPts val="0"/>
              </a:spcBef>
              <a:spcAft>
                <a:spcPts val="0"/>
              </a:spcAft>
              <a:buClr>
                <a:schemeClr val="dk2"/>
              </a:buClr>
              <a:buSzPts val="1600"/>
              <a:buFont typeface="Montserrat Light"/>
              <a:buNone/>
            </a:pPr>
            <a:endParaRPr sz="1800" dirty="0">
              <a:solidFill>
                <a:schemeClr val="dk1"/>
              </a:solidFill>
              <a:latin typeface="Montserrat Light"/>
              <a:ea typeface="Montserrat Light"/>
              <a:cs typeface="Montserrat Light"/>
              <a:sym typeface="Montserrat Light"/>
            </a:endParaRPr>
          </a:p>
          <a:p>
            <a:pPr marL="0" marR="0" lvl="0" indent="0" algn="l" rtl="0">
              <a:spcBef>
                <a:spcPts val="0"/>
              </a:spcBef>
              <a:spcAft>
                <a:spcPts val="0"/>
              </a:spcAft>
              <a:buNone/>
            </a:pPr>
            <a:r>
              <a:rPr lang="en-US" sz="1800" dirty="0">
                <a:solidFill>
                  <a:schemeClr val="accent2"/>
                </a:solidFill>
                <a:latin typeface="Montserrat ExtraBold"/>
                <a:ea typeface="Montserrat ExtraBold"/>
                <a:cs typeface="Montserrat ExtraBold"/>
                <a:sym typeface="Montserrat ExtraBold"/>
              </a:rPr>
              <a:t>It’s a win-win!</a:t>
            </a:r>
            <a:endParaRPr sz="1800" dirty="0"/>
          </a:p>
        </p:txBody>
      </p:sp>
      <p:sp>
        <p:nvSpPr>
          <p:cNvPr id="2" name="Google Shape;920;p30">
            <a:extLst>
              <a:ext uri="{FF2B5EF4-FFF2-40B4-BE49-F238E27FC236}">
                <a16:creationId xmlns:a16="http://schemas.microsoft.com/office/drawing/2014/main" xmlns="" id="{3B8D45C9-F8B6-C5A2-9168-015E7AFCFA62}"/>
              </a:ext>
            </a:extLst>
          </p:cNvPr>
          <p:cNvSpPr/>
          <p:nvPr/>
        </p:nvSpPr>
        <p:spPr>
          <a:xfrm>
            <a:off x="7237554" y="1918736"/>
            <a:ext cx="1582500" cy="3605400"/>
          </a:xfrm>
          <a:prstGeom prst="roundRect">
            <a:avLst>
              <a:gd name="adj" fmla="val 9433"/>
            </a:avLst>
          </a:prstGeom>
          <a:solidFill>
            <a:schemeClr val="accent2"/>
          </a:solidFill>
          <a:ln>
            <a:noFill/>
          </a:ln>
        </p:spPr>
        <p:txBody>
          <a:bodyPr spcFirstLastPara="1" wrap="square" lIns="42650" tIns="121925" rIns="30450" bIns="60950" anchor="t" anchorCtr="0">
            <a:noAutofit/>
          </a:bodyPr>
          <a:lstStyle/>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a:p>
            <a:pPr marL="0" marR="0" lvl="0" indent="0" algn="ctr" rtl="0">
              <a:spcBef>
                <a:spcPts val="0"/>
              </a:spcBef>
              <a:spcAft>
                <a:spcPts val="0"/>
              </a:spcAft>
              <a:buNone/>
            </a:pPr>
            <a:endParaRPr sz="1733">
              <a:solidFill>
                <a:schemeClr val="dk1"/>
              </a:solidFill>
              <a:latin typeface="Montserrat Light"/>
              <a:ea typeface="Montserrat Light"/>
              <a:cs typeface="Montserrat Light"/>
              <a:sym typeface="Montserrat Light"/>
            </a:endParaRPr>
          </a:p>
        </p:txBody>
      </p:sp>
      <p:sp>
        <p:nvSpPr>
          <p:cNvPr id="3" name="Google Shape;921;p30">
            <a:extLst>
              <a:ext uri="{FF2B5EF4-FFF2-40B4-BE49-F238E27FC236}">
                <a16:creationId xmlns:a16="http://schemas.microsoft.com/office/drawing/2014/main" xmlns="" id="{6B7FC5EF-F616-3082-C18A-EF3A45ACBDBF}"/>
              </a:ext>
            </a:extLst>
          </p:cNvPr>
          <p:cNvSpPr txBox="1"/>
          <p:nvPr/>
        </p:nvSpPr>
        <p:spPr>
          <a:xfrm>
            <a:off x="7220717" y="1933578"/>
            <a:ext cx="1604100" cy="677068"/>
          </a:xfrm>
          <a:prstGeom prst="rect">
            <a:avLst/>
          </a:prstGeom>
          <a:noFill/>
          <a:ln>
            <a:noFill/>
          </a:ln>
        </p:spPr>
        <p:txBody>
          <a:bodyPr spcFirstLastPara="1" wrap="square" lIns="60950" tIns="121900" rIns="60950" bIns="121900" anchor="t" anchorCtr="0">
            <a:spAutoFit/>
          </a:bodyPr>
          <a:lstStyle/>
          <a:p>
            <a:pPr marL="0" marR="0" lvl="0" indent="0" algn="ctr" rtl="0">
              <a:spcBef>
                <a:spcPts val="0"/>
              </a:spcBef>
              <a:spcAft>
                <a:spcPts val="0"/>
              </a:spcAft>
              <a:buNone/>
            </a:pPr>
            <a:r>
              <a:rPr lang="en-US" sz="1400" b="1" dirty="0">
                <a:solidFill>
                  <a:schemeClr val="lt1"/>
                </a:solidFill>
                <a:latin typeface="Montserrat Light"/>
                <a:ea typeface="Montserrat Light"/>
                <a:cs typeface="Montserrat Light"/>
                <a:sym typeface="Montserrat Light"/>
              </a:rPr>
              <a:t>Computing Services</a:t>
            </a:r>
            <a:endParaRPr sz="1400" b="1" dirty="0">
              <a:solidFill>
                <a:schemeClr val="lt1"/>
              </a:solidFill>
              <a:latin typeface="Montserrat Light"/>
              <a:ea typeface="Montserrat Light"/>
              <a:cs typeface="Montserrat Light"/>
              <a:sym typeface="Montserrat Light"/>
            </a:endParaRPr>
          </a:p>
        </p:txBody>
      </p:sp>
      <p:sp>
        <p:nvSpPr>
          <p:cNvPr id="4" name="Google Shape;922;p30">
            <a:extLst>
              <a:ext uri="{FF2B5EF4-FFF2-40B4-BE49-F238E27FC236}">
                <a16:creationId xmlns:a16="http://schemas.microsoft.com/office/drawing/2014/main" xmlns="" id="{39C8EB41-3641-D6DE-BF39-7A27433676AA}"/>
              </a:ext>
            </a:extLst>
          </p:cNvPr>
          <p:cNvSpPr txBox="1"/>
          <p:nvPr/>
        </p:nvSpPr>
        <p:spPr>
          <a:xfrm>
            <a:off x="7217908" y="3668436"/>
            <a:ext cx="1584300" cy="1425991"/>
          </a:xfrm>
          <a:prstGeom prst="rect">
            <a:avLst/>
          </a:prstGeom>
          <a:noFill/>
          <a:ln>
            <a:noFill/>
          </a:ln>
        </p:spPr>
        <p:txBody>
          <a:bodyPr spcFirstLastPara="1" wrap="square" lIns="121900" tIns="121900" rIns="121900" bIns="121900" anchor="t" anchorCtr="0">
            <a:spAutoFit/>
          </a:bodyPr>
          <a:lstStyle/>
          <a:p>
            <a:pPr marL="0" marR="0" lvl="0" indent="0" algn="ctr" rtl="0">
              <a:spcBef>
                <a:spcPts val="400"/>
              </a:spcBef>
              <a:spcAft>
                <a:spcPts val="0"/>
              </a:spcAft>
              <a:buNone/>
            </a:pPr>
            <a:r>
              <a:rPr lang="de-DE" dirty="0">
                <a:solidFill>
                  <a:schemeClr val="lt1"/>
                </a:solidFill>
                <a:latin typeface="Montserrat Light"/>
                <a:sym typeface="Montserrat Light"/>
              </a:rPr>
              <a:t>Edge </a:t>
            </a:r>
            <a:r>
              <a:rPr lang="de-DE" dirty="0" err="1">
                <a:solidFill>
                  <a:schemeClr val="lt1"/>
                </a:solidFill>
                <a:latin typeface="Montserrat Light"/>
                <a:sym typeface="Montserrat Light"/>
              </a:rPr>
              <a:t>Application</a:t>
            </a:r>
            <a:r>
              <a:rPr lang="de-DE" dirty="0">
                <a:solidFill>
                  <a:schemeClr val="lt1"/>
                </a:solidFill>
                <a:latin typeface="Montserrat Light"/>
                <a:sym typeface="Montserrat Light"/>
              </a:rPr>
              <a:t> </a:t>
            </a:r>
            <a:r>
              <a:rPr lang="de-DE" dirty="0" err="1">
                <a:solidFill>
                  <a:schemeClr val="lt1"/>
                </a:solidFill>
                <a:latin typeface="Montserrat Light"/>
                <a:sym typeface="Montserrat Light"/>
              </a:rPr>
              <a:t>hosting</a:t>
            </a:r>
            <a:endParaRPr lang="de-DE" dirty="0">
              <a:solidFill>
                <a:schemeClr val="lt1"/>
              </a:solidFill>
              <a:latin typeface="Montserrat Light"/>
              <a:sym typeface="Montserrat Light"/>
            </a:endParaRPr>
          </a:p>
          <a:p>
            <a:pPr marL="0" marR="0" lvl="0" indent="0" algn="ctr" rtl="0">
              <a:spcBef>
                <a:spcPts val="400"/>
              </a:spcBef>
              <a:spcAft>
                <a:spcPts val="0"/>
              </a:spcAft>
              <a:buNone/>
            </a:pPr>
            <a:r>
              <a:rPr lang="de-DE" dirty="0" err="1">
                <a:solidFill>
                  <a:schemeClr val="lt1"/>
                </a:solidFill>
                <a:latin typeface="Montserrat Light"/>
                <a:sym typeface="Montserrat Light"/>
              </a:rPr>
              <a:t>Latency</a:t>
            </a:r>
            <a:r>
              <a:rPr lang="de-DE" dirty="0">
                <a:solidFill>
                  <a:schemeClr val="lt1"/>
                </a:solidFill>
                <a:latin typeface="Montserrat Light"/>
                <a:sym typeface="Montserrat Light"/>
              </a:rPr>
              <a:t> </a:t>
            </a:r>
            <a:r>
              <a:rPr lang="de-DE" dirty="0" err="1">
                <a:solidFill>
                  <a:schemeClr val="lt1"/>
                </a:solidFill>
                <a:latin typeface="Montserrat Light"/>
                <a:sym typeface="Montserrat Light"/>
              </a:rPr>
              <a:t>optimization</a:t>
            </a:r>
            <a:endParaRPr dirty="0"/>
          </a:p>
        </p:txBody>
      </p:sp>
      <p:sp>
        <p:nvSpPr>
          <p:cNvPr id="5" name="Google Shape;923;p30">
            <a:extLst>
              <a:ext uri="{FF2B5EF4-FFF2-40B4-BE49-F238E27FC236}">
                <a16:creationId xmlns:a16="http://schemas.microsoft.com/office/drawing/2014/main" xmlns="" id="{812628A3-8524-F03A-F142-5A956F43C6E4}"/>
              </a:ext>
            </a:extLst>
          </p:cNvPr>
          <p:cNvSpPr/>
          <p:nvPr/>
        </p:nvSpPr>
        <p:spPr>
          <a:xfrm>
            <a:off x="7237551" y="5602273"/>
            <a:ext cx="1582500" cy="570000"/>
          </a:xfrm>
          <a:prstGeom prst="roundRect">
            <a:avLst>
              <a:gd name="adj" fmla="val 16667"/>
            </a:avLst>
          </a:prstGeom>
          <a:solidFill>
            <a:schemeClr val="lt1"/>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ontserrat Light"/>
              <a:ea typeface="Montserrat Light"/>
              <a:cs typeface="Montserrat Light"/>
              <a:sym typeface="Montserrat Light"/>
            </a:endParaRPr>
          </a:p>
        </p:txBody>
      </p:sp>
      <p:sp>
        <p:nvSpPr>
          <p:cNvPr id="6" name="Google Shape;924;p30">
            <a:extLst>
              <a:ext uri="{FF2B5EF4-FFF2-40B4-BE49-F238E27FC236}">
                <a16:creationId xmlns:a16="http://schemas.microsoft.com/office/drawing/2014/main" xmlns="" id="{367A56B6-09C1-3507-0B6A-84BBC4A32129}"/>
              </a:ext>
            </a:extLst>
          </p:cNvPr>
          <p:cNvSpPr/>
          <p:nvPr/>
        </p:nvSpPr>
        <p:spPr>
          <a:xfrm>
            <a:off x="7281057" y="5691146"/>
            <a:ext cx="1495500" cy="380100"/>
          </a:xfrm>
          <a:prstGeom prst="rect">
            <a:avLst/>
          </a:prstGeom>
          <a:noFill/>
          <a:ln>
            <a:noFill/>
          </a:ln>
        </p:spPr>
        <p:txBody>
          <a:bodyPr spcFirstLastPara="1" wrap="square" lIns="72000" tIns="72000" rIns="72000" bIns="72000" anchor="ctr" anchorCtr="0">
            <a:noAutofit/>
          </a:bodyPr>
          <a:lstStyle/>
          <a:p>
            <a:pPr marL="0" marR="0" lvl="0" indent="3175" algn="ctr" rtl="0">
              <a:lnSpc>
                <a:spcPct val="104000"/>
              </a:lnSpc>
              <a:spcBef>
                <a:spcPts val="0"/>
              </a:spcBef>
              <a:spcAft>
                <a:spcPts val="0"/>
              </a:spcAft>
              <a:buClr>
                <a:srgbClr val="E20074"/>
              </a:buClr>
              <a:buSzPts val="1350"/>
              <a:buFont typeface="Montserrat Light"/>
              <a:buNone/>
            </a:pPr>
            <a:r>
              <a:rPr lang="en-US" sz="1200" b="1" u="none" strike="noStrike" cap="none" dirty="0">
                <a:solidFill>
                  <a:schemeClr val="dk2"/>
                </a:solidFill>
                <a:latin typeface="Montserrat Light"/>
                <a:ea typeface="Montserrat Light"/>
                <a:cs typeface="Montserrat Light"/>
                <a:sym typeface="Montserrat Light"/>
              </a:rPr>
              <a:t>Simple Edge Discovery</a:t>
            </a:r>
            <a:endParaRPr sz="1200" b="0" u="none" strike="noStrike" cap="none" dirty="0">
              <a:solidFill>
                <a:schemeClr val="dk2"/>
              </a:solidFill>
              <a:latin typeface="Montserrat Light"/>
              <a:ea typeface="Montserrat Light"/>
              <a:cs typeface="Montserrat Light"/>
              <a:sym typeface="Montserrat Light"/>
            </a:endParaRPr>
          </a:p>
        </p:txBody>
      </p:sp>
      <p:pic>
        <p:nvPicPr>
          <p:cNvPr id="1026" name="Picture 2" descr="Der richtige Zeitpunkt: Wann Sie Ihr Handy verkaufen sollten">
            <a:extLst>
              <a:ext uri="{FF2B5EF4-FFF2-40B4-BE49-F238E27FC236}">
                <a16:creationId xmlns:a16="http://schemas.microsoft.com/office/drawing/2014/main" xmlns="" id="{C6141BBA-2773-C46E-1D0A-D31A555921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93927" y="2727700"/>
            <a:ext cx="1556671" cy="10345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dge Computing: Netzbetreiber mit Schlüsselrolle bei der Schaffung neuer  Umsatzmöglichkeiten">
            <a:extLst>
              <a:ext uri="{FF2B5EF4-FFF2-40B4-BE49-F238E27FC236}">
                <a16:creationId xmlns:a16="http://schemas.microsoft.com/office/drawing/2014/main" xmlns="" id="{D450ADAE-9673-1FE1-4DA7-68CB5AB6969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54391" y="2738688"/>
            <a:ext cx="1547818" cy="10236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82">
          <a:extLst>
            <a:ext uri="{FF2B5EF4-FFF2-40B4-BE49-F238E27FC236}">
              <a16:creationId xmlns:a16="http://schemas.microsoft.com/office/drawing/2014/main" xmlns="" id="{831B4847-E1E7-FFAD-5379-EE3867C88A8D}"/>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xmlns="" id="{47B121E3-19D7-8DCC-4AAE-988D3474600E}"/>
              </a:ext>
            </a:extLst>
          </p:cNvPr>
          <p:cNvGraphicFramePr>
            <a:graphicFrameLocks/>
          </p:cNvGraphicFramePr>
          <p:nvPr>
            <p:custDataLst>
              <p:tags r:id="rId2"/>
            </p:custDataLst>
            <p:extLst>
              <p:ext uri="{D42A27DB-BD31-4B8C-83A1-F6EECF244321}">
                <p14:modId xmlns:p14="http://schemas.microsoft.com/office/powerpoint/2010/main" val="38323243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26" name="thinkcell Folie" r:id="rId5" imgW="606" imgH="608" progId="TCLayout.ActiveDocument.1">
                  <p:embed/>
                </p:oleObj>
              </mc:Choice>
              <mc:Fallback>
                <p:oleObj name="thinkcell Folie" r:id="rId5" imgW="606" imgH="608"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83" name="Google Shape;883;p29">
            <a:extLst>
              <a:ext uri="{FF2B5EF4-FFF2-40B4-BE49-F238E27FC236}">
                <a16:creationId xmlns:a16="http://schemas.microsoft.com/office/drawing/2014/main" xmlns="" id="{796698BA-3FD9-6238-4B16-79CF1C42DF92}"/>
              </a:ext>
            </a:extLst>
          </p:cNvPr>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dirty="0"/>
              <a:t>Anti Fraud APIs</a:t>
            </a:r>
            <a:endParaRPr dirty="0"/>
          </a:p>
        </p:txBody>
      </p:sp>
      <p:sp>
        <p:nvSpPr>
          <p:cNvPr id="7" name="Rechteck 6">
            <a:extLst>
              <a:ext uri="{FF2B5EF4-FFF2-40B4-BE49-F238E27FC236}">
                <a16:creationId xmlns:a16="http://schemas.microsoft.com/office/drawing/2014/main" xmlns="" id="{C9C78C79-2772-5179-D148-4A5E7503A4B2}"/>
              </a:ext>
            </a:extLst>
          </p:cNvPr>
          <p:cNvSpPr/>
          <p:nvPr/>
        </p:nvSpPr>
        <p:spPr>
          <a:xfrm>
            <a:off x="0" y="1169960"/>
            <a:ext cx="5643418" cy="1244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a:extLst>
              <a:ext uri="{FF2B5EF4-FFF2-40B4-BE49-F238E27FC236}">
                <a16:creationId xmlns:a16="http://schemas.microsoft.com/office/drawing/2014/main" xmlns="" id="{EC7AF67C-9278-07FC-8E01-D877CF20256E}"/>
              </a:ext>
            </a:extLst>
          </p:cNvPr>
          <p:cNvPicPr>
            <a:picLocks noChangeAspect="1"/>
          </p:cNvPicPr>
          <p:nvPr/>
        </p:nvPicPr>
        <p:blipFill>
          <a:blip r:embed="rId7"/>
          <a:stretch>
            <a:fillRect/>
          </a:stretch>
        </p:blipFill>
        <p:spPr>
          <a:xfrm>
            <a:off x="0" y="1197668"/>
            <a:ext cx="11522075" cy="4874118"/>
          </a:xfrm>
          <a:prstGeom prst="rect">
            <a:avLst/>
          </a:prstGeom>
        </p:spPr>
      </p:pic>
    </p:spTree>
    <p:extLst>
      <p:ext uri="{BB962C8B-B14F-4D97-AF65-F5344CB8AC3E}">
        <p14:creationId xmlns:p14="http://schemas.microsoft.com/office/powerpoint/2010/main" val="33835358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grpSp>
        <p:nvGrpSpPr>
          <p:cNvPr id="8" name="Gruppieren 7"/>
          <p:cNvGrpSpPr/>
          <p:nvPr/>
        </p:nvGrpSpPr>
        <p:grpSpPr>
          <a:xfrm>
            <a:off x="545632" y="1875230"/>
            <a:ext cx="5822950" cy="4410885"/>
            <a:chOff x="545632" y="1875230"/>
            <a:chExt cx="5822950" cy="4410885"/>
          </a:xfrm>
        </p:grpSpPr>
        <p:grpSp>
          <p:nvGrpSpPr>
            <p:cNvPr id="2" name="Gruppieren 1"/>
            <p:cNvGrpSpPr/>
            <p:nvPr/>
          </p:nvGrpSpPr>
          <p:grpSpPr>
            <a:xfrm>
              <a:off x="545632" y="1875230"/>
              <a:ext cx="5822950" cy="4410885"/>
              <a:chOff x="545632" y="1875230"/>
              <a:chExt cx="5822950" cy="4410885"/>
            </a:xfrm>
          </p:grpSpPr>
          <p:grpSp>
            <p:nvGrpSpPr>
              <p:cNvPr id="6" name="Gruppieren 5"/>
              <p:cNvGrpSpPr/>
              <p:nvPr/>
            </p:nvGrpSpPr>
            <p:grpSpPr>
              <a:xfrm>
                <a:off x="545632" y="5609839"/>
                <a:ext cx="5822950" cy="676276"/>
                <a:chOff x="545632" y="5609839"/>
                <a:chExt cx="5822950" cy="676276"/>
              </a:xfrm>
            </p:grpSpPr>
            <p:sp>
              <p:nvSpPr>
                <p:cNvPr id="19" name="Rechteck 18"/>
                <p:cNvSpPr/>
                <p:nvPr/>
              </p:nvSpPr>
              <p:spPr>
                <a:xfrm>
                  <a:off x="545632" y="5609840"/>
                  <a:ext cx="2847975" cy="676275"/>
                </a:xfrm>
                <a:prstGeom prst="rect">
                  <a:avLst/>
                </a:prstGeom>
                <a:solidFill>
                  <a:srgbClr val="00A8E6">
                    <a:lumMod val="20000"/>
                    <a:lumOff val="80000"/>
                  </a:srgbClr>
                </a:solidFill>
                <a:ln w="12700" cap="flat" cmpd="sng" algn="ctr">
                  <a:noFill/>
                  <a:prstDash val="solid"/>
                  <a:miter lim="800000"/>
                </a:ln>
                <a:effectLst/>
              </p:spPr>
              <p:txBody>
                <a:bodyPr lIns="72000" tIns="72000" rIns="72000" bIns="72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err="1">
                      <a:ln>
                        <a:noFill/>
                      </a:ln>
                      <a:solidFill>
                        <a:sysClr val="windowText" lastClr="000000"/>
                      </a:solidFill>
                      <a:effectLst/>
                      <a:uLnTx/>
                      <a:uFillTx/>
                      <a:latin typeface="Montserrat" panose="020B0604020202020204" charset="0"/>
                      <a:cs typeface="Arial" panose="020B0604020202020204" pitchFamily="34" charset="0"/>
                    </a:rPr>
                    <a:t>CPaaS</a:t>
                  </a:r>
                  <a:r>
                    <a:rPr kumimoji="0" lang="de-DE" sz="1800" b="0" i="0" u="none" strike="noStrike" kern="1200" cap="none" spc="0" normalizeH="0" baseline="0" noProof="0" dirty="0">
                      <a:ln>
                        <a:noFill/>
                      </a:ln>
                      <a:solidFill>
                        <a:sysClr val="windowText" lastClr="000000"/>
                      </a:solidFill>
                      <a:effectLst/>
                      <a:uLnTx/>
                      <a:uFillTx/>
                      <a:latin typeface="Montserrat" panose="020B0604020202020204" charset="0"/>
                      <a:cs typeface="Arial" panose="020B0604020202020204" pitchFamily="34" charset="0"/>
                    </a:rPr>
                    <a:t> </a:t>
                  </a:r>
                  <a:r>
                    <a:rPr kumimoji="0" lang="de-DE" sz="1800" b="0" i="0" u="none" strike="noStrike" kern="1200" cap="none" spc="0" normalizeH="0" baseline="0" noProof="0" dirty="0" err="1">
                      <a:ln>
                        <a:noFill/>
                      </a:ln>
                      <a:solidFill>
                        <a:sysClr val="windowText" lastClr="000000"/>
                      </a:solidFill>
                      <a:effectLst/>
                      <a:uLnTx/>
                      <a:uFillTx/>
                      <a:latin typeface="Montserrat" panose="020B0604020202020204" charset="0"/>
                      <a:cs typeface="Arial" panose="020B0604020202020204" pitchFamily="34" charset="0"/>
                    </a:rPr>
                    <a:t>capabilities</a:t>
                  </a:r>
                  <a:endParaRPr kumimoji="0" lang="de-DE" sz="1800" b="0" i="0" u="none" strike="noStrike" kern="1200" cap="none" spc="0" normalizeH="0" baseline="0" noProof="0" dirty="0">
                    <a:ln>
                      <a:noFill/>
                    </a:ln>
                    <a:solidFill>
                      <a:sysClr val="windowText" lastClr="000000"/>
                    </a:solidFill>
                    <a:effectLst/>
                    <a:uLnTx/>
                    <a:uFillTx/>
                    <a:latin typeface="Montserrat" panose="020B0604020202020204" charset="0"/>
                    <a:cs typeface="Arial" panose="020B0604020202020204" pitchFamily="34" charset="0"/>
                  </a:endParaRPr>
                </a:p>
              </p:txBody>
            </p:sp>
            <p:sp>
              <p:nvSpPr>
                <p:cNvPr id="20" name="Rechteck 19"/>
                <p:cNvSpPr/>
                <p:nvPr/>
              </p:nvSpPr>
              <p:spPr>
                <a:xfrm>
                  <a:off x="3520607" y="5609839"/>
                  <a:ext cx="2847975" cy="676275"/>
                </a:xfrm>
                <a:prstGeom prst="rect">
                  <a:avLst/>
                </a:prstGeom>
                <a:solidFill>
                  <a:srgbClr val="00A8E6">
                    <a:lumMod val="20000"/>
                    <a:lumOff val="80000"/>
                  </a:srgbClr>
                </a:solidFill>
                <a:ln w="12700" cap="flat" cmpd="sng" algn="ctr">
                  <a:noFill/>
                  <a:prstDash val="solid"/>
                  <a:miter lim="800000"/>
                </a:ln>
                <a:effectLst/>
              </p:spPr>
              <p:txBody>
                <a:bodyPr lIns="72000" tIns="72000" rIns="72000" bIns="72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ysClr val="windowText" lastClr="000000"/>
                      </a:solidFill>
                      <a:effectLst/>
                      <a:uLnTx/>
                      <a:uFillTx/>
                      <a:latin typeface="Montserrat" panose="020B0604020202020204" charset="0"/>
                      <a:cs typeface="Arial" panose="020B0604020202020204" pitchFamily="34" charset="0"/>
                    </a:rPr>
                    <a:t>NW </a:t>
                  </a:r>
                  <a:r>
                    <a:rPr kumimoji="0" lang="de-DE" sz="1800" b="0" i="0" u="none" strike="noStrike" kern="1200" cap="none" spc="0" normalizeH="0" baseline="0" noProof="0" dirty="0" err="1">
                      <a:ln>
                        <a:noFill/>
                      </a:ln>
                      <a:solidFill>
                        <a:sysClr val="windowText" lastClr="000000"/>
                      </a:solidFill>
                      <a:effectLst/>
                      <a:uLnTx/>
                      <a:uFillTx/>
                      <a:latin typeface="Montserrat" panose="020B0604020202020204" charset="0"/>
                      <a:cs typeface="Arial" panose="020B0604020202020204" pitchFamily="34" charset="0"/>
                    </a:rPr>
                    <a:t>capabilities</a:t>
                  </a:r>
                  <a:endParaRPr kumimoji="0" lang="de-DE" sz="1800" b="0" i="0" u="none" strike="noStrike" kern="1200" cap="none" spc="0" normalizeH="0" baseline="0" noProof="0" dirty="0">
                    <a:ln>
                      <a:noFill/>
                    </a:ln>
                    <a:solidFill>
                      <a:sysClr val="windowText" lastClr="000000"/>
                    </a:solidFill>
                    <a:effectLst/>
                    <a:uLnTx/>
                    <a:uFillTx/>
                    <a:latin typeface="Montserrat" panose="020B0604020202020204" charset="0"/>
                    <a:cs typeface="Arial" panose="020B0604020202020204" pitchFamily="34" charset="0"/>
                  </a:endParaRPr>
                </a:p>
              </p:txBody>
            </p:sp>
          </p:grpSp>
          <p:sp>
            <p:nvSpPr>
              <p:cNvPr id="21" name="Rechteck 20"/>
              <p:cNvSpPr/>
              <p:nvPr/>
            </p:nvSpPr>
            <p:spPr>
              <a:xfrm>
                <a:off x="1821982" y="4676186"/>
                <a:ext cx="4546600" cy="676275"/>
              </a:xfrm>
              <a:prstGeom prst="rect">
                <a:avLst/>
              </a:prstGeom>
              <a:solidFill>
                <a:srgbClr val="00A8E6">
                  <a:lumMod val="40000"/>
                  <a:lumOff val="60000"/>
                </a:srgbClr>
              </a:solidFill>
              <a:ln w="12700" cap="flat" cmpd="sng" algn="ctr">
                <a:noFill/>
                <a:prstDash val="solid"/>
                <a:miter lim="800000"/>
              </a:ln>
              <a:effectLst/>
            </p:spPr>
            <p:txBody>
              <a:bodyPr lIns="72000" tIns="72000" rIns="72000" bIns="72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ysClr val="windowText" lastClr="000000"/>
                    </a:solidFill>
                    <a:effectLst/>
                    <a:uLnTx/>
                    <a:uFillTx/>
                    <a:latin typeface="Montserrat" panose="020B0604020202020204" charset="0"/>
                    <a:cs typeface="Arial" panose="020B0604020202020204" pitchFamily="34" charset="0"/>
                  </a:rPr>
                  <a:t>API </a:t>
                </a:r>
                <a:r>
                  <a:rPr kumimoji="0" lang="de-DE" sz="1800" b="0" i="0" u="none" strike="noStrike" kern="1200" cap="none" spc="0" normalizeH="0" baseline="0" noProof="0" dirty="0" err="1">
                    <a:ln>
                      <a:noFill/>
                    </a:ln>
                    <a:solidFill>
                      <a:sysClr val="windowText" lastClr="000000"/>
                    </a:solidFill>
                    <a:effectLst/>
                    <a:uLnTx/>
                    <a:uFillTx/>
                    <a:latin typeface="Montserrat" panose="020B0604020202020204" charset="0"/>
                    <a:cs typeface="Arial" panose="020B0604020202020204" pitchFamily="34" charset="0"/>
                  </a:rPr>
                  <a:t>Exposure</a:t>
                </a:r>
                <a:r>
                  <a:rPr kumimoji="0" lang="de-DE" sz="1800" b="0" i="0" u="none" strike="noStrike" kern="1200" cap="none" spc="0" normalizeH="0" baseline="0" noProof="0" dirty="0">
                    <a:ln>
                      <a:noFill/>
                    </a:ln>
                    <a:solidFill>
                      <a:sysClr val="windowText" lastClr="000000"/>
                    </a:solidFill>
                    <a:effectLst/>
                    <a:uLnTx/>
                    <a:uFillTx/>
                    <a:latin typeface="Montserrat" panose="020B0604020202020204" charset="0"/>
                    <a:cs typeface="Arial" panose="020B0604020202020204" pitchFamily="34" charset="0"/>
                  </a:rPr>
                  <a:t> Layer</a:t>
                </a:r>
              </a:p>
            </p:txBody>
          </p:sp>
          <p:sp>
            <p:nvSpPr>
              <p:cNvPr id="22" name="Rechteck 21"/>
              <p:cNvSpPr/>
              <p:nvPr/>
            </p:nvSpPr>
            <p:spPr>
              <a:xfrm>
                <a:off x="2617694" y="3742534"/>
                <a:ext cx="3750888" cy="676275"/>
              </a:xfrm>
              <a:prstGeom prst="rect">
                <a:avLst/>
              </a:prstGeom>
              <a:solidFill>
                <a:srgbClr val="00A8E6">
                  <a:lumMod val="60000"/>
                  <a:lumOff val="40000"/>
                </a:srgbClr>
              </a:solidFill>
              <a:ln w="12700" cap="flat" cmpd="sng" algn="ctr">
                <a:noFill/>
                <a:prstDash val="solid"/>
                <a:miter lim="800000"/>
              </a:ln>
              <a:effectLst/>
            </p:spPr>
            <p:txBody>
              <a:bodyPr lIns="72000" tIns="72000" rIns="72000" bIns="72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ysClr val="window" lastClr="FFFFFF"/>
                    </a:solidFill>
                    <a:effectLst/>
                    <a:uLnTx/>
                    <a:uFillTx/>
                    <a:latin typeface="Montserrat" panose="020B0604020202020204" charset="0"/>
                    <a:cs typeface="Arial" panose="020B0604020202020204" pitchFamily="34" charset="0"/>
                  </a:rPr>
                  <a:t>Aggregation Layer</a:t>
                </a:r>
              </a:p>
            </p:txBody>
          </p:sp>
          <p:sp>
            <p:nvSpPr>
              <p:cNvPr id="23" name="Rechteck 22"/>
              <p:cNvSpPr/>
              <p:nvPr/>
            </p:nvSpPr>
            <p:spPr>
              <a:xfrm>
                <a:off x="545632" y="2808882"/>
                <a:ext cx="5822950" cy="676275"/>
              </a:xfrm>
              <a:prstGeom prst="rect">
                <a:avLst/>
              </a:prstGeom>
              <a:solidFill>
                <a:srgbClr val="00A8E6">
                  <a:lumMod val="75000"/>
                </a:srgbClr>
              </a:solidFill>
              <a:ln w="12700" cap="flat" cmpd="sng" algn="ctr">
                <a:noFill/>
                <a:prstDash val="solid"/>
                <a:miter lim="800000"/>
              </a:ln>
              <a:effectLst/>
            </p:spPr>
            <p:txBody>
              <a:bodyPr lIns="72000" tIns="72000" rIns="72000" bIns="72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ysClr val="window" lastClr="FFFFFF"/>
                    </a:solidFill>
                    <a:effectLst/>
                    <a:uLnTx/>
                    <a:uFillTx/>
                    <a:latin typeface="Montserrat" panose="020B0604020202020204" charset="0"/>
                    <a:cs typeface="Arial" panose="020B0604020202020204" pitchFamily="34" charset="0"/>
                  </a:rPr>
                  <a:t>Channel Partner / API &amp; </a:t>
                </a:r>
                <a:r>
                  <a:rPr kumimoji="0" lang="de-DE" sz="1800" b="0" i="0" u="none" strike="noStrike" kern="1200" cap="none" spc="0" normalizeH="0" baseline="0" noProof="0" dirty="0" err="1">
                    <a:ln>
                      <a:noFill/>
                    </a:ln>
                    <a:solidFill>
                      <a:sysClr val="window" lastClr="FFFFFF"/>
                    </a:solidFill>
                    <a:effectLst/>
                    <a:uLnTx/>
                    <a:uFillTx/>
                    <a:latin typeface="Montserrat" panose="020B0604020202020204" charset="0"/>
                    <a:cs typeface="Arial" panose="020B0604020202020204" pitchFamily="34" charset="0"/>
                  </a:rPr>
                  <a:t>Product</a:t>
                </a:r>
                <a:r>
                  <a:rPr kumimoji="0" lang="de-DE" sz="1800" b="0" i="0" u="none" strike="noStrike" kern="1200" cap="none" spc="0" normalizeH="0" baseline="0" noProof="0" dirty="0">
                    <a:ln>
                      <a:noFill/>
                    </a:ln>
                    <a:solidFill>
                      <a:sysClr val="window" lastClr="FFFFFF"/>
                    </a:solidFill>
                    <a:effectLst/>
                    <a:uLnTx/>
                    <a:uFillTx/>
                    <a:latin typeface="Montserrat" panose="020B0604020202020204" charset="0"/>
                    <a:cs typeface="Arial" panose="020B0604020202020204" pitchFamily="34" charset="0"/>
                  </a:rPr>
                  <a:t> Layer</a:t>
                </a:r>
              </a:p>
            </p:txBody>
          </p:sp>
          <p:sp>
            <p:nvSpPr>
              <p:cNvPr id="24" name="Rechteck 23"/>
              <p:cNvSpPr/>
              <p:nvPr/>
            </p:nvSpPr>
            <p:spPr>
              <a:xfrm>
                <a:off x="545632" y="1875230"/>
                <a:ext cx="5822950" cy="676275"/>
              </a:xfrm>
              <a:prstGeom prst="rect">
                <a:avLst/>
              </a:prstGeom>
              <a:solidFill>
                <a:srgbClr val="00A8E6">
                  <a:lumMod val="50000"/>
                </a:srgbClr>
              </a:solidFill>
              <a:ln w="12700" cap="flat" cmpd="sng" algn="ctr">
                <a:noFill/>
                <a:prstDash val="solid"/>
                <a:miter lim="800000"/>
              </a:ln>
              <a:effectLst/>
            </p:spPr>
            <p:txBody>
              <a:bodyPr lIns="72000" tIns="72000" rIns="72000" bIns="72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ysClr val="window" lastClr="FFFFFF"/>
                    </a:solidFill>
                    <a:effectLst/>
                    <a:uLnTx/>
                    <a:uFillTx/>
                    <a:latin typeface="Montserrat" panose="020B0604020202020204" charset="0"/>
                    <a:cs typeface="Arial" panose="020B0604020202020204" pitchFamily="34" charset="0"/>
                  </a:rPr>
                  <a:t>Customer</a:t>
                </a:r>
              </a:p>
            </p:txBody>
          </p:sp>
          <p:cxnSp>
            <p:nvCxnSpPr>
              <p:cNvPr id="25" name="Gerader Verbinder 24"/>
              <p:cNvCxnSpPr>
                <a:stCxn id="20" idx="0"/>
              </p:cNvCxnSpPr>
              <p:nvPr/>
            </p:nvCxnSpPr>
            <p:spPr>
              <a:xfrm flipV="1">
                <a:off x="4944595" y="5351929"/>
                <a:ext cx="3923" cy="257910"/>
              </a:xfrm>
              <a:prstGeom prst="line">
                <a:avLst/>
              </a:prstGeom>
              <a:noFill/>
              <a:ln w="38100" cap="flat" cmpd="sng" algn="ctr">
                <a:solidFill>
                  <a:srgbClr val="00A8E6"/>
                </a:solidFill>
                <a:prstDash val="solid"/>
                <a:miter lim="800000"/>
              </a:ln>
              <a:effectLst/>
            </p:spPr>
          </p:cxnSp>
          <p:cxnSp>
            <p:nvCxnSpPr>
              <p:cNvPr id="29" name="Gerader Verbinder 28"/>
              <p:cNvCxnSpPr/>
              <p:nvPr/>
            </p:nvCxnSpPr>
            <p:spPr>
              <a:xfrm flipV="1">
                <a:off x="1182220" y="3485157"/>
                <a:ext cx="19051" cy="2124682"/>
              </a:xfrm>
              <a:prstGeom prst="line">
                <a:avLst/>
              </a:prstGeom>
              <a:noFill/>
              <a:ln w="38100" cap="flat" cmpd="sng" algn="ctr">
                <a:solidFill>
                  <a:srgbClr val="00A8E6"/>
                </a:solidFill>
                <a:prstDash val="solid"/>
                <a:miter lim="800000"/>
              </a:ln>
              <a:effectLst/>
            </p:spPr>
          </p:cxnSp>
          <p:cxnSp>
            <p:nvCxnSpPr>
              <p:cNvPr id="33" name="Gerader Verbinder 32"/>
              <p:cNvCxnSpPr/>
              <p:nvPr/>
            </p:nvCxnSpPr>
            <p:spPr>
              <a:xfrm flipV="1">
                <a:off x="4944594" y="4417744"/>
                <a:ext cx="3923" cy="257910"/>
              </a:xfrm>
              <a:prstGeom prst="line">
                <a:avLst/>
              </a:prstGeom>
              <a:noFill/>
              <a:ln w="38100" cap="flat" cmpd="sng" algn="ctr">
                <a:solidFill>
                  <a:srgbClr val="00A8E6"/>
                </a:solidFill>
                <a:prstDash val="solid"/>
                <a:miter lim="800000"/>
              </a:ln>
              <a:effectLst/>
            </p:spPr>
          </p:cxnSp>
          <p:cxnSp>
            <p:nvCxnSpPr>
              <p:cNvPr id="34" name="Gerader Verbinder 33"/>
              <p:cNvCxnSpPr/>
              <p:nvPr/>
            </p:nvCxnSpPr>
            <p:spPr>
              <a:xfrm flipV="1">
                <a:off x="4944593" y="3483559"/>
                <a:ext cx="3923" cy="257910"/>
              </a:xfrm>
              <a:prstGeom prst="line">
                <a:avLst/>
              </a:prstGeom>
              <a:noFill/>
              <a:ln w="38100" cap="flat" cmpd="sng" algn="ctr">
                <a:solidFill>
                  <a:srgbClr val="00A8E6"/>
                </a:solidFill>
                <a:prstDash val="solid"/>
                <a:miter lim="800000"/>
              </a:ln>
              <a:effectLst/>
            </p:spPr>
          </p:cxnSp>
          <p:cxnSp>
            <p:nvCxnSpPr>
              <p:cNvPr id="35" name="Gerader Verbinder 34"/>
              <p:cNvCxnSpPr/>
              <p:nvPr/>
            </p:nvCxnSpPr>
            <p:spPr>
              <a:xfrm flipV="1">
                <a:off x="3393607" y="2550706"/>
                <a:ext cx="3923" cy="257910"/>
              </a:xfrm>
              <a:prstGeom prst="line">
                <a:avLst/>
              </a:prstGeom>
              <a:noFill/>
              <a:ln w="38100" cap="flat" cmpd="sng" algn="ctr">
                <a:solidFill>
                  <a:srgbClr val="00A8E6"/>
                </a:solidFill>
                <a:prstDash val="solid"/>
                <a:miter lim="800000"/>
              </a:ln>
              <a:effectLst/>
            </p:spPr>
          </p:cxnSp>
        </p:grpSp>
        <p:cxnSp>
          <p:nvCxnSpPr>
            <p:cNvPr id="43" name="Gerader Verbinder 42"/>
            <p:cNvCxnSpPr/>
            <p:nvPr/>
          </p:nvCxnSpPr>
          <p:spPr>
            <a:xfrm flipV="1">
              <a:off x="2226922" y="3483420"/>
              <a:ext cx="7676" cy="1191403"/>
            </a:xfrm>
            <a:prstGeom prst="line">
              <a:avLst/>
            </a:prstGeom>
            <a:noFill/>
            <a:ln w="38100" cap="flat" cmpd="sng" algn="ctr">
              <a:solidFill>
                <a:srgbClr val="00A8E6"/>
              </a:solidFill>
              <a:prstDash val="solid"/>
              <a:miter lim="800000"/>
            </a:ln>
            <a:effectLst/>
          </p:spPr>
        </p:cxnSp>
      </p:grpSp>
      <p:sp>
        <p:nvSpPr>
          <p:cNvPr id="192" name="Google Shape;192;p5"/>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dirty="0"/>
              <a:t>The API ecosystem – Current status</a:t>
            </a:r>
            <a:br>
              <a:rPr lang="en-US" dirty="0"/>
            </a:br>
            <a:r>
              <a:rPr lang="en-US" dirty="0"/>
              <a:t>and challenges</a:t>
            </a:r>
            <a:endParaRPr dirty="0"/>
          </a:p>
        </p:txBody>
      </p:sp>
      <p:sp>
        <p:nvSpPr>
          <p:cNvPr id="193" name="Google Shape;193;p5"/>
          <p:cNvSpPr txBox="1">
            <a:spLocks noGrp="1"/>
          </p:cNvSpPr>
          <p:nvPr>
            <p:ph type="body" idx="1"/>
          </p:nvPr>
        </p:nvSpPr>
        <p:spPr>
          <a:xfrm>
            <a:off x="6738319" y="1657886"/>
            <a:ext cx="4428565" cy="377924"/>
          </a:xfrm>
          <a:prstGeom prst="rect">
            <a:avLst/>
          </a:prstGeom>
          <a:noFill/>
          <a:ln>
            <a:noFill/>
          </a:ln>
        </p:spPr>
        <p:txBody>
          <a:bodyPr spcFirstLastPara="1" wrap="square" lIns="0" tIns="0" rIns="0" bIns="0" anchor="t" anchorCtr="0">
            <a:spAutoFit/>
          </a:bodyPr>
          <a:lstStyle/>
          <a:p>
            <a:pPr marL="285750" lvl="0" indent="-285750">
              <a:buClr>
                <a:schemeClr val="accent2"/>
              </a:buClr>
              <a:buSzPct val="100000"/>
              <a:buFont typeface="Wingdings" panose="05000000000000000000" pitchFamily="2" charset="2"/>
              <a:buChar char="§"/>
            </a:pPr>
            <a:r>
              <a:rPr lang="en-US" sz="1400" dirty="0"/>
              <a:t>Show the figures (successful revenues) </a:t>
            </a:r>
            <a:r>
              <a:rPr lang="en-US" sz="1400" dirty="0">
                <a:solidFill>
                  <a:schemeClr val="accent2"/>
                </a:solidFill>
              </a:rPr>
              <a:t>- GSMA</a:t>
            </a:r>
          </a:p>
        </p:txBody>
      </p:sp>
      <p:grpSp>
        <p:nvGrpSpPr>
          <p:cNvPr id="5" name="Gruppieren 4"/>
          <p:cNvGrpSpPr/>
          <p:nvPr/>
        </p:nvGrpSpPr>
        <p:grpSpPr>
          <a:xfrm>
            <a:off x="5916485" y="3869639"/>
            <a:ext cx="452097" cy="2289369"/>
            <a:chOff x="5916485" y="3869639"/>
            <a:chExt cx="452097" cy="2289369"/>
          </a:xfrm>
        </p:grpSpPr>
        <p:pic>
          <p:nvPicPr>
            <p:cNvPr id="31" name="Grafik 3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6485" y="5736943"/>
              <a:ext cx="422065" cy="422065"/>
            </a:xfrm>
            <a:prstGeom prst="rect">
              <a:avLst/>
            </a:prstGeom>
          </p:spPr>
        </p:pic>
        <p:pic>
          <p:nvPicPr>
            <p:cNvPr id="37" name="Grafik 3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1081" y="4803290"/>
              <a:ext cx="422065" cy="422065"/>
            </a:xfrm>
            <a:prstGeom prst="rect">
              <a:avLst/>
            </a:prstGeom>
          </p:spPr>
        </p:pic>
        <p:pic>
          <p:nvPicPr>
            <p:cNvPr id="38" name="Grafik 3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6517" y="3869639"/>
              <a:ext cx="422065" cy="422065"/>
            </a:xfrm>
            <a:prstGeom prst="rect">
              <a:avLst/>
            </a:prstGeom>
          </p:spPr>
        </p:pic>
      </p:grpSp>
      <p:grpSp>
        <p:nvGrpSpPr>
          <p:cNvPr id="3" name="Gruppieren 2"/>
          <p:cNvGrpSpPr/>
          <p:nvPr/>
        </p:nvGrpSpPr>
        <p:grpSpPr>
          <a:xfrm>
            <a:off x="5301110" y="2569346"/>
            <a:ext cx="1290814" cy="792622"/>
            <a:chOff x="5301110" y="2569346"/>
            <a:chExt cx="1290814" cy="792622"/>
          </a:xfrm>
        </p:grpSpPr>
        <p:pic>
          <p:nvPicPr>
            <p:cNvPr id="36" name="Grafik 3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26538" y="2932070"/>
              <a:ext cx="429898" cy="429898"/>
            </a:xfrm>
            <a:prstGeom prst="rect">
              <a:avLst/>
            </a:prstGeom>
          </p:spPr>
        </p:pic>
        <p:sp>
          <p:nvSpPr>
            <p:cNvPr id="41" name="Textfeld 40"/>
            <p:cNvSpPr txBox="1"/>
            <p:nvPr/>
          </p:nvSpPr>
          <p:spPr>
            <a:xfrm rot="19603748">
              <a:off x="5301110" y="2569346"/>
              <a:ext cx="1290814" cy="523220"/>
            </a:xfrm>
            <a:prstGeom prst="rect">
              <a:avLst/>
            </a:prstGeom>
            <a:noFill/>
          </p:spPr>
          <p:txBody>
            <a:bodyPr wrap="square" rtlCol="0">
              <a:spAutoFit/>
            </a:bodyPr>
            <a:lstStyle/>
            <a:p>
              <a:pPr algn="ctr"/>
              <a:r>
                <a:rPr lang="de-DE" b="1" dirty="0">
                  <a:solidFill>
                    <a:srgbClr val="FF0000"/>
                  </a:solidFill>
                  <a:latin typeface="Montserrat" panose="020B0604020202020204" charset="0"/>
                </a:rPr>
                <a:t>First UC </a:t>
              </a:r>
              <a:r>
                <a:rPr lang="de-DE" b="1" dirty="0" err="1">
                  <a:solidFill>
                    <a:srgbClr val="FF0000"/>
                  </a:solidFill>
                  <a:latin typeface="Montserrat" panose="020B0604020202020204" charset="0"/>
                </a:rPr>
                <a:t>possible</a:t>
              </a:r>
              <a:endParaRPr lang="de-DE" b="1" dirty="0">
                <a:solidFill>
                  <a:srgbClr val="FF0000"/>
                </a:solidFill>
                <a:latin typeface="Montserrat" panose="020B0604020202020204" charset="0"/>
              </a:endParaRPr>
            </a:p>
          </p:txBody>
        </p:sp>
      </p:grpSp>
      <p:sp>
        <p:nvSpPr>
          <p:cNvPr id="27" name="Google Shape;193;p5"/>
          <p:cNvSpPr txBox="1">
            <a:spLocks/>
          </p:cNvSpPr>
          <p:nvPr/>
        </p:nvSpPr>
        <p:spPr>
          <a:xfrm>
            <a:off x="6738319" y="1985508"/>
            <a:ext cx="4428565" cy="60196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4000"/>
              </a:lnSpc>
              <a:spcBef>
                <a:spcPts val="1200"/>
              </a:spcBef>
              <a:spcAft>
                <a:spcPts val="0"/>
              </a:spcAft>
              <a:buClr>
                <a:schemeClr val="dk2"/>
              </a:buClr>
              <a:buSzPts val="1500"/>
              <a:buFont typeface="Montserrat Light"/>
              <a:buNone/>
              <a:defRPr sz="1500" b="0" i="0" u="none" strike="noStrike" cap="none">
                <a:solidFill>
                  <a:schemeClr val="dk2"/>
                </a:solidFill>
                <a:latin typeface="Montserrat Light"/>
                <a:ea typeface="Montserrat Light"/>
                <a:cs typeface="Montserrat Light"/>
                <a:sym typeface="Montserrat Light"/>
              </a:defRPr>
            </a:lvl1pPr>
            <a:lvl2pPr marL="914400" marR="0" lvl="1"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2pPr>
            <a:lvl3pPr marL="1371600" marR="0" lvl="2"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3pPr>
            <a:lvl4pPr marL="1828800" marR="0" lvl="3"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4pPr>
            <a:lvl5pPr marL="2286000" marR="0" lvl="4"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5pPr>
            <a:lvl6pPr marL="2743200" marR="0" lvl="5" indent="-308610"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6pPr>
            <a:lvl7pPr marL="3200400" marR="0" lvl="6" indent="-308610"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7pPr>
            <a:lvl8pPr marL="3657600" marR="0" lvl="7" indent="-308609"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8pPr>
            <a:lvl9pPr marL="4114800" marR="0" lvl="8" indent="-308609"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9pPr>
          </a:lstStyle>
          <a:p>
            <a:pPr marL="285750" indent="-285750">
              <a:buClr>
                <a:schemeClr val="accent2"/>
              </a:buClr>
              <a:buSzPct val="100000"/>
              <a:buFont typeface="Wingdings" panose="05000000000000000000" pitchFamily="2" charset="2"/>
              <a:buChar char="§"/>
            </a:pPr>
            <a:r>
              <a:rPr lang="en-US" sz="1400" dirty="0"/>
              <a:t>Find balance between regulation/data privacy and usability for the markets </a:t>
            </a:r>
            <a:r>
              <a:rPr lang="en-US" sz="1400" dirty="0">
                <a:solidFill>
                  <a:schemeClr val="accent2"/>
                </a:solidFill>
              </a:rPr>
              <a:t>- GSMA</a:t>
            </a:r>
          </a:p>
        </p:txBody>
      </p:sp>
      <p:grpSp>
        <p:nvGrpSpPr>
          <p:cNvPr id="4" name="Gruppieren 3"/>
          <p:cNvGrpSpPr/>
          <p:nvPr/>
        </p:nvGrpSpPr>
        <p:grpSpPr>
          <a:xfrm>
            <a:off x="6738319" y="2537166"/>
            <a:ext cx="4428565" cy="601960"/>
            <a:chOff x="6738319" y="2537166"/>
            <a:chExt cx="4428565" cy="601960"/>
          </a:xfrm>
        </p:grpSpPr>
        <p:sp>
          <p:nvSpPr>
            <p:cNvPr id="32" name="Textfeld 31"/>
            <p:cNvSpPr txBox="1"/>
            <p:nvPr/>
          </p:nvSpPr>
          <p:spPr>
            <a:xfrm rot="19603748">
              <a:off x="9845232" y="2561490"/>
              <a:ext cx="1290814" cy="523220"/>
            </a:xfrm>
            <a:prstGeom prst="rect">
              <a:avLst/>
            </a:prstGeom>
            <a:noFill/>
          </p:spPr>
          <p:txBody>
            <a:bodyPr wrap="square" rtlCol="0">
              <a:spAutoFit/>
            </a:bodyPr>
            <a:lstStyle/>
            <a:p>
              <a:pPr algn="ctr"/>
              <a:r>
                <a:rPr lang="de-DE" b="1" dirty="0">
                  <a:solidFill>
                    <a:srgbClr val="FF0000"/>
                  </a:solidFill>
                  <a:latin typeface="Montserrat" panose="020B0604020202020204" charset="0"/>
                </a:rPr>
                <a:t>Next</a:t>
              </a:r>
            </a:p>
            <a:p>
              <a:pPr algn="ctr"/>
              <a:r>
                <a:rPr lang="de-DE" b="1" dirty="0" err="1">
                  <a:solidFill>
                    <a:srgbClr val="FF0000"/>
                  </a:solidFill>
                  <a:latin typeface="Montserrat" panose="020B0604020202020204" charset="0"/>
                </a:rPr>
                <a:t>slide</a:t>
              </a:r>
              <a:endParaRPr lang="de-DE" b="1" dirty="0">
                <a:solidFill>
                  <a:srgbClr val="FF0000"/>
                </a:solidFill>
                <a:latin typeface="Montserrat" panose="020B0604020202020204" charset="0"/>
              </a:endParaRPr>
            </a:p>
          </p:txBody>
        </p:sp>
        <p:sp>
          <p:nvSpPr>
            <p:cNvPr id="28" name="Google Shape;193;p5"/>
            <p:cNvSpPr txBox="1">
              <a:spLocks/>
            </p:cNvSpPr>
            <p:nvPr/>
          </p:nvSpPr>
          <p:spPr>
            <a:xfrm>
              <a:off x="6738319" y="2537166"/>
              <a:ext cx="4428565" cy="60196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4000"/>
                </a:lnSpc>
                <a:spcBef>
                  <a:spcPts val="1200"/>
                </a:spcBef>
                <a:spcAft>
                  <a:spcPts val="0"/>
                </a:spcAft>
                <a:buClr>
                  <a:schemeClr val="dk2"/>
                </a:buClr>
                <a:buSzPts val="1500"/>
                <a:buFont typeface="Montserrat Light"/>
                <a:buNone/>
                <a:defRPr sz="1500" b="0" i="0" u="none" strike="noStrike" cap="none">
                  <a:solidFill>
                    <a:schemeClr val="dk2"/>
                  </a:solidFill>
                  <a:latin typeface="Montserrat Light"/>
                  <a:ea typeface="Montserrat Light"/>
                  <a:cs typeface="Montserrat Light"/>
                  <a:sym typeface="Montserrat Light"/>
                </a:defRPr>
              </a:lvl1pPr>
              <a:lvl2pPr marL="914400" marR="0" lvl="1"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2pPr>
              <a:lvl3pPr marL="1371600" marR="0" lvl="2"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3pPr>
              <a:lvl4pPr marL="1828800" marR="0" lvl="3"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4pPr>
              <a:lvl5pPr marL="2286000" marR="0" lvl="4"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5pPr>
              <a:lvl6pPr marL="2743200" marR="0" lvl="5" indent="-308610"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6pPr>
              <a:lvl7pPr marL="3200400" marR="0" lvl="6" indent="-308610"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7pPr>
              <a:lvl8pPr marL="3657600" marR="0" lvl="7" indent="-308609"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8pPr>
              <a:lvl9pPr marL="4114800" marR="0" lvl="8" indent="-308609"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9pPr>
            </a:lstStyle>
            <a:p>
              <a:pPr marL="285750" indent="-285750">
                <a:buClr>
                  <a:schemeClr val="accent2"/>
                </a:buClr>
                <a:buSzPct val="100000"/>
                <a:buFont typeface="Wingdings" panose="05000000000000000000" pitchFamily="2" charset="2"/>
                <a:buChar char="§"/>
              </a:pPr>
              <a:r>
                <a:rPr lang="en-US" sz="1400" dirty="0"/>
                <a:t>Prepare all layers for (agentic) AI </a:t>
              </a:r>
              <a:r>
                <a:rPr lang="en-US" sz="1400" dirty="0">
                  <a:solidFill>
                    <a:schemeClr val="accent2"/>
                  </a:solidFill>
                </a:rPr>
                <a:t>– </a:t>
              </a:r>
              <a:br>
                <a:rPr lang="en-US" sz="1400" dirty="0">
                  <a:solidFill>
                    <a:schemeClr val="accent2"/>
                  </a:solidFill>
                </a:rPr>
              </a:br>
              <a:r>
                <a:rPr lang="en-US" sz="1400" dirty="0">
                  <a:solidFill>
                    <a:schemeClr val="accent2"/>
                  </a:solidFill>
                </a:rPr>
                <a:t>Channel Partners, GSMA, CAMARA</a:t>
              </a:r>
            </a:p>
          </p:txBody>
        </p:sp>
      </p:grpSp>
      <p:sp>
        <p:nvSpPr>
          <p:cNvPr id="30" name="Google Shape;193;p5"/>
          <p:cNvSpPr txBox="1">
            <a:spLocks/>
          </p:cNvSpPr>
          <p:nvPr/>
        </p:nvSpPr>
        <p:spPr>
          <a:xfrm>
            <a:off x="6738319" y="3088824"/>
            <a:ext cx="4428565" cy="179908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4000"/>
              </a:lnSpc>
              <a:spcBef>
                <a:spcPts val="1200"/>
              </a:spcBef>
              <a:spcAft>
                <a:spcPts val="0"/>
              </a:spcAft>
              <a:buClr>
                <a:schemeClr val="dk2"/>
              </a:buClr>
              <a:buSzPts val="1500"/>
              <a:buFont typeface="Montserrat Light"/>
              <a:buNone/>
              <a:defRPr sz="1500" b="0" i="0" u="none" strike="noStrike" cap="none">
                <a:solidFill>
                  <a:schemeClr val="dk2"/>
                </a:solidFill>
                <a:latin typeface="Montserrat Light"/>
                <a:ea typeface="Montserrat Light"/>
                <a:cs typeface="Montserrat Light"/>
                <a:sym typeface="Montserrat Light"/>
              </a:defRPr>
            </a:lvl1pPr>
            <a:lvl2pPr marL="914400" marR="0" lvl="1"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2pPr>
            <a:lvl3pPr marL="1371600" marR="0" lvl="2"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3pPr>
            <a:lvl4pPr marL="1828800" marR="0" lvl="3"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4pPr>
            <a:lvl5pPr marL="2286000" marR="0" lvl="4"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5pPr>
            <a:lvl6pPr marL="2743200" marR="0" lvl="5" indent="-308610"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6pPr>
            <a:lvl7pPr marL="3200400" marR="0" lvl="6" indent="-308610"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7pPr>
            <a:lvl8pPr marL="3657600" marR="0" lvl="7" indent="-308609"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8pPr>
            <a:lvl9pPr marL="4114800" marR="0" lvl="8" indent="-308609"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9pPr>
          </a:lstStyle>
          <a:p>
            <a:pPr marL="285750" indent="-285750">
              <a:buClr>
                <a:schemeClr val="accent2"/>
              </a:buClr>
              <a:buSzPct val="100000"/>
              <a:buFont typeface="Wingdings" panose="05000000000000000000" pitchFamily="2" charset="2"/>
              <a:buChar char="§"/>
            </a:pPr>
            <a:r>
              <a:rPr lang="en-US" sz="1400" dirty="0"/>
              <a:t>Introduce products </a:t>
            </a:r>
            <a:r>
              <a:rPr lang="en-US" sz="1400" dirty="0">
                <a:solidFill>
                  <a:schemeClr val="accent2"/>
                </a:solidFill>
              </a:rPr>
              <a:t>- Channel Partners</a:t>
            </a:r>
          </a:p>
          <a:p>
            <a:pPr marL="742950" lvl="1" indent="-285750">
              <a:buClr>
                <a:schemeClr val="accent2"/>
              </a:buClr>
              <a:buSzPct val="100000"/>
              <a:buFont typeface="Wingdings" panose="05000000000000000000" pitchFamily="2" charset="2"/>
              <a:buChar char="§"/>
            </a:pPr>
            <a:r>
              <a:rPr lang="en-US" sz="1400" dirty="0"/>
              <a:t>Change communication (solve customer problems instead of expose capabilities)</a:t>
            </a:r>
          </a:p>
          <a:p>
            <a:pPr marL="742950" lvl="1" indent="-285750">
              <a:buClr>
                <a:schemeClr val="accent2"/>
              </a:buClr>
              <a:buSzPct val="100000"/>
              <a:buFont typeface="Wingdings" panose="05000000000000000000" pitchFamily="2" charset="2"/>
              <a:buChar char="§"/>
            </a:pPr>
            <a:r>
              <a:rPr lang="en-US" sz="1400" dirty="0"/>
              <a:t>Design and develop products following customer need, considering alternative (non-telco) solutions and attractive pricing</a:t>
            </a:r>
          </a:p>
        </p:txBody>
      </p:sp>
      <p:grpSp>
        <p:nvGrpSpPr>
          <p:cNvPr id="7" name="Gruppieren 6"/>
          <p:cNvGrpSpPr/>
          <p:nvPr/>
        </p:nvGrpSpPr>
        <p:grpSpPr>
          <a:xfrm>
            <a:off x="6738319" y="4837604"/>
            <a:ext cx="4428565" cy="929582"/>
            <a:chOff x="6738319" y="4837604"/>
            <a:chExt cx="4428565" cy="929582"/>
          </a:xfrm>
        </p:grpSpPr>
        <p:sp>
          <p:nvSpPr>
            <p:cNvPr id="39" name="Google Shape;193;p5"/>
            <p:cNvSpPr txBox="1">
              <a:spLocks/>
            </p:cNvSpPr>
            <p:nvPr/>
          </p:nvSpPr>
          <p:spPr>
            <a:xfrm>
              <a:off x="6738319" y="4837604"/>
              <a:ext cx="4428565" cy="60196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4000"/>
                </a:lnSpc>
                <a:spcBef>
                  <a:spcPts val="1200"/>
                </a:spcBef>
                <a:spcAft>
                  <a:spcPts val="0"/>
                </a:spcAft>
                <a:buClr>
                  <a:schemeClr val="dk2"/>
                </a:buClr>
                <a:buSzPts val="1500"/>
                <a:buFont typeface="Montserrat Light"/>
                <a:buNone/>
                <a:defRPr sz="1500" b="0" i="0" u="none" strike="noStrike" cap="none">
                  <a:solidFill>
                    <a:schemeClr val="dk2"/>
                  </a:solidFill>
                  <a:latin typeface="Montserrat Light"/>
                  <a:ea typeface="Montserrat Light"/>
                  <a:cs typeface="Montserrat Light"/>
                  <a:sym typeface="Montserrat Light"/>
                </a:defRPr>
              </a:lvl1pPr>
              <a:lvl2pPr marL="914400" marR="0" lvl="1"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2pPr>
              <a:lvl3pPr marL="1371600" marR="0" lvl="2"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3pPr>
              <a:lvl4pPr marL="1828800" marR="0" lvl="3"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4pPr>
              <a:lvl5pPr marL="2286000" marR="0" lvl="4"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5pPr>
              <a:lvl6pPr marL="2743200" marR="0" lvl="5" indent="-308610"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6pPr>
              <a:lvl7pPr marL="3200400" marR="0" lvl="6" indent="-308610"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7pPr>
              <a:lvl8pPr marL="3657600" marR="0" lvl="7" indent="-308609"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8pPr>
              <a:lvl9pPr marL="4114800" marR="0" lvl="8" indent="-308609"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9pPr>
            </a:lstStyle>
            <a:p>
              <a:pPr marL="285750" indent="-285750">
                <a:buClr>
                  <a:schemeClr val="accent2"/>
                </a:buClr>
                <a:buSzPct val="100000"/>
                <a:buFont typeface="Wingdings" panose="05000000000000000000" pitchFamily="2" charset="2"/>
                <a:buChar char="§"/>
              </a:pPr>
              <a:r>
                <a:rPr lang="en-US" sz="1400" dirty="0"/>
                <a:t>Push market coverage and communicate it </a:t>
              </a:r>
              <a:r>
                <a:rPr lang="en-US" sz="1400" dirty="0">
                  <a:solidFill>
                    <a:schemeClr val="accent2"/>
                  </a:solidFill>
                </a:rPr>
                <a:t>- GSMA</a:t>
              </a:r>
            </a:p>
          </p:txBody>
        </p:sp>
        <p:sp>
          <p:nvSpPr>
            <p:cNvPr id="40" name="Google Shape;193;p5"/>
            <p:cNvSpPr txBox="1">
              <a:spLocks/>
            </p:cNvSpPr>
            <p:nvPr/>
          </p:nvSpPr>
          <p:spPr>
            <a:xfrm>
              <a:off x="6738319" y="5389262"/>
              <a:ext cx="4428565" cy="377924"/>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4000"/>
                </a:lnSpc>
                <a:spcBef>
                  <a:spcPts val="1200"/>
                </a:spcBef>
                <a:spcAft>
                  <a:spcPts val="0"/>
                </a:spcAft>
                <a:buClr>
                  <a:schemeClr val="dk2"/>
                </a:buClr>
                <a:buSzPts val="1500"/>
                <a:buFont typeface="Montserrat Light"/>
                <a:buNone/>
                <a:defRPr sz="1500" b="0" i="0" u="none" strike="noStrike" cap="none">
                  <a:solidFill>
                    <a:schemeClr val="dk2"/>
                  </a:solidFill>
                  <a:latin typeface="Montserrat Light"/>
                  <a:ea typeface="Montserrat Light"/>
                  <a:cs typeface="Montserrat Light"/>
                  <a:sym typeface="Montserrat Light"/>
                </a:defRPr>
              </a:lvl1pPr>
              <a:lvl2pPr marL="914400" marR="0" lvl="1"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2pPr>
              <a:lvl3pPr marL="1371600" marR="0" lvl="2"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3pPr>
              <a:lvl4pPr marL="1828800" marR="0" lvl="3"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4pPr>
              <a:lvl5pPr marL="2286000" marR="0" lvl="4"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5pPr>
              <a:lvl6pPr marL="2743200" marR="0" lvl="5" indent="-308610"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6pPr>
              <a:lvl7pPr marL="3200400" marR="0" lvl="6" indent="-308610"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7pPr>
              <a:lvl8pPr marL="3657600" marR="0" lvl="7" indent="-308609"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8pPr>
              <a:lvl9pPr marL="4114800" marR="0" lvl="8" indent="-308609"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9pPr>
            </a:lstStyle>
            <a:p>
              <a:pPr marL="285750" indent="-285750">
                <a:buClr>
                  <a:schemeClr val="accent2"/>
                </a:buClr>
                <a:buSzPct val="100000"/>
                <a:buFont typeface="Wingdings" panose="05000000000000000000" pitchFamily="2" charset="2"/>
                <a:buChar char="§"/>
              </a:pPr>
              <a:r>
                <a:rPr lang="en-US" sz="1400" dirty="0"/>
                <a:t>Close gaps at operators </a:t>
              </a:r>
              <a:r>
                <a:rPr lang="en-US" sz="1400" dirty="0">
                  <a:solidFill>
                    <a:schemeClr val="accent2"/>
                  </a:solidFill>
                </a:rPr>
                <a:t>- Operators</a:t>
              </a:r>
            </a:p>
          </p:txBody>
        </p:sp>
      </p:grpSp>
      <p:sp>
        <p:nvSpPr>
          <p:cNvPr id="42" name="Google Shape;193;p5"/>
          <p:cNvSpPr txBox="1">
            <a:spLocks/>
          </p:cNvSpPr>
          <p:nvPr/>
        </p:nvSpPr>
        <p:spPr>
          <a:xfrm>
            <a:off x="6738319" y="5716884"/>
            <a:ext cx="4428565" cy="60196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4000"/>
              </a:lnSpc>
              <a:spcBef>
                <a:spcPts val="1200"/>
              </a:spcBef>
              <a:spcAft>
                <a:spcPts val="0"/>
              </a:spcAft>
              <a:buClr>
                <a:schemeClr val="dk2"/>
              </a:buClr>
              <a:buSzPts val="1500"/>
              <a:buFont typeface="Montserrat Light"/>
              <a:buNone/>
              <a:defRPr sz="1500" b="0" i="0" u="none" strike="noStrike" cap="none">
                <a:solidFill>
                  <a:schemeClr val="dk2"/>
                </a:solidFill>
                <a:latin typeface="Montserrat Light"/>
                <a:ea typeface="Montserrat Light"/>
                <a:cs typeface="Montserrat Light"/>
                <a:sym typeface="Montserrat Light"/>
              </a:defRPr>
            </a:lvl1pPr>
            <a:lvl2pPr marL="914400" marR="0" lvl="1"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2pPr>
            <a:lvl3pPr marL="1371600" marR="0" lvl="2"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3pPr>
            <a:lvl4pPr marL="1828800" marR="0" lvl="3"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4pPr>
            <a:lvl5pPr marL="2286000" marR="0" lvl="4"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5pPr>
            <a:lvl6pPr marL="2743200" marR="0" lvl="5" indent="-308610"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6pPr>
            <a:lvl7pPr marL="3200400" marR="0" lvl="6" indent="-308610"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7pPr>
            <a:lvl8pPr marL="3657600" marR="0" lvl="7" indent="-308609"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8pPr>
            <a:lvl9pPr marL="4114800" marR="0" lvl="8" indent="-308609"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9pPr>
          </a:lstStyle>
          <a:p>
            <a:pPr marL="285750" indent="-285750">
              <a:buClr>
                <a:schemeClr val="accent2"/>
              </a:buClr>
              <a:buSzPct val="100000"/>
              <a:buFont typeface="Wingdings" panose="05000000000000000000" pitchFamily="2" charset="2"/>
              <a:buChar char="§"/>
            </a:pPr>
            <a:r>
              <a:rPr lang="en-US" sz="1400" dirty="0"/>
              <a:t>Enable Consent API for multi-API one-step consent independent of API flows </a:t>
            </a:r>
            <a:r>
              <a:rPr lang="en-US" sz="1400" dirty="0">
                <a:solidFill>
                  <a:schemeClr val="accent2"/>
                </a:solidFill>
              </a:rPr>
              <a:t>- CAMARA</a:t>
            </a:r>
          </a:p>
        </p:txBody>
      </p:sp>
    </p:spTree>
    <p:extLst>
      <p:ext uri="{BB962C8B-B14F-4D97-AF65-F5344CB8AC3E}">
        <p14:creationId xmlns:p14="http://schemas.microsoft.com/office/powerpoint/2010/main" val="3399498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3">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 grpId="0" build="p"/>
      <p:bldP spid="27" grpId="0"/>
      <p:bldP spid="30" grpId="0"/>
      <p:bldP spid="4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grpSp>
        <p:nvGrpSpPr>
          <p:cNvPr id="26" name="Gruppieren 25"/>
          <p:cNvGrpSpPr/>
          <p:nvPr/>
        </p:nvGrpSpPr>
        <p:grpSpPr>
          <a:xfrm>
            <a:off x="548664" y="1876026"/>
            <a:ext cx="5819565" cy="4408320"/>
            <a:chOff x="580566" y="1983108"/>
            <a:chExt cx="6157930" cy="4664632"/>
          </a:xfrm>
        </p:grpSpPr>
        <p:grpSp>
          <p:nvGrpSpPr>
            <p:cNvPr id="27" name="Gruppieren 26"/>
            <p:cNvGrpSpPr/>
            <p:nvPr/>
          </p:nvGrpSpPr>
          <p:grpSpPr>
            <a:xfrm>
              <a:off x="580566" y="5932560"/>
              <a:ext cx="6157930" cy="715180"/>
              <a:chOff x="545632" y="5609839"/>
              <a:chExt cx="5822950" cy="676276"/>
            </a:xfrm>
          </p:grpSpPr>
          <p:sp>
            <p:nvSpPr>
              <p:cNvPr id="47" name="Rechteck 46"/>
              <p:cNvSpPr/>
              <p:nvPr/>
            </p:nvSpPr>
            <p:spPr>
              <a:xfrm>
                <a:off x="545632" y="5609840"/>
                <a:ext cx="2847975" cy="676275"/>
              </a:xfrm>
              <a:prstGeom prst="rect">
                <a:avLst/>
              </a:prstGeom>
              <a:solidFill>
                <a:srgbClr val="00A8E6">
                  <a:lumMod val="20000"/>
                  <a:lumOff val="80000"/>
                </a:srgbClr>
              </a:solidFill>
              <a:ln w="12700" cap="flat" cmpd="sng" algn="ctr">
                <a:noFill/>
                <a:prstDash val="solid"/>
                <a:miter lim="800000"/>
              </a:ln>
              <a:effectLst/>
            </p:spPr>
            <p:txBody>
              <a:bodyPr lIns="71958" tIns="71958" rIns="71958" bIns="71958"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de-DE" sz="1799" dirty="0" err="1">
                    <a:solidFill>
                      <a:sysClr val="windowText" lastClr="000000"/>
                    </a:solidFill>
                    <a:latin typeface="Montserrat" panose="020B0604020202020204" charset="0"/>
                    <a:cs typeface="Arial" panose="020B0604020202020204" pitchFamily="34" charset="0"/>
                  </a:rPr>
                  <a:t>CPaaS</a:t>
                </a:r>
                <a:r>
                  <a:rPr lang="de-DE" sz="1799" dirty="0">
                    <a:solidFill>
                      <a:sysClr val="windowText" lastClr="000000"/>
                    </a:solidFill>
                    <a:latin typeface="Montserrat" panose="020B0604020202020204" charset="0"/>
                    <a:cs typeface="Arial" panose="020B0604020202020204" pitchFamily="34" charset="0"/>
                  </a:rPr>
                  <a:t> </a:t>
                </a:r>
                <a:r>
                  <a:rPr lang="de-DE" sz="1799" dirty="0" err="1">
                    <a:solidFill>
                      <a:sysClr val="windowText" lastClr="000000"/>
                    </a:solidFill>
                    <a:latin typeface="Montserrat" panose="020B0604020202020204" charset="0"/>
                    <a:cs typeface="Arial" panose="020B0604020202020204" pitchFamily="34" charset="0"/>
                  </a:rPr>
                  <a:t>capabilities</a:t>
                </a:r>
                <a:endParaRPr lang="de-DE" sz="1799" dirty="0">
                  <a:solidFill>
                    <a:sysClr val="windowText" lastClr="000000"/>
                  </a:solidFill>
                  <a:latin typeface="Montserrat" panose="020B0604020202020204" charset="0"/>
                  <a:cs typeface="Arial" panose="020B0604020202020204" pitchFamily="34" charset="0"/>
                </a:endParaRPr>
              </a:p>
            </p:txBody>
          </p:sp>
          <p:sp>
            <p:nvSpPr>
              <p:cNvPr id="48" name="Rechteck 47"/>
              <p:cNvSpPr/>
              <p:nvPr/>
            </p:nvSpPr>
            <p:spPr>
              <a:xfrm>
                <a:off x="3520607" y="5609839"/>
                <a:ext cx="2847975" cy="676275"/>
              </a:xfrm>
              <a:prstGeom prst="rect">
                <a:avLst/>
              </a:prstGeom>
              <a:solidFill>
                <a:srgbClr val="00A8E6">
                  <a:lumMod val="20000"/>
                  <a:lumOff val="80000"/>
                </a:srgbClr>
              </a:solidFill>
              <a:ln w="12700" cap="flat" cmpd="sng" algn="ctr">
                <a:noFill/>
                <a:prstDash val="solid"/>
                <a:miter lim="800000"/>
              </a:ln>
              <a:effectLst/>
            </p:spPr>
            <p:txBody>
              <a:bodyPr lIns="71958" tIns="71958" rIns="71958" bIns="71958"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de-DE" sz="1799" dirty="0">
                    <a:solidFill>
                      <a:sysClr val="windowText" lastClr="000000"/>
                    </a:solidFill>
                    <a:latin typeface="Montserrat" panose="020B0604020202020204" charset="0"/>
                    <a:cs typeface="Arial" panose="020B0604020202020204" pitchFamily="34" charset="0"/>
                  </a:rPr>
                  <a:t>NW </a:t>
                </a:r>
                <a:r>
                  <a:rPr lang="de-DE" sz="1799" dirty="0" err="1">
                    <a:solidFill>
                      <a:sysClr val="windowText" lastClr="000000"/>
                    </a:solidFill>
                    <a:latin typeface="Montserrat" panose="020B0604020202020204" charset="0"/>
                    <a:cs typeface="Arial" panose="020B0604020202020204" pitchFamily="34" charset="0"/>
                  </a:rPr>
                  <a:t>capabilities</a:t>
                </a:r>
                <a:endParaRPr lang="de-DE" sz="1799" dirty="0">
                  <a:solidFill>
                    <a:sysClr val="windowText" lastClr="000000"/>
                  </a:solidFill>
                  <a:latin typeface="Montserrat" panose="020B0604020202020204" charset="0"/>
                  <a:cs typeface="Arial" panose="020B0604020202020204" pitchFamily="34" charset="0"/>
                </a:endParaRPr>
              </a:p>
            </p:txBody>
          </p:sp>
        </p:grpSp>
        <p:sp>
          <p:nvSpPr>
            <p:cNvPr id="30" name="Rechteck 29"/>
            <p:cNvSpPr/>
            <p:nvPr/>
          </p:nvSpPr>
          <p:spPr>
            <a:xfrm>
              <a:off x="1930341" y="4945196"/>
              <a:ext cx="4808155" cy="715179"/>
            </a:xfrm>
            <a:prstGeom prst="rect">
              <a:avLst/>
            </a:prstGeom>
            <a:solidFill>
              <a:srgbClr val="00A8E6">
                <a:lumMod val="40000"/>
                <a:lumOff val="60000"/>
              </a:srgbClr>
            </a:solidFill>
            <a:ln w="12700" cap="flat" cmpd="sng" algn="ctr">
              <a:noFill/>
              <a:prstDash val="solid"/>
              <a:miter lim="800000"/>
            </a:ln>
            <a:effectLst/>
          </p:spPr>
          <p:txBody>
            <a:bodyPr lIns="71958" tIns="71958" rIns="71958" bIns="71958"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de-DE" sz="1799" dirty="0">
                  <a:solidFill>
                    <a:sysClr val="windowText" lastClr="000000"/>
                  </a:solidFill>
                  <a:latin typeface="Montserrat" panose="020B0604020202020204" charset="0"/>
                  <a:cs typeface="Arial" panose="020B0604020202020204" pitchFamily="34" charset="0"/>
                </a:rPr>
                <a:t>API </a:t>
              </a:r>
              <a:r>
                <a:rPr lang="de-DE" sz="1799" dirty="0" err="1">
                  <a:solidFill>
                    <a:sysClr val="windowText" lastClr="000000"/>
                  </a:solidFill>
                  <a:latin typeface="Montserrat" panose="020B0604020202020204" charset="0"/>
                  <a:cs typeface="Arial" panose="020B0604020202020204" pitchFamily="34" charset="0"/>
                </a:rPr>
                <a:t>Exposure</a:t>
              </a:r>
              <a:r>
                <a:rPr lang="de-DE" sz="1799" dirty="0">
                  <a:solidFill>
                    <a:sysClr val="windowText" lastClr="000000"/>
                  </a:solidFill>
                  <a:latin typeface="Montserrat" panose="020B0604020202020204" charset="0"/>
                  <a:cs typeface="Arial" panose="020B0604020202020204" pitchFamily="34" charset="0"/>
                </a:rPr>
                <a:t> Layer</a:t>
              </a:r>
            </a:p>
          </p:txBody>
        </p:sp>
        <p:sp>
          <p:nvSpPr>
            <p:cNvPr id="31" name="Rechteck 30"/>
            <p:cNvSpPr/>
            <p:nvPr/>
          </p:nvSpPr>
          <p:spPr>
            <a:xfrm>
              <a:off x="2771775" y="3957833"/>
              <a:ext cx="3966721" cy="715179"/>
            </a:xfrm>
            <a:prstGeom prst="rect">
              <a:avLst/>
            </a:prstGeom>
            <a:solidFill>
              <a:srgbClr val="00A8E6">
                <a:lumMod val="60000"/>
                <a:lumOff val="40000"/>
              </a:srgbClr>
            </a:solidFill>
            <a:ln w="12700" cap="flat" cmpd="sng" algn="ctr">
              <a:noFill/>
              <a:prstDash val="solid"/>
              <a:miter lim="800000"/>
            </a:ln>
            <a:effectLst/>
          </p:spPr>
          <p:txBody>
            <a:bodyPr lIns="71958" tIns="71958" rIns="71958" bIns="71958"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de-DE" sz="1799" dirty="0">
                  <a:solidFill>
                    <a:sysClr val="window" lastClr="FFFFFF"/>
                  </a:solidFill>
                  <a:latin typeface="Montserrat" panose="020B0604020202020204" charset="0"/>
                  <a:cs typeface="Arial" panose="020B0604020202020204" pitchFamily="34" charset="0"/>
                </a:rPr>
                <a:t>Aggregation Layer</a:t>
              </a:r>
            </a:p>
          </p:txBody>
        </p:sp>
        <p:sp>
          <p:nvSpPr>
            <p:cNvPr id="32" name="Rechteck 31"/>
            <p:cNvSpPr/>
            <p:nvPr/>
          </p:nvSpPr>
          <p:spPr>
            <a:xfrm>
              <a:off x="580566" y="2970471"/>
              <a:ext cx="6157930" cy="715179"/>
            </a:xfrm>
            <a:prstGeom prst="rect">
              <a:avLst/>
            </a:prstGeom>
            <a:solidFill>
              <a:srgbClr val="00A8E6">
                <a:lumMod val="75000"/>
              </a:srgbClr>
            </a:solidFill>
            <a:ln w="12700" cap="flat" cmpd="sng" algn="ctr">
              <a:noFill/>
              <a:prstDash val="solid"/>
              <a:miter lim="800000"/>
            </a:ln>
            <a:effectLst/>
          </p:spPr>
          <p:txBody>
            <a:bodyPr lIns="71958" tIns="71958" rIns="71958" bIns="71958"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de-DE" sz="1799" dirty="0">
                  <a:solidFill>
                    <a:sysClr val="window" lastClr="FFFFFF"/>
                  </a:solidFill>
                  <a:latin typeface="Montserrat" panose="020B0604020202020204" charset="0"/>
                  <a:cs typeface="Arial" panose="020B0604020202020204" pitchFamily="34" charset="0"/>
                </a:rPr>
                <a:t>Channel Partner / API &amp; </a:t>
              </a:r>
              <a:r>
                <a:rPr lang="de-DE" sz="1799" dirty="0" err="1">
                  <a:solidFill>
                    <a:sysClr val="window" lastClr="FFFFFF"/>
                  </a:solidFill>
                  <a:latin typeface="Montserrat" panose="020B0604020202020204" charset="0"/>
                  <a:cs typeface="Arial" panose="020B0604020202020204" pitchFamily="34" charset="0"/>
                </a:rPr>
                <a:t>Product</a:t>
              </a:r>
              <a:r>
                <a:rPr lang="de-DE" sz="1799" dirty="0">
                  <a:solidFill>
                    <a:sysClr val="window" lastClr="FFFFFF"/>
                  </a:solidFill>
                  <a:latin typeface="Montserrat" panose="020B0604020202020204" charset="0"/>
                  <a:cs typeface="Arial" panose="020B0604020202020204" pitchFamily="34" charset="0"/>
                </a:rPr>
                <a:t> Layer</a:t>
              </a:r>
            </a:p>
          </p:txBody>
        </p:sp>
        <p:sp>
          <p:nvSpPr>
            <p:cNvPr id="36" name="Rechteck 35"/>
            <p:cNvSpPr/>
            <p:nvPr/>
          </p:nvSpPr>
          <p:spPr>
            <a:xfrm>
              <a:off x="580566" y="1983108"/>
              <a:ext cx="6157930" cy="715179"/>
            </a:xfrm>
            <a:prstGeom prst="rect">
              <a:avLst/>
            </a:prstGeom>
            <a:solidFill>
              <a:srgbClr val="00A8E6">
                <a:lumMod val="50000"/>
              </a:srgbClr>
            </a:solidFill>
            <a:ln w="12700" cap="flat" cmpd="sng" algn="ctr">
              <a:noFill/>
              <a:prstDash val="solid"/>
              <a:miter lim="800000"/>
            </a:ln>
            <a:effectLst/>
          </p:spPr>
          <p:txBody>
            <a:bodyPr lIns="71958" tIns="71958" rIns="71958" bIns="71958"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de-DE" sz="1799" dirty="0">
                  <a:solidFill>
                    <a:sysClr val="window" lastClr="FFFFFF"/>
                  </a:solidFill>
                  <a:latin typeface="Montserrat" panose="020B0604020202020204" charset="0"/>
                  <a:cs typeface="Arial" panose="020B0604020202020204" pitchFamily="34" charset="0"/>
                </a:rPr>
                <a:t>Customer</a:t>
              </a:r>
            </a:p>
          </p:txBody>
        </p:sp>
        <p:cxnSp>
          <p:nvCxnSpPr>
            <p:cNvPr id="37" name="Gerader Verbinder 36"/>
            <p:cNvCxnSpPr>
              <a:stCxn id="48" idx="0"/>
            </p:cNvCxnSpPr>
            <p:nvPr/>
          </p:nvCxnSpPr>
          <p:spPr>
            <a:xfrm flipV="1">
              <a:off x="5232591" y="5659813"/>
              <a:ext cx="4149" cy="272747"/>
            </a:xfrm>
            <a:prstGeom prst="line">
              <a:avLst/>
            </a:prstGeom>
            <a:noFill/>
            <a:ln w="38100" cap="flat" cmpd="sng" algn="ctr">
              <a:solidFill>
                <a:srgbClr val="00A8E6"/>
              </a:solidFill>
              <a:prstDash val="solid"/>
              <a:miter lim="800000"/>
            </a:ln>
            <a:effectLst/>
          </p:spPr>
        </p:cxnSp>
        <p:cxnSp>
          <p:nvCxnSpPr>
            <p:cNvPr id="38" name="Gerader Verbinder 37"/>
            <p:cNvCxnSpPr/>
            <p:nvPr/>
          </p:nvCxnSpPr>
          <p:spPr>
            <a:xfrm flipV="1">
              <a:off x="1253775" y="3685650"/>
              <a:ext cx="20147" cy="2246910"/>
            </a:xfrm>
            <a:prstGeom prst="line">
              <a:avLst/>
            </a:prstGeom>
            <a:noFill/>
            <a:ln w="38100" cap="flat" cmpd="sng" algn="ctr">
              <a:solidFill>
                <a:srgbClr val="00A8E6"/>
              </a:solidFill>
              <a:prstDash val="solid"/>
              <a:miter lim="800000"/>
            </a:ln>
            <a:effectLst/>
          </p:spPr>
        </p:cxnSp>
        <p:cxnSp>
          <p:nvCxnSpPr>
            <p:cNvPr id="39" name="Gerader Verbinder 38"/>
            <p:cNvCxnSpPr/>
            <p:nvPr/>
          </p:nvCxnSpPr>
          <p:spPr>
            <a:xfrm flipV="1">
              <a:off x="5232589" y="4671886"/>
              <a:ext cx="4149" cy="272747"/>
            </a:xfrm>
            <a:prstGeom prst="line">
              <a:avLst/>
            </a:prstGeom>
            <a:noFill/>
            <a:ln w="38100" cap="flat" cmpd="sng" algn="ctr">
              <a:solidFill>
                <a:srgbClr val="00A8E6"/>
              </a:solidFill>
              <a:prstDash val="solid"/>
              <a:miter lim="800000"/>
            </a:ln>
            <a:effectLst/>
          </p:spPr>
        </p:cxnSp>
        <p:cxnSp>
          <p:nvCxnSpPr>
            <p:cNvPr id="40" name="Gerader Verbinder 39"/>
            <p:cNvCxnSpPr/>
            <p:nvPr/>
          </p:nvCxnSpPr>
          <p:spPr>
            <a:xfrm flipV="1">
              <a:off x="5232588" y="3683960"/>
              <a:ext cx="4149" cy="272747"/>
            </a:xfrm>
            <a:prstGeom prst="line">
              <a:avLst/>
            </a:prstGeom>
            <a:noFill/>
            <a:ln w="38100" cap="flat" cmpd="sng" algn="ctr">
              <a:solidFill>
                <a:srgbClr val="00A8E6"/>
              </a:solidFill>
              <a:prstDash val="solid"/>
              <a:miter lim="800000"/>
            </a:ln>
            <a:effectLst/>
          </p:spPr>
        </p:cxnSp>
        <p:cxnSp>
          <p:nvCxnSpPr>
            <p:cNvPr id="41" name="Gerader Verbinder 40"/>
            <p:cNvCxnSpPr/>
            <p:nvPr/>
          </p:nvCxnSpPr>
          <p:spPr>
            <a:xfrm flipV="1">
              <a:off x="3592378" y="2697442"/>
              <a:ext cx="4149" cy="272747"/>
            </a:xfrm>
            <a:prstGeom prst="line">
              <a:avLst/>
            </a:prstGeom>
            <a:noFill/>
            <a:ln w="38100" cap="flat" cmpd="sng" algn="ctr">
              <a:solidFill>
                <a:srgbClr val="00A8E6"/>
              </a:solidFill>
              <a:prstDash val="solid"/>
              <a:miter lim="800000"/>
            </a:ln>
            <a:effectLst/>
          </p:spPr>
        </p:cxnSp>
        <p:cxnSp>
          <p:nvCxnSpPr>
            <p:cNvPr id="42" name="Gerader Verbinder 41"/>
            <p:cNvCxnSpPr/>
            <p:nvPr/>
          </p:nvCxnSpPr>
          <p:spPr>
            <a:xfrm flipV="1">
              <a:off x="2356402" y="3683960"/>
              <a:ext cx="8122" cy="1260674"/>
            </a:xfrm>
            <a:prstGeom prst="line">
              <a:avLst/>
            </a:prstGeom>
            <a:noFill/>
            <a:ln w="38100" cap="flat" cmpd="sng" algn="ctr">
              <a:solidFill>
                <a:srgbClr val="00A8E6"/>
              </a:solidFill>
              <a:prstDash val="solid"/>
              <a:miter lim="800000"/>
            </a:ln>
            <a:effectLst/>
          </p:spPr>
        </p:cxnSp>
      </p:grpSp>
      <p:sp>
        <p:nvSpPr>
          <p:cNvPr id="192" name="Google Shape;192;p5"/>
          <p:cNvSpPr txBox="1">
            <a:spLocks noGrp="1"/>
          </p:cNvSpPr>
          <p:nvPr>
            <p:ph type="title"/>
          </p:nvPr>
        </p:nvSpPr>
        <p:spPr>
          <a:xfrm>
            <a:off x="447465" y="414797"/>
            <a:ext cx="10937862" cy="784060"/>
          </a:xfrm>
          <a:prstGeom prst="rect">
            <a:avLst/>
          </a:prstGeom>
          <a:noFill/>
          <a:ln>
            <a:noFill/>
          </a:ln>
        </p:spPr>
        <p:txBody>
          <a:bodyPr spcFirstLastPara="1" wrap="square" lIns="91371" tIns="45673" rIns="91371" bIns="45673" anchor="t" anchorCtr="0">
            <a:noAutofit/>
          </a:bodyPr>
          <a:lstStyle/>
          <a:p>
            <a:r>
              <a:rPr lang="en-US" dirty="0"/>
              <a:t>The API ecosystem – </a:t>
            </a:r>
            <a:br>
              <a:rPr lang="en-US" dirty="0"/>
            </a:br>
            <a:r>
              <a:rPr lang="en-US" dirty="0"/>
              <a:t>Prepare for agentic AI</a:t>
            </a:r>
            <a:endParaRPr dirty="0"/>
          </a:p>
        </p:txBody>
      </p:sp>
      <p:sp>
        <p:nvSpPr>
          <p:cNvPr id="28" name="Google Shape;193;p5"/>
          <p:cNvSpPr txBox="1">
            <a:spLocks/>
          </p:cNvSpPr>
          <p:nvPr/>
        </p:nvSpPr>
        <p:spPr>
          <a:xfrm>
            <a:off x="6737752" y="1223339"/>
            <a:ext cx="4425990" cy="450790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4000"/>
              </a:lnSpc>
              <a:spcBef>
                <a:spcPts val="1200"/>
              </a:spcBef>
              <a:spcAft>
                <a:spcPts val="0"/>
              </a:spcAft>
              <a:buClr>
                <a:schemeClr val="dk2"/>
              </a:buClr>
              <a:buSzPts val="1500"/>
              <a:buFont typeface="Montserrat Light"/>
              <a:buNone/>
              <a:defRPr sz="1500" b="0" i="0" u="none" strike="noStrike" cap="none">
                <a:solidFill>
                  <a:schemeClr val="dk2"/>
                </a:solidFill>
                <a:latin typeface="Montserrat Light"/>
                <a:ea typeface="Montserrat Light"/>
                <a:cs typeface="Montserrat Light"/>
                <a:sym typeface="Montserrat Light"/>
              </a:defRPr>
            </a:lvl1pPr>
            <a:lvl2pPr marL="914400" marR="0" lvl="1"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2pPr>
            <a:lvl3pPr marL="1371600" marR="0" lvl="2"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3pPr>
            <a:lvl4pPr marL="1828800" marR="0" lvl="3"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4pPr>
            <a:lvl5pPr marL="2286000" marR="0" lvl="4"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5pPr>
            <a:lvl6pPr marL="2743200" marR="0" lvl="5" indent="-308610"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6pPr>
            <a:lvl7pPr marL="3200400" marR="0" lvl="6" indent="-308610"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7pPr>
            <a:lvl8pPr marL="3657600" marR="0" lvl="7" indent="-308609"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8pPr>
            <a:lvl9pPr marL="4114800" marR="0" lvl="8" indent="-308609"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9pPr>
          </a:lstStyle>
          <a:p>
            <a:pPr marL="285591" indent="-285591">
              <a:buClr>
                <a:srgbClr val="3A9BF3"/>
              </a:buClr>
              <a:buSzPct val="100000"/>
              <a:buFont typeface="Wingdings" panose="05000000000000000000" pitchFamily="2" charset="2"/>
              <a:buChar char="§"/>
            </a:pPr>
            <a:r>
              <a:rPr lang="en-US" sz="1400" dirty="0">
                <a:solidFill>
                  <a:schemeClr val="accent2"/>
                </a:solidFill>
              </a:rPr>
              <a:t>CAMARA</a:t>
            </a:r>
            <a:r>
              <a:rPr lang="en-US" sz="1400" dirty="0">
                <a:solidFill>
                  <a:srgbClr val="404041"/>
                </a:solidFill>
              </a:rPr>
              <a:t> should provide context for MCP servers, esp. scopes and purposes, user consent requirements</a:t>
            </a:r>
          </a:p>
          <a:p>
            <a:pPr marL="285591" indent="-285591">
              <a:buClr>
                <a:srgbClr val="3A9BF3"/>
              </a:buClr>
              <a:buSzPct val="100000"/>
              <a:buFont typeface="Wingdings" panose="05000000000000000000" pitchFamily="2" charset="2"/>
              <a:buChar char="§"/>
            </a:pPr>
            <a:r>
              <a:rPr lang="en-US" sz="1400" dirty="0">
                <a:solidFill>
                  <a:schemeClr val="accent2"/>
                </a:solidFill>
              </a:rPr>
              <a:t>CAMARA</a:t>
            </a:r>
            <a:r>
              <a:rPr lang="en-US" sz="1400" dirty="0">
                <a:solidFill>
                  <a:srgbClr val="404041"/>
                </a:solidFill>
              </a:rPr>
              <a:t> should adjust security guidelines and API design guidelines</a:t>
            </a:r>
          </a:p>
          <a:p>
            <a:pPr marL="285591" indent="-285591">
              <a:buClr>
                <a:srgbClr val="3A9BF3"/>
              </a:buClr>
              <a:buSzPct val="100000"/>
              <a:buFont typeface="Wingdings" panose="05000000000000000000" pitchFamily="2" charset="2"/>
              <a:buChar char="§"/>
            </a:pPr>
            <a:r>
              <a:rPr lang="en-US" sz="1400" dirty="0">
                <a:solidFill>
                  <a:schemeClr val="accent2"/>
                </a:solidFill>
              </a:rPr>
              <a:t>CAMARA</a:t>
            </a:r>
            <a:r>
              <a:rPr lang="en-US" sz="1400" dirty="0">
                <a:solidFill>
                  <a:srgbClr val="404041"/>
                </a:solidFill>
              </a:rPr>
              <a:t> should provide authoritative MCP function definitions versioned in lockstep with corresponding CAMARA API definitions</a:t>
            </a:r>
          </a:p>
          <a:p>
            <a:pPr marL="285591" indent="-285591">
              <a:buClr>
                <a:srgbClr val="3A9BF3"/>
              </a:buClr>
              <a:buSzPct val="100000"/>
              <a:buFont typeface="Wingdings" panose="05000000000000000000" pitchFamily="2" charset="2"/>
              <a:buChar char="§"/>
            </a:pPr>
            <a:r>
              <a:rPr lang="en-US" sz="1400" dirty="0">
                <a:solidFill>
                  <a:schemeClr val="accent2"/>
                </a:solidFill>
              </a:rPr>
              <a:t>GSMA/OGW</a:t>
            </a:r>
            <a:r>
              <a:rPr lang="en-US" sz="1400" dirty="0">
                <a:solidFill>
                  <a:srgbClr val="404041"/>
                </a:solidFill>
              </a:rPr>
              <a:t> should add MCP servers to technical standards, launch map, certification</a:t>
            </a:r>
          </a:p>
          <a:p>
            <a:pPr marL="285591" indent="-285591">
              <a:buClr>
                <a:srgbClr val="3A9BF3"/>
              </a:buClr>
              <a:buSzPct val="100000"/>
              <a:buFont typeface="Wingdings" panose="05000000000000000000" pitchFamily="2" charset="2"/>
              <a:buChar char="§"/>
            </a:pPr>
            <a:r>
              <a:rPr lang="en-US" sz="1400" dirty="0">
                <a:solidFill>
                  <a:schemeClr val="accent2"/>
                </a:solidFill>
              </a:rPr>
              <a:t>Operators and Aggregators </a:t>
            </a:r>
            <a:r>
              <a:rPr lang="en-US" sz="1400" dirty="0">
                <a:solidFill>
                  <a:srgbClr val="404041"/>
                </a:solidFill>
              </a:rPr>
              <a:t>should expose MCP servers in parallel to APIs</a:t>
            </a:r>
          </a:p>
          <a:p>
            <a:pPr marL="285591" indent="-285591">
              <a:buClr>
                <a:srgbClr val="3A9BF3"/>
              </a:buClr>
              <a:buSzPct val="100000"/>
              <a:buFont typeface="Wingdings" panose="05000000000000000000" pitchFamily="2" charset="2"/>
              <a:buChar char="§"/>
            </a:pPr>
            <a:r>
              <a:rPr lang="en-US" sz="1400" dirty="0">
                <a:solidFill>
                  <a:schemeClr val="accent2"/>
                </a:solidFill>
              </a:rPr>
              <a:t>Channel partners and Customers </a:t>
            </a:r>
            <a:r>
              <a:rPr lang="en-US" sz="1400" dirty="0">
                <a:solidFill>
                  <a:srgbClr val="404041"/>
                </a:solidFill>
              </a:rPr>
              <a:t>should use LLMs/MCP hosts/MCP clients in parallel to products. </a:t>
            </a:r>
            <a:r>
              <a:rPr lang="en-US" sz="1400" dirty="0">
                <a:solidFill>
                  <a:schemeClr val="accent2"/>
                </a:solidFill>
              </a:rPr>
              <a:t>Channel partners</a:t>
            </a:r>
            <a:r>
              <a:rPr lang="en-US" sz="1400" dirty="0">
                <a:solidFill>
                  <a:schemeClr val="tx1"/>
                </a:solidFill>
              </a:rPr>
              <a:t> also can expose MCP servers to customers.</a:t>
            </a:r>
          </a:p>
        </p:txBody>
      </p:sp>
      <p:sp>
        <p:nvSpPr>
          <p:cNvPr id="43" name="Textfeld 42"/>
          <p:cNvSpPr txBox="1"/>
          <p:nvPr/>
        </p:nvSpPr>
        <p:spPr>
          <a:xfrm>
            <a:off x="1719310" y="4639910"/>
            <a:ext cx="1395482" cy="307777"/>
          </a:xfrm>
          <a:prstGeom prst="rect">
            <a:avLst/>
          </a:prstGeom>
          <a:noFill/>
        </p:spPr>
        <p:txBody>
          <a:bodyPr wrap="square" rtlCol="0">
            <a:spAutoFit/>
          </a:bodyPr>
          <a:lstStyle/>
          <a:p>
            <a:pPr algn="ctr">
              <a:buClr>
                <a:srgbClr val="000000"/>
              </a:buClr>
              <a:buFont typeface="Arial"/>
              <a:buNone/>
            </a:pPr>
            <a:r>
              <a:rPr lang="de-DE" b="1" dirty="0">
                <a:solidFill>
                  <a:srgbClr val="FF0000"/>
                </a:solidFill>
                <a:latin typeface="Montserrat" panose="020B0604020202020204" charset="0"/>
              </a:rPr>
              <a:t>MCP </a:t>
            </a:r>
            <a:r>
              <a:rPr lang="de-DE" b="1" dirty="0" err="1">
                <a:solidFill>
                  <a:srgbClr val="FF0000"/>
                </a:solidFill>
                <a:latin typeface="Montserrat" panose="020B0604020202020204" charset="0"/>
              </a:rPr>
              <a:t>server</a:t>
            </a:r>
            <a:r>
              <a:rPr lang="de-DE" b="1" dirty="0">
                <a:solidFill>
                  <a:srgbClr val="FF0000"/>
                </a:solidFill>
                <a:latin typeface="Montserrat" panose="020B0604020202020204" charset="0"/>
              </a:rPr>
              <a:t> *</a:t>
            </a:r>
          </a:p>
        </p:txBody>
      </p:sp>
      <p:sp>
        <p:nvSpPr>
          <p:cNvPr id="44" name="Textfeld 43"/>
          <p:cNvSpPr txBox="1"/>
          <p:nvPr/>
        </p:nvSpPr>
        <p:spPr>
          <a:xfrm>
            <a:off x="4320778" y="3706800"/>
            <a:ext cx="1395482" cy="307777"/>
          </a:xfrm>
          <a:prstGeom prst="rect">
            <a:avLst/>
          </a:prstGeom>
          <a:noFill/>
        </p:spPr>
        <p:txBody>
          <a:bodyPr wrap="square" rtlCol="0">
            <a:spAutoFit/>
          </a:bodyPr>
          <a:lstStyle/>
          <a:p>
            <a:pPr algn="ctr">
              <a:buClr>
                <a:srgbClr val="000000"/>
              </a:buClr>
              <a:buFont typeface="Arial"/>
              <a:buNone/>
            </a:pPr>
            <a:r>
              <a:rPr lang="de-DE" b="1" dirty="0">
                <a:solidFill>
                  <a:srgbClr val="FF0000"/>
                </a:solidFill>
                <a:latin typeface="Montserrat" panose="020B0604020202020204" charset="0"/>
              </a:rPr>
              <a:t>MCP </a:t>
            </a:r>
            <a:r>
              <a:rPr lang="de-DE" b="1" dirty="0" err="1">
                <a:solidFill>
                  <a:srgbClr val="FF0000"/>
                </a:solidFill>
                <a:latin typeface="Montserrat" panose="020B0604020202020204" charset="0"/>
              </a:rPr>
              <a:t>server</a:t>
            </a:r>
            <a:r>
              <a:rPr lang="de-DE" b="1" dirty="0">
                <a:solidFill>
                  <a:srgbClr val="FF0000"/>
                </a:solidFill>
                <a:latin typeface="Montserrat" panose="020B0604020202020204" charset="0"/>
              </a:rPr>
              <a:t> *</a:t>
            </a:r>
          </a:p>
        </p:txBody>
      </p:sp>
      <p:sp>
        <p:nvSpPr>
          <p:cNvPr id="46" name="Textfeld 45"/>
          <p:cNvSpPr txBox="1"/>
          <p:nvPr/>
        </p:nvSpPr>
        <p:spPr>
          <a:xfrm>
            <a:off x="2472396" y="2249121"/>
            <a:ext cx="1930944" cy="307777"/>
          </a:xfrm>
          <a:prstGeom prst="rect">
            <a:avLst/>
          </a:prstGeom>
          <a:noFill/>
        </p:spPr>
        <p:txBody>
          <a:bodyPr wrap="square" rtlCol="0">
            <a:spAutoFit/>
          </a:bodyPr>
          <a:lstStyle/>
          <a:p>
            <a:pPr algn="ctr">
              <a:buClr>
                <a:srgbClr val="000000"/>
              </a:buClr>
              <a:buFont typeface="Arial"/>
              <a:buNone/>
            </a:pPr>
            <a:r>
              <a:rPr lang="de-DE" b="1" dirty="0">
                <a:solidFill>
                  <a:srgbClr val="FF0000"/>
                </a:solidFill>
                <a:latin typeface="Montserrat" panose="020B0604020202020204" charset="0"/>
              </a:rPr>
              <a:t>MCP </a:t>
            </a:r>
            <a:r>
              <a:rPr lang="de-DE" b="1" dirty="0" err="1">
                <a:solidFill>
                  <a:srgbClr val="FF0000"/>
                </a:solidFill>
                <a:latin typeface="Montserrat" panose="020B0604020202020204" charset="0"/>
              </a:rPr>
              <a:t>host&amp;client</a:t>
            </a:r>
            <a:endParaRPr lang="de-DE" b="1" dirty="0">
              <a:solidFill>
                <a:srgbClr val="FF0000"/>
              </a:solidFill>
              <a:latin typeface="Montserrat" panose="020B0604020202020204" charset="0"/>
            </a:endParaRPr>
          </a:p>
        </p:txBody>
      </p:sp>
      <p:sp>
        <p:nvSpPr>
          <p:cNvPr id="22" name="Textfeld 21"/>
          <p:cNvSpPr txBox="1"/>
          <p:nvPr/>
        </p:nvSpPr>
        <p:spPr>
          <a:xfrm>
            <a:off x="2826510" y="2773525"/>
            <a:ext cx="1380063" cy="307777"/>
          </a:xfrm>
          <a:prstGeom prst="rect">
            <a:avLst/>
          </a:prstGeom>
          <a:noFill/>
        </p:spPr>
        <p:txBody>
          <a:bodyPr wrap="square" rtlCol="0">
            <a:spAutoFit/>
          </a:bodyPr>
          <a:lstStyle/>
          <a:p>
            <a:pPr algn="ctr">
              <a:buClr>
                <a:srgbClr val="000000"/>
              </a:buClr>
              <a:buFont typeface="Arial"/>
              <a:buNone/>
            </a:pPr>
            <a:r>
              <a:rPr lang="de-DE" b="1" dirty="0">
                <a:solidFill>
                  <a:srgbClr val="FF0000"/>
                </a:solidFill>
                <a:latin typeface="Montserrat" panose="020B0604020202020204" charset="0"/>
              </a:rPr>
              <a:t>MCP </a:t>
            </a:r>
            <a:r>
              <a:rPr lang="de-DE" b="1" dirty="0" err="1">
                <a:solidFill>
                  <a:srgbClr val="FF0000"/>
                </a:solidFill>
                <a:latin typeface="Montserrat" panose="020B0604020202020204" charset="0"/>
              </a:rPr>
              <a:t>server</a:t>
            </a:r>
            <a:r>
              <a:rPr lang="de-DE" b="1" dirty="0">
                <a:solidFill>
                  <a:srgbClr val="FF0000"/>
                </a:solidFill>
                <a:latin typeface="Montserrat" panose="020B0604020202020204" charset="0"/>
              </a:rPr>
              <a:t> *</a:t>
            </a:r>
          </a:p>
        </p:txBody>
      </p:sp>
      <p:sp>
        <p:nvSpPr>
          <p:cNvPr id="24" name="Textfeld 23"/>
          <p:cNvSpPr txBox="1"/>
          <p:nvPr/>
        </p:nvSpPr>
        <p:spPr>
          <a:xfrm>
            <a:off x="6947394" y="5810648"/>
            <a:ext cx="4326645" cy="528606"/>
          </a:xfrm>
          <a:prstGeom prst="rect">
            <a:avLst/>
          </a:prstGeom>
          <a:noFill/>
        </p:spPr>
        <p:txBody>
          <a:bodyPr wrap="square" rtlCol="0">
            <a:spAutoFit/>
          </a:bodyPr>
          <a:lstStyle/>
          <a:p>
            <a:pPr>
              <a:buClr>
                <a:srgbClr val="000000"/>
              </a:buClr>
              <a:buFont typeface="Arial"/>
              <a:buNone/>
            </a:pPr>
            <a:r>
              <a:rPr lang="de-DE" sz="945" b="1" dirty="0">
                <a:solidFill>
                  <a:srgbClr val="FF0000"/>
                </a:solidFill>
                <a:latin typeface="Montserrat" panose="020B0604020202020204" charset="0"/>
              </a:rPr>
              <a:t>* MCP </a:t>
            </a:r>
            <a:r>
              <a:rPr lang="de-DE" sz="945" b="1" dirty="0" err="1">
                <a:solidFill>
                  <a:srgbClr val="FF0000"/>
                </a:solidFill>
                <a:latin typeface="Montserrat" panose="020B0604020202020204" charset="0"/>
              </a:rPr>
              <a:t>server</a:t>
            </a:r>
            <a:r>
              <a:rPr lang="de-DE" sz="945" b="1" dirty="0">
                <a:solidFill>
                  <a:srgbClr val="FF0000"/>
                </a:solidFill>
                <a:latin typeface="Montserrat" panose="020B0604020202020204" charset="0"/>
              </a:rPr>
              <a:t> </a:t>
            </a:r>
            <a:r>
              <a:rPr lang="de-DE" sz="945" b="1" dirty="0" err="1">
                <a:solidFill>
                  <a:srgbClr val="FF0000"/>
                </a:solidFill>
                <a:latin typeface="Montserrat" panose="020B0604020202020204" charset="0"/>
              </a:rPr>
              <a:t>can</a:t>
            </a:r>
            <a:r>
              <a:rPr lang="de-DE" sz="945" b="1" dirty="0">
                <a:solidFill>
                  <a:srgbClr val="FF0000"/>
                </a:solidFill>
                <a:latin typeface="Montserrat" panose="020B0604020202020204" charset="0"/>
              </a:rPr>
              <a:t> </a:t>
            </a:r>
            <a:r>
              <a:rPr lang="de-DE" sz="945" b="1" dirty="0" err="1">
                <a:solidFill>
                  <a:srgbClr val="FF0000"/>
                </a:solidFill>
                <a:latin typeface="Montserrat" panose="020B0604020202020204" charset="0"/>
              </a:rPr>
              <a:t>sit</a:t>
            </a:r>
            <a:r>
              <a:rPr lang="de-DE" sz="945" b="1" dirty="0">
                <a:solidFill>
                  <a:srgbClr val="FF0000"/>
                </a:solidFill>
                <a:latin typeface="Montserrat" panose="020B0604020202020204" charset="0"/>
              </a:rPr>
              <a:t> in </a:t>
            </a:r>
            <a:r>
              <a:rPr lang="de-DE" sz="945" b="1" dirty="0" err="1">
                <a:solidFill>
                  <a:srgbClr val="FF0000"/>
                </a:solidFill>
                <a:latin typeface="Montserrat" panose="020B0604020202020204" charset="0"/>
              </a:rPr>
              <a:t>exposure</a:t>
            </a:r>
            <a:r>
              <a:rPr lang="de-DE" sz="945" b="1" dirty="0">
                <a:solidFill>
                  <a:srgbClr val="FF0000"/>
                </a:solidFill>
                <a:latin typeface="Montserrat" panose="020B0604020202020204" charset="0"/>
              </a:rPr>
              <a:t> </a:t>
            </a:r>
            <a:r>
              <a:rPr lang="de-DE" sz="945" b="1" dirty="0" err="1">
                <a:solidFill>
                  <a:srgbClr val="FF0000"/>
                </a:solidFill>
                <a:latin typeface="Montserrat" panose="020B0604020202020204" charset="0"/>
              </a:rPr>
              <a:t>layer</a:t>
            </a:r>
            <a:r>
              <a:rPr lang="de-DE" sz="945" b="1" dirty="0">
                <a:solidFill>
                  <a:srgbClr val="FF0000"/>
                </a:solidFill>
                <a:latin typeface="Montserrat" panose="020B0604020202020204" charset="0"/>
              </a:rPr>
              <a:t> (</a:t>
            </a:r>
            <a:r>
              <a:rPr lang="de-DE" sz="945" b="1" dirty="0" err="1">
                <a:solidFill>
                  <a:srgbClr val="FF0000"/>
                </a:solidFill>
                <a:latin typeface="Montserrat" panose="020B0604020202020204" charset="0"/>
              </a:rPr>
              <a:t>for</a:t>
            </a:r>
            <a:r>
              <a:rPr lang="de-DE" sz="945" b="1" dirty="0">
                <a:solidFill>
                  <a:srgbClr val="FF0000"/>
                </a:solidFill>
                <a:latin typeface="Montserrat" panose="020B0604020202020204" charset="0"/>
              </a:rPr>
              <a:t> </a:t>
            </a:r>
            <a:r>
              <a:rPr lang="de-DE" sz="945" b="1" dirty="0" err="1">
                <a:solidFill>
                  <a:srgbClr val="FF0000"/>
                </a:solidFill>
                <a:latin typeface="Montserrat" panose="020B0604020202020204" charset="0"/>
              </a:rPr>
              <a:t>single</a:t>
            </a:r>
            <a:r>
              <a:rPr lang="de-DE" sz="945" b="1" dirty="0">
                <a:solidFill>
                  <a:srgbClr val="FF0000"/>
                </a:solidFill>
                <a:latin typeface="Montserrat" panose="020B0604020202020204" charset="0"/>
              </a:rPr>
              <a:t> </a:t>
            </a:r>
            <a:r>
              <a:rPr lang="de-DE" sz="945" b="1" dirty="0" err="1">
                <a:solidFill>
                  <a:srgbClr val="FF0000"/>
                </a:solidFill>
                <a:latin typeface="Montserrat" panose="020B0604020202020204" charset="0"/>
              </a:rPr>
              <a:t>operator</a:t>
            </a:r>
            <a:r>
              <a:rPr lang="de-DE" sz="945" b="1" dirty="0">
                <a:solidFill>
                  <a:srgbClr val="FF0000"/>
                </a:solidFill>
                <a:latin typeface="Montserrat" panose="020B0604020202020204" charset="0"/>
              </a:rPr>
              <a:t> APIs), </a:t>
            </a:r>
            <a:r>
              <a:rPr lang="de-DE" sz="945" b="1" dirty="0" err="1">
                <a:solidFill>
                  <a:srgbClr val="FF0000"/>
                </a:solidFill>
                <a:latin typeface="Montserrat" panose="020B0604020202020204" charset="0"/>
              </a:rPr>
              <a:t>aggregation</a:t>
            </a:r>
            <a:r>
              <a:rPr lang="de-DE" sz="945" b="1" dirty="0">
                <a:solidFill>
                  <a:srgbClr val="FF0000"/>
                </a:solidFill>
                <a:latin typeface="Montserrat" panose="020B0604020202020204" charset="0"/>
              </a:rPr>
              <a:t> </a:t>
            </a:r>
            <a:r>
              <a:rPr lang="de-DE" sz="945" b="1" dirty="0" err="1">
                <a:solidFill>
                  <a:srgbClr val="FF0000"/>
                </a:solidFill>
                <a:latin typeface="Montserrat" panose="020B0604020202020204" charset="0"/>
              </a:rPr>
              <a:t>layer</a:t>
            </a:r>
            <a:r>
              <a:rPr lang="de-DE" sz="945" b="1" dirty="0">
                <a:solidFill>
                  <a:srgbClr val="FF0000"/>
                </a:solidFill>
                <a:latin typeface="Montserrat" panose="020B0604020202020204" charset="0"/>
              </a:rPr>
              <a:t> (</a:t>
            </a:r>
            <a:r>
              <a:rPr lang="de-DE" sz="945" b="1" dirty="0" err="1">
                <a:solidFill>
                  <a:srgbClr val="FF0000"/>
                </a:solidFill>
                <a:latin typeface="Montserrat" panose="020B0604020202020204" charset="0"/>
              </a:rPr>
              <a:t>for</a:t>
            </a:r>
            <a:r>
              <a:rPr lang="de-DE" sz="945" b="1" dirty="0">
                <a:solidFill>
                  <a:srgbClr val="FF0000"/>
                </a:solidFill>
                <a:latin typeface="Montserrat" panose="020B0604020202020204" charset="0"/>
              </a:rPr>
              <a:t> </a:t>
            </a:r>
            <a:r>
              <a:rPr lang="de-DE" sz="945" b="1" dirty="0" err="1">
                <a:solidFill>
                  <a:srgbClr val="FF0000"/>
                </a:solidFill>
                <a:latin typeface="Montserrat" panose="020B0604020202020204" charset="0"/>
              </a:rPr>
              <a:t>aggregated</a:t>
            </a:r>
            <a:r>
              <a:rPr lang="de-DE" sz="945" b="1" dirty="0">
                <a:solidFill>
                  <a:srgbClr val="FF0000"/>
                </a:solidFill>
                <a:latin typeface="Montserrat" panose="020B0604020202020204" charset="0"/>
              </a:rPr>
              <a:t> APIs) </a:t>
            </a:r>
            <a:r>
              <a:rPr lang="de-DE" sz="945" b="1" dirty="0" err="1">
                <a:solidFill>
                  <a:srgbClr val="FF0000"/>
                </a:solidFill>
                <a:latin typeface="Montserrat" panose="020B0604020202020204" charset="0"/>
              </a:rPr>
              <a:t>or</a:t>
            </a:r>
            <a:r>
              <a:rPr lang="de-DE" sz="945" b="1" dirty="0">
                <a:solidFill>
                  <a:srgbClr val="FF0000"/>
                </a:solidFill>
                <a:latin typeface="Montserrat" panose="020B0604020202020204" charset="0"/>
              </a:rPr>
              <a:t> Channel Partner </a:t>
            </a:r>
            <a:r>
              <a:rPr lang="de-DE" sz="945" b="1" dirty="0" err="1">
                <a:solidFill>
                  <a:srgbClr val="FF0000"/>
                </a:solidFill>
                <a:latin typeface="Montserrat" panose="020B0604020202020204" charset="0"/>
              </a:rPr>
              <a:t>layer</a:t>
            </a:r>
            <a:r>
              <a:rPr lang="de-DE" sz="945" b="1" dirty="0">
                <a:solidFill>
                  <a:srgbClr val="FF0000"/>
                </a:solidFill>
                <a:latin typeface="Montserrat" panose="020B0604020202020204" charset="0"/>
              </a:rPr>
              <a:t>. But </a:t>
            </a:r>
            <a:r>
              <a:rPr lang="de-DE" sz="945" b="1" dirty="0" err="1">
                <a:solidFill>
                  <a:srgbClr val="FF0000"/>
                </a:solidFill>
                <a:latin typeface="Montserrat" panose="020B0604020202020204" charset="0"/>
              </a:rPr>
              <a:t>aggregation</a:t>
            </a:r>
            <a:r>
              <a:rPr lang="de-DE" sz="945" b="1" dirty="0">
                <a:solidFill>
                  <a:srgbClr val="FF0000"/>
                </a:solidFill>
                <a:latin typeface="Montserrat" panose="020B0604020202020204" charset="0"/>
              </a:rPr>
              <a:t> </a:t>
            </a:r>
            <a:r>
              <a:rPr lang="de-DE" sz="945" b="1" dirty="0" err="1">
                <a:solidFill>
                  <a:srgbClr val="FF0000"/>
                </a:solidFill>
                <a:latin typeface="Montserrat" panose="020B0604020202020204" charset="0"/>
              </a:rPr>
              <a:t>only</a:t>
            </a:r>
            <a:r>
              <a:rPr lang="de-DE" sz="945" b="1" dirty="0">
                <a:solidFill>
                  <a:srgbClr val="FF0000"/>
                </a:solidFill>
                <a:latin typeface="Montserrat" panose="020B0604020202020204" charset="0"/>
              </a:rPr>
              <a:t> </a:t>
            </a:r>
            <a:r>
              <a:rPr lang="de-DE" sz="945" b="1" dirty="0" err="1">
                <a:solidFill>
                  <a:srgbClr val="FF0000"/>
                </a:solidFill>
                <a:latin typeface="Montserrat" panose="020B0604020202020204" charset="0"/>
              </a:rPr>
              <a:t>happens</a:t>
            </a:r>
            <a:r>
              <a:rPr lang="de-DE" sz="945" b="1" dirty="0">
                <a:solidFill>
                  <a:srgbClr val="FF0000"/>
                </a:solidFill>
                <a:latin typeface="Montserrat" panose="020B0604020202020204" charset="0"/>
              </a:rPr>
              <a:t> on API </a:t>
            </a:r>
            <a:r>
              <a:rPr lang="de-DE" sz="945" b="1" dirty="0" err="1">
                <a:solidFill>
                  <a:srgbClr val="FF0000"/>
                </a:solidFill>
                <a:latin typeface="Montserrat" panose="020B0604020202020204" charset="0"/>
              </a:rPr>
              <a:t>side</a:t>
            </a:r>
            <a:r>
              <a:rPr lang="de-DE" sz="945" b="1" dirty="0">
                <a:solidFill>
                  <a:srgbClr val="FF0000"/>
                </a:solidFill>
                <a:latin typeface="Montserrat" panose="020B0604020202020204" charset="0"/>
              </a:rPr>
              <a:t>, not on MCP </a:t>
            </a:r>
            <a:r>
              <a:rPr lang="de-DE" sz="945" b="1" dirty="0" err="1">
                <a:solidFill>
                  <a:srgbClr val="FF0000"/>
                </a:solidFill>
                <a:latin typeface="Montserrat" panose="020B0604020202020204" charset="0"/>
              </a:rPr>
              <a:t>side</a:t>
            </a:r>
            <a:endParaRPr lang="de-DE" sz="945" b="1" dirty="0">
              <a:solidFill>
                <a:srgbClr val="FF0000"/>
              </a:solidFill>
              <a:latin typeface="Montserrat" panose="020B0604020202020204" charset="0"/>
            </a:endParaRPr>
          </a:p>
        </p:txBody>
      </p:sp>
    </p:spTree>
    <p:extLst>
      <p:ext uri="{BB962C8B-B14F-4D97-AF65-F5344CB8AC3E}">
        <p14:creationId xmlns:p14="http://schemas.microsoft.com/office/powerpoint/2010/main" val="14265687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grpSp>
        <p:nvGrpSpPr>
          <p:cNvPr id="8" name="Gruppieren 7"/>
          <p:cNvGrpSpPr/>
          <p:nvPr/>
        </p:nvGrpSpPr>
        <p:grpSpPr>
          <a:xfrm>
            <a:off x="545632" y="1875230"/>
            <a:ext cx="5822950" cy="4410885"/>
            <a:chOff x="545632" y="1875230"/>
            <a:chExt cx="5822950" cy="4410885"/>
          </a:xfrm>
        </p:grpSpPr>
        <p:grpSp>
          <p:nvGrpSpPr>
            <p:cNvPr id="2" name="Gruppieren 1"/>
            <p:cNvGrpSpPr/>
            <p:nvPr/>
          </p:nvGrpSpPr>
          <p:grpSpPr>
            <a:xfrm>
              <a:off x="545632" y="1875230"/>
              <a:ext cx="5822950" cy="4410885"/>
              <a:chOff x="545632" y="1875230"/>
              <a:chExt cx="5822950" cy="4410885"/>
            </a:xfrm>
          </p:grpSpPr>
          <p:grpSp>
            <p:nvGrpSpPr>
              <p:cNvPr id="6" name="Gruppieren 5"/>
              <p:cNvGrpSpPr/>
              <p:nvPr/>
            </p:nvGrpSpPr>
            <p:grpSpPr>
              <a:xfrm>
                <a:off x="545632" y="5609839"/>
                <a:ext cx="5822950" cy="676276"/>
                <a:chOff x="545632" y="5609839"/>
                <a:chExt cx="5822950" cy="676276"/>
              </a:xfrm>
            </p:grpSpPr>
            <p:sp>
              <p:nvSpPr>
                <p:cNvPr id="19" name="Rechteck 18"/>
                <p:cNvSpPr/>
                <p:nvPr/>
              </p:nvSpPr>
              <p:spPr>
                <a:xfrm>
                  <a:off x="545632" y="5609840"/>
                  <a:ext cx="2847975" cy="676275"/>
                </a:xfrm>
                <a:prstGeom prst="rect">
                  <a:avLst/>
                </a:prstGeom>
                <a:solidFill>
                  <a:srgbClr val="00A8E6">
                    <a:lumMod val="20000"/>
                    <a:lumOff val="80000"/>
                  </a:srgbClr>
                </a:solidFill>
                <a:ln w="12700" cap="flat" cmpd="sng" algn="ctr">
                  <a:noFill/>
                  <a:prstDash val="solid"/>
                  <a:miter lim="800000"/>
                </a:ln>
                <a:effectLst/>
              </p:spPr>
              <p:txBody>
                <a:bodyPr lIns="72000" tIns="72000" rIns="72000" bIns="72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err="1">
                      <a:ln>
                        <a:noFill/>
                      </a:ln>
                      <a:solidFill>
                        <a:sysClr val="windowText" lastClr="000000"/>
                      </a:solidFill>
                      <a:effectLst/>
                      <a:uLnTx/>
                      <a:uFillTx/>
                      <a:latin typeface="Montserrat" panose="020B0604020202020204" charset="0"/>
                      <a:cs typeface="Arial" panose="020B0604020202020204" pitchFamily="34" charset="0"/>
                    </a:rPr>
                    <a:t>CPaaS</a:t>
                  </a:r>
                  <a:r>
                    <a:rPr kumimoji="0" lang="de-DE" sz="1800" b="0" i="0" u="none" strike="noStrike" kern="1200" cap="none" spc="0" normalizeH="0" baseline="0" noProof="0" dirty="0">
                      <a:ln>
                        <a:noFill/>
                      </a:ln>
                      <a:solidFill>
                        <a:sysClr val="windowText" lastClr="000000"/>
                      </a:solidFill>
                      <a:effectLst/>
                      <a:uLnTx/>
                      <a:uFillTx/>
                      <a:latin typeface="Montserrat" panose="020B0604020202020204" charset="0"/>
                      <a:cs typeface="Arial" panose="020B0604020202020204" pitchFamily="34" charset="0"/>
                    </a:rPr>
                    <a:t> </a:t>
                  </a:r>
                  <a:r>
                    <a:rPr kumimoji="0" lang="de-DE" sz="1800" b="0" i="0" u="none" strike="noStrike" kern="1200" cap="none" spc="0" normalizeH="0" baseline="0" noProof="0" dirty="0" err="1">
                      <a:ln>
                        <a:noFill/>
                      </a:ln>
                      <a:solidFill>
                        <a:sysClr val="windowText" lastClr="000000"/>
                      </a:solidFill>
                      <a:effectLst/>
                      <a:uLnTx/>
                      <a:uFillTx/>
                      <a:latin typeface="Montserrat" panose="020B0604020202020204" charset="0"/>
                      <a:cs typeface="Arial" panose="020B0604020202020204" pitchFamily="34" charset="0"/>
                    </a:rPr>
                    <a:t>capabilities</a:t>
                  </a:r>
                  <a:endParaRPr kumimoji="0" lang="de-DE" sz="1800" b="0" i="0" u="none" strike="noStrike" kern="1200" cap="none" spc="0" normalizeH="0" baseline="0" noProof="0" dirty="0">
                    <a:ln>
                      <a:noFill/>
                    </a:ln>
                    <a:solidFill>
                      <a:sysClr val="windowText" lastClr="000000"/>
                    </a:solidFill>
                    <a:effectLst/>
                    <a:uLnTx/>
                    <a:uFillTx/>
                    <a:latin typeface="Montserrat" panose="020B0604020202020204" charset="0"/>
                    <a:cs typeface="Arial" panose="020B0604020202020204" pitchFamily="34" charset="0"/>
                  </a:endParaRPr>
                </a:p>
              </p:txBody>
            </p:sp>
            <p:sp>
              <p:nvSpPr>
                <p:cNvPr id="20" name="Rechteck 19"/>
                <p:cNvSpPr/>
                <p:nvPr/>
              </p:nvSpPr>
              <p:spPr>
                <a:xfrm>
                  <a:off x="3520607" y="5609839"/>
                  <a:ext cx="2847975" cy="676275"/>
                </a:xfrm>
                <a:prstGeom prst="rect">
                  <a:avLst/>
                </a:prstGeom>
                <a:solidFill>
                  <a:srgbClr val="00A8E6">
                    <a:lumMod val="20000"/>
                    <a:lumOff val="80000"/>
                  </a:srgbClr>
                </a:solidFill>
                <a:ln w="12700" cap="flat" cmpd="sng" algn="ctr">
                  <a:noFill/>
                  <a:prstDash val="solid"/>
                  <a:miter lim="800000"/>
                </a:ln>
                <a:effectLst/>
              </p:spPr>
              <p:txBody>
                <a:bodyPr lIns="72000" tIns="72000" rIns="72000" bIns="72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ysClr val="windowText" lastClr="000000"/>
                      </a:solidFill>
                      <a:effectLst/>
                      <a:uLnTx/>
                      <a:uFillTx/>
                      <a:latin typeface="Montserrat" panose="020B0604020202020204" charset="0"/>
                      <a:cs typeface="Arial" panose="020B0604020202020204" pitchFamily="34" charset="0"/>
                    </a:rPr>
                    <a:t>NW </a:t>
                  </a:r>
                  <a:r>
                    <a:rPr kumimoji="0" lang="de-DE" sz="1800" b="0" i="0" u="none" strike="noStrike" kern="1200" cap="none" spc="0" normalizeH="0" baseline="0" noProof="0" dirty="0" err="1">
                      <a:ln>
                        <a:noFill/>
                      </a:ln>
                      <a:solidFill>
                        <a:sysClr val="windowText" lastClr="000000"/>
                      </a:solidFill>
                      <a:effectLst/>
                      <a:uLnTx/>
                      <a:uFillTx/>
                      <a:latin typeface="Montserrat" panose="020B0604020202020204" charset="0"/>
                      <a:cs typeface="Arial" panose="020B0604020202020204" pitchFamily="34" charset="0"/>
                    </a:rPr>
                    <a:t>capabilities</a:t>
                  </a:r>
                  <a:endParaRPr kumimoji="0" lang="de-DE" sz="1800" b="0" i="0" u="none" strike="noStrike" kern="1200" cap="none" spc="0" normalizeH="0" baseline="0" noProof="0" dirty="0">
                    <a:ln>
                      <a:noFill/>
                    </a:ln>
                    <a:solidFill>
                      <a:sysClr val="windowText" lastClr="000000"/>
                    </a:solidFill>
                    <a:effectLst/>
                    <a:uLnTx/>
                    <a:uFillTx/>
                    <a:latin typeface="Montserrat" panose="020B0604020202020204" charset="0"/>
                    <a:cs typeface="Arial" panose="020B0604020202020204" pitchFamily="34" charset="0"/>
                  </a:endParaRPr>
                </a:p>
              </p:txBody>
            </p:sp>
          </p:grpSp>
          <p:sp>
            <p:nvSpPr>
              <p:cNvPr id="21" name="Rechteck 20"/>
              <p:cNvSpPr/>
              <p:nvPr/>
            </p:nvSpPr>
            <p:spPr>
              <a:xfrm>
                <a:off x="1821982" y="4676186"/>
                <a:ext cx="4546600" cy="676275"/>
              </a:xfrm>
              <a:prstGeom prst="rect">
                <a:avLst/>
              </a:prstGeom>
              <a:solidFill>
                <a:srgbClr val="00A8E6">
                  <a:lumMod val="40000"/>
                  <a:lumOff val="60000"/>
                </a:srgbClr>
              </a:solidFill>
              <a:ln w="12700" cap="flat" cmpd="sng" algn="ctr">
                <a:noFill/>
                <a:prstDash val="solid"/>
                <a:miter lim="800000"/>
              </a:ln>
              <a:effectLst/>
            </p:spPr>
            <p:txBody>
              <a:bodyPr lIns="72000" tIns="72000" rIns="72000" bIns="72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ysClr val="windowText" lastClr="000000"/>
                    </a:solidFill>
                    <a:effectLst/>
                    <a:uLnTx/>
                    <a:uFillTx/>
                    <a:latin typeface="Montserrat" panose="020B0604020202020204" charset="0"/>
                    <a:cs typeface="Arial" panose="020B0604020202020204" pitchFamily="34" charset="0"/>
                  </a:rPr>
                  <a:t>API </a:t>
                </a:r>
                <a:r>
                  <a:rPr kumimoji="0" lang="de-DE" sz="1800" b="0" i="0" u="none" strike="noStrike" kern="1200" cap="none" spc="0" normalizeH="0" baseline="0" noProof="0" dirty="0" err="1">
                    <a:ln>
                      <a:noFill/>
                    </a:ln>
                    <a:solidFill>
                      <a:sysClr val="windowText" lastClr="000000"/>
                    </a:solidFill>
                    <a:effectLst/>
                    <a:uLnTx/>
                    <a:uFillTx/>
                    <a:latin typeface="Montserrat" panose="020B0604020202020204" charset="0"/>
                    <a:cs typeface="Arial" panose="020B0604020202020204" pitchFamily="34" charset="0"/>
                  </a:rPr>
                  <a:t>Exposure</a:t>
                </a:r>
                <a:r>
                  <a:rPr kumimoji="0" lang="de-DE" sz="1800" b="0" i="0" u="none" strike="noStrike" kern="1200" cap="none" spc="0" normalizeH="0" baseline="0" noProof="0" dirty="0">
                    <a:ln>
                      <a:noFill/>
                    </a:ln>
                    <a:solidFill>
                      <a:sysClr val="windowText" lastClr="000000"/>
                    </a:solidFill>
                    <a:effectLst/>
                    <a:uLnTx/>
                    <a:uFillTx/>
                    <a:latin typeface="Montserrat" panose="020B0604020202020204" charset="0"/>
                    <a:cs typeface="Arial" panose="020B0604020202020204" pitchFamily="34" charset="0"/>
                  </a:rPr>
                  <a:t> Layer</a:t>
                </a:r>
              </a:p>
            </p:txBody>
          </p:sp>
          <p:sp>
            <p:nvSpPr>
              <p:cNvPr id="22" name="Rechteck 21"/>
              <p:cNvSpPr/>
              <p:nvPr/>
            </p:nvSpPr>
            <p:spPr>
              <a:xfrm>
                <a:off x="2617694" y="3742534"/>
                <a:ext cx="3750888" cy="676275"/>
              </a:xfrm>
              <a:prstGeom prst="rect">
                <a:avLst/>
              </a:prstGeom>
              <a:solidFill>
                <a:srgbClr val="00A8E6">
                  <a:lumMod val="60000"/>
                  <a:lumOff val="40000"/>
                </a:srgbClr>
              </a:solidFill>
              <a:ln w="12700" cap="flat" cmpd="sng" algn="ctr">
                <a:noFill/>
                <a:prstDash val="solid"/>
                <a:miter lim="800000"/>
              </a:ln>
              <a:effectLst/>
            </p:spPr>
            <p:txBody>
              <a:bodyPr lIns="72000" tIns="72000" rIns="72000" bIns="72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ysClr val="window" lastClr="FFFFFF"/>
                    </a:solidFill>
                    <a:effectLst/>
                    <a:uLnTx/>
                    <a:uFillTx/>
                    <a:latin typeface="Montserrat" panose="020B0604020202020204" charset="0"/>
                    <a:cs typeface="Arial" panose="020B0604020202020204" pitchFamily="34" charset="0"/>
                  </a:rPr>
                  <a:t>Aggregation Layer</a:t>
                </a:r>
              </a:p>
            </p:txBody>
          </p:sp>
          <p:sp>
            <p:nvSpPr>
              <p:cNvPr id="23" name="Rechteck 22"/>
              <p:cNvSpPr/>
              <p:nvPr/>
            </p:nvSpPr>
            <p:spPr>
              <a:xfrm>
                <a:off x="545632" y="2808882"/>
                <a:ext cx="5822950" cy="676275"/>
              </a:xfrm>
              <a:prstGeom prst="rect">
                <a:avLst/>
              </a:prstGeom>
              <a:solidFill>
                <a:srgbClr val="00A8E6">
                  <a:lumMod val="75000"/>
                </a:srgbClr>
              </a:solidFill>
              <a:ln w="12700" cap="flat" cmpd="sng" algn="ctr">
                <a:noFill/>
                <a:prstDash val="solid"/>
                <a:miter lim="800000"/>
              </a:ln>
              <a:effectLst/>
            </p:spPr>
            <p:txBody>
              <a:bodyPr lIns="72000" tIns="72000" rIns="72000" bIns="72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ysClr val="window" lastClr="FFFFFF"/>
                    </a:solidFill>
                    <a:effectLst/>
                    <a:uLnTx/>
                    <a:uFillTx/>
                    <a:latin typeface="Montserrat" panose="020B0604020202020204" charset="0"/>
                    <a:cs typeface="Arial" panose="020B0604020202020204" pitchFamily="34" charset="0"/>
                  </a:rPr>
                  <a:t>Channel Partner / </a:t>
                </a:r>
                <a:r>
                  <a:rPr kumimoji="0" lang="de-DE" sz="1800" b="0" i="0" u="none" strike="noStrike" kern="1200" cap="none" spc="0" normalizeH="0" baseline="0" noProof="0" dirty="0" err="1">
                    <a:ln>
                      <a:noFill/>
                    </a:ln>
                    <a:solidFill>
                      <a:sysClr val="window" lastClr="FFFFFF"/>
                    </a:solidFill>
                    <a:effectLst/>
                    <a:uLnTx/>
                    <a:uFillTx/>
                    <a:latin typeface="Montserrat" panose="020B0604020202020204" charset="0"/>
                    <a:cs typeface="Arial" panose="020B0604020202020204" pitchFamily="34" charset="0"/>
                  </a:rPr>
                  <a:t>Product</a:t>
                </a:r>
                <a:r>
                  <a:rPr lang="de-DE" dirty="0">
                    <a:solidFill>
                      <a:sysClr val="window" lastClr="FFFFFF"/>
                    </a:solidFill>
                    <a:latin typeface="Montserrat" panose="020B0604020202020204" charset="0"/>
                    <a:cs typeface="Arial" panose="020B0604020202020204" pitchFamily="34" charset="0"/>
                  </a:rPr>
                  <a:t>s &amp; MCP Servers</a:t>
                </a:r>
                <a:endParaRPr kumimoji="0" lang="de-DE" sz="1800" b="0" i="0" u="none" strike="noStrike" kern="1200" cap="none" spc="0" normalizeH="0" baseline="0" noProof="0" dirty="0">
                  <a:ln>
                    <a:noFill/>
                  </a:ln>
                  <a:solidFill>
                    <a:sysClr val="window" lastClr="FFFFFF"/>
                  </a:solidFill>
                  <a:effectLst/>
                  <a:uLnTx/>
                  <a:uFillTx/>
                  <a:latin typeface="Montserrat" panose="020B0604020202020204" charset="0"/>
                  <a:cs typeface="Arial" panose="020B0604020202020204" pitchFamily="34" charset="0"/>
                </a:endParaRPr>
              </a:p>
            </p:txBody>
          </p:sp>
          <p:sp>
            <p:nvSpPr>
              <p:cNvPr id="24" name="Rechteck 23"/>
              <p:cNvSpPr/>
              <p:nvPr/>
            </p:nvSpPr>
            <p:spPr>
              <a:xfrm>
                <a:off x="545632" y="1875230"/>
                <a:ext cx="5822950" cy="676275"/>
              </a:xfrm>
              <a:prstGeom prst="rect">
                <a:avLst/>
              </a:prstGeom>
              <a:solidFill>
                <a:srgbClr val="00A8E6">
                  <a:lumMod val="50000"/>
                </a:srgbClr>
              </a:solidFill>
              <a:ln w="12700" cap="flat" cmpd="sng" algn="ctr">
                <a:noFill/>
                <a:prstDash val="solid"/>
                <a:miter lim="800000"/>
              </a:ln>
              <a:effectLst/>
            </p:spPr>
            <p:txBody>
              <a:bodyPr lIns="72000" tIns="72000" rIns="72000" bIns="72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ysClr val="window" lastClr="FFFFFF"/>
                    </a:solidFill>
                    <a:effectLst/>
                    <a:uLnTx/>
                    <a:uFillTx/>
                    <a:latin typeface="Montserrat" panose="020B0604020202020204" charset="0"/>
                    <a:cs typeface="Arial" panose="020B0604020202020204" pitchFamily="34" charset="0"/>
                  </a:rPr>
                  <a:t>Customer / LLM / AI</a:t>
                </a:r>
                <a:r>
                  <a:rPr kumimoji="0" lang="de-DE" sz="1800" b="0" i="0" u="none" strike="noStrike" kern="1200" cap="none" spc="0" normalizeH="0" noProof="0" dirty="0">
                    <a:ln>
                      <a:noFill/>
                    </a:ln>
                    <a:solidFill>
                      <a:sysClr val="window" lastClr="FFFFFF"/>
                    </a:solidFill>
                    <a:effectLst/>
                    <a:uLnTx/>
                    <a:uFillTx/>
                    <a:latin typeface="Montserrat" panose="020B0604020202020204" charset="0"/>
                    <a:cs typeface="Arial" panose="020B0604020202020204" pitchFamily="34" charset="0"/>
                  </a:rPr>
                  <a:t> </a:t>
                </a:r>
                <a:r>
                  <a:rPr kumimoji="0" lang="de-DE" sz="1800" b="0" i="0" u="none" strike="noStrike" kern="1200" cap="none" spc="0" normalizeH="0" noProof="0" dirty="0" err="1">
                    <a:ln>
                      <a:noFill/>
                    </a:ln>
                    <a:solidFill>
                      <a:sysClr val="window" lastClr="FFFFFF"/>
                    </a:solidFill>
                    <a:effectLst/>
                    <a:uLnTx/>
                    <a:uFillTx/>
                    <a:latin typeface="Montserrat" panose="020B0604020202020204" charset="0"/>
                    <a:cs typeface="Arial" panose="020B0604020202020204" pitchFamily="34" charset="0"/>
                  </a:rPr>
                  <a:t>Agents</a:t>
                </a:r>
                <a:endParaRPr kumimoji="0" lang="de-DE" sz="1800" b="0" i="0" u="none" strike="noStrike" kern="1200" cap="none" spc="0" normalizeH="0" baseline="0" noProof="0" dirty="0">
                  <a:ln>
                    <a:noFill/>
                  </a:ln>
                  <a:solidFill>
                    <a:sysClr val="window" lastClr="FFFFFF"/>
                  </a:solidFill>
                  <a:effectLst/>
                  <a:uLnTx/>
                  <a:uFillTx/>
                  <a:latin typeface="Montserrat" panose="020B0604020202020204" charset="0"/>
                  <a:cs typeface="Arial" panose="020B0604020202020204" pitchFamily="34" charset="0"/>
                </a:endParaRPr>
              </a:p>
            </p:txBody>
          </p:sp>
          <p:cxnSp>
            <p:nvCxnSpPr>
              <p:cNvPr id="25" name="Gerader Verbinder 24"/>
              <p:cNvCxnSpPr>
                <a:stCxn id="20" idx="0"/>
              </p:cNvCxnSpPr>
              <p:nvPr/>
            </p:nvCxnSpPr>
            <p:spPr>
              <a:xfrm flipV="1">
                <a:off x="4944595" y="5351929"/>
                <a:ext cx="3923" cy="257910"/>
              </a:xfrm>
              <a:prstGeom prst="line">
                <a:avLst/>
              </a:prstGeom>
              <a:noFill/>
              <a:ln w="38100" cap="flat" cmpd="sng" algn="ctr">
                <a:solidFill>
                  <a:srgbClr val="00A8E6"/>
                </a:solidFill>
                <a:prstDash val="solid"/>
                <a:miter lim="800000"/>
              </a:ln>
              <a:effectLst/>
            </p:spPr>
          </p:cxnSp>
          <p:cxnSp>
            <p:nvCxnSpPr>
              <p:cNvPr id="29" name="Gerader Verbinder 28"/>
              <p:cNvCxnSpPr/>
              <p:nvPr/>
            </p:nvCxnSpPr>
            <p:spPr>
              <a:xfrm flipV="1">
                <a:off x="1182220" y="3485157"/>
                <a:ext cx="19051" cy="2124682"/>
              </a:xfrm>
              <a:prstGeom prst="line">
                <a:avLst/>
              </a:prstGeom>
              <a:noFill/>
              <a:ln w="38100" cap="flat" cmpd="sng" algn="ctr">
                <a:solidFill>
                  <a:srgbClr val="00A8E6"/>
                </a:solidFill>
                <a:prstDash val="solid"/>
                <a:miter lim="800000"/>
              </a:ln>
              <a:effectLst/>
            </p:spPr>
          </p:cxnSp>
          <p:cxnSp>
            <p:nvCxnSpPr>
              <p:cNvPr id="33" name="Gerader Verbinder 32"/>
              <p:cNvCxnSpPr/>
              <p:nvPr/>
            </p:nvCxnSpPr>
            <p:spPr>
              <a:xfrm flipV="1">
                <a:off x="4944594" y="4417744"/>
                <a:ext cx="3923" cy="257910"/>
              </a:xfrm>
              <a:prstGeom prst="line">
                <a:avLst/>
              </a:prstGeom>
              <a:noFill/>
              <a:ln w="38100" cap="flat" cmpd="sng" algn="ctr">
                <a:solidFill>
                  <a:srgbClr val="00A8E6"/>
                </a:solidFill>
                <a:prstDash val="solid"/>
                <a:miter lim="800000"/>
              </a:ln>
              <a:effectLst/>
            </p:spPr>
          </p:cxnSp>
          <p:cxnSp>
            <p:nvCxnSpPr>
              <p:cNvPr id="34" name="Gerader Verbinder 33"/>
              <p:cNvCxnSpPr/>
              <p:nvPr/>
            </p:nvCxnSpPr>
            <p:spPr>
              <a:xfrm flipV="1">
                <a:off x="4944593" y="3483559"/>
                <a:ext cx="3923" cy="257910"/>
              </a:xfrm>
              <a:prstGeom prst="line">
                <a:avLst/>
              </a:prstGeom>
              <a:noFill/>
              <a:ln w="38100" cap="flat" cmpd="sng" algn="ctr">
                <a:solidFill>
                  <a:srgbClr val="00A8E6"/>
                </a:solidFill>
                <a:prstDash val="solid"/>
                <a:miter lim="800000"/>
              </a:ln>
              <a:effectLst/>
            </p:spPr>
          </p:cxnSp>
          <p:cxnSp>
            <p:nvCxnSpPr>
              <p:cNvPr id="35" name="Gerader Verbinder 34"/>
              <p:cNvCxnSpPr/>
              <p:nvPr/>
            </p:nvCxnSpPr>
            <p:spPr>
              <a:xfrm flipV="1">
                <a:off x="3393607" y="2550706"/>
                <a:ext cx="3923" cy="257910"/>
              </a:xfrm>
              <a:prstGeom prst="line">
                <a:avLst/>
              </a:prstGeom>
              <a:noFill/>
              <a:ln w="38100" cap="flat" cmpd="sng" algn="ctr">
                <a:solidFill>
                  <a:srgbClr val="00A8E6"/>
                </a:solidFill>
                <a:prstDash val="solid"/>
                <a:miter lim="800000"/>
              </a:ln>
              <a:effectLst/>
            </p:spPr>
          </p:cxnSp>
        </p:grpSp>
        <p:cxnSp>
          <p:nvCxnSpPr>
            <p:cNvPr id="43" name="Gerader Verbinder 42"/>
            <p:cNvCxnSpPr/>
            <p:nvPr/>
          </p:nvCxnSpPr>
          <p:spPr>
            <a:xfrm flipV="1">
              <a:off x="2226922" y="3483420"/>
              <a:ext cx="7676" cy="1191403"/>
            </a:xfrm>
            <a:prstGeom prst="line">
              <a:avLst/>
            </a:prstGeom>
            <a:noFill/>
            <a:ln w="38100" cap="flat" cmpd="sng" algn="ctr">
              <a:solidFill>
                <a:srgbClr val="00A8E6"/>
              </a:solidFill>
              <a:prstDash val="solid"/>
              <a:miter lim="800000"/>
            </a:ln>
            <a:effectLst/>
          </p:spPr>
        </p:cxnSp>
      </p:grpSp>
      <p:sp>
        <p:nvSpPr>
          <p:cNvPr id="192" name="Google Shape;192;p5"/>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dirty="0"/>
              <a:t>The API ecosystem – Current status</a:t>
            </a:r>
            <a:br>
              <a:rPr lang="en-US" dirty="0"/>
            </a:br>
            <a:r>
              <a:rPr lang="en-US" dirty="0"/>
              <a:t>and challenges</a:t>
            </a:r>
            <a:endParaRPr dirty="0"/>
          </a:p>
        </p:txBody>
      </p:sp>
      <p:pic>
        <p:nvPicPr>
          <p:cNvPr id="37" name="Grafik 3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1081" y="4803290"/>
            <a:ext cx="422065" cy="422065"/>
          </a:xfrm>
          <a:prstGeom prst="rect">
            <a:avLst/>
          </a:prstGeom>
        </p:spPr>
      </p:pic>
      <p:pic>
        <p:nvPicPr>
          <p:cNvPr id="38" name="Grafik 3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6517" y="3869639"/>
            <a:ext cx="422065" cy="422065"/>
          </a:xfrm>
          <a:prstGeom prst="rect">
            <a:avLst/>
          </a:prstGeom>
        </p:spPr>
      </p:pic>
      <p:pic>
        <p:nvPicPr>
          <p:cNvPr id="44" name="Grafik 43" descr="Ein Bild, das Schrift, Grafiken, Grafikdesign, Screenshot enthält.&#10;&#10;Automatisch generierte Beschreibung">
            <a:extLst>
              <a:ext uri="{FF2B5EF4-FFF2-40B4-BE49-F238E27FC236}">
                <a16:creationId xmlns:a16="http://schemas.microsoft.com/office/drawing/2014/main" xmlns="" id="{38418A8E-DE6B-9662-94CF-336888EE9F52}"/>
              </a:ext>
            </a:extLst>
          </p:cNvPr>
          <p:cNvPicPr>
            <a:picLocks noChangeAspect="1"/>
          </p:cNvPicPr>
          <p:nvPr/>
        </p:nvPicPr>
        <p:blipFill>
          <a:blip r:embed="rId4"/>
          <a:stretch>
            <a:fillRect/>
          </a:stretch>
        </p:blipFill>
        <p:spPr>
          <a:xfrm>
            <a:off x="7394233" y="5182953"/>
            <a:ext cx="3111544" cy="595861"/>
          </a:xfrm>
          <a:prstGeom prst="rect">
            <a:avLst/>
          </a:prstGeom>
        </p:spPr>
      </p:pic>
      <p:pic>
        <p:nvPicPr>
          <p:cNvPr id="45" name="Grafik 44">
            <a:extLst>
              <a:ext uri="{FF2B5EF4-FFF2-40B4-BE49-F238E27FC236}">
                <a16:creationId xmlns:a16="http://schemas.microsoft.com/office/drawing/2014/main" xmlns="" id="{5C41BB3A-670D-8025-74A7-1AB34DDAE59F}"/>
              </a:ext>
            </a:extLst>
          </p:cNvPr>
          <p:cNvPicPr>
            <a:picLocks noChangeAspect="1"/>
          </p:cNvPicPr>
          <p:nvPr/>
        </p:nvPicPr>
        <p:blipFill>
          <a:blip r:embed="rId5"/>
          <a:stretch>
            <a:fillRect/>
          </a:stretch>
        </p:blipFill>
        <p:spPr>
          <a:xfrm>
            <a:off x="7422560" y="4316569"/>
            <a:ext cx="1791270" cy="716508"/>
          </a:xfrm>
          <a:prstGeom prst="roundRect">
            <a:avLst>
              <a:gd name="adj" fmla="val 15800"/>
            </a:avLst>
          </a:prstGeom>
        </p:spPr>
      </p:pic>
      <p:sp>
        <p:nvSpPr>
          <p:cNvPr id="46" name="Google Shape;210;p7">
            <a:extLst>
              <a:ext uri="{FF2B5EF4-FFF2-40B4-BE49-F238E27FC236}">
                <a16:creationId xmlns:a16="http://schemas.microsoft.com/office/drawing/2014/main" xmlns="" id="{B67E1485-59ED-A867-0CB3-279EC59F0CED}"/>
              </a:ext>
            </a:extLst>
          </p:cNvPr>
          <p:cNvSpPr txBox="1">
            <a:spLocks noGrp="1"/>
          </p:cNvSpPr>
          <p:nvPr>
            <p:ph type="body" idx="1"/>
          </p:nvPr>
        </p:nvSpPr>
        <p:spPr>
          <a:xfrm>
            <a:off x="7422560" y="3495572"/>
            <a:ext cx="2942885" cy="595861"/>
          </a:xfrm>
          <a:prstGeom prst="rect">
            <a:avLst/>
          </a:prstGeom>
          <a:noFill/>
          <a:ln>
            <a:noFill/>
          </a:ln>
        </p:spPr>
        <p:txBody>
          <a:bodyPr spcFirstLastPara="1" wrap="square" lIns="0" tIns="0" rIns="0" bIns="0" anchor="t" anchorCtr="0">
            <a:noAutofit/>
          </a:bodyPr>
          <a:lstStyle/>
          <a:p>
            <a:pPr marL="0" lvl="0" indent="0" algn="l" rtl="0">
              <a:lnSpc>
                <a:spcPct val="104000"/>
              </a:lnSpc>
              <a:spcBef>
                <a:spcPts val="0"/>
              </a:spcBef>
              <a:spcAft>
                <a:spcPts val="0"/>
              </a:spcAft>
              <a:buClr>
                <a:schemeClr val="dk2"/>
              </a:buClr>
              <a:buSzPts val="2400"/>
              <a:buNone/>
            </a:pPr>
            <a:r>
              <a:rPr lang="en-US" sz="2400" b="1" dirty="0">
                <a:solidFill>
                  <a:schemeClr val="accent2"/>
                </a:solidFill>
                <a:latin typeface="Montserrat ExtraBold" panose="00000900000000000000" pitchFamily="2" charset="0"/>
              </a:rPr>
              <a:t>Aggregators in each market</a:t>
            </a:r>
            <a:endParaRPr sz="2400" b="1" dirty="0">
              <a:solidFill>
                <a:schemeClr val="accent2"/>
              </a:solidFill>
              <a:latin typeface="Montserrat ExtraBold" panose="00000900000000000000" pitchFamily="2" charset="0"/>
            </a:endParaRPr>
          </a:p>
        </p:txBody>
      </p:sp>
      <p:pic>
        <p:nvPicPr>
          <p:cNvPr id="47" name="Grafik 46">
            <a:extLst>
              <a:ext uri="{FF2B5EF4-FFF2-40B4-BE49-F238E27FC236}">
                <a16:creationId xmlns:a16="http://schemas.microsoft.com/office/drawing/2014/main" xmlns="" id="{70F375F2-3C0F-FE4B-38B5-F884BCCB6DA7}"/>
              </a:ext>
            </a:extLst>
          </p:cNvPr>
          <p:cNvPicPr>
            <a:picLocks noChangeAspect="1"/>
          </p:cNvPicPr>
          <p:nvPr/>
        </p:nvPicPr>
        <p:blipFill>
          <a:blip r:embed="rId6"/>
          <a:stretch>
            <a:fillRect/>
          </a:stretch>
        </p:blipFill>
        <p:spPr>
          <a:xfrm>
            <a:off x="9252634" y="4166371"/>
            <a:ext cx="2030347" cy="1015174"/>
          </a:xfrm>
          <a:prstGeom prst="rect">
            <a:avLst/>
          </a:prstGeom>
        </p:spPr>
      </p:pic>
      <p:sp>
        <p:nvSpPr>
          <p:cNvPr id="10" name="Stern mit 5 Zacken 9"/>
          <p:cNvSpPr/>
          <p:nvPr/>
        </p:nvSpPr>
        <p:spPr>
          <a:xfrm>
            <a:off x="5921081" y="2958859"/>
            <a:ext cx="422065" cy="362310"/>
          </a:xfrm>
          <a:prstGeom prst="star5">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8" name="Google Shape;210;p7">
            <a:extLst>
              <a:ext uri="{FF2B5EF4-FFF2-40B4-BE49-F238E27FC236}">
                <a16:creationId xmlns:a16="http://schemas.microsoft.com/office/drawing/2014/main" xmlns="" id="{B67E1485-59ED-A867-0CB3-279EC59F0CED}"/>
              </a:ext>
            </a:extLst>
          </p:cNvPr>
          <p:cNvSpPr txBox="1">
            <a:spLocks/>
          </p:cNvSpPr>
          <p:nvPr/>
        </p:nvSpPr>
        <p:spPr>
          <a:xfrm>
            <a:off x="7431070" y="2566752"/>
            <a:ext cx="3567609" cy="595861"/>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228600" algn="l" rtl="0">
              <a:lnSpc>
                <a:spcPct val="104000"/>
              </a:lnSpc>
              <a:spcBef>
                <a:spcPts val="1200"/>
              </a:spcBef>
              <a:spcAft>
                <a:spcPts val="0"/>
              </a:spcAft>
              <a:buClr>
                <a:schemeClr val="dk2"/>
              </a:buClr>
              <a:buSzPts val="1500"/>
              <a:buFont typeface="Montserrat Light"/>
              <a:buNone/>
              <a:defRPr sz="1500" b="0" i="0" u="none" strike="noStrike" cap="none">
                <a:solidFill>
                  <a:schemeClr val="dk2"/>
                </a:solidFill>
                <a:latin typeface="Montserrat Light"/>
                <a:ea typeface="Montserrat Light"/>
                <a:cs typeface="Montserrat Light"/>
                <a:sym typeface="Montserrat Light"/>
              </a:defRPr>
            </a:lvl1pPr>
            <a:lvl2pPr marL="914400" marR="0" lvl="1"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2pPr>
            <a:lvl3pPr marL="1371600" marR="0" lvl="2"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3pPr>
            <a:lvl4pPr marL="1828800" marR="0" lvl="3"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4pPr>
            <a:lvl5pPr marL="2286000" marR="0" lvl="4" indent="-295275" algn="l" rtl="0">
              <a:lnSpc>
                <a:spcPct val="104000"/>
              </a:lnSpc>
              <a:spcBef>
                <a:spcPts val="300"/>
              </a:spcBef>
              <a:spcAft>
                <a:spcPts val="0"/>
              </a:spcAft>
              <a:buClr>
                <a:schemeClr val="dk1"/>
              </a:buClr>
              <a:buSzPts val="1050"/>
              <a:buFont typeface="Noto Sans Symbols"/>
              <a:buChar char="◼"/>
              <a:defRPr sz="1500" b="0" i="0" u="none" strike="noStrike" cap="none">
                <a:solidFill>
                  <a:schemeClr val="dk2"/>
                </a:solidFill>
                <a:latin typeface="Montserrat Light"/>
                <a:ea typeface="Montserrat Light"/>
                <a:cs typeface="Montserrat Light"/>
                <a:sym typeface="Montserrat Light"/>
              </a:defRPr>
            </a:lvl5pPr>
            <a:lvl6pPr marL="2743200" marR="0" lvl="5" indent="-308610"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6pPr>
            <a:lvl7pPr marL="3200400" marR="0" lvl="6" indent="-308610"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7pPr>
            <a:lvl8pPr marL="3657600" marR="0" lvl="7" indent="-308609"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8pPr>
            <a:lvl9pPr marL="4114800" marR="0" lvl="8" indent="-308609" algn="l" rtl="0">
              <a:lnSpc>
                <a:spcPct val="104000"/>
              </a:lnSpc>
              <a:spcBef>
                <a:spcPts val="300"/>
              </a:spcBef>
              <a:spcAft>
                <a:spcPts val="0"/>
              </a:spcAft>
              <a:buClr>
                <a:schemeClr val="dk1"/>
              </a:buClr>
              <a:buSzPts val="1260"/>
              <a:buFont typeface="Noto Sans Symbols"/>
              <a:buChar char="◼"/>
              <a:defRPr sz="1200" b="0" i="0" u="none" strike="noStrike" cap="none">
                <a:solidFill>
                  <a:srgbClr val="004750"/>
                </a:solidFill>
                <a:latin typeface="Montserrat Light"/>
                <a:ea typeface="Montserrat Light"/>
                <a:cs typeface="Montserrat Light"/>
                <a:sym typeface="Montserrat Light"/>
              </a:defRPr>
            </a:lvl9pPr>
          </a:lstStyle>
          <a:p>
            <a:pPr marL="0" indent="0">
              <a:spcBef>
                <a:spcPts val="0"/>
              </a:spcBef>
              <a:buSzPts val="2400"/>
            </a:pPr>
            <a:r>
              <a:rPr lang="en-US" sz="2400" b="1" dirty="0">
                <a:solidFill>
                  <a:schemeClr val="accent5"/>
                </a:solidFill>
                <a:latin typeface="Montserrat ExtraBold" panose="00000900000000000000" pitchFamily="2" charset="0"/>
              </a:rPr>
              <a:t>CSP – Critical Success Point 2026</a:t>
            </a:r>
          </a:p>
        </p:txBody>
      </p:sp>
      <p:cxnSp>
        <p:nvCxnSpPr>
          <p:cNvPr id="16" name="Gerader Verbinder 15"/>
          <p:cNvCxnSpPr/>
          <p:nvPr/>
        </p:nvCxnSpPr>
        <p:spPr>
          <a:xfrm flipV="1">
            <a:off x="6504317" y="3869639"/>
            <a:ext cx="828136" cy="2094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Gerader Verbinder 17"/>
          <p:cNvCxnSpPr/>
          <p:nvPr/>
        </p:nvCxnSpPr>
        <p:spPr>
          <a:xfrm flipV="1">
            <a:off x="6481503" y="4673958"/>
            <a:ext cx="825071" cy="268978"/>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Gerader Verbinder 49"/>
          <p:cNvCxnSpPr/>
          <p:nvPr/>
        </p:nvCxnSpPr>
        <p:spPr>
          <a:xfrm>
            <a:off x="6481503" y="5074325"/>
            <a:ext cx="825071" cy="268978"/>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Gerader Verbinder 50"/>
          <p:cNvCxnSpPr/>
          <p:nvPr/>
        </p:nvCxnSpPr>
        <p:spPr>
          <a:xfrm flipV="1">
            <a:off x="6478438" y="2936364"/>
            <a:ext cx="828136" cy="209482"/>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23192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A9318174-E1C6-C0FA-34E0-8CF09B7C7055}"/>
              </a:ext>
            </a:extLst>
          </p:cNvPr>
          <p:cNvGraphicFramePr>
            <a:graphicFrameLocks/>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147" name="thinkcell Folie" r:id="rId4" imgW="606" imgH="608" progId="TCLayout.ActiveDocument.1">
                  <p:embed/>
                </p:oleObj>
              </mc:Choice>
              <mc:Fallback>
                <p:oleObj name="thinkcell Folie" r:id="rId4" imgW="606" imgH="60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xmlns="" id="{02D5E4CE-05E9-E35E-99C6-894409195758}"/>
              </a:ext>
            </a:extLst>
          </p:cNvPr>
          <p:cNvSpPr>
            <a:spLocks noGrp="1"/>
          </p:cNvSpPr>
          <p:nvPr>
            <p:ph type="title"/>
          </p:nvPr>
        </p:nvSpPr>
        <p:spPr/>
        <p:txBody>
          <a:bodyPr vert="horz" rIns="91425"/>
          <a:lstStyle/>
          <a:p>
            <a:r>
              <a:rPr lang="de-DE" dirty="0"/>
              <a:t>Products - Building </a:t>
            </a:r>
            <a:r>
              <a:rPr lang="de-DE" dirty="0" err="1"/>
              <a:t>blocks</a:t>
            </a:r>
            <a:endParaRPr lang="de-DE" dirty="0"/>
          </a:p>
        </p:txBody>
      </p:sp>
      <p:graphicFrame>
        <p:nvGraphicFramePr>
          <p:cNvPr id="4" name="Tabelle 3">
            <a:extLst>
              <a:ext uri="{FF2B5EF4-FFF2-40B4-BE49-F238E27FC236}">
                <a16:creationId xmlns:a16="http://schemas.microsoft.com/office/drawing/2014/main" xmlns="" id="{DBE88453-3E67-9EDC-BE2E-1DAEFB229B2E}"/>
              </a:ext>
            </a:extLst>
          </p:cNvPr>
          <p:cNvGraphicFramePr>
            <a:graphicFrameLocks noGrp="1"/>
          </p:cNvGraphicFramePr>
          <p:nvPr>
            <p:extLst/>
          </p:nvPr>
        </p:nvGraphicFramePr>
        <p:xfrm>
          <a:off x="423345" y="1866736"/>
          <a:ext cx="10675383" cy="4384040"/>
        </p:xfrm>
        <a:graphic>
          <a:graphicData uri="http://schemas.openxmlformats.org/drawingml/2006/table">
            <a:tbl>
              <a:tblPr firstRow="1" bandRow="1">
                <a:tableStyleId>{5C22544A-7EE6-4342-B048-85BDC9FD1C3A}</a:tableStyleId>
              </a:tblPr>
              <a:tblGrid>
                <a:gridCol w="3558461">
                  <a:extLst>
                    <a:ext uri="{9D8B030D-6E8A-4147-A177-3AD203B41FA5}">
                      <a16:colId xmlns:a16="http://schemas.microsoft.com/office/drawing/2014/main" xmlns="" val="3185444108"/>
                    </a:ext>
                  </a:extLst>
                </a:gridCol>
                <a:gridCol w="3558461">
                  <a:extLst>
                    <a:ext uri="{9D8B030D-6E8A-4147-A177-3AD203B41FA5}">
                      <a16:colId xmlns:a16="http://schemas.microsoft.com/office/drawing/2014/main" xmlns="" val="1725689282"/>
                    </a:ext>
                  </a:extLst>
                </a:gridCol>
                <a:gridCol w="3558461">
                  <a:extLst>
                    <a:ext uri="{9D8B030D-6E8A-4147-A177-3AD203B41FA5}">
                      <a16:colId xmlns:a16="http://schemas.microsoft.com/office/drawing/2014/main" xmlns="" val="677274848"/>
                    </a:ext>
                  </a:extLst>
                </a:gridCol>
              </a:tblGrid>
              <a:tr h="0">
                <a:tc>
                  <a:txBody>
                    <a:bodyPr/>
                    <a:lstStyle/>
                    <a:p>
                      <a:r>
                        <a:rPr lang="de-DE" dirty="0"/>
                        <a:t>Network </a:t>
                      </a:r>
                      <a:r>
                        <a:rPr lang="de-DE" dirty="0" err="1"/>
                        <a:t>Capabilities</a:t>
                      </a:r>
                      <a:r>
                        <a:rPr lang="de-DE" dirty="0"/>
                        <a:t> (40)</a:t>
                      </a:r>
                    </a:p>
                  </a:txBody>
                  <a:tcPr/>
                </a:tc>
                <a:tc>
                  <a:txBody>
                    <a:bodyPr/>
                    <a:lstStyle/>
                    <a:p>
                      <a:r>
                        <a:rPr lang="de-DE" dirty="0" err="1"/>
                        <a:t>CPaaS</a:t>
                      </a:r>
                      <a:r>
                        <a:rPr lang="de-DE" dirty="0"/>
                        <a:t> </a:t>
                      </a:r>
                      <a:r>
                        <a:rPr lang="de-DE" dirty="0" err="1"/>
                        <a:t>Capabilities</a:t>
                      </a:r>
                      <a:r>
                        <a:rPr lang="de-DE" dirty="0"/>
                        <a:t> (25)</a:t>
                      </a:r>
                    </a:p>
                  </a:txBody>
                  <a:tcPr/>
                </a:tc>
                <a:tc>
                  <a:txBody>
                    <a:bodyPr/>
                    <a:lstStyle/>
                    <a:p>
                      <a:r>
                        <a:rPr lang="de-DE" dirty="0"/>
                        <a:t>Further </a:t>
                      </a:r>
                      <a:r>
                        <a:rPr lang="de-DE" dirty="0" err="1"/>
                        <a:t>Capabilities</a:t>
                      </a:r>
                      <a:r>
                        <a:rPr lang="de-DE" dirty="0"/>
                        <a:t> (25)</a:t>
                      </a:r>
                    </a:p>
                  </a:txBody>
                  <a:tcPr/>
                </a:tc>
                <a:extLst>
                  <a:ext uri="{0D108BD9-81ED-4DB2-BD59-A6C34878D82A}">
                    <a16:rowId xmlns:a16="http://schemas.microsoft.com/office/drawing/2014/main" xmlns="" val="3208338712"/>
                  </a:ext>
                </a:extLst>
              </a:tr>
              <a:tr h="370840">
                <a:tc>
                  <a:txBody>
                    <a:bodyPr/>
                    <a:lstStyle/>
                    <a:p>
                      <a:r>
                        <a:rPr lang="de-DE" dirty="0"/>
                        <a:t>Number </a:t>
                      </a:r>
                      <a:r>
                        <a:rPr lang="de-DE" dirty="0" err="1"/>
                        <a:t>verification</a:t>
                      </a:r>
                      <a:endParaRPr lang="de-DE" dirty="0"/>
                    </a:p>
                  </a:txBody>
                  <a:tcPr/>
                </a:tc>
                <a:tc>
                  <a:txBody>
                    <a:bodyPr/>
                    <a:lstStyle/>
                    <a:p>
                      <a:r>
                        <a:rPr lang="de-DE" dirty="0"/>
                        <a:t>Send/</a:t>
                      </a:r>
                      <a:r>
                        <a:rPr lang="de-DE" dirty="0" err="1"/>
                        <a:t>receive</a:t>
                      </a:r>
                      <a:r>
                        <a:rPr lang="de-DE" dirty="0"/>
                        <a:t> SMS</a:t>
                      </a:r>
                    </a:p>
                  </a:txBody>
                  <a:tcPr/>
                </a:tc>
                <a:tc>
                  <a:txBody>
                    <a:bodyPr/>
                    <a:lstStyle/>
                    <a:p>
                      <a:r>
                        <a:rPr lang="de-DE" dirty="0"/>
                        <a:t>Risk </a:t>
                      </a:r>
                      <a:r>
                        <a:rPr lang="de-DE" dirty="0" err="1"/>
                        <a:t>scoring</a:t>
                      </a:r>
                      <a:endParaRPr lang="de-DE" dirty="0"/>
                    </a:p>
                  </a:txBody>
                  <a:tcPr/>
                </a:tc>
                <a:extLst>
                  <a:ext uri="{0D108BD9-81ED-4DB2-BD59-A6C34878D82A}">
                    <a16:rowId xmlns:a16="http://schemas.microsoft.com/office/drawing/2014/main" xmlns="" val="747368795"/>
                  </a:ext>
                </a:extLst>
              </a:tr>
              <a:tr h="370840">
                <a:tc>
                  <a:txBody>
                    <a:bodyPr/>
                    <a:lstStyle/>
                    <a:p>
                      <a:r>
                        <a:rPr lang="de-DE" dirty="0"/>
                        <a:t>OTP </a:t>
                      </a:r>
                      <a:r>
                        <a:rPr lang="de-DE" dirty="0" err="1"/>
                        <a:t>authentification</a:t>
                      </a:r>
                      <a:endParaRPr lang="de-DE" dirty="0"/>
                    </a:p>
                  </a:txBody>
                  <a:tcPr/>
                </a:tc>
                <a:tc>
                  <a:txBody>
                    <a:bodyPr/>
                    <a:lstStyle/>
                    <a:p>
                      <a:r>
                        <a:rPr lang="de-DE" dirty="0"/>
                        <a:t>RCS</a:t>
                      </a:r>
                    </a:p>
                  </a:txBody>
                  <a:tcPr/>
                </a:tc>
                <a:tc>
                  <a:txBody>
                    <a:bodyPr/>
                    <a:lstStyle/>
                    <a:p>
                      <a:r>
                        <a:rPr lang="de-DE" dirty="0"/>
                        <a:t>Workflow / </a:t>
                      </a:r>
                      <a:r>
                        <a:rPr lang="de-DE" dirty="0" err="1"/>
                        <a:t>rules</a:t>
                      </a:r>
                      <a:r>
                        <a:rPr lang="de-DE" dirty="0"/>
                        <a:t> </a:t>
                      </a:r>
                      <a:r>
                        <a:rPr lang="de-DE" dirty="0" err="1"/>
                        <a:t>engine</a:t>
                      </a:r>
                      <a:endParaRPr lang="de-DE" dirty="0"/>
                    </a:p>
                  </a:txBody>
                  <a:tcPr/>
                </a:tc>
                <a:extLst>
                  <a:ext uri="{0D108BD9-81ED-4DB2-BD59-A6C34878D82A}">
                    <a16:rowId xmlns:a16="http://schemas.microsoft.com/office/drawing/2014/main" xmlns="" val="3843878406"/>
                  </a:ext>
                </a:extLst>
              </a:tr>
              <a:tr h="370840">
                <a:tc>
                  <a:txBody>
                    <a:bodyPr/>
                    <a:lstStyle/>
                    <a:p>
                      <a:r>
                        <a:rPr lang="de-DE" dirty="0"/>
                        <a:t>SIM change </a:t>
                      </a:r>
                      <a:r>
                        <a:rPr lang="de-DE" dirty="0" err="1"/>
                        <a:t>detection</a:t>
                      </a:r>
                      <a:endParaRPr lang="de-DE" dirty="0"/>
                    </a:p>
                  </a:txBody>
                  <a:tcPr/>
                </a:tc>
                <a:tc>
                  <a:txBody>
                    <a:bodyPr/>
                    <a:lstStyle/>
                    <a:p>
                      <a:r>
                        <a:rPr lang="de-DE" dirty="0"/>
                        <a:t>WhatsApp</a:t>
                      </a:r>
                    </a:p>
                  </a:txBody>
                  <a:tcPr/>
                </a:tc>
                <a:tc>
                  <a:txBody>
                    <a:bodyPr/>
                    <a:lstStyle/>
                    <a:p>
                      <a:r>
                        <a:rPr lang="de-DE" dirty="0" err="1"/>
                        <a:t>Personalization</a:t>
                      </a:r>
                      <a:endParaRPr lang="de-DE" dirty="0"/>
                    </a:p>
                  </a:txBody>
                  <a:tcPr/>
                </a:tc>
                <a:extLst>
                  <a:ext uri="{0D108BD9-81ED-4DB2-BD59-A6C34878D82A}">
                    <a16:rowId xmlns:a16="http://schemas.microsoft.com/office/drawing/2014/main" xmlns="" val="2221846919"/>
                  </a:ext>
                </a:extLst>
              </a:tr>
              <a:tr h="370840">
                <a:tc>
                  <a:txBody>
                    <a:bodyPr/>
                    <a:lstStyle/>
                    <a:p>
                      <a:r>
                        <a:rPr lang="de-DE" dirty="0"/>
                        <a:t>Device </a:t>
                      </a:r>
                      <a:r>
                        <a:rPr lang="de-DE" dirty="0" err="1"/>
                        <a:t>location</a:t>
                      </a:r>
                      <a:endParaRPr lang="de-DE" dirty="0"/>
                    </a:p>
                  </a:txBody>
                  <a:tcPr/>
                </a:tc>
                <a:tc>
                  <a:txBody>
                    <a:bodyPr/>
                    <a:lstStyle/>
                    <a:p>
                      <a:r>
                        <a:rPr lang="de-DE" dirty="0"/>
                        <a:t>Email</a:t>
                      </a:r>
                    </a:p>
                  </a:txBody>
                  <a:tcPr/>
                </a:tc>
                <a:tc>
                  <a:txBody>
                    <a:bodyPr/>
                    <a:lstStyle/>
                    <a:p>
                      <a:r>
                        <a:rPr lang="de-DE" dirty="0"/>
                        <a:t>CRM </a:t>
                      </a:r>
                      <a:r>
                        <a:rPr lang="de-DE" dirty="0" err="1"/>
                        <a:t>integration</a:t>
                      </a:r>
                      <a:endParaRPr lang="de-DE" dirty="0"/>
                    </a:p>
                  </a:txBody>
                  <a:tcPr/>
                </a:tc>
                <a:extLst>
                  <a:ext uri="{0D108BD9-81ED-4DB2-BD59-A6C34878D82A}">
                    <a16:rowId xmlns:a16="http://schemas.microsoft.com/office/drawing/2014/main" xmlns="" val="271259062"/>
                  </a:ext>
                </a:extLst>
              </a:tr>
              <a:tr h="370840">
                <a:tc>
                  <a:txBody>
                    <a:bodyPr/>
                    <a:lstStyle/>
                    <a:p>
                      <a:r>
                        <a:rPr lang="de-DE" dirty="0" err="1"/>
                        <a:t>Geofencing</a:t>
                      </a:r>
                      <a:endParaRPr lang="de-DE" dirty="0"/>
                    </a:p>
                  </a:txBody>
                  <a:tcPr/>
                </a:tc>
                <a:tc>
                  <a:txBody>
                    <a:bodyPr/>
                    <a:lstStyle/>
                    <a:p>
                      <a:r>
                        <a:rPr lang="de-DE" dirty="0"/>
                        <a:t>Voice </a:t>
                      </a:r>
                      <a:r>
                        <a:rPr lang="de-DE" dirty="0" err="1"/>
                        <a:t>calling</a:t>
                      </a:r>
                      <a:endParaRPr lang="de-DE" dirty="0"/>
                    </a:p>
                  </a:txBody>
                  <a:tcPr/>
                </a:tc>
                <a:tc>
                  <a:txBody>
                    <a:bodyPr/>
                    <a:lstStyle/>
                    <a:p>
                      <a:r>
                        <a:rPr lang="de-DE" dirty="0"/>
                        <a:t>Event </a:t>
                      </a:r>
                      <a:r>
                        <a:rPr lang="de-DE" dirty="0" err="1"/>
                        <a:t>engine</a:t>
                      </a:r>
                      <a:endParaRPr lang="de-DE" dirty="0"/>
                    </a:p>
                  </a:txBody>
                  <a:tcPr/>
                </a:tc>
                <a:extLst>
                  <a:ext uri="{0D108BD9-81ED-4DB2-BD59-A6C34878D82A}">
                    <a16:rowId xmlns:a16="http://schemas.microsoft.com/office/drawing/2014/main" xmlns="" val="1088118118"/>
                  </a:ext>
                </a:extLst>
              </a:tr>
              <a:tr h="370840">
                <a:tc>
                  <a:txBody>
                    <a:bodyPr/>
                    <a:lstStyle/>
                    <a:p>
                      <a:r>
                        <a:rPr lang="de-DE" dirty="0"/>
                        <a:t>Device </a:t>
                      </a:r>
                      <a:r>
                        <a:rPr lang="de-DE" dirty="0" err="1"/>
                        <a:t>reachability</a:t>
                      </a:r>
                      <a:endParaRPr lang="de-DE" dirty="0"/>
                    </a:p>
                  </a:txBody>
                  <a:tcPr/>
                </a:tc>
                <a:tc>
                  <a:txBody>
                    <a:bodyPr/>
                    <a:lstStyle/>
                    <a:p>
                      <a:r>
                        <a:rPr lang="de-DE" dirty="0"/>
                        <a:t>Phone </a:t>
                      </a:r>
                      <a:r>
                        <a:rPr lang="de-DE" dirty="0" err="1"/>
                        <a:t>numbers</a:t>
                      </a:r>
                      <a:endParaRPr lang="de-DE" dirty="0"/>
                    </a:p>
                  </a:txBody>
                  <a:tcPr/>
                </a:tc>
                <a:tc>
                  <a:txBody>
                    <a:bodyPr/>
                    <a:lstStyle/>
                    <a:p>
                      <a:r>
                        <a:rPr lang="de-DE" dirty="0"/>
                        <a:t>Journey </a:t>
                      </a:r>
                      <a:r>
                        <a:rPr lang="de-DE" dirty="0" err="1"/>
                        <a:t>orchestration</a:t>
                      </a:r>
                      <a:endParaRPr lang="de-DE" dirty="0"/>
                    </a:p>
                  </a:txBody>
                  <a:tcPr/>
                </a:tc>
                <a:extLst>
                  <a:ext uri="{0D108BD9-81ED-4DB2-BD59-A6C34878D82A}">
                    <a16:rowId xmlns:a16="http://schemas.microsoft.com/office/drawing/2014/main" xmlns="" val="3910787932"/>
                  </a:ext>
                </a:extLst>
              </a:tr>
              <a:tr h="370840">
                <a:tc>
                  <a:txBody>
                    <a:bodyPr/>
                    <a:lstStyle/>
                    <a:p>
                      <a:r>
                        <a:rPr lang="de-DE" dirty="0"/>
                        <a:t>On-demand QoS</a:t>
                      </a:r>
                    </a:p>
                  </a:txBody>
                  <a:tcPr/>
                </a:tc>
                <a:tc>
                  <a:txBody>
                    <a:bodyPr/>
                    <a:lstStyle/>
                    <a:p>
                      <a:r>
                        <a:rPr lang="de-DE" dirty="0"/>
                        <a:t>Channel </a:t>
                      </a:r>
                      <a:r>
                        <a:rPr lang="de-DE" dirty="0" err="1"/>
                        <a:t>orchestration</a:t>
                      </a:r>
                      <a:endParaRPr lang="de-DE" dirty="0"/>
                    </a:p>
                  </a:txBody>
                  <a:tcPr/>
                </a:tc>
                <a:tc>
                  <a:txBody>
                    <a:bodyPr/>
                    <a:lstStyle/>
                    <a:p>
                      <a:r>
                        <a:rPr lang="de-DE" dirty="0" err="1"/>
                        <a:t>Logistics</a:t>
                      </a:r>
                      <a:r>
                        <a:rPr lang="de-DE" dirty="0"/>
                        <a:t> </a:t>
                      </a:r>
                      <a:r>
                        <a:rPr lang="de-DE" dirty="0" err="1"/>
                        <a:t>workflow</a:t>
                      </a:r>
                      <a:endParaRPr lang="de-DE" dirty="0"/>
                    </a:p>
                  </a:txBody>
                  <a:tcPr/>
                </a:tc>
                <a:extLst>
                  <a:ext uri="{0D108BD9-81ED-4DB2-BD59-A6C34878D82A}">
                    <a16:rowId xmlns:a16="http://schemas.microsoft.com/office/drawing/2014/main" xmlns="" val="4265885328"/>
                  </a:ext>
                </a:extLst>
              </a:tr>
              <a:tr h="370840">
                <a:tc>
                  <a:txBody>
                    <a:bodyPr/>
                    <a:lstStyle/>
                    <a:p>
                      <a:r>
                        <a:rPr lang="de-DE" dirty="0"/>
                        <a:t>Traffic </a:t>
                      </a:r>
                      <a:r>
                        <a:rPr lang="de-DE" dirty="0" err="1"/>
                        <a:t>steering</a:t>
                      </a:r>
                      <a:endParaRPr lang="de-DE" dirty="0"/>
                    </a:p>
                  </a:txBody>
                  <a:tcPr/>
                </a:tc>
                <a:tc>
                  <a:txBody>
                    <a:bodyPr/>
                    <a:lstStyle/>
                    <a:p>
                      <a:r>
                        <a:rPr lang="de-DE" dirty="0" err="1"/>
                        <a:t>Campaigns</a:t>
                      </a:r>
                      <a:endParaRPr lang="de-DE" dirty="0"/>
                    </a:p>
                  </a:txBody>
                  <a:tcPr/>
                </a:tc>
                <a:tc>
                  <a:txBody>
                    <a:bodyPr/>
                    <a:lstStyle/>
                    <a:p>
                      <a:r>
                        <a:rPr lang="de-DE" dirty="0"/>
                        <a:t>Analytics</a:t>
                      </a:r>
                    </a:p>
                  </a:txBody>
                  <a:tcPr/>
                </a:tc>
                <a:extLst>
                  <a:ext uri="{0D108BD9-81ED-4DB2-BD59-A6C34878D82A}">
                    <a16:rowId xmlns:a16="http://schemas.microsoft.com/office/drawing/2014/main" xmlns="" val="3702282409"/>
                  </a:ext>
                </a:extLst>
              </a:tr>
              <a:tr h="370840">
                <a:tc>
                  <a:txBody>
                    <a:bodyPr/>
                    <a:lstStyle/>
                    <a:p>
                      <a:r>
                        <a:rPr lang="de-DE" dirty="0"/>
                        <a:t>Session </a:t>
                      </a:r>
                      <a:r>
                        <a:rPr lang="de-DE" dirty="0" err="1"/>
                        <a:t>insight</a:t>
                      </a:r>
                      <a:endParaRPr lang="de-DE" dirty="0"/>
                    </a:p>
                  </a:txBody>
                  <a:tcPr/>
                </a:tc>
                <a:tc>
                  <a:txBody>
                    <a:bodyPr/>
                    <a:lstStyle/>
                    <a:p>
                      <a:r>
                        <a:rPr lang="de-DE" dirty="0" err="1"/>
                        <a:t>Delivery</a:t>
                      </a:r>
                      <a:r>
                        <a:rPr lang="de-DE" dirty="0"/>
                        <a:t> </a:t>
                      </a:r>
                      <a:r>
                        <a:rPr lang="de-DE" dirty="0" err="1"/>
                        <a:t>intelligence</a:t>
                      </a:r>
                      <a:endParaRPr lang="de-DE" dirty="0"/>
                    </a:p>
                  </a:txBody>
                  <a:tcPr/>
                </a:tc>
                <a:tc>
                  <a:txBody>
                    <a:bodyPr/>
                    <a:lstStyle/>
                    <a:p>
                      <a:r>
                        <a:rPr lang="de-DE" dirty="0"/>
                        <a:t>SLA / </a:t>
                      </a:r>
                      <a:r>
                        <a:rPr lang="de-DE" dirty="0" err="1"/>
                        <a:t>assurance</a:t>
                      </a:r>
                      <a:endParaRPr lang="de-DE" dirty="0"/>
                    </a:p>
                  </a:txBody>
                  <a:tcPr/>
                </a:tc>
                <a:extLst>
                  <a:ext uri="{0D108BD9-81ED-4DB2-BD59-A6C34878D82A}">
                    <a16:rowId xmlns:a16="http://schemas.microsoft.com/office/drawing/2014/main" xmlns="" val="820119958"/>
                  </a:ext>
                </a:extLst>
              </a:tr>
              <a:tr h="370840">
                <a:tc>
                  <a:txBody>
                    <a:bodyPr/>
                    <a:lstStyle/>
                    <a:p>
                      <a:r>
                        <a:rPr lang="de-DE" dirty="0"/>
                        <a:t>Carrier </a:t>
                      </a:r>
                      <a:r>
                        <a:rPr lang="de-DE" dirty="0" err="1"/>
                        <a:t>payment</a:t>
                      </a:r>
                      <a:endParaRPr lang="de-DE" dirty="0"/>
                    </a:p>
                  </a:txBody>
                  <a:tcPr/>
                </a:tc>
                <a:tc>
                  <a:txBody>
                    <a:bodyPr/>
                    <a:lstStyle/>
                    <a:p>
                      <a:r>
                        <a:rPr lang="de-DE" dirty="0"/>
                        <a:t>Sender </a:t>
                      </a:r>
                      <a:r>
                        <a:rPr lang="de-DE" dirty="0" err="1"/>
                        <a:t>identity</a:t>
                      </a:r>
                      <a:endParaRPr lang="de-DE" dirty="0"/>
                    </a:p>
                  </a:txBody>
                  <a:tcPr/>
                </a:tc>
                <a:tc>
                  <a:txBody>
                    <a:bodyPr/>
                    <a:lstStyle/>
                    <a:p>
                      <a:r>
                        <a:rPr lang="de-DE" dirty="0"/>
                        <a:t>Policy </a:t>
                      </a:r>
                      <a:r>
                        <a:rPr lang="de-DE" dirty="0" err="1"/>
                        <a:t>engine</a:t>
                      </a:r>
                      <a:endParaRPr lang="de-DE" dirty="0"/>
                    </a:p>
                  </a:txBody>
                  <a:tcPr/>
                </a:tc>
                <a:extLst>
                  <a:ext uri="{0D108BD9-81ED-4DB2-BD59-A6C34878D82A}">
                    <a16:rowId xmlns:a16="http://schemas.microsoft.com/office/drawing/2014/main" xmlns="" val="219868759"/>
                  </a:ext>
                </a:extLst>
              </a:tr>
              <a:tr h="370840">
                <a:tc>
                  <a:txBody>
                    <a:bodyPr/>
                    <a:lstStyle/>
                    <a:p>
                      <a:r>
                        <a:rPr lang="de-DE" dirty="0"/>
                        <a:t>…</a:t>
                      </a:r>
                    </a:p>
                  </a:txBody>
                  <a:tcPr/>
                </a:tc>
                <a:tc>
                  <a:txBody>
                    <a:bodyPr/>
                    <a:lstStyle/>
                    <a:p>
                      <a:r>
                        <a:rPr lang="de-DE" dirty="0"/>
                        <a:t>…</a:t>
                      </a:r>
                    </a:p>
                  </a:txBody>
                  <a:tcPr/>
                </a:tc>
                <a:tc>
                  <a:txBody>
                    <a:bodyPr/>
                    <a:lstStyle/>
                    <a:p>
                      <a:r>
                        <a:rPr lang="de-DE" dirty="0"/>
                        <a:t>…</a:t>
                      </a:r>
                    </a:p>
                  </a:txBody>
                  <a:tcPr/>
                </a:tc>
                <a:extLst>
                  <a:ext uri="{0D108BD9-81ED-4DB2-BD59-A6C34878D82A}">
                    <a16:rowId xmlns:a16="http://schemas.microsoft.com/office/drawing/2014/main" xmlns="" val="1588408273"/>
                  </a:ext>
                </a:extLst>
              </a:tr>
            </a:tbl>
          </a:graphicData>
        </a:graphic>
      </p:graphicFrame>
      <p:sp>
        <p:nvSpPr>
          <p:cNvPr id="6" name="Freihandform: Form 5">
            <a:extLst>
              <a:ext uri="{FF2B5EF4-FFF2-40B4-BE49-F238E27FC236}">
                <a16:creationId xmlns:a16="http://schemas.microsoft.com/office/drawing/2014/main" xmlns="" id="{465C71D4-20E8-4E48-5637-A563BEF5C0FD}"/>
              </a:ext>
            </a:extLst>
          </p:cNvPr>
          <p:cNvSpPr/>
          <p:nvPr/>
        </p:nvSpPr>
        <p:spPr>
          <a:xfrm>
            <a:off x="1543050" y="3077936"/>
            <a:ext cx="7764236" cy="1494064"/>
          </a:xfrm>
          <a:custGeom>
            <a:avLst/>
            <a:gdLst>
              <a:gd name="csX0" fmla="*/ 0 w 7764236"/>
              <a:gd name="csY0" fmla="*/ 751114 h 1494064"/>
              <a:gd name="csX1" fmla="*/ 710293 w 7764236"/>
              <a:gd name="csY1" fmla="*/ 1126671 h 1494064"/>
              <a:gd name="csX2" fmla="*/ 3494314 w 7764236"/>
              <a:gd name="csY2" fmla="*/ 0 h 1494064"/>
              <a:gd name="csX3" fmla="*/ 7764236 w 7764236"/>
              <a:gd name="csY3" fmla="*/ 1494064 h 1494064"/>
            </a:gdLst>
            <a:ahLst/>
            <a:cxnLst>
              <a:cxn ang="0">
                <a:pos x="csX0" y="csY0"/>
              </a:cxn>
              <a:cxn ang="0">
                <a:pos x="csX1" y="csY1"/>
              </a:cxn>
              <a:cxn ang="0">
                <a:pos x="csX2" y="csY2"/>
              </a:cxn>
              <a:cxn ang="0">
                <a:pos x="csX3" y="csY3"/>
              </a:cxn>
            </a:cxnLst>
            <a:rect l="l" t="t" r="r" b="b"/>
            <a:pathLst>
              <a:path w="7764236" h="1494064">
                <a:moveTo>
                  <a:pt x="0" y="751114"/>
                </a:moveTo>
                <a:lnTo>
                  <a:pt x="710293" y="1126671"/>
                </a:lnTo>
                <a:lnTo>
                  <a:pt x="3494314" y="0"/>
                </a:lnTo>
                <a:lnTo>
                  <a:pt x="7764236" y="1494064"/>
                </a:lnTo>
              </a:path>
            </a:pathLst>
          </a:custGeom>
          <a:ln w="38100"/>
        </p:spPr>
        <p:style>
          <a:lnRef idx="1">
            <a:schemeClr val="accent2"/>
          </a:lnRef>
          <a:fillRef idx="0">
            <a:schemeClr val="accent2"/>
          </a:fillRef>
          <a:effectRef idx="0">
            <a:schemeClr val="accent2"/>
          </a:effectRef>
          <a:fontRef idx="minor">
            <a:schemeClr val="tx1"/>
          </a:fontRef>
        </p:style>
        <p:txBody>
          <a:bodyPr rtlCol="0" anchor="ctr"/>
          <a:lstStyle/>
          <a:p>
            <a:pPr algn="ctr"/>
            <a:endParaRPr lang="de-DE"/>
          </a:p>
        </p:txBody>
      </p:sp>
      <p:sp>
        <p:nvSpPr>
          <p:cNvPr id="7" name="Textfeld 6">
            <a:extLst>
              <a:ext uri="{FF2B5EF4-FFF2-40B4-BE49-F238E27FC236}">
                <a16:creationId xmlns:a16="http://schemas.microsoft.com/office/drawing/2014/main" xmlns="" id="{A515D09D-06D0-FBB5-6F85-761E44E5953D}"/>
              </a:ext>
            </a:extLst>
          </p:cNvPr>
          <p:cNvSpPr txBox="1"/>
          <p:nvPr/>
        </p:nvSpPr>
        <p:spPr>
          <a:xfrm>
            <a:off x="5976257" y="3167742"/>
            <a:ext cx="1534394" cy="307777"/>
          </a:xfrm>
          <a:prstGeom prst="rect">
            <a:avLst/>
          </a:prstGeom>
          <a:noFill/>
        </p:spPr>
        <p:txBody>
          <a:bodyPr wrap="none" rtlCol="0">
            <a:spAutoFit/>
          </a:bodyPr>
          <a:lstStyle/>
          <a:p>
            <a:r>
              <a:rPr lang="de-DE" dirty="0">
                <a:solidFill>
                  <a:srgbClr val="0070C0"/>
                </a:solidFill>
                <a:latin typeface="Montserrat Medium" panose="00000600000000000000" pitchFamily="2" charset="0"/>
              </a:rPr>
              <a:t>Smart </a:t>
            </a:r>
            <a:r>
              <a:rPr lang="de-DE" dirty="0" err="1">
                <a:solidFill>
                  <a:srgbClr val="0070C0"/>
                </a:solidFill>
                <a:latin typeface="Montserrat Medium" panose="00000600000000000000" pitchFamily="2" charset="0"/>
              </a:rPr>
              <a:t>Delivery</a:t>
            </a:r>
            <a:endParaRPr lang="de-DE" dirty="0">
              <a:solidFill>
                <a:srgbClr val="0070C0"/>
              </a:solidFill>
              <a:latin typeface="Montserrat Medium" panose="00000600000000000000" pitchFamily="2" charset="0"/>
            </a:endParaRPr>
          </a:p>
        </p:txBody>
      </p:sp>
      <p:sp>
        <p:nvSpPr>
          <p:cNvPr id="8" name="Freihandform: Form 7">
            <a:extLst>
              <a:ext uri="{FF2B5EF4-FFF2-40B4-BE49-F238E27FC236}">
                <a16:creationId xmlns:a16="http://schemas.microsoft.com/office/drawing/2014/main" xmlns="" id="{5E5A3079-F011-27FD-54AD-5A8D1743ABDC}"/>
              </a:ext>
            </a:extLst>
          </p:cNvPr>
          <p:cNvSpPr/>
          <p:nvPr/>
        </p:nvSpPr>
        <p:spPr>
          <a:xfrm>
            <a:off x="1853293" y="2702379"/>
            <a:ext cx="7176407" cy="759278"/>
          </a:xfrm>
          <a:custGeom>
            <a:avLst/>
            <a:gdLst>
              <a:gd name="csX0" fmla="*/ 0 w 7176407"/>
              <a:gd name="csY0" fmla="*/ 759278 h 759278"/>
              <a:gd name="csX1" fmla="*/ 2800350 w 7176407"/>
              <a:gd name="csY1" fmla="*/ 0 h 759278"/>
              <a:gd name="csX2" fmla="*/ 7176407 w 7176407"/>
              <a:gd name="csY2" fmla="*/ 375557 h 759278"/>
            </a:gdLst>
            <a:ahLst/>
            <a:cxnLst>
              <a:cxn ang="0">
                <a:pos x="csX0" y="csY0"/>
              </a:cxn>
              <a:cxn ang="0">
                <a:pos x="csX1" y="csY1"/>
              </a:cxn>
              <a:cxn ang="0">
                <a:pos x="csX2" y="csY2"/>
              </a:cxn>
            </a:cxnLst>
            <a:rect l="l" t="t" r="r" b="b"/>
            <a:pathLst>
              <a:path w="7176407" h="759278">
                <a:moveTo>
                  <a:pt x="0" y="759278"/>
                </a:moveTo>
                <a:lnTo>
                  <a:pt x="2800350" y="0"/>
                </a:lnTo>
                <a:lnTo>
                  <a:pt x="7176407" y="375557"/>
                </a:lnTo>
              </a:path>
            </a:pathLst>
          </a:custGeom>
          <a:ln w="28575">
            <a:solidFill>
              <a:schemeClr val="accent5"/>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de-DE"/>
          </a:p>
        </p:txBody>
      </p:sp>
      <p:sp>
        <p:nvSpPr>
          <p:cNvPr id="10" name="Textfeld 9">
            <a:extLst>
              <a:ext uri="{FF2B5EF4-FFF2-40B4-BE49-F238E27FC236}">
                <a16:creationId xmlns:a16="http://schemas.microsoft.com/office/drawing/2014/main" xmlns="" id="{F7857753-3DE3-621D-FA2B-566008E43A78}"/>
              </a:ext>
            </a:extLst>
          </p:cNvPr>
          <p:cNvSpPr txBox="1"/>
          <p:nvPr/>
        </p:nvSpPr>
        <p:spPr>
          <a:xfrm>
            <a:off x="5761036" y="2525431"/>
            <a:ext cx="1850186" cy="307777"/>
          </a:xfrm>
          <a:prstGeom prst="rect">
            <a:avLst/>
          </a:prstGeom>
          <a:noFill/>
        </p:spPr>
        <p:txBody>
          <a:bodyPr wrap="none" rtlCol="0">
            <a:spAutoFit/>
          </a:bodyPr>
          <a:lstStyle/>
          <a:p>
            <a:r>
              <a:rPr lang="de-DE" dirty="0">
                <a:solidFill>
                  <a:schemeClr val="accent5"/>
                </a:solidFill>
                <a:latin typeface="Montserrat Medium" panose="00000600000000000000" pitchFamily="2" charset="0"/>
              </a:rPr>
              <a:t>Travel Companion</a:t>
            </a:r>
          </a:p>
        </p:txBody>
      </p:sp>
    </p:spTree>
    <p:extLst>
      <p:ext uri="{BB962C8B-B14F-4D97-AF65-F5344CB8AC3E}">
        <p14:creationId xmlns:p14="http://schemas.microsoft.com/office/powerpoint/2010/main" val="34985143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5"/>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dirty="0"/>
              <a:t>AI does not solve the telco dilemma</a:t>
            </a:r>
            <a:endParaRPr dirty="0"/>
          </a:p>
        </p:txBody>
      </p:sp>
      <p:sp>
        <p:nvSpPr>
          <p:cNvPr id="5" name="Google Shape;193;p5"/>
          <p:cNvSpPr txBox="1">
            <a:spLocks noGrp="1"/>
          </p:cNvSpPr>
          <p:nvPr>
            <p:ph type="body" idx="1"/>
          </p:nvPr>
        </p:nvSpPr>
        <p:spPr>
          <a:xfrm>
            <a:off x="546848" y="1785580"/>
            <a:ext cx="7969624" cy="4265014"/>
          </a:xfrm>
          <a:prstGeom prst="rect">
            <a:avLst/>
          </a:prstGeom>
          <a:noFill/>
          <a:ln>
            <a:noFill/>
          </a:ln>
        </p:spPr>
        <p:txBody>
          <a:bodyPr spcFirstLastPara="1" wrap="square" lIns="0" tIns="0" rIns="0" bIns="0" anchor="t" anchorCtr="0">
            <a:spAutoFit/>
          </a:bodyPr>
          <a:lstStyle/>
          <a:p>
            <a:pPr marL="285750" lvl="0" indent="-285750">
              <a:buClr>
                <a:schemeClr val="accent2"/>
              </a:buClr>
              <a:buSzPct val="100000"/>
              <a:buFont typeface="Wingdings" panose="05000000000000000000" pitchFamily="2" charset="2"/>
              <a:buChar char="§"/>
            </a:pPr>
            <a:r>
              <a:rPr lang="en-US" sz="1800" b="1" dirty="0">
                <a:solidFill>
                  <a:schemeClr val="tx1"/>
                </a:solidFill>
              </a:rPr>
              <a:t>AI offers a low-hanging fruit </a:t>
            </a:r>
            <a:r>
              <a:rPr lang="en-US" sz="1800" dirty="0">
                <a:solidFill>
                  <a:schemeClr val="tx1"/>
                </a:solidFill>
              </a:rPr>
              <a:t>for </a:t>
            </a:r>
            <a:r>
              <a:rPr lang="en-US" sz="1800" dirty="0" err="1">
                <a:solidFill>
                  <a:schemeClr val="tx1"/>
                </a:solidFill>
              </a:rPr>
              <a:t>telcos</a:t>
            </a:r>
            <a:r>
              <a:rPr lang="en-US" sz="1800" dirty="0">
                <a:solidFill>
                  <a:schemeClr val="tx1"/>
                </a:solidFill>
              </a:rPr>
              <a:t> to save cost and improve UX, e.g. </a:t>
            </a:r>
          </a:p>
          <a:p>
            <a:pPr marL="742950" lvl="1" indent="-285750">
              <a:buClr>
                <a:schemeClr val="accent2"/>
              </a:buClr>
              <a:buSzPct val="100000"/>
              <a:buFont typeface="Wingdings" panose="05000000000000000000" pitchFamily="2" charset="2"/>
              <a:buChar char="§"/>
            </a:pPr>
            <a:r>
              <a:rPr lang="en-US" sz="1800" dirty="0">
                <a:solidFill>
                  <a:schemeClr val="tx1"/>
                </a:solidFill>
              </a:rPr>
              <a:t>Hotline automation (for customers and employees)</a:t>
            </a:r>
          </a:p>
          <a:p>
            <a:pPr marL="742950" lvl="1" indent="-285750">
              <a:buClr>
                <a:schemeClr val="accent2"/>
              </a:buClr>
              <a:buSzPct val="100000"/>
              <a:buFont typeface="Wingdings" panose="05000000000000000000" pitchFamily="2" charset="2"/>
              <a:buChar char="§"/>
            </a:pPr>
            <a:r>
              <a:rPr lang="en-US" sz="1800" dirty="0">
                <a:solidFill>
                  <a:schemeClr val="tx1"/>
                </a:solidFill>
              </a:rPr>
              <a:t>Network automation up to autonomous networks</a:t>
            </a:r>
          </a:p>
          <a:p>
            <a:pPr marL="742950" lvl="1" indent="-285750">
              <a:buClr>
                <a:schemeClr val="accent2"/>
              </a:buClr>
              <a:buSzPct val="100000"/>
              <a:buFont typeface="Wingdings" panose="05000000000000000000" pitchFamily="2" charset="2"/>
              <a:buChar char="§"/>
            </a:pPr>
            <a:r>
              <a:rPr lang="en-US" sz="1800" dirty="0">
                <a:solidFill>
                  <a:schemeClr val="tx1"/>
                </a:solidFill>
              </a:rPr>
              <a:t>…</a:t>
            </a:r>
          </a:p>
          <a:p>
            <a:pPr marL="285750" indent="-285750">
              <a:buClr>
                <a:schemeClr val="accent2"/>
              </a:buClr>
              <a:buSzPct val="100000"/>
              <a:buFont typeface="Wingdings" panose="05000000000000000000" pitchFamily="2" charset="2"/>
              <a:buChar char="§"/>
            </a:pPr>
            <a:r>
              <a:rPr lang="en-US" sz="1800" dirty="0">
                <a:solidFill>
                  <a:schemeClr val="tx1"/>
                </a:solidFill>
              </a:rPr>
              <a:t>For that reason </a:t>
            </a:r>
            <a:r>
              <a:rPr lang="en-US" sz="1800" b="1" dirty="0" err="1">
                <a:solidFill>
                  <a:schemeClr val="tx1"/>
                </a:solidFill>
              </a:rPr>
              <a:t>telcos</a:t>
            </a:r>
            <a:r>
              <a:rPr lang="en-US" sz="1800" b="1" dirty="0">
                <a:solidFill>
                  <a:schemeClr val="tx1"/>
                </a:solidFill>
              </a:rPr>
              <a:t> prioritize AI activities </a:t>
            </a:r>
            <a:r>
              <a:rPr lang="en-US" sz="1800" dirty="0">
                <a:solidFill>
                  <a:schemeClr val="tx1"/>
                </a:solidFill>
              </a:rPr>
              <a:t>in the moment (sometimes at the expense of APIs)</a:t>
            </a:r>
          </a:p>
          <a:p>
            <a:pPr marL="285750" indent="-285750">
              <a:buClr>
                <a:schemeClr val="accent2"/>
              </a:buClr>
              <a:buSzPct val="100000"/>
              <a:buFont typeface="Wingdings" panose="05000000000000000000" pitchFamily="2" charset="2"/>
              <a:buChar char="§"/>
            </a:pPr>
            <a:r>
              <a:rPr lang="en-US" sz="1800" b="1" dirty="0">
                <a:solidFill>
                  <a:schemeClr val="tx1"/>
                </a:solidFill>
              </a:rPr>
              <a:t>But AI won’t solve the telco dilemma</a:t>
            </a:r>
            <a:r>
              <a:rPr lang="en-US" sz="1800" dirty="0">
                <a:solidFill>
                  <a:schemeClr val="tx1"/>
                </a:solidFill>
              </a:rPr>
              <a:t>, APIs are key for that. You cannot build an AI agent / MCP server without a tool / API</a:t>
            </a:r>
          </a:p>
          <a:p>
            <a:pPr marL="285750" indent="-285750">
              <a:buClr>
                <a:schemeClr val="accent2"/>
              </a:buClr>
              <a:buSzPct val="100000"/>
              <a:buFont typeface="Wingdings" panose="05000000000000000000" pitchFamily="2" charset="2"/>
              <a:buChar char="§"/>
            </a:pPr>
            <a:r>
              <a:rPr lang="en-US" sz="1800" b="1" dirty="0">
                <a:solidFill>
                  <a:schemeClr val="tx1"/>
                </a:solidFill>
              </a:rPr>
              <a:t>AI gives a breather to the API teams</a:t>
            </a:r>
            <a:r>
              <a:rPr lang="en-US" sz="1800" dirty="0">
                <a:solidFill>
                  <a:schemeClr val="tx1"/>
                </a:solidFill>
              </a:rPr>
              <a:t>, but it should be used to</a:t>
            </a:r>
          </a:p>
          <a:p>
            <a:pPr marL="742950" lvl="1" indent="-285750">
              <a:buClr>
                <a:schemeClr val="accent2"/>
              </a:buClr>
              <a:buSzPct val="100000"/>
              <a:buFont typeface="Wingdings" panose="05000000000000000000" pitchFamily="2" charset="2"/>
              <a:buChar char="§"/>
            </a:pPr>
            <a:r>
              <a:rPr lang="en-US" sz="1800" dirty="0">
                <a:solidFill>
                  <a:schemeClr val="tx1"/>
                </a:solidFill>
              </a:rPr>
              <a:t>Prepare for (agentic) AI</a:t>
            </a:r>
          </a:p>
          <a:p>
            <a:pPr marL="742950" lvl="1" indent="-285750">
              <a:buClr>
                <a:schemeClr val="accent2"/>
              </a:buClr>
              <a:buSzPct val="100000"/>
              <a:buFont typeface="Wingdings" panose="05000000000000000000" pitchFamily="2" charset="2"/>
              <a:buChar char="§"/>
            </a:pPr>
            <a:r>
              <a:rPr lang="en-US" sz="1800" dirty="0">
                <a:solidFill>
                  <a:schemeClr val="tx1"/>
                </a:solidFill>
              </a:rPr>
              <a:t>Close gaps</a:t>
            </a:r>
          </a:p>
        </p:txBody>
      </p:sp>
      <p:pic>
        <p:nvPicPr>
          <p:cNvPr id="3" name="Grafik 2"/>
          <p:cNvPicPr>
            <a:picLocks noChangeAspect="1"/>
          </p:cNvPicPr>
          <p:nvPr/>
        </p:nvPicPr>
        <p:blipFill>
          <a:blip r:embed="rId3"/>
          <a:stretch>
            <a:fillRect/>
          </a:stretch>
        </p:blipFill>
        <p:spPr>
          <a:xfrm>
            <a:off x="8606118" y="1929015"/>
            <a:ext cx="2590800" cy="4134737"/>
          </a:xfrm>
          <a:prstGeom prst="rect">
            <a:avLst/>
          </a:prstGeom>
          <a:ln>
            <a:solidFill>
              <a:schemeClr val="tx1"/>
            </a:solidFill>
          </a:ln>
        </p:spPr>
      </p:pic>
    </p:spTree>
    <p:extLst>
      <p:ext uri="{BB962C8B-B14F-4D97-AF65-F5344CB8AC3E}">
        <p14:creationId xmlns:p14="http://schemas.microsoft.com/office/powerpoint/2010/main" val="13071752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5"/>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dirty="0"/>
              <a:t>APIs and AI – The intersection</a:t>
            </a:r>
            <a:endParaRPr dirty="0"/>
          </a:p>
        </p:txBody>
      </p:sp>
      <p:sp>
        <p:nvSpPr>
          <p:cNvPr id="5" name="Google Shape;193;p5"/>
          <p:cNvSpPr txBox="1">
            <a:spLocks noGrp="1"/>
          </p:cNvSpPr>
          <p:nvPr>
            <p:ph type="body" idx="1"/>
          </p:nvPr>
        </p:nvSpPr>
        <p:spPr>
          <a:xfrm>
            <a:off x="546847" y="1785580"/>
            <a:ext cx="10650071" cy="2209900"/>
          </a:xfrm>
          <a:prstGeom prst="rect">
            <a:avLst/>
          </a:prstGeom>
          <a:noFill/>
          <a:ln>
            <a:noFill/>
          </a:ln>
        </p:spPr>
        <p:txBody>
          <a:bodyPr spcFirstLastPara="1" wrap="square" lIns="0" tIns="0" rIns="0" bIns="0" anchor="t" anchorCtr="0">
            <a:spAutoFit/>
          </a:bodyPr>
          <a:lstStyle/>
          <a:p>
            <a:pPr marL="0" lvl="0" indent="0">
              <a:buClr>
                <a:schemeClr val="accent2"/>
              </a:buClr>
              <a:buSzPct val="100000"/>
            </a:pPr>
            <a:r>
              <a:rPr lang="en-US" sz="1800" b="1" dirty="0">
                <a:solidFill>
                  <a:schemeClr val="tx1"/>
                </a:solidFill>
              </a:rPr>
              <a:t>4 different scenarios:</a:t>
            </a:r>
          </a:p>
          <a:p>
            <a:pPr marL="285750" lvl="0" indent="-285750">
              <a:buClr>
                <a:schemeClr val="accent2"/>
              </a:buClr>
              <a:buSzPct val="100000"/>
              <a:buFont typeface="Wingdings" panose="05000000000000000000" pitchFamily="2" charset="2"/>
              <a:buChar char="§"/>
            </a:pPr>
            <a:r>
              <a:rPr lang="en-US" sz="1800" dirty="0">
                <a:solidFill>
                  <a:schemeClr val="tx1"/>
                </a:solidFill>
              </a:rPr>
              <a:t>AI used by developers inside operators for their daily work</a:t>
            </a:r>
          </a:p>
          <a:p>
            <a:pPr marL="285750" lvl="0" indent="-285750">
              <a:buClr>
                <a:schemeClr val="accent2"/>
              </a:buClr>
              <a:buSzPct val="100000"/>
              <a:buFont typeface="Wingdings" panose="05000000000000000000" pitchFamily="2" charset="2"/>
              <a:buChar char="§"/>
            </a:pPr>
            <a:r>
              <a:rPr lang="en-US" sz="1800" dirty="0">
                <a:solidFill>
                  <a:schemeClr val="tx1"/>
                </a:solidFill>
              </a:rPr>
              <a:t>AI used inside operators to develop better APIs (e.g. prediction)</a:t>
            </a:r>
          </a:p>
          <a:p>
            <a:pPr marL="285750" lvl="0" indent="-285750">
              <a:buClr>
                <a:schemeClr val="accent2"/>
              </a:buClr>
              <a:buSzPct val="100000"/>
              <a:buFont typeface="Wingdings" panose="05000000000000000000" pitchFamily="2" charset="2"/>
              <a:buChar char="§"/>
            </a:pPr>
            <a:r>
              <a:rPr lang="en-US" sz="1800" dirty="0">
                <a:solidFill>
                  <a:schemeClr val="tx1"/>
                </a:solidFill>
              </a:rPr>
              <a:t>AI used by operators as an additional portfolio (</a:t>
            </a:r>
            <a:r>
              <a:rPr lang="en-US" sz="1800" dirty="0" err="1">
                <a:solidFill>
                  <a:schemeClr val="tx1"/>
                </a:solidFill>
              </a:rPr>
              <a:t>MaaS</a:t>
            </a:r>
            <a:r>
              <a:rPr lang="en-US" sz="1800" dirty="0">
                <a:solidFill>
                  <a:schemeClr val="tx1"/>
                </a:solidFill>
              </a:rPr>
              <a:t>)</a:t>
            </a:r>
          </a:p>
          <a:p>
            <a:pPr marL="285750" lvl="0" indent="-285750">
              <a:buClr>
                <a:schemeClr val="accent2"/>
              </a:buClr>
              <a:buSzPct val="100000"/>
              <a:buFont typeface="Wingdings" panose="05000000000000000000" pitchFamily="2" charset="2"/>
              <a:buChar char="§"/>
            </a:pPr>
            <a:r>
              <a:rPr lang="en-US" sz="1800" dirty="0">
                <a:solidFill>
                  <a:schemeClr val="tx1"/>
                </a:solidFill>
              </a:rPr>
              <a:t>AI used as sales channel (agentic AI)</a:t>
            </a:r>
          </a:p>
        </p:txBody>
      </p:sp>
      <p:pic>
        <p:nvPicPr>
          <p:cNvPr id="3" name="Grafik 2"/>
          <p:cNvPicPr>
            <a:picLocks noChangeAspect="1"/>
          </p:cNvPicPr>
          <p:nvPr/>
        </p:nvPicPr>
        <p:blipFill>
          <a:blip r:embed="rId3"/>
          <a:stretch>
            <a:fillRect/>
          </a:stretch>
        </p:blipFill>
        <p:spPr>
          <a:xfrm>
            <a:off x="546847" y="4159345"/>
            <a:ext cx="10650071" cy="1890623"/>
          </a:xfrm>
          <a:prstGeom prst="rect">
            <a:avLst/>
          </a:prstGeom>
        </p:spPr>
      </p:pic>
    </p:spTree>
    <p:extLst>
      <p:ext uri="{BB962C8B-B14F-4D97-AF65-F5344CB8AC3E}">
        <p14:creationId xmlns:p14="http://schemas.microsoft.com/office/powerpoint/2010/main" val="26450925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5"/>
          <p:cNvSpPr txBox="1">
            <a:spLocks noGrp="1"/>
          </p:cNvSpPr>
          <p:nvPr>
            <p:ph type="title"/>
          </p:nvPr>
        </p:nvSpPr>
        <p:spPr>
          <a:xfrm>
            <a:off x="444373" y="206964"/>
            <a:ext cx="10944225" cy="784516"/>
          </a:xfrm>
          <a:prstGeom prst="rect">
            <a:avLst/>
          </a:prstGeom>
          <a:noFill/>
          <a:ln>
            <a:noFill/>
          </a:ln>
        </p:spPr>
        <p:txBody>
          <a:bodyPr spcFirstLastPara="1" wrap="square" lIns="91425" tIns="45700" rIns="91425" bIns="45700" anchor="t" anchorCtr="0">
            <a:noAutofit/>
          </a:bodyPr>
          <a:lstStyle/>
          <a:p>
            <a:pPr lvl="0"/>
            <a:r>
              <a:rPr lang="en-US" dirty="0"/>
              <a:t>In Concert: Bridging AI Systems and</a:t>
            </a:r>
            <a:br>
              <a:rPr lang="en-US" dirty="0"/>
            </a:br>
            <a:r>
              <a:rPr lang="en-US" dirty="0"/>
              <a:t>Network Infrastructure</a:t>
            </a:r>
            <a:br>
              <a:rPr lang="en-US" dirty="0"/>
            </a:br>
            <a:r>
              <a:rPr lang="en-US" dirty="0"/>
              <a:t>through MCP</a:t>
            </a:r>
            <a:endParaRPr dirty="0"/>
          </a:p>
        </p:txBody>
      </p:sp>
      <p:sp>
        <p:nvSpPr>
          <p:cNvPr id="5" name="Google Shape;193;p5"/>
          <p:cNvSpPr txBox="1">
            <a:spLocks noGrp="1"/>
          </p:cNvSpPr>
          <p:nvPr>
            <p:ph type="body" idx="1"/>
          </p:nvPr>
        </p:nvSpPr>
        <p:spPr>
          <a:xfrm>
            <a:off x="546848" y="1785580"/>
            <a:ext cx="7521388" cy="3016018"/>
          </a:xfrm>
          <a:prstGeom prst="rect">
            <a:avLst/>
          </a:prstGeom>
          <a:noFill/>
          <a:ln>
            <a:noFill/>
          </a:ln>
        </p:spPr>
        <p:txBody>
          <a:bodyPr spcFirstLastPara="1" wrap="square" lIns="0" tIns="0" rIns="0" bIns="0" anchor="t" anchorCtr="0">
            <a:spAutoFit/>
          </a:bodyPr>
          <a:lstStyle/>
          <a:p>
            <a:pPr marL="285750" lvl="0" indent="-285750">
              <a:buClr>
                <a:schemeClr val="accent2"/>
              </a:buClr>
              <a:buSzPct val="100000"/>
              <a:buFont typeface="Arial" panose="020B0604020202020204" pitchFamily="34" charset="0"/>
              <a:buChar char="•"/>
            </a:pPr>
            <a:r>
              <a:rPr lang="en-US" sz="1800" dirty="0">
                <a:solidFill>
                  <a:schemeClr val="tx1"/>
                </a:solidFill>
              </a:rPr>
              <a:t>To enable LLMs accessing network capabilities, APIs and a bridging protocol (MCP) is needed. Combining both AI developers can</a:t>
            </a:r>
          </a:p>
          <a:p>
            <a:pPr marL="742950" lvl="1" indent="-285750">
              <a:buClr>
                <a:schemeClr val="accent2"/>
              </a:buClr>
              <a:buSzPct val="100000"/>
              <a:buFont typeface="Arial" panose="020B0604020202020204" pitchFamily="34" charset="0"/>
              <a:buChar char="•"/>
            </a:pPr>
            <a:r>
              <a:rPr lang="en-US" sz="1800" dirty="0">
                <a:solidFill>
                  <a:schemeClr val="tx1"/>
                </a:solidFill>
              </a:rPr>
              <a:t>Deliver more intelligent, network context-aware services</a:t>
            </a:r>
          </a:p>
          <a:p>
            <a:pPr marL="742950" lvl="1" indent="-285750">
              <a:buClr>
                <a:schemeClr val="accent2"/>
              </a:buClr>
              <a:buSzPct val="100000"/>
              <a:buFont typeface="Arial" panose="020B0604020202020204" pitchFamily="34" charset="0"/>
              <a:buChar char="•"/>
            </a:pPr>
            <a:r>
              <a:rPr lang="en-US" sz="1800" dirty="0">
                <a:solidFill>
                  <a:schemeClr val="tx1"/>
                </a:solidFill>
              </a:rPr>
              <a:t>Reduce delivery complexity, accelerate time-to-market, expand global reach</a:t>
            </a:r>
          </a:p>
          <a:p>
            <a:pPr marL="742950" lvl="1" indent="-285750">
              <a:buClr>
                <a:schemeClr val="accent2"/>
              </a:buClr>
              <a:buSzPct val="100000"/>
              <a:buFont typeface="Arial" panose="020B0604020202020204" pitchFamily="34" charset="0"/>
              <a:buChar char="•"/>
            </a:pPr>
            <a:r>
              <a:rPr lang="en-US" sz="1800" dirty="0">
                <a:solidFill>
                  <a:schemeClr val="tx1"/>
                </a:solidFill>
              </a:rPr>
              <a:t>Enable AI models to make real-time, policy-compliant decisions that optimize UX and resource utilization</a:t>
            </a:r>
          </a:p>
          <a:p>
            <a:pPr marL="285750" indent="-285750">
              <a:buClr>
                <a:schemeClr val="accent2"/>
              </a:buClr>
              <a:buSzPct val="100000"/>
              <a:buFont typeface="Arial" panose="020B0604020202020204" pitchFamily="34" charset="0"/>
              <a:buChar char="•"/>
            </a:pPr>
            <a:r>
              <a:rPr lang="en-US" sz="1800" dirty="0">
                <a:solidFill>
                  <a:schemeClr val="tx1"/>
                </a:solidFill>
              </a:rPr>
              <a:t>Example use cases are listed in the whitepaper</a:t>
            </a:r>
          </a:p>
        </p:txBody>
      </p:sp>
      <p:pic>
        <p:nvPicPr>
          <p:cNvPr id="3" name="Grafik 2"/>
          <p:cNvPicPr>
            <a:picLocks noChangeAspect="1"/>
          </p:cNvPicPr>
          <p:nvPr/>
        </p:nvPicPr>
        <p:blipFill>
          <a:blip r:embed="rId3"/>
          <a:stretch>
            <a:fillRect/>
          </a:stretch>
        </p:blipFill>
        <p:spPr>
          <a:xfrm>
            <a:off x="8435789" y="1434353"/>
            <a:ext cx="2761130" cy="4570552"/>
          </a:xfrm>
          <a:prstGeom prst="rect">
            <a:avLst/>
          </a:prstGeom>
        </p:spPr>
      </p:pic>
    </p:spTree>
    <p:extLst>
      <p:ext uri="{BB962C8B-B14F-4D97-AF65-F5344CB8AC3E}">
        <p14:creationId xmlns:p14="http://schemas.microsoft.com/office/powerpoint/2010/main" val="37162747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5"/>
          <p:cNvSpPr txBox="1">
            <a:spLocks noGrp="1"/>
          </p:cNvSpPr>
          <p:nvPr>
            <p:ph type="title"/>
          </p:nvPr>
        </p:nvSpPr>
        <p:spPr>
          <a:xfrm>
            <a:off x="444373" y="206964"/>
            <a:ext cx="10944225" cy="784516"/>
          </a:xfrm>
          <a:prstGeom prst="rect">
            <a:avLst/>
          </a:prstGeom>
          <a:noFill/>
          <a:ln>
            <a:noFill/>
          </a:ln>
        </p:spPr>
        <p:txBody>
          <a:bodyPr spcFirstLastPara="1" wrap="square" lIns="91425" tIns="45700" rIns="91425" bIns="45700" anchor="t" anchorCtr="0">
            <a:noAutofit/>
          </a:bodyPr>
          <a:lstStyle/>
          <a:p>
            <a:pPr lvl="0"/>
            <a:r>
              <a:rPr lang="en-US" dirty="0"/>
              <a:t>In Concert: Bridging AI Systems and</a:t>
            </a:r>
            <a:br>
              <a:rPr lang="en-US" dirty="0"/>
            </a:br>
            <a:r>
              <a:rPr lang="en-US" dirty="0"/>
              <a:t>Network Infrastructure</a:t>
            </a:r>
            <a:br>
              <a:rPr lang="en-US" dirty="0"/>
            </a:br>
            <a:r>
              <a:rPr lang="en-US" dirty="0"/>
              <a:t>through MCP</a:t>
            </a:r>
            <a:endParaRPr dirty="0"/>
          </a:p>
        </p:txBody>
      </p:sp>
      <p:sp>
        <p:nvSpPr>
          <p:cNvPr id="5" name="Google Shape;193;p5"/>
          <p:cNvSpPr txBox="1">
            <a:spLocks noGrp="1"/>
          </p:cNvSpPr>
          <p:nvPr>
            <p:ph type="body" idx="1"/>
          </p:nvPr>
        </p:nvSpPr>
        <p:spPr>
          <a:xfrm>
            <a:off x="546847" y="1785580"/>
            <a:ext cx="7530353" cy="3016018"/>
          </a:xfrm>
          <a:prstGeom prst="rect">
            <a:avLst/>
          </a:prstGeom>
          <a:noFill/>
          <a:ln>
            <a:noFill/>
          </a:ln>
        </p:spPr>
        <p:txBody>
          <a:bodyPr spcFirstLastPara="1" wrap="square" lIns="0" tIns="0" rIns="0" bIns="0" anchor="t" anchorCtr="0">
            <a:spAutoFit/>
          </a:bodyPr>
          <a:lstStyle/>
          <a:p>
            <a:pPr marL="285750" indent="-285750">
              <a:buClr>
                <a:schemeClr val="accent2"/>
              </a:buClr>
              <a:buSzPct val="100000"/>
              <a:buFont typeface="Arial" panose="020B0604020202020204" pitchFamily="34" charset="0"/>
              <a:buChar char="•"/>
            </a:pPr>
            <a:r>
              <a:rPr lang="en-US" sz="1800" dirty="0">
                <a:solidFill>
                  <a:schemeClr val="tx1"/>
                </a:solidFill>
              </a:rPr>
              <a:t>No fundamental changes are required to either ecosystem</a:t>
            </a:r>
          </a:p>
          <a:p>
            <a:pPr marL="742950" lvl="1" indent="-285750">
              <a:buClr>
                <a:schemeClr val="accent2"/>
              </a:buClr>
              <a:buSzPct val="100000"/>
              <a:buFont typeface="Arial" panose="020B0604020202020204" pitchFamily="34" charset="0"/>
              <a:buChar char="•"/>
            </a:pPr>
            <a:r>
              <a:rPr lang="en-US" sz="1800" dirty="0">
                <a:solidFill>
                  <a:schemeClr val="tx1"/>
                </a:solidFill>
              </a:rPr>
              <a:t>Provide context for MCP servers, esp. scopes and purposes, user consent requirements</a:t>
            </a:r>
          </a:p>
          <a:p>
            <a:pPr marL="742950" lvl="1" indent="-285750">
              <a:buClr>
                <a:schemeClr val="accent2"/>
              </a:buClr>
              <a:buSzPct val="100000"/>
              <a:buFont typeface="Arial" panose="020B0604020202020204" pitchFamily="34" charset="0"/>
              <a:buChar char="•"/>
            </a:pPr>
            <a:r>
              <a:rPr lang="en-US" sz="1800" dirty="0">
                <a:solidFill>
                  <a:schemeClr val="tx1"/>
                </a:solidFill>
              </a:rPr>
              <a:t>Follow CAMARA security guidelines and API design guidelines (both need to be adjusted to AI)</a:t>
            </a:r>
          </a:p>
          <a:p>
            <a:pPr marL="742950" lvl="1" indent="-285750">
              <a:buClr>
                <a:schemeClr val="accent2"/>
              </a:buClr>
              <a:buSzPct val="100000"/>
              <a:buFont typeface="Arial" panose="020B0604020202020204" pitchFamily="34" charset="0"/>
              <a:buChar char="•"/>
            </a:pPr>
            <a:r>
              <a:rPr lang="en-US" sz="1800" dirty="0">
                <a:solidFill>
                  <a:schemeClr val="tx1"/>
                </a:solidFill>
              </a:rPr>
              <a:t>CAMARA may provide authoritative MCP function definitions versioned in lockstep with corresponding CAMARA API definitions</a:t>
            </a:r>
          </a:p>
          <a:p>
            <a:pPr marL="285750" indent="-285750">
              <a:buClr>
                <a:schemeClr val="accent2"/>
              </a:buClr>
              <a:buSzPct val="100000"/>
              <a:buFont typeface="Arial" panose="020B0604020202020204" pitchFamily="34" charset="0"/>
              <a:buChar char="•"/>
            </a:pPr>
            <a:r>
              <a:rPr lang="en-US" sz="1800" dirty="0">
                <a:solidFill>
                  <a:schemeClr val="tx1"/>
                </a:solidFill>
              </a:rPr>
              <a:t>Details are documented in the whitepaper</a:t>
            </a:r>
          </a:p>
        </p:txBody>
      </p:sp>
      <p:pic>
        <p:nvPicPr>
          <p:cNvPr id="4" name="Grafik 3"/>
          <p:cNvPicPr>
            <a:picLocks noChangeAspect="1"/>
          </p:cNvPicPr>
          <p:nvPr/>
        </p:nvPicPr>
        <p:blipFill>
          <a:blip r:embed="rId3"/>
          <a:stretch>
            <a:fillRect/>
          </a:stretch>
        </p:blipFill>
        <p:spPr>
          <a:xfrm>
            <a:off x="8435789" y="1434353"/>
            <a:ext cx="2761130" cy="4570552"/>
          </a:xfrm>
          <a:prstGeom prst="rect">
            <a:avLst/>
          </a:prstGeom>
        </p:spPr>
      </p:pic>
    </p:spTree>
    <p:extLst>
      <p:ext uri="{BB962C8B-B14F-4D97-AF65-F5344CB8AC3E}">
        <p14:creationId xmlns:p14="http://schemas.microsoft.com/office/powerpoint/2010/main" val="27948286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p31"/>
          <p:cNvSpPr txBox="1">
            <a:spLocks noGrp="1"/>
          </p:cNvSpPr>
          <p:nvPr>
            <p:ph type="title"/>
          </p:nvPr>
        </p:nvSpPr>
        <p:spPr>
          <a:xfrm>
            <a:off x="444373" y="413152"/>
            <a:ext cx="6784117"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Benefit for developers</a:t>
            </a:r>
            <a:br>
              <a:rPr lang="en-US"/>
            </a:br>
            <a:r>
              <a:rPr lang="en-US"/>
              <a:t>to use CAMARA APIs</a:t>
            </a:r>
            <a:endParaRPr/>
          </a:p>
        </p:txBody>
      </p:sp>
      <p:sp>
        <p:nvSpPr>
          <p:cNvPr id="936" name="Google Shape;936;p31"/>
          <p:cNvSpPr txBox="1"/>
          <p:nvPr/>
        </p:nvSpPr>
        <p:spPr>
          <a:xfrm>
            <a:off x="444373" y="1989050"/>
            <a:ext cx="395400" cy="101580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rgbClr val="000000"/>
              </a:buClr>
              <a:buSzPts val="6600"/>
              <a:buFont typeface="Montserrat Light"/>
              <a:buNone/>
            </a:pPr>
            <a:r>
              <a:rPr lang="en-US" sz="6600" b="1">
                <a:solidFill>
                  <a:srgbClr val="3A9BF3"/>
                </a:solidFill>
                <a:latin typeface="Montserrat Light"/>
                <a:ea typeface="Montserrat Light"/>
                <a:cs typeface="Montserrat Light"/>
                <a:sym typeface="Montserrat Light"/>
              </a:rPr>
              <a:t>1</a:t>
            </a:r>
            <a:endParaRPr sz="1800" b="1">
              <a:solidFill>
                <a:srgbClr val="3A9BF3"/>
              </a:solidFill>
              <a:latin typeface="Montserrat Light"/>
              <a:ea typeface="Montserrat Light"/>
              <a:cs typeface="Montserrat Light"/>
              <a:sym typeface="Montserrat Light"/>
            </a:endParaRPr>
          </a:p>
        </p:txBody>
      </p:sp>
      <p:sp>
        <p:nvSpPr>
          <p:cNvPr id="937" name="Google Shape;937;p31"/>
          <p:cNvSpPr txBox="1"/>
          <p:nvPr/>
        </p:nvSpPr>
        <p:spPr>
          <a:xfrm>
            <a:off x="1219200" y="2110355"/>
            <a:ext cx="4929352" cy="11079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400"/>
              <a:buFont typeface="Montserrat Light"/>
              <a:buNone/>
            </a:pPr>
            <a:r>
              <a:rPr lang="en-US" sz="2000">
                <a:solidFill>
                  <a:schemeClr val="dk1"/>
                </a:solidFill>
                <a:latin typeface="Montserrat Light"/>
                <a:ea typeface="Montserrat Light"/>
                <a:cs typeface="Montserrat Light"/>
                <a:sym typeface="Montserrat Light"/>
              </a:rPr>
              <a:t>Reduces friction for developers to access network information across telcos globally.</a:t>
            </a:r>
            <a:endParaRPr sz="2000">
              <a:solidFill>
                <a:schemeClr val="dk1"/>
              </a:solidFill>
              <a:latin typeface="Montserrat Light"/>
              <a:ea typeface="Montserrat Light"/>
              <a:cs typeface="Montserrat Light"/>
              <a:sym typeface="Montserrat Light"/>
            </a:endParaRPr>
          </a:p>
        </p:txBody>
      </p:sp>
      <p:sp>
        <p:nvSpPr>
          <p:cNvPr id="938" name="Google Shape;938;p31"/>
          <p:cNvSpPr txBox="1"/>
          <p:nvPr/>
        </p:nvSpPr>
        <p:spPr>
          <a:xfrm>
            <a:off x="444373" y="3363905"/>
            <a:ext cx="395400" cy="101580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rgbClr val="000000"/>
              </a:buClr>
              <a:buSzPts val="6600"/>
              <a:buFont typeface="Montserrat Light"/>
              <a:buNone/>
            </a:pPr>
            <a:r>
              <a:rPr lang="en-US" sz="6600" b="1">
                <a:solidFill>
                  <a:srgbClr val="3A9BF3"/>
                </a:solidFill>
                <a:latin typeface="Montserrat Light"/>
                <a:ea typeface="Montserrat Light"/>
                <a:cs typeface="Montserrat Light"/>
                <a:sym typeface="Montserrat Light"/>
              </a:rPr>
              <a:t>2</a:t>
            </a:r>
            <a:endParaRPr sz="1800" b="1">
              <a:solidFill>
                <a:srgbClr val="3A9BF3"/>
              </a:solidFill>
              <a:latin typeface="Montserrat Light"/>
              <a:ea typeface="Montserrat Light"/>
              <a:cs typeface="Montserrat Light"/>
              <a:sym typeface="Montserrat Light"/>
            </a:endParaRPr>
          </a:p>
        </p:txBody>
      </p:sp>
      <p:sp>
        <p:nvSpPr>
          <p:cNvPr id="939" name="Google Shape;939;p31"/>
          <p:cNvSpPr txBox="1"/>
          <p:nvPr/>
        </p:nvSpPr>
        <p:spPr>
          <a:xfrm>
            <a:off x="1219200" y="3455010"/>
            <a:ext cx="4929352" cy="11079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400"/>
              <a:buFont typeface="Montserrat Light"/>
              <a:buNone/>
            </a:pPr>
            <a:r>
              <a:rPr lang="en-US" sz="2000">
                <a:solidFill>
                  <a:schemeClr val="dk1"/>
                </a:solidFill>
                <a:latin typeface="Montserrat Light"/>
                <a:ea typeface="Montserrat Light"/>
                <a:cs typeface="Montserrat Light"/>
                <a:sym typeface="Montserrat Light"/>
              </a:rPr>
              <a:t>Increases usage and value of telco networks by providing easy access to network capabilities. </a:t>
            </a:r>
            <a:endParaRPr sz="2000">
              <a:solidFill>
                <a:schemeClr val="dk1"/>
              </a:solidFill>
              <a:latin typeface="Montserrat Light"/>
              <a:ea typeface="Montserrat Light"/>
              <a:cs typeface="Montserrat Light"/>
              <a:sym typeface="Montserrat Light"/>
            </a:endParaRPr>
          </a:p>
        </p:txBody>
      </p:sp>
      <p:sp>
        <p:nvSpPr>
          <p:cNvPr id="940" name="Google Shape;940;p31"/>
          <p:cNvSpPr txBox="1"/>
          <p:nvPr/>
        </p:nvSpPr>
        <p:spPr>
          <a:xfrm>
            <a:off x="457200" y="4738760"/>
            <a:ext cx="395400" cy="101580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rgbClr val="000000"/>
              </a:buClr>
              <a:buSzPts val="6600"/>
              <a:buFont typeface="Montserrat Light"/>
              <a:buNone/>
            </a:pPr>
            <a:r>
              <a:rPr lang="en-US" sz="6600" b="1">
                <a:solidFill>
                  <a:srgbClr val="3A9BF3"/>
                </a:solidFill>
                <a:latin typeface="Montserrat Light"/>
                <a:ea typeface="Montserrat Light"/>
                <a:cs typeface="Montserrat Light"/>
                <a:sym typeface="Montserrat Light"/>
              </a:rPr>
              <a:t>3</a:t>
            </a:r>
            <a:endParaRPr sz="1800" b="1">
              <a:solidFill>
                <a:srgbClr val="3A9BF3"/>
              </a:solidFill>
              <a:latin typeface="Montserrat Light"/>
              <a:ea typeface="Montserrat Light"/>
              <a:cs typeface="Montserrat Light"/>
              <a:sym typeface="Montserrat Light"/>
            </a:endParaRPr>
          </a:p>
        </p:txBody>
      </p:sp>
      <p:sp>
        <p:nvSpPr>
          <p:cNvPr id="941" name="Google Shape;941;p31"/>
          <p:cNvSpPr txBox="1"/>
          <p:nvPr/>
        </p:nvSpPr>
        <p:spPr>
          <a:xfrm>
            <a:off x="1219200" y="4823617"/>
            <a:ext cx="4929352" cy="11079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400"/>
              <a:buFont typeface="Montserrat Light"/>
              <a:buNone/>
            </a:pPr>
            <a:r>
              <a:rPr lang="en-US" sz="2000">
                <a:solidFill>
                  <a:schemeClr val="dk1"/>
                </a:solidFill>
                <a:latin typeface="Montserrat Light"/>
                <a:ea typeface="Montserrat Light"/>
                <a:cs typeface="Montserrat Light"/>
                <a:sym typeface="Montserrat Light"/>
              </a:rPr>
              <a:t>Enables developers to create new applications or improve existing ones with access to these capabilities.</a:t>
            </a:r>
            <a:endParaRPr sz="2000">
              <a:solidFill>
                <a:schemeClr val="dk1"/>
              </a:solidFill>
              <a:latin typeface="Montserrat Light"/>
              <a:ea typeface="Montserrat Light"/>
              <a:cs typeface="Montserrat Light"/>
              <a:sym typeface="Montserrat Light"/>
            </a:endParaRPr>
          </a:p>
        </p:txBody>
      </p:sp>
      <p:sp>
        <p:nvSpPr>
          <p:cNvPr id="942" name="Google Shape;942;p31"/>
          <p:cNvSpPr/>
          <p:nvPr/>
        </p:nvSpPr>
        <p:spPr>
          <a:xfrm rot="5400000">
            <a:off x="4832312" y="3701580"/>
            <a:ext cx="3980535" cy="614855"/>
          </a:xfrm>
          <a:prstGeom prst="triangle">
            <a:avLst>
              <a:gd name="adj" fmla="val 50000"/>
            </a:avLst>
          </a:prstGeom>
          <a:solidFill>
            <a:srgbClr val="FFBFA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ontserrat Light"/>
              <a:ea typeface="Montserrat Light"/>
              <a:cs typeface="Montserrat Light"/>
              <a:sym typeface="Montserrat Light"/>
            </a:endParaRPr>
          </a:p>
        </p:txBody>
      </p:sp>
      <p:sp>
        <p:nvSpPr>
          <p:cNvPr id="943" name="Google Shape;943;p31"/>
          <p:cNvSpPr txBox="1"/>
          <p:nvPr/>
        </p:nvSpPr>
        <p:spPr>
          <a:xfrm>
            <a:off x="7496607" y="2699959"/>
            <a:ext cx="3200400" cy="26781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chemeClr val="accent2"/>
                </a:solidFill>
                <a:latin typeface="Montserrat Light"/>
                <a:ea typeface="Montserrat Light"/>
                <a:cs typeface="Montserrat Light"/>
                <a:sym typeface="Montserrat Light"/>
              </a:rPr>
              <a:t>Additional revenue on existing assets, leveraging SDN and NFV capabilities</a:t>
            </a:r>
            <a:endParaRPr sz="28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p32"/>
          <p:cNvSpPr txBox="1">
            <a:spLocks noGrp="1"/>
          </p:cNvSpPr>
          <p:nvPr>
            <p:ph type="title"/>
          </p:nvPr>
        </p:nvSpPr>
        <p:spPr>
          <a:xfrm>
            <a:off x="444373" y="413152"/>
            <a:ext cx="10944300" cy="784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Developers Getting Started</a:t>
            </a:r>
            <a:br>
              <a:rPr lang="en-US"/>
            </a:br>
            <a:r>
              <a:rPr lang="en-US"/>
              <a:t>with CAMARA APIs</a:t>
            </a:r>
            <a:endParaRPr/>
          </a:p>
        </p:txBody>
      </p:sp>
      <p:pic>
        <p:nvPicPr>
          <p:cNvPr id="3" name="Grafik 2">
            <a:extLst>
              <a:ext uri="{FF2B5EF4-FFF2-40B4-BE49-F238E27FC236}">
                <a16:creationId xmlns:a16="http://schemas.microsoft.com/office/drawing/2014/main" xmlns="" id="{4CF1D924-436E-9C2B-ED67-FEDD5A96565B}"/>
              </a:ext>
            </a:extLst>
          </p:cNvPr>
          <p:cNvPicPr>
            <a:picLocks noChangeAspect="1"/>
          </p:cNvPicPr>
          <p:nvPr/>
        </p:nvPicPr>
        <p:blipFill>
          <a:blip r:embed="rId3"/>
          <a:stretch>
            <a:fillRect/>
          </a:stretch>
        </p:blipFill>
        <p:spPr>
          <a:xfrm>
            <a:off x="2154469" y="1868737"/>
            <a:ext cx="7349662" cy="4402863"/>
          </a:xfrm>
          <a:prstGeom prst="rect">
            <a:avLst/>
          </a:prstGeom>
        </p:spPr>
      </p:pic>
      <p:sp>
        <p:nvSpPr>
          <p:cNvPr id="951" name="Google Shape;951;p32"/>
          <p:cNvSpPr/>
          <p:nvPr/>
        </p:nvSpPr>
        <p:spPr>
          <a:xfrm>
            <a:off x="6943725" y="1400825"/>
            <a:ext cx="284100" cy="1302900"/>
          </a:xfrm>
          <a:prstGeom prst="downArrow">
            <a:avLst>
              <a:gd name="adj1" fmla="val 50000"/>
              <a:gd name="adj2" fmla="val 50000"/>
            </a:avLst>
          </a:prstGeom>
          <a:solidFill>
            <a:srgbClr val="FFBFAB"/>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Montserrat Light"/>
              <a:buNone/>
            </a:pPr>
            <a:endParaRPr sz="1800">
              <a:solidFill>
                <a:schemeClr val="dk1"/>
              </a:solidFill>
              <a:latin typeface="Montserrat Light"/>
              <a:ea typeface="Montserrat Light"/>
              <a:cs typeface="Montserrat Light"/>
              <a:sym typeface="Montserrat Ligh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9" name="Google Shape;959;p33"/>
          <p:cNvSpPr txBox="1">
            <a:spLocks noGrp="1"/>
          </p:cNvSpPr>
          <p:nvPr>
            <p:ph type="title"/>
          </p:nvPr>
        </p:nvSpPr>
        <p:spPr>
          <a:xfrm>
            <a:off x="444373" y="413152"/>
            <a:ext cx="10944300" cy="784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Developers Getting Started</a:t>
            </a:r>
            <a:br>
              <a:rPr lang="en-US"/>
            </a:br>
            <a:r>
              <a:rPr lang="en-US"/>
              <a:t>with CAMARA APIs</a:t>
            </a:r>
            <a:endParaRPr/>
          </a:p>
        </p:txBody>
      </p:sp>
      <p:pic>
        <p:nvPicPr>
          <p:cNvPr id="3" name="Grafik 2">
            <a:extLst>
              <a:ext uri="{FF2B5EF4-FFF2-40B4-BE49-F238E27FC236}">
                <a16:creationId xmlns:a16="http://schemas.microsoft.com/office/drawing/2014/main" xmlns="" id="{FD36C132-16E9-ACC3-0B32-C3500DD85151}"/>
              </a:ext>
            </a:extLst>
          </p:cNvPr>
          <p:cNvPicPr>
            <a:picLocks noChangeAspect="1"/>
          </p:cNvPicPr>
          <p:nvPr/>
        </p:nvPicPr>
        <p:blipFill>
          <a:blip r:embed="rId3"/>
          <a:stretch>
            <a:fillRect/>
          </a:stretch>
        </p:blipFill>
        <p:spPr>
          <a:xfrm>
            <a:off x="2110643" y="1878119"/>
            <a:ext cx="7300787" cy="4360756"/>
          </a:xfrm>
          <a:prstGeom prst="rect">
            <a:avLst/>
          </a:prstGeom>
          <a:ln w="19050">
            <a:solidFill>
              <a:schemeClr val="accent2"/>
            </a:solidFill>
          </a:ln>
        </p:spPr>
      </p:pic>
      <p:sp>
        <p:nvSpPr>
          <p:cNvPr id="958" name="Google Shape;958;p33"/>
          <p:cNvSpPr/>
          <p:nvPr/>
        </p:nvSpPr>
        <p:spPr>
          <a:xfrm rot="-5400000">
            <a:off x="1202843" y="1952575"/>
            <a:ext cx="284100" cy="1302900"/>
          </a:xfrm>
          <a:prstGeom prst="downArrow">
            <a:avLst>
              <a:gd name="adj1" fmla="val 50000"/>
              <a:gd name="adj2" fmla="val 50000"/>
            </a:avLst>
          </a:prstGeom>
          <a:solidFill>
            <a:srgbClr val="FFBFAB"/>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Montserrat Light"/>
              <a:buNone/>
            </a:pPr>
            <a:endParaRPr sz="1800">
              <a:solidFill>
                <a:schemeClr val="dk1"/>
              </a:solidFill>
              <a:latin typeface="Montserrat Light"/>
              <a:ea typeface="Montserrat Light"/>
              <a:cs typeface="Montserrat Light"/>
              <a:sym typeface="Montserrat Ligh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8" name="Google Shape;968;p34"/>
          <p:cNvSpPr txBox="1">
            <a:spLocks noGrp="1"/>
          </p:cNvSpPr>
          <p:nvPr>
            <p:ph type="title"/>
          </p:nvPr>
        </p:nvSpPr>
        <p:spPr>
          <a:xfrm>
            <a:off x="444373" y="413152"/>
            <a:ext cx="10944300" cy="784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Developers Getting Started</a:t>
            </a:r>
            <a:br>
              <a:rPr lang="en-US"/>
            </a:br>
            <a:r>
              <a:rPr lang="en-US"/>
              <a:t>with CAMARA APIs</a:t>
            </a:r>
            <a:endParaRPr/>
          </a:p>
        </p:txBody>
      </p:sp>
      <p:pic>
        <p:nvPicPr>
          <p:cNvPr id="3" name="Grafik 2">
            <a:extLst>
              <a:ext uri="{FF2B5EF4-FFF2-40B4-BE49-F238E27FC236}">
                <a16:creationId xmlns:a16="http://schemas.microsoft.com/office/drawing/2014/main" xmlns="" id="{35777ED9-69B2-7BA7-9A44-D4680218019C}"/>
              </a:ext>
            </a:extLst>
          </p:cNvPr>
          <p:cNvPicPr>
            <a:picLocks noChangeAspect="1"/>
          </p:cNvPicPr>
          <p:nvPr/>
        </p:nvPicPr>
        <p:blipFill>
          <a:blip r:embed="rId3"/>
          <a:stretch>
            <a:fillRect/>
          </a:stretch>
        </p:blipFill>
        <p:spPr>
          <a:xfrm>
            <a:off x="1372909" y="1812375"/>
            <a:ext cx="8776256" cy="4502700"/>
          </a:xfrm>
          <a:prstGeom prst="rect">
            <a:avLst/>
          </a:prstGeom>
          <a:ln w="19050">
            <a:solidFill>
              <a:schemeClr val="accent2"/>
            </a:solidFill>
          </a:ln>
        </p:spPr>
      </p:pic>
      <p:sp>
        <p:nvSpPr>
          <p:cNvPr id="967" name="Google Shape;967;p34"/>
          <p:cNvSpPr/>
          <p:nvPr/>
        </p:nvSpPr>
        <p:spPr>
          <a:xfrm rot="-5400000">
            <a:off x="809725" y="2085675"/>
            <a:ext cx="284100" cy="1302900"/>
          </a:xfrm>
          <a:prstGeom prst="downArrow">
            <a:avLst>
              <a:gd name="adj1" fmla="val 50000"/>
              <a:gd name="adj2" fmla="val 50000"/>
            </a:avLst>
          </a:prstGeom>
          <a:solidFill>
            <a:srgbClr val="FFBFAB"/>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Montserrat Light"/>
              <a:buNone/>
            </a:pPr>
            <a:endParaRPr sz="1800">
              <a:solidFill>
                <a:schemeClr val="dk1"/>
              </a:solidFill>
              <a:latin typeface="Montserrat Light"/>
              <a:ea typeface="Montserrat Light"/>
              <a:cs typeface="Montserrat Light"/>
              <a:sym typeface="Montserrat Ligh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64">
          <a:extLst>
            <a:ext uri="{FF2B5EF4-FFF2-40B4-BE49-F238E27FC236}">
              <a16:creationId xmlns:a16="http://schemas.microsoft.com/office/drawing/2014/main" xmlns="" id="{912326E7-4E3A-8D00-6BC1-0D0913E0B262}"/>
            </a:ext>
          </a:extLst>
        </p:cNvPr>
        <p:cNvGrpSpPr/>
        <p:nvPr/>
      </p:nvGrpSpPr>
      <p:grpSpPr>
        <a:xfrm>
          <a:off x="0" y="0"/>
          <a:ext cx="0" cy="0"/>
          <a:chOff x="0" y="0"/>
          <a:chExt cx="0" cy="0"/>
        </a:xfrm>
      </p:grpSpPr>
      <p:sp>
        <p:nvSpPr>
          <p:cNvPr id="968" name="Google Shape;968;p34">
            <a:extLst>
              <a:ext uri="{FF2B5EF4-FFF2-40B4-BE49-F238E27FC236}">
                <a16:creationId xmlns:a16="http://schemas.microsoft.com/office/drawing/2014/main" xmlns="" id="{67722E56-C9FA-9A25-C406-2A396B89F561}"/>
              </a:ext>
            </a:extLst>
          </p:cNvPr>
          <p:cNvSpPr txBox="1">
            <a:spLocks noGrp="1"/>
          </p:cNvSpPr>
          <p:nvPr>
            <p:ph type="title"/>
          </p:nvPr>
        </p:nvSpPr>
        <p:spPr>
          <a:xfrm>
            <a:off x="444373" y="413152"/>
            <a:ext cx="10944300" cy="784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Developers Getting Started</a:t>
            </a:r>
            <a:br>
              <a:rPr lang="en-US"/>
            </a:br>
            <a:r>
              <a:rPr lang="en-US"/>
              <a:t>with CAMARA APIs</a:t>
            </a:r>
            <a:endParaRPr/>
          </a:p>
        </p:txBody>
      </p:sp>
      <p:sp>
        <p:nvSpPr>
          <p:cNvPr id="2" name="Google Shape;432;g344a6891e19_4_105">
            <a:extLst>
              <a:ext uri="{FF2B5EF4-FFF2-40B4-BE49-F238E27FC236}">
                <a16:creationId xmlns:a16="http://schemas.microsoft.com/office/drawing/2014/main" xmlns="" id="{B454853A-4C05-7759-B0BD-EF4628F91860}"/>
              </a:ext>
            </a:extLst>
          </p:cNvPr>
          <p:cNvSpPr txBox="1"/>
          <p:nvPr/>
        </p:nvSpPr>
        <p:spPr>
          <a:xfrm>
            <a:off x="479502" y="1852471"/>
            <a:ext cx="105171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600" b="0" i="0" u="none" strike="noStrike" cap="none">
              <a:solidFill>
                <a:srgbClr val="000000"/>
              </a:solidFill>
              <a:latin typeface="Montserrat"/>
              <a:ea typeface="Montserrat"/>
              <a:cs typeface="Montserrat"/>
              <a:sym typeface="Montserrat"/>
            </a:endParaRPr>
          </a:p>
        </p:txBody>
      </p:sp>
      <p:sp>
        <p:nvSpPr>
          <p:cNvPr id="4" name="Google Shape;433;g344a6891e19_4_105">
            <a:extLst>
              <a:ext uri="{FF2B5EF4-FFF2-40B4-BE49-F238E27FC236}">
                <a16:creationId xmlns:a16="http://schemas.microsoft.com/office/drawing/2014/main" xmlns="" id="{61752247-DCA8-B1AF-FC5F-D6D303740DFE}"/>
              </a:ext>
            </a:extLst>
          </p:cNvPr>
          <p:cNvSpPr txBox="1"/>
          <p:nvPr/>
        </p:nvSpPr>
        <p:spPr>
          <a:xfrm>
            <a:off x="479502" y="2579524"/>
            <a:ext cx="90549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a:p>
        </p:txBody>
      </p:sp>
      <p:sp>
        <p:nvSpPr>
          <p:cNvPr id="5" name="Google Shape;438;g344a6891e19_4_105">
            <a:extLst>
              <a:ext uri="{FF2B5EF4-FFF2-40B4-BE49-F238E27FC236}">
                <a16:creationId xmlns:a16="http://schemas.microsoft.com/office/drawing/2014/main" xmlns="" id="{0564A1D3-0488-DBBE-0C8E-63BF2F60C8A6}"/>
              </a:ext>
            </a:extLst>
          </p:cNvPr>
          <p:cNvSpPr txBox="1"/>
          <p:nvPr/>
        </p:nvSpPr>
        <p:spPr>
          <a:xfrm>
            <a:off x="743175" y="2494200"/>
            <a:ext cx="5863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200">
              <a:solidFill>
                <a:srgbClr val="004750"/>
              </a:solidFill>
              <a:latin typeface="Montserrat Light"/>
              <a:ea typeface="Montserrat Light"/>
              <a:cs typeface="Montserrat Light"/>
              <a:sym typeface="Montserrat Light"/>
            </a:endParaRPr>
          </a:p>
        </p:txBody>
      </p:sp>
      <p:sp>
        <p:nvSpPr>
          <p:cNvPr id="6" name="Google Shape;439;g344a6891e19_4_105">
            <a:extLst>
              <a:ext uri="{FF2B5EF4-FFF2-40B4-BE49-F238E27FC236}">
                <a16:creationId xmlns:a16="http://schemas.microsoft.com/office/drawing/2014/main" xmlns="" id="{57E94971-4074-866A-67C1-E84F2EED1170}"/>
              </a:ext>
            </a:extLst>
          </p:cNvPr>
          <p:cNvSpPr txBox="1"/>
          <p:nvPr/>
        </p:nvSpPr>
        <p:spPr>
          <a:xfrm>
            <a:off x="482350" y="1964825"/>
            <a:ext cx="10414500" cy="1962045"/>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1800" b="1" dirty="0">
                <a:solidFill>
                  <a:schemeClr val="dk1"/>
                </a:solidFill>
                <a:latin typeface="Montserrat"/>
                <a:ea typeface="Montserrat"/>
                <a:cs typeface="Montserrat"/>
                <a:sym typeface="Montserrat"/>
              </a:rPr>
              <a:t>Integrate API call in own code, e.g. for Sim Swap:</a:t>
            </a:r>
            <a:endParaRPr sz="1800" b="1" dirty="0">
              <a:solidFill>
                <a:schemeClr val="dk1"/>
              </a:solidFill>
              <a:latin typeface="Montserrat"/>
              <a:ea typeface="Montserrat"/>
              <a:cs typeface="Montserrat"/>
              <a:sym typeface="Montserrat"/>
            </a:endParaRPr>
          </a:p>
          <a:p>
            <a:pPr marL="457200" lvl="0" indent="-342900" algn="l" rtl="0">
              <a:lnSpc>
                <a:spcPct val="115000"/>
              </a:lnSpc>
              <a:spcBef>
                <a:spcPts val="0"/>
              </a:spcBef>
              <a:spcAft>
                <a:spcPts val="0"/>
              </a:spcAft>
              <a:buSzPts val="1800"/>
              <a:buFont typeface="Montserrat"/>
              <a:buChar char="●"/>
            </a:pPr>
            <a:r>
              <a:rPr lang="en-US" sz="1800" dirty="0">
                <a:solidFill>
                  <a:schemeClr val="dk1"/>
                </a:solidFill>
                <a:latin typeface="Montserrat"/>
                <a:ea typeface="Montserrat"/>
                <a:cs typeface="Montserrat"/>
                <a:sym typeface="Montserrat"/>
              </a:rPr>
              <a:t>Get API definition and documentation from</a:t>
            </a:r>
            <a:r>
              <a:rPr lang="en-US" sz="1800" dirty="0">
                <a:solidFill>
                  <a:schemeClr val="dk1"/>
                </a:solidFill>
                <a:uFill>
                  <a:noFill/>
                </a:uFill>
                <a:latin typeface="Montserrat"/>
                <a:ea typeface="Montserrat"/>
                <a:cs typeface="Montserrat"/>
                <a:sym typeface="Montserrat"/>
                <a:hlinkClick r:id="rId3">
                  <a:extLst>
                    <a:ext uri="{A12FA001-AC4F-418D-AE19-62706E023703}">
                      <ahyp:hlinkClr xmlns:ahyp="http://schemas.microsoft.com/office/drawing/2018/hyperlinkcolor" xmlns="" val="tx"/>
                    </a:ext>
                  </a:extLst>
                </a:hlinkClick>
              </a:rPr>
              <a:t> </a:t>
            </a:r>
            <a:r>
              <a:rPr lang="en-US" sz="1800" u="sng" dirty="0">
                <a:solidFill>
                  <a:schemeClr val="hlink"/>
                </a:solidFill>
                <a:latin typeface="Montserrat"/>
                <a:ea typeface="Montserrat"/>
                <a:cs typeface="Montserrat"/>
                <a:sym typeface="Montserrat"/>
                <a:hlinkClick r:id="rId3"/>
              </a:rPr>
              <a:t>https://camaraproject.org/api-overview/</a:t>
            </a:r>
            <a:r>
              <a:rPr lang="en-US" sz="1800" u="sng" dirty="0">
                <a:solidFill>
                  <a:schemeClr val="hlink"/>
                </a:solidFill>
                <a:latin typeface="Montserrat"/>
                <a:ea typeface="Montserrat"/>
                <a:cs typeface="Montserrat"/>
                <a:sym typeface="Montserrat"/>
              </a:rPr>
              <a:t/>
            </a:r>
            <a:br>
              <a:rPr lang="en-US" sz="1800" u="sng" dirty="0">
                <a:solidFill>
                  <a:schemeClr val="hlink"/>
                </a:solidFill>
                <a:latin typeface="Montserrat"/>
                <a:ea typeface="Montserrat"/>
                <a:cs typeface="Montserrat"/>
                <a:sym typeface="Montserrat"/>
              </a:rPr>
            </a:br>
            <a:r>
              <a:rPr lang="en-US" sz="1800" dirty="0">
                <a:solidFill>
                  <a:schemeClr val="dk1"/>
                </a:solidFill>
                <a:latin typeface="Montserrat"/>
                <a:ea typeface="Montserrat"/>
                <a:cs typeface="Montserrat"/>
                <a:sym typeface="Montserrat"/>
              </a:rPr>
              <a:t>(</a:t>
            </a:r>
            <a:r>
              <a:rPr lang="en-US" sz="1800" dirty="0" err="1">
                <a:solidFill>
                  <a:schemeClr val="dk1"/>
                </a:solidFill>
                <a:latin typeface="Montserrat"/>
                <a:ea typeface="Montserrat"/>
                <a:cs typeface="Montserrat"/>
                <a:sym typeface="Montserrat"/>
              </a:rPr>
              <a:t>open&amp;free</a:t>
            </a:r>
            <a:r>
              <a:rPr lang="en-US" sz="1800" dirty="0">
                <a:solidFill>
                  <a:schemeClr val="dk1"/>
                </a:solidFill>
                <a:latin typeface="Montserrat"/>
                <a:ea typeface="Montserrat"/>
                <a:cs typeface="Montserrat"/>
                <a:sym typeface="Montserrat"/>
              </a:rPr>
              <a:t>!)</a:t>
            </a:r>
            <a:endParaRPr sz="1800" dirty="0">
              <a:solidFill>
                <a:schemeClr val="dk1"/>
              </a:solidFill>
              <a:latin typeface="Montserrat"/>
              <a:ea typeface="Montserrat"/>
              <a:cs typeface="Montserrat"/>
              <a:sym typeface="Montserrat"/>
            </a:endParaRPr>
          </a:p>
          <a:p>
            <a:pPr marL="457200" lvl="0" indent="-342900" algn="l" rtl="0">
              <a:lnSpc>
                <a:spcPct val="115000"/>
              </a:lnSpc>
              <a:spcBef>
                <a:spcPts val="0"/>
              </a:spcBef>
              <a:spcAft>
                <a:spcPts val="0"/>
              </a:spcAft>
              <a:buClr>
                <a:schemeClr val="dk1"/>
              </a:buClr>
              <a:buSzPts val="1800"/>
              <a:buFont typeface="Montserrat"/>
              <a:buChar char="●"/>
            </a:pPr>
            <a:r>
              <a:rPr lang="en-US" sz="1800" dirty="0">
                <a:solidFill>
                  <a:schemeClr val="dk1"/>
                </a:solidFill>
                <a:latin typeface="Montserrat"/>
                <a:ea typeface="Montserrat"/>
                <a:cs typeface="Montserrat"/>
                <a:sym typeface="Montserrat"/>
              </a:rPr>
              <a:t>Get API availability from GSMA public launch status map (linked in API description)</a:t>
            </a:r>
            <a:endParaRPr sz="1800" dirty="0">
              <a:solidFill>
                <a:schemeClr val="dk1"/>
              </a:solidFill>
              <a:latin typeface="Montserrat"/>
              <a:ea typeface="Montserrat"/>
              <a:cs typeface="Montserrat"/>
              <a:sym typeface="Montserrat"/>
            </a:endParaRPr>
          </a:p>
          <a:p>
            <a:pPr marL="457200" lvl="0" indent="-342900" algn="l" rtl="0">
              <a:lnSpc>
                <a:spcPct val="115000"/>
              </a:lnSpc>
              <a:spcBef>
                <a:spcPts val="0"/>
              </a:spcBef>
              <a:spcAft>
                <a:spcPts val="0"/>
              </a:spcAft>
              <a:buClr>
                <a:schemeClr val="dk1"/>
              </a:buClr>
              <a:buSzPts val="1800"/>
              <a:buFont typeface="Montserrat"/>
              <a:buChar char="●"/>
            </a:pPr>
            <a:r>
              <a:rPr lang="en-US" sz="1800" dirty="0">
                <a:solidFill>
                  <a:schemeClr val="dk1"/>
                </a:solidFill>
                <a:latin typeface="Montserrat"/>
                <a:ea typeface="Montserrat"/>
                <a:cs typeface="Montserrat"/>
                <a:sym typeface="Montserrat"/>
              </a:rPr>
              <a:t>Get API access e.g. from DT, Orange, Telefonica (linked in map)</a:t>
            </a:r>
            <a:endParaRPr sz="1800" dirty="0">
              <a:solidFill>
                <a:schemeClr val="dk1"/>
              </a:solidFill>
              <a:latin typeface="Montserrat"/>
              <a:ea typeface="Montserrat"/>
              <a:cs typeface="Montserrat"/>
              <a:sym typeface="Montserrat"/>
            </a:endParaRPr>
          </a:p>
          <a:p>
            <a:pPr marL="0" lvl="0" indent="0" algn="l" rtl="0">
              <a:spcBef>
                <a:spcPts val="0"/>
              </a:spcBef>
              <a:spcAft>
                <a:spcPts val="0"/>
              </a:spcAft>
              <a:buNone/>
            </a:pPr>
            <a:endParaRPr sz="1200" dirty="0">
              <a:solidFill>
                <a:srgbClr val="004750"/>
              </a:solidFill>
              <a:latin typeface="Montserrat Light"/>
              <a:ea typeface="Montserrat Light"/>
              <a:cs typeface="Montserrat Light"/>
              <a:sym typeface="Montserrat Light"/>
            </a:endParaRPr>
          </a:p>
        </p:txBody>
      </p:sp>
      <p:pic>
        <p:nvPicPr>
          <p:cNvPr id="7" name="Google Shape;440;g344a6891e19_4_105">
            <a:extLst>
              <a:ext uri="{FF2B5EF4-FFF2-40B4-BE49-F238E27FC236}">
                <a16:creationId xmlns:a16="http://schemas.microsoft.com/office/drawing/2014/main" xmlns="" id="{AA8C2CC4-B286-4F28-0541-AE6CA100AE59}"/>
              </a:ext>
            </a:extLst>
          </p:cNvPr>
          <p:cNvPicPr preferRelativeResize="0"/>
          <p:nvPr/>
        </p:nvPicPr>
        <p:blipFill>
          <a:blip r:embed="rId4">
            <a:alphaModFix/>
          </a:blip>
          <a:stretch>
            <a:fillRect/>
          </a:stretch>
        </p:blipFill>
        <p:spPr>
          <a:xfrm>
            <a:off x="152400" y="4079825"/>
            <a:ext cx="3404648" cy="2252700"/>
          </a:xfrm>
          <a:prstGeom prst="rect">
            <a:avLst/>
          </a:prstGeom>
          <a:noFill/>
          <a:ln>
            <a:noFill/>
          </a:ln>
        </p:spPr>
      </p:pic>
      <p:pic>
        <p:nvPicPr>
          <p:cNvPr id="8" name="Google Shape;441;g344a6891e19_4_105">
            <a:extLst>
              <a:ext uri="{FF2B5EF4-FFF2-40B4-BE49-F238E27FC236}">
                <a16:creationId xmlns:a16="http://schemas.microsoft.com/office/drawing/2014/main" xmlns="" id="{61334340-29E2-EFB8-E063-AA3E71A6F860}"/>
              </a:ext>
            </a:extLst>
          </p:cNvPr>
          <p:cNvPicPr preferRelativeResize="0"/>
          <p:nvPr/>
        </p:nvPicPr>
        <p:blipFill>
          <a:blip r:embed="rId5">
            <a:alphaModFix/>
          </a:blip>
          <a:stretch>
            <a:fillRect/>
          </a:stretch>
        </p:blipFill>
        <p:spPr>
          <a:xfrm>
            <a:off x="3709448" y="4079825"/>
            <a:ext cx="3632558" cy="2252700"/>
          </a:xfrm>
          <a:prstGeom prst="rect">
            <a:avLst/>
          </a:prstGeom>
          <a:noFill/>
          <a:ln>
            <a:noFill/>
          </a:ln>
        </p:spPr>
      </p:pic>
      <p:pic>
        <p:nvPicPr>
          <p:cNvPr id="9" name="Google Shape;442;g344a6891e19_4_105">
            <a:extLst>
              <a:ext uri="{FF2B5EF4-FFF2-40B4-BE49-F238E27FC236}">
                <a16:creationId xmlns:a16="http://schemas.microsoft.com/office/drawing/2014/main" xmlns="" id="{C16A3E5C-5583-FA2F-F06E-736DA09ECB11}"/>
              </a:ext>
            </a:extLst>
          </p:cNvPr>
          <p:cNvPicPr preferRelativeResize="0"/>
          <p:nvPr/>
        </p:nvPicPr>
        <p:blipFill>
          <a:blip r:embed="rId6">
            <a:alphaModFix/>
          </a:blip>
          <a:stretch>
            <a:fillRect/>
          </a:stretch>
        </p:blipFill>
        <p:spPr>
          <a:xfrm>
            <a:off x="7494400" y="4079825"/>
            <a:ext cx="3875273" cy="2252699"/>
          </a:xfrm>
          <a:prstGeom prst="rect">
            <a:avLst/>
          </a:prstGeom>
          <a:noFill/>
          <a:ln w="9525" cap="flat" cmpd="sng">
            <a:solidFill>
              <a:schemeClr val="dk1"/>
            </a:solidFill>
            <a:prstDash val="solid"/>
            <a:round/>
            <a:headEnd type="none" w="sm" len="sm"/>
            <a:tailEnd type="none" w="sm" len="sm"/>
          </a:ln>
        </p:spPr>
      </p:pic>
    </p:spTree>
    <p:extLst>
      <p:ext uri="{BB962C8B-B14F-4D97-AF65-F5344CB8AC3E}">
        <p14:creationId xmlns:p14="http://schemas.microsoft.com/office/powerpoint/2010/main" val="31611133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74"/>
        <p:cNvGrpSpPr/>
        <p:nvPr/>
      </p:nvGrpSpPr>
      <p:grpSpPr>
        <a:xfrm>
          <a:off x="0" y="0"/>
          <a:ext cx="0" cy="0"/>
          <a:chOff x="0" y="0"/>
          <a:chExt cx="0" cy="0"/>
        </a:xfrm>
      </p:grpSpPr>
      <p:sp>
        <p:nvSpPr>
          <p:cNvPr id="975" name="Google Shape;975;p35"/>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Benefit for developers</a:t>
            </a:r>
            <a:br>
              <a:rPr lang="en-US"/>
            </a:br>
            <a:r>
              <a:rPr lang="en-US"/>
              <a:t>to work in CAMARA</a:t>
            </a:r>
            <a:endParaRPr/>
          </a:p>
        </p:txBody>
      </p:sp>
      <p:sp>
        <p:nvSpPr>
          <p:cNvPr id="976" name="Google Shape;976;p35"/>
          <p:cNvSpPr txBox="1">
            <a:spLocks noGrp="1"/>
          </p:cNvSpPr>
          <p:nvPr>
            <p:ph type="body" idx="1"/>
          </p:nvPr>
        </p:nvSpPr>
        <p:spPr>
          <a:xfrm>
            <a:off x="444373" y="1890346"/>
            <a:ext cx="10944225" cy="4124383"/>
          </a:xfrm>
          <a:prstGeom prst="rect">
            <a:avLst/>
          </a:prstGeom>
          <a:noFill/>
          <a:ln>
            <a:noFill/>
          </a:ln>
        </p:spPr>
        <p:txBody>
          <a:bodyPr spcFirstLastPara="1" wrap="square" lIns="0" tIns="0" rIns="0" bIns="0" anchor="t" anchorCtr="0">
            <a:noAutofit/>
          </a:bodyPr>
          <a:lstStyle/>
          <a:p>
            <a:pPr marL="0" lvl="0" indent="0" algn="l" rtl="0">
              <a:lnSpc>
                <a:spcPct val="104000"/>
              </a:lnSpc>
              <a:spcBef>
                <a:spcPts val="0"/>
              </a:spcBef>
              <a:spcAft>
                <a:spcPts val="0"/>
              </a:spcAft>
              <a:buClr>
                <a:schemeClr val="dk2"/>
              </a:buClr>
              <a:buSzPts val="1500"/>
              <a:buNone/>
            </a:pPr>
            <a:r>
              <a:rPr lang="en-US" sz="2000"/>
              <a:t>As a typical Open Source Project </a:t>
            </a:r>
            <a:r>
              <a:rPr lang="en-US" sz="2000">
                <a:latin typeface="Montserrat SemiBold"/>
                <a:ea typeface="Montserrat SemiBold"/>
                <a:cs typeface="Montserrat SemiBold"/>
                <a:sym typeface="Montserrat SemiBold"/>
              </a:rPr>
              <a:t>CAMARA is driven by contribution!</a:t>
            </a:r>
            <a:endParaRPr sz="2000"/>
          </a:p>
          <a:p>
            <a:pPr marL="0" lvl="0" indent="0" algn="l" rtl="0">
              <a:lnSpc>
                <a:spcPct val="104000"/>
              </a:lnSpc>
              <a:spcBef>
                <a:spcPts val="1200"/>
              </a:spcBef>
              <a:spcAft>
                <a:spcPts val="0"/>
              </a:spcAft>
              <a:buClr>
                <a:schemeClr val="dk2"/>
              </a:buClr>
              <a:buSzPts val="1500"/>
              <a:buNone/>
            </a:pPr>
            <a:r>
              <a:rPr lang="en-US" sz="2000"/>
              <a:t>People who contribute define priorities and drive the direction.</a:t>
            </a:r>
            <a:endParaRPr sz="2000"/>
          </a:p>
          <a:p>
            <a:pPr marL="0" lvl="0" indent="0" algn="l" rtl="0">
              <a:lnSpc>
                <a:spcPct val="104000"/>
              </a:lnSpc>
              <a:spcBef>
                <a:spcPts val="1200"/>
              </a:spcBef>
              <a:spcAft>
                <a:spcPts val="0"/>
              </a:spcAft>
              <a:buClr>
                <a:schemeClr val="dk2"/>
              </a:buClr>
              <a:buSzPts val="1500"/>
              <a:buNone/>
            </a:pPr>
            <a:endParaRPr sz="1200"/>
          </a:p>
          <a:p>
            <a:pPr marL="0" lvl="0" indent="0" algn="l" rtl="0">
              <a:lnSpc>
                <a:spcPct val="104000"/>
              </a:lnSpc>
              <a:spcBef>
                <a:spcPts val="1200"/>
              </a:spcBef>
              <a:spcAft>
                <a:spcPts val="0"/>
              </a:spcAft>
              <a:buClr>
                <a:schemeClr val="dk2"/>
              </a:buClr>
              <a:buSzPts val="1500"/>
              <a:buNone/>
            </a:pPr>
            <a:r>
              <a:rPr lang="en-US" sz="1400"/>
              <a:t>Working in CAMARA on API definitions, API documentations and API code (transformation functions) enables to</a:t>
            </a:r>
            <a:endParaRPr sz="1400"/>
          </a:p>
          <a:p>
            <a:pPr marL="285750" lvl="0" indent="-279400" algn="l" rtl="0">
              <a:lnSpc>
                <a:spcPct val="104000"/>
              </a:lnSpc>
              <a:spcBef>
                <a:spcPts val="1200"/>
              </a:spcBef>
              <a:spcAft>
                <a:spcPts val="0"/>
              </a:spcAft>
              <a:buClr>
                <a:srgbClr val="3A9BF3"/>
              </a:buClr>
              <a:buSzPts val="1400"/>
              <a:buFont typeface="Montserrat"/>
              <a:buChar char="•"/>
            </a:pPr>
            <a:r>
              <a:rPr lang="en-US" sz="1400">
                <a:latin typeface="Montserrat SemiBold"/>
                <a:ea typeface="Montserrat SemiBold"/>
                <a:cs typeface="Montserrat SemiBold"/>
                <a:sym typeface="Montserrat SemiBold"/>
              </a:rPr>
              <a:t>Bring in own demand </a:t>
            </a:r>
            <a:r>
              <a:rPr lang="en-US" sz="1400"/>
              <a:t>and contribute a solution</a:t>
            </a:r>
            <a:endParaRPr sz="1400"/>
          </a:p>
          <a:p>
            <a:pPr marL="285750" lvl="0" indent="-279400" algn="l" rtl="0">
              <a:lnSpc>
                <a:spcPct val="104000"/>
              </a:lnSpc>
              <a:spcBef>
                <a:spcPts val="1200"/>
              </a:spcBef>
              <a:spcAft>
                <a:spcPts val="0"/>
              </a:spcAft>
              <a:buClr>
                <a:srgbClr val="3A9BF3"/>
              </a:buClr>
              <a:buSzPts val="1400"/>
              <a:buFont typeface="Montserrat"/>
              <a:buChar char="•"/>
            </a:pPr>
            <a:r>
              <a:rPr lang="en-US" sz="1400">
                <a:latin typeface="Montserrat SemiBold"/>
                <a:ea typeface="Montserrat SemiBold"/>
                <a:cs typeface="Montserrat SemiBold"/>
                <a:sym typeface="Montserrat SemiBold"/>
              </a:rPr>
              <a:t>Influence the definition </a:t>
            </a:r>
            <a:r>
              <a:rPr lang="en-US" sz="1400"/>
              <a:t>of new APIs and API versions</a:t>
            </a:r>
            <a:endParaRPr sz="1400"/>
          </a:p>
          <a:p>
            <a:pPr marL="285750" lvl="0" indent="-279400" algn="l" rtl="0">
              <a:lnSpc>
                <a:spcPct val="104000"/>
              </a:lnSpc>
              <a:spcBef>
                <a:spcPts val="1200"/>
              </a:spcBef>
              <a:spcAft>
                <a:spcPts val="0"/>
              </a:spcAft>
              <a:buClr>
                <a:srgbClr val="3A9BF3"/>
              </a:buClr>
              <a:buSzPts val="1400"/>
              <a:buFont typeface="Montserrat"/>
              <a:buChar char="•"/>
            </a:pPr>
            <a:r>
              <a:rPr lang="en-US" sz="1400"/>
              <a:t>Ensure that own requirements are considered</a:t>
            </a:r>
            <a:endParaRPr sz="1400"/>
          </a:p>
          <a:p>
            <a:pPr marL="285750" lvl="0" indent="-279400" algn="l" rtl="0">
              <a:lnSpc>
                <a:spcPct val="104000"/>
              </a:lnSpc>
              <a:spcBef>
                <a:spcPts val="1200"/>
              </a:spcBef>
              <a:spcAft>
                <a:spcPts val="0"/>
              </a:spcAft>
              <a:buClr>
                <a:srgbClr val="3A9BF3"/>
              </a:buClr>
              <a:buSzPts val="1400"/>
              <a:buFont typeface="Montserrat"/>
              <a:buChar char="•"/>
            </a:pPr>
            <a:r>
              <a:rPr lang="en-US" sz="1400">
                <a:latin typeface="Montserrat SemiBold"/>
                <a:ea typeface="Montserrat SemiBold"/>
                <a:cs typeface="Montserrat SemiBold"/>
                <a:sym typeface="Montserrat SemiBold"/>
              </a:rPr>
              <a:t>Provide code which can be used globally</a:t>
            </a:r>
            <a:endParaRPr sz="1400">
              <a:latin typeface="Montserrat SemiBold"/>
              <a:ea typeface="Montserrat SemiBold"/>
              <a:cs typeface="Montserrat SemiBold"/>
              <a:sym typeface="Montserrat SemiBold"/>
            </a:endParaRPr>
          </a:p>
          <a:p>
            <a:pPr marL="285750" lvl="0" indent="-279400" algn="l" rtl="0">
              <a:lnSpc>
                <a:spcPct val="104000"/>
              </a:lnSpc>
              <a:spcBef>
                <a:spcPts val="1200"/>
              </a:spcBef>
              <a:spcAft>
                <a:spcPts val="0"/>
              </a:spcAft>
              <a:buClr>
                <a:srgbClr val="3A9BF3"/>
              </a:buClr>
              <a:buSzPts val="1400"/>
              <a:buFont typeface="Montserrat"/>
              <a:buChar char="•"/>
            </a:pPr>
            <a:r>
              <a:rPr lang="en-US" sz="1400">
                <a:latin typeface="Montserrat SemiBold"/>
                <a:ea typeface="Montserrat SemiBold"/>
                <a:cs typeface="Montserrat SemiBold"/>
                <a:sym typeface="Montserrat SemiBold"/>
              </a:rPr>
              <a:t>Learn</a:t>
            </a:r>
            <a:r>
              <a:rPr lang="en-US" sz="1400"/>
              <a:t> about CAMARA, Open Gateway and the Network API ecosystem</a:t>
            </a:r>
            <a:endParaRPr sz="1400"/>
          </a:p>
          <a:p>
            <a:pPr marL="285750" lvl="0" indent="-279400" algn="l" rtl="0">
              <a:lnSpc>
                <a:spcPct val="104000"/>
              </a:lnSpc>
              <a:spcBef>
                <a:spcPts val="1200"/>
              </a:spcBef>
              <a:spcAft>
                <a:spcPts val="0"/>
              </a:spcAft>
              <a:buClr>
                <a:srgbClr val="3A9BF3"/>
              </a:buClr>
              <a:buSzPts val="1400"/>
              <a:buFont typeface="Montserrat"/>
              <a:buChar char="•"/>
            </a:pPr>
            <a:r>
              <a:rPr lang="en-US" sz="1400">
                <a:latin typeface="Montserrat SemiBold"/>
                <a:ea typeface="Montserrat SemiBold"/>
                <a:cs typeface="Montserrat SemiBold"/>
                <a:sym typeface="Montserrat SemiBold"/>
              </a:rPr>
              <a:t>Get deep knowledge about the APIs</a:t>
            </a:r>
            <a:endParaRPr sz="1400"/>
          </a:p>
          <a:p>
            <a:pPr marL="285750" lvl="0" indent="-279400" algn="l" rtl="0">
              <a:lnSpc>
                <a:spcPct val="104000"/>
              </a:lnSpc>
              <a:spcBef>
                <a:spcPts val="1200"/>
              </a:spcBef>
              <a:spcAft>
                <a:spcPts val="0"/>
              </a:spcAft>
              <a:buClr>
                <a:srgbClr val="3A9BF3"/>
              </a:buClr>
              <a:buSzPts val="1400"/>
              <a:buFont typeface="Montserrat"/>
              <a:buChar char="•"/>
            </a:pPr>
            <a:r>
              <a:rPr lang="en-US" sz="1400">
                <a:latin typeface="Montserrat SemiBold"/>
                <a:ea typeface="Montserrat SemiBold"/>
                <a:cs typeface="Montserrat SemiBold"/>
                <a:sym typeface="Montserrat SemiBold"/>
              </a:rPr>
              <a:t>Become maintainer and TSC member </a:t>
            </a:r>
            <a:r>
              <a:rPr lang="en-US" sz="1400"/>
              <a:t>to influence technical decisions in CAMARA</a:t>
            </a:r>
            <a:endParaRPr sz="14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p36"/>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Joining CAMARA as Developer</a:t>
            </a:r>
            <a:endParaRPr/>
          </a:p>
        </p:txBody>
      </p:sp>
      <p:sp>
        <p:nvSpPr>
          <p:cNvPr id="984" name="Google Shape;984;p36"/>
          <p:cNvSpPr txBox="1">
            <a:spLocks noGrp="1"/>
          </p:cNvSpPr>
          <p:nvPr>
            <p:ph type="body" idx="1"/>
          </p:nvPr>
        </p:nvSpPr>
        <p:spPr>
          <a:xfrm>
            <a:off x="520575" y="1966552"/>
            <a:ext cx="10944300" cy="303900"/>
          </a:xfrm>
          <a:prstGeom prst="rect">
            <a:avLst/>
          </a:prstGeom>
          <a:noFill/>
          <a:ln>
            <a:noFill/>
          </a:ln>
        </p:spPr>
        <p:txBody>
          <a:bodyPr spcFirstLastPara="1" wrap="square" lIns="0" tIns="0" rIns="0" bIns="0" anchor="t" anchorCtr="0">
            <a:noAutofit/>
          </a:bodyPr>
          <a:lstStyle/>
          <a:p>
            <a:pPr marL="0" lvl="0" indent="0" algn="l" rtl="0">
              <a:lnSpc>
                <a:spcPct val="104000"/>
              </a:lnSpc>
              <a:spcBef>
                <a:spcPts val="0"/>
              </a:spcBef>
              <a:spcAft>
                <a:spcPts val="0"/>
              </a:spcAft>
              <a:buClr>
                <a:schemeClr val="dk2"/>
              </a:buClr>
              <a:buSzPts val="1500"/>
              <a:buNone/>
            </a:pPr>
            <a:r>
              <a:rPr lang="en-US" sz="1400">
                <a:latin typeface="Montserrat Medium"/>
                <a:ea typeface="Montserrat Medium"/>
                <a:cs typeface="Montserrat Medium"/>
                <a:sym typeface="Montserrat Medium"/>
              </a:rPr>
              <a:t>To join the CAMARA mailing list</a:t>
            </a:r>
            <a:r>
              <a:rPr lang="en-US" sz="1400">
                <a:latin typeface="Montserrat SemiBold"/>
                <a:ea typeface="Montserrat SemiBold"/>
                <a:cs typeface="Montserrat SemiBold"/>
                <a:sym typeface="Montserrat SemiBold"/>
              </a:rPr>
              <a:t> </a:t>
            </a:r>
            <a:r>
              <a:rPr lang="en-US" sz="1400"/>
              <a:t>send an (empy) email to </a:t>
            </a:r>
            <a:r>
              <a:rPr lang="en-US" sz="1400" u="sng">
                <a:solidFill>
                  <a:schemeClr val="hlink"/>
                </a:solidFill>
                <a:latin typeface="Montserrat Medium"/>
                <a:ea typeface="Montserrat Medium"/>
                <a:cs typeface="Montserrat Medium"/>
                <a:sym typeface="Montserrat Medium"/>
                <a:hlinkClick r:id="rId3"/>
              </a:rPr>
              <a:t>all+subscribe@lists.camaraproject.org</a:t>
            </a:r>
            <a:r>
              <a:rPr lang="en-US" sz="1400"/>
              <a:t>.</a:t>
            </a:r>
            <a:endParaRPr sz="1400"/>
          </a:p>
          <a:p>
            <a:pPr marL="0" lvl="0" indent="0" algn="l" rtl="0">
              <a:lnSpc>
                <a:spcPct val="104000"/>
              </a:lnSpc>
              <a:spcBef>
                <a:spcPts val="1200"/>
              </a:spcBef>
              <a:spcAft>
                <a:spcPts val="0"/>
              </a:spcAft>
              <a:buClr>
                <a:schemeClr val="dk2"/>
              </a:buClr>
              <a:buSzPts val="1500"/>
              <a:buNone/>
            </a:pPr>
            <a:endParaRPr sz="1400"/>
          </a:p>
        </p:txBody>
      </p:sp>
      <p:pic>
        <p:nvPicPr>
          <p:cNvPr id="985" name="Google Shape;985;p36"/>
          <p:cNvPicPr preferRelativeResize="0"/>
          <p:nvPr/>
        </p:nvPicPr>
        <p:blipFill rotWithShape="1">
          <a:blip r:embed="rId4">
            <a:alphaModFix/>
          </a:blip>
          <a:srcRect b="1438"/>
          <a:stretch/>
        </p:blipFill>
        <p:spPr>
          <a:xfrm>
            <a:off x="520575" y="2493675"/>
            <a:ext cx="9813624" cy="2470100"/>
          </a:xfrm>
          <a:prstGeom prst="rect">
            <a:avLst/>
          </a:prstGeom>
          <a:noFill/>
          <a:ln w="19050" cap="flat" cmpd="sng">
            <a:solidFill>
              <a:srgbClr val="3A9BF3"/>
            </a:solidFill>
            <a:prstDash val="solid"/>
            <a:round/>
            <a:headEnd type="none" w="sm" len="sm"/>
            <a:tailEnd type="none" w="sm" len="sm"/>
          </a:ln>
        </p:spPr>
      </p:pic>
      <p:sp>
        <p:nvSpPr>
          <p:cNvPr id="986" name="Google Shape;986;p36"/>
          <p:cNvSpPr txBox="1"/>
          <p:nvPr/>
        </p:nvSpPr>
        <p:spPr>
          <a:xfrm>
            <a:off x="520575" y="5267325"/>
            <a:ext cx="9813600" cy="10272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chemeClr val="dk2"/>
              </a:buClr>
              <a:buSzPts val="1500"/>
              <a:buFont typeface="Montserrat Light"/>
              <a:buNone/>
            </a:pPr>
            <a:r>
              <a:rPr lang="en-US" i="0">
                <a:solidFill>
                  <a:schemeClr val="dk2"/>
                </a:solidFill>
                <a:latin typeface="Montserrat Medium"/>
                <a:ea typeface="Montserrat Medium"/>
                <a:cs typeface="Montserrat Medium"/>
                <a:sym typeface="Montserrat Medium"/>
              </a:rPr>
              <a:t>The CAMARA GitHub</a:t>
            </a:r>
            <a:r>
              <a:rPr lang="en-US" b="0" i="0">
                <a:solidFill>
                  <a:schemeClr val="dk2"/>
                </a:solidFill>
                <a:latin typeface="Montserrat SemiBold"/>
                <a:ea typeface="Montserrat SemiBold"/>
                <a:cs typeface="Montserrat SemiBold"/>
                <a:sym typeface="Montserrat SemiBold"/>
              </a:rPr>
              <a:t> </a:t>
            </a:r>
            <a:r>
              <a:rPr lang="en-US" i="0" u="sng">
                <a:solidFill>
                  <a:srgbClr val="3A9BF3"/>
                </a:solidFill>
                <a:latin typeface="Montserrat Medium"/>
                <a:ea typeface="Montserrat Medium"/>
                <a:cs typeface="Montserrat Medium"/>
                <a:sym typeface="Montserrat Medium"/>
                <a:hlinkClick r:id="rId5">
                  <a:extLst>
                    <a:ext uri="{A12FA001-AC4F-418D-AE19-62706E023703}">
                      <ahyp:hlinkClr xmlns:ahyp="http://schemas.microsoft.com/office/drawing/2018/hyperlinkcolor" xmlns="" val="tx"/>
                    </a:ext>
                  </a:extLst>
                </a:hlinkClick>
              </a:rPr>
              <a:t>https://github.com/camaraproject</a:t>
            </a:r>
            <a:r>
              <a:rPr lang="en-US" b="0" i="0">
                <a:solidFill>
                  <a:schemeClr val="dk2"/>
                </a:solidFill>
                <a:latin typeface="Montserrat Light"/>
                <a:ea typeface="Montserrat Light"/>
                <a:cs typeface="Montserrat Light"/>
                <a:sym typeface="Montserrat Light"/>
              </a:rPr>
              <a:t> can be accessed without any prerequisite.</a:t>
            </a:r>
            <a:r>
              <a:rPr lang="en-US">
                <a:solidFill>
                  <a:schemeClr val="dk2"/>
                </a:solidFill>
                <a:latin typeface="Montserrat Light"/>
                <a:ea typeface="Montserrat Light"/>
                <a:cs typeface="Montserrat Light"/>
                <a:sym typeface="Montserrat Light"/>
              </a:rPr>
              <a:t> </a:t>
            </a:r>
            <a:r>
              <a:rPr lang="en-US" b="0" i="0">
                <a:solidFill>
                  <a:schemeClr val="dk2"/>
                </a:solidFill>
                <a:latin typeface="Montserrat Light"/>
                <a:ea typeface="Montserrat Light"/>
                <a:cs typeface="Montserrat Light"/>
                <a:sym typeface="Montserrat Light"/>
              </a:rPr>
              <a:t>To create issues and start contributing to CAMARA you need a free GitHub account. </a:t>
            </a:r>
            <a:endParaRPr b="0" i="0">
              <a:solidFill>
                <a:schemeClr val="dk2"/>
              </a:solidFill>
              <a:latin typeface="Montserrat Light"/>
              <a:ea typeface="Montserrat Light"/>
              <a:cs typeface="Montserrat Light"/>
              <a:sym typeface="Montserrat Ligh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p37"/>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Joining CAMARA as Developer</a:t>
            </a:r>
            <a:endParaRPr/>
          </a:p>
        </p:txBody>
      </p:sp>
      <p:sp>
        <p:nvSpPr>
          <p:cNvPr id="994" name="Google Shape;994;p37"/>
          <p:cNvSpPr txBox="1">
            <a:spLocks noGrp="1"/>
          </p:cNvSpPr>
          <p:nvPr>
            <p:ph type="body" idx="1"/>
          </p:nvPr>
        </p:nvSpPr>
        <p:spPr>
          <a:xfrm>
            <a:off x="520575" y="1811708"/>
            <a:ext cx="10944300" cy="1531800"/>
          </a:xfrm>
          <a:prstGeom prst="rect">
            <a:avLst/>
          </a:prstGeom>
          <a:noFill/>
          <a:ln>
            <a:noFill/>
          </a:ln>
        </p:spPr>
        <p:txBody>
          <a:bodyPr spcFirstLastPara="1" wrap="square" lIns="0" tIns="0" rIns="0" bIns="0" anchor="t" anchorCtr="0">
            <a:noAutofit/>
          </a:bodyPr>
          <a:lstStyle/>
          <a:p>
            <a:pPr marL="0" lvl="0" indent="0" algn="l" rtl="0">
              <a:lnSpc>
                <a:spcPct val="104000"/>
              </a:lnSpc>
              <a:spcBef>
                <a:spcPts val="0"/>
              </a:spcBef>
              <a:spcAft>
                <a:spcPts val="0"/>
              </a:spcAft>
              <a:buClr>
                <a:schemeClr val="dk2"/>
              </a:buClr>
              <a:buSzPts val="1500"/>
              <a:buNone/>
            </a:pPr>
            <a:r>
              <a:rPr lang="en-US" sz="1400" dirty="0">
                <a:latin typeface="Montserrat Medium"/>
                <a:ea typeface="Montserrat Medium"/>
                <a:cs typeface="Montserrat Medium"/>
                <a:sym typeface="Montserrat Medium"/>
              </a:rPr>
              <a:t>Each API  in CAMARA is developed in a separate repository under a Sub Project or as an Independent Sandbox with (example QoD):</a:t>
            </a:r>
            <a:endParaRPr sz="1400" dirty="0">
              <a:latin typeface="Montserrat Medium"/>
              <a:ea typeface="Montserrat Medium"/>
              <a:cs typeface="Montserrat Medium"/>
              <a:sym typeface="Montserrat Medium"/>
            </a:endParaRPr>
          </a:p>
          <a:p>
            <a:pPr marL="285750" lvl="0" indent="-279400" algn="l" rtl="0">
              <a:lnSpc>
                <a:spcPct val="104000"/>
              </a:lnSpc>
              <a:spcBef>
                <a:spcPts val="1200"/>
              </a:spcBef>
              <a:spcAft>
                <a:spcPts val="0"/>
              </a:spcAft>
              <a:buClr>
                <a:srgbClr val="3A9BF3"/>
              </a:buClr>
              <a:buSzPts val="1400"/>
              <a:buFont typeface="Montserrat"/>
              <a:buChar char="•"/>
            </a:pPr>
            <a:r>
              <a:rPr lang="en-US" sz="1400" dirty="0">
                <a:latin typeface="Montserrat Light"/>
                <a:ea typeface="Montserrat Light"/>
                <a:cs typeface="Montserrat Light"/>
                <a:sym typeface="Montserrat Light"/>
              </a:rPr>
              <a:t>A dedicated lead repository (containing API definition and API documentation)</a:t>
            </a:r>
            <a:endParaRPr sz="1400" dirty="0"/>
          </a:p>
          <a:p>
            <a:pPr marL="285750" lvl="0" indent="-279400" algn="l" rtl="0">
              <a:lnSpc>
                <a:spcPct val="104000"/>
              </a:lnSpc>
              <a:spcBef>
                <a:spcPts val="1200"/>
              </a:spcBef>
              <a:spcAft>
                <a:spcPts val="0"/>
              </a:spcAft>
              <a:buClr>
                <a:srgbClr val="3A9BF3"/>
              </a:buClr>
              <a:buSzPts val="1400"/>
              <a:buFont typeface="Montserrat"/>
              <a:buChar char="•"/>
            </a:pPr>
            <a:r>
              <a:rPr lang="en-US" sz="1400" dirty="0">
                <a:latin typeface="Montserrat Light"/>
                <a:ea typeface="Montserrat Light"/>
                <a:cs typeface="Montserrat Light"/>
                <a:sym typeface="Montserrat Light"/>
              </a:rPr>
              <a:t>0…n provider implementation repositories (containing API code)</a:t>
            </a:r>
            <a:endParaRPr sz="1400" dirty="0"/>
          </a:p>
          <a:p>
            <a:pPr marL="285750" lvl="0" indent="-279400" algn="l" rtl="0">
              <a:lnSpc>
                <a:spcPct val="104000"/>
              </a:lnSpc>
              <a:spcBef>
                <a:spcPts val="1200"/>
              </a:spcBef>
              <a:spcAft>
                <a:spcPts val="0"/>
              </a:spcAft>
              <a:buClr>
                <a:srgbClr val="3A9BF3"/>
              </a:buClr>
              <a:buSzPts val="1400"/>
              <a:buFont typeface="Montserrat"/>
              <a:buChar char="•"/>
            </a:pPr>
            <a:r>
              <a:rPr lang="en-US" sz="1400" dirty="0">
                <a:latin typeface="Montserrat Light"/>
                <a:ea typeface="Montserrat Light"/>
                <a:cs typeface="Montserrat Light"/>
                <a:sym typeface="Montserrat Light"/>
              </a:rPr>
              <a:t>A dedicated mailing list and meeting schedule to discuss progress/issues on the APIs</a:t>
            </a:r>
            <a:endParaRPr sz="1400" dirty="0">
              <a:latin typeface="Montserrat Light"/>
              <a:ea typeface="Montserrat Light"/>
              <a:cs typeface="Montserrat Light"/>
              <a:sym typeface="Montserrat Light"/>
            </a:endParaRPr>
          </a:p>
        </p:txBody>
      </p:sp>
      <p:pic>
        <p:nvPicPr>
          <p:cNvPr id="995" name="Google Shape;995;p37"/>
          <p:cNvPicPr preferRelativeResize="0"/>
          <p:nvPr/>
        </p:nvPicPr>
        <p:blipFill rotWithShape="1">
          <a:blip r:embed="rId3">
            <a:alphaModFix/>
          </a:blip>
          <a:srcRect/>
          <a:stretch/>
        </p:blipFill>
        <p:spPr>
          <a:xfrm>
            <a:off x="520573" y="3422103"/>
            <a:ext cx="5409937" cy="2876094"/>
          </a:xfrm>
          <a:prstGeom prst="rect">
            <a:avLst/>
          </a:prstGeom>
          <a:noFill/>
          <a:ln w="19050" cap="flat" cmpd="sng">
            <a:solidFill>
              <a:srgbClr val="3A9BF3"/>
            </a:solidFill>
            <a:prstDash val="solid"/>
            <a:round/>
            <a:headEnd type="none" w="sm" len="sm"/>
            <a:tailEnd type="none" w="sm" len="sm"/>
          </a:ln>
        </p:spPr>
      </p:pic>
      <p:pic>
        <p:nvPicPr>
          <p:cNvPr id="996" name="Google Shape;996;p37"/>
          <p:cNvPicPr preferRelativeResize="0"/>
          <p:nvPr/>
        </p:nvPicPr>
        <p:blipFill rotWithShape="1">
          <a:blip r:embed="rId4">
            <a:alphaModFix/>
          </a:blip>
          <a:srcRect/>
          <a:stretch/>
        </p:blipFill>
        <p:spPr>
          <a:xfrm>
            <a:off x="6939629" y="3422103"/>
            <a:ext cx="3643592" cy="2876094"/>
          </a:xfrm>
          <a:prstGeom prst="rect">
            <a:avLst/>
          </a:prstGeom>
          <a:noFill/>
          <a:ln w="19050" cap="flat" cmpd="sng">
            <a:solidFill>
              <a:srgbClr val="3A9BF3"/>
            </a:solidFill>
            <a:prstDash val="solid"/>
            <a:round/>
            <a:headEnd type="none" w="sm" len="sm"/>
            <a:tailEnd type="none" w="sm" len="sm"/>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p38"/>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Joining a Sub Project as Developer</a:t>
            </a:r>
            <a:endParaRPr/>
          </a:p>
        </p:txBody>
      </p:sp>
      <p:sp>
        <p:nvSpPr>
          <p:cNvPr id="1004" name="Google Shape;1004;p38"/>
          <p:cNvSpPr txBox="1">
            <a:spLocks noGrp="1"/>
          </p:cNvSpPr>
          <p:nvPr>
            <p:ph type="body" idx="1"/>
          </p:nvPr>
        </p:nvSpPr>
        <p:spPr>
          <a:xfrm>
            <a:off x="444373" y="1890347"/>
            <a:ext cx="10944225" cy="271740"/>
          </a:xfrm>
          <a:prstGeom prst="rect">
            <a:avLst/>
          </a:prstGeom>
          <a:noFill/>
          <a:ln>
            <a:noFill/>
          </a:ln>
        </p:spPr>
        <p:txBody>
          <a:bodyPr spcFirstLastPara="1" wrap="square" lIns="0" tIns="0" rIns="0" bIns="0" anchor="t" anchorCtr="0">
            <a:noAutofit/>
          </a:bodyPr>
          <a:lstStyle/>
          <a:p>
            <a:pPr marL="0" lvl="0" indent="0" algn="l" rtl="0">
              <a:lnSpc>
                <a:spcPct val="104000"/>
              </a:lnSpc>
              <a:spcBef>
                <a:spcPts val="0"/>
              </a:spcBef>
              <a:spcAft>
                <a:spcPts val="0"/>
              </a:spcAft>
              <a:buClr>
                <a:schemeClr val="dk2"/>
              </a:buClr>
              <a:buSzPts val="1500"/>
              <a:buNone/>
            </a:pPr>
            <a:r>
              <a:rPr lang="en-US" sz="1400">
                <a:latin typeface="Montserrat Medium"/>
                <a:ea typeface="Montserrat Medium"/>
                <a:cs typeface="Montserrat Medium"/>
                <a:sym typeface="Montserrat Medium"/>
              </a:rPr>
              <a:t>To join a Sub Project</a:t>
            </a:r>
            <a:r>
              <a:rPr lang="en-US" sz="1400">
                <a:latin typeface="Montserrat SemiBold"/>
                <a:ea typeface="Montserrat SemiBold"/>
                <a:cs typeface="Montserrat SemiBold"/>
                <a:sym typeface="Montserrat SemiBold"/>
              </a:rPr>
              <a:t> </a:t>
            </a:r>
            <a:r>
              <a:rPr lang="en-US" sz="1400"/>
              <a:t>please have a look into its Readme.md (example Quality on Demand):</a:t>
            </a:r>
            <a:endParaRPr sz="1400"/>
          </a:p>
          <a:p>
            <a:pPr marL="0" lvl="0" indent="0" algn="l" rtl="0">
              <a:lnSpc>
                <a:spcPct val="104000"/>
              </a:lnSpc>
              <a:spcBef>
                <a:spcPts val="1200"/>
              </a:spcBef>
              <a:spcAft>
                <a:spcPts val="0"/>
              </a:spcAft>
              <a:buClr>
                <a:schemeClr val="dk2"/>
              </a:buClr>
              <a:buSzPts val="1500"/>
              <a:buNone/>
            </a:pPr>
            <a:endParaRPr sz="1400"/>
          </a:p>
        </p:txBody>
      </p:sp>
      <p:pic>
        <p:nvPicPr>
          <p:cNvPr id="2" name="Google Shape;1006;p38">
            <a:extLst>
              <a:ext uri="{FF2B5EF4-FFF2-40B4-BE49-F238E27FC236}">
                <a16:creationId xmlns:a16="http://schemas.microsoft.com/office/drawing/2014/main" xmlns="" id="{88479896-51A5-4AF2-1393-57DF9BDE92D8}"/>
              </a:ext>
            </a:extLst>
          </p:cNvPr>
          <p:cNvPicPr preferRelativeResize="0"/>
          <p:nvPr/>
        </p:nvPicPr>
        <p:blipFill rotWithShape="1">
          <a:blip r:embed="rId3">
            <a:alphaModFix/>
          </a:blip>
          <a:srcRect/>
          <a:stretch/>
        </p:blipFill>
        <p:spPr>
          <a:xfrm>
            <a:off x="5923173" y="2387229"/>
            <a:ext cx="4737286" cy="3684555"/>
          </a:xfrm>
          <a:prstGeom prst="rect">
            <a:avLst/>
          </a:prstGeom>
          <a:noFill/>
          <a:ln>
            <a:noFill/>
          </a:ln>
        </p:spPr>
      </p:pic>
      <p:sp>
        <p:nvSpPr>
          <p:cNvPr id="3" name="Google Shape;1008;p38">
            <a:extLst>
              <a:ext uri="{FF2B5EF4-FFF2-40B4-BE49-F238E27FC236}">
                <a16:creationId xmlns:a16="http://schemas.microsoft.com/office/drawing/2014/main" xmlns="" id="{2DFA9012-2C72-0B35-EE20-1C0B3A630068}"/>
              </a:ext>
            </a:extLst>
          </p:cNvPr>
          <p:cNvSpPr/>
          <p:nvPr/>
        </p:nvSpPr>
        <p:spPr>
          <a:xfrm>
            <a:off x="5761025" y="5569250"/>
            <a:ext cx="2466300" cy="364500"/>
          </a:xfrm>
          <a:prstGeom prst="ellipse">
            <a:avLst/>
          </a:prstGeom>
          <a:noFill/>
          <a:ln w="28575" cap="flat" cmpd="sng">
            <a:solidFill>
              <a:srgbClr val="FFBFA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ontserrat Light"/>
              <a:ea typeface="Montserrat Light"/>
              <a:cs typeface="Montserrat Light"/>
              <a:sym typeface="Montserrat Light"/>
            </a:endParaRPr>
          </a:p>
        </p:txBody>
      </p:sp>
      <p:pic>
        <p:nvPicPr>
          <p:cNvPr id="6" name="Google Shape;1005;p38">
            <a:extLst>
              <a:ext uri="{FF2B5EF4-FFF2-40B4-BE49-F238E27FC236}">
                <a16:creationId xmlns:a16="http://schemas.microsoft.com/office/drawing/2014/main" xmlns="" id="{36FE4E0E-91C7-D3F8-EA10-D00E963CED7E}"/>
              </a:ext>
            </a:extLst>
          </p:cNvPr>
          <p:cNvPicPr preferRelativeResize="0"/>
          <p:nvPr/>
        </p:nvPicPr>
        <p:blipFill rotWithShape="1">
          <a:blip r:embed="rId4">
            <a:alphaModFix/>
          </a:blip>
          <a:srcRect/>
          <a:stretch/>
        </p:blipFill>
        <p:spPr>
          <a:xfrm>
            <a:off x="444373" y="2387230"/>
            <a:ext cx="4854611" cy="3684555"/>
          </a:xfrm>
          <a:prstGeom prst="rect">
            <a:avLst/>
          </a:prstGeom>
          <a:noFill/>
          <a:ln>
            <a:noFill/>
          </a:ln>
        </p:spPr>
      </p:pic>
      <p:pic>
        <p:nvPicPr>
          <p:cNvPr id="7" name="Picture 2">
            <a:extLst>
              <a:ext uri="{FF2B5EF4-FFF2-40B4-BE49-F238E27FC236}">
                <a16:creationId xmlns:a16="http://schemas.microsoft.com/office/drawing/2014/main" xmlns="" id="{1D7636FE-1F7E-0783-D4AE-42728533C079}"/>
              </a:ext>
            </a:extLst>
          </p:cNvPr>
          <p:cNvPicPr>
            <a:picLocks noChangeAspect="1"/>
          </p:cNvPicPr>
          <p:nvPr/>
        </p:nvPicPr>
        <p:blipFill>
          <a:blip r:embed="rId5"/>
          <a:stretch>
            <a:fillRect/>
          </a:stretch>
        </p:blipFill>
        <p:spPr>
          <a:xfrm>
            <a:off x="425321" y="2162088"/>
            <a:ext cx="4947552" cy="3389020"/>
          </a:xfrm>
          <a:prstGeom prst="rect">
            <a:avLst/>
          </a:prstGeom>
        </p:spPr>
      </p:pic>
      <p:sp>
        <p:nvSpPr>
          <p:cNvPr id="8" name="Google Shape;1007;p38">
            <a:extLst>
              <a:ext uri="{FF2B5EF4-FFF2-40B4-BE49-F238E27FC236}">
                <a16:creationId xmlns:a16="http://schemas.microsoft.com/office/drawing/2014/main" xmlns="" id="{A16ACD82-7AAF-5698-D14A-30CA5EC4FBD5}"/>
              </a:ext>
            </a:extLst>
          </p:cNvPr>
          <p:cNvSpPr/>
          <p:nvPr/>
        </p:nvSpPr>
        <p:spPr>
          <a:xfrm>
            <a:off x="303975" y="5389025"/>
            <a:ext cx="5135400" cy="855600"/>
          </a:xfrm>
          <a:prstGeom prst="ellipse">
            <a:avLst/>
          </a:prstGeom>
          <a:noFill/>
          <a:ln w="28575" cap="flat" cmpd="sng">
            <a:solidFill>
              <a:srgbClr val="FFBFA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ontserrat Light"/>
              <a:ea typeface="Montserrat Light"/>
              <a:cs typeface="Montserrat Light"/>
              <a:sym typeface="Montserrat Ligh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p39"/>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Contributing to CAMARA</a:t>
            </a:r>
            <a:endParaRPr/>
          </a:p>
        </p:txBody>
      </p:sp>
      <p:sp>
        <p:nvSpPr>
          <p:cNvPr id="1016" name="Google Shape;1016;p39"/>
          <p:cNvSpPr txBox="1">
            <a:spLocks noGrp="1"/>
          </p:cNvSpPr>
          <p:nvPr>
            <p:ph type="body" idx="1"/>
          </p:nvPr>
        </p:nvSpPr>
        <p:spPr>
          <a:xfrm>
            <a:off x="520573" y="1890347"/>
            <a:ext cx="10944300" cy="271800"/>
          </a:xfrm>
          <a:prstGeom prst="rect">
            <a:avLst/>
          </a:prstGeom>
          <a:noFill/>
          <a:ln>
            <a:noFill/>
          </a:ln>
        </p:spPr>
        <p:txBody>
          <a:bodyPr spcFirstLastPara="1" wrap="square" lIns="0" tIns="0" rIns="0" bIns="0" anchor="t" anchorCtr="0">
            <a:noAutofit/>
          </a:bodyPr>
          <a:lstStyle/>
          <a:p>
            <a:pPr marL="0" lvl="0" indent="0" algn="l" rtl="0">
              <a:lnSpc>
                <a:spcPct val="104000"/>
              </a:lnSpc>
              <a:spcBef>
                <a:spcPts val="0"/>
              </a:spcBef>
              <a:spcAft>
                <a:spcPts val="0"/>
              </a:spcAft>
              <a:buClr>
                <a:schemeClr val="dk2"/>
              </a:buClr>
              <a:buSzPts val="1500"/>
              <a:buNone/>
            </a:pPr>
            <a:r>
              <a:rPr lang="en-US" sz="1400"/>
              <a:t>In the Project the “Fork and pull model” is used. Changes and contributions to CAMARA shall follow this process:</a:t>
            </a:r>
            <a:endParaRPr sz="1400"/>
          </a:p>
        </p:txBody>
      </p:sp>
      <p:pic>
        <p:nvPicPr>
          <p:cNvPr id="1017" name="Google Shape;1017;p39"/>
          <p:cNvPicPr preferRelativeResize="0"/>
          <p:nvPr/>
        </p:nvPicPr>
        <p:blipFill rotWithShape="1">
          <a:blip r:embed="rId3">
            <a:alphaModFix/>
          </a:blip>
          <a:srcRect/>
          <a:stretch/>
        </p:blipFill>
        <p:spPr>
          <a:xfrm>
            <a:off x="1947712" y="2162151"/>
            <a:ext cx="7626650" cy="3748227"/>
          </a:xfrm>
          <a:prstGeom prst="rect">
            <a:avLst/>
          </a:prstGeom>
          <a:noFill/>
          <a:ln>
            <a:noFill/>
          </a:ln>
        </p:spPr>
      </p:pic>
      <p:sp>
        <p:nvSpPr>
          <p:cNvPr id="1019" name="Google Shape;1019;p39"/>
          <p:cNvSpPr txBox="1"/>
          <p:nvPr/>
        </p:nvSpPr>
        <p:spPr>
          <a:xfrm>
            <a:off x="1671438" y="6049975"/>
            <a:ext cx="8179200" cy="253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400"/>
              <a:buFont typeface="Montserrat Light"/>
              <a:buNone/>
            </a:pPr>
            <a:r>
              <a:rPr lang="en-US" i="0" u="sng" strike="noStrike" cap="none">
                <a:solidFill>
                  <a:srgbClr val="3A9BF3"/>
                </a:solidFill>
                <a:latin typeface="Montserrat Medium"/>
                <a:ea typeface="Montserrat Medium"/>
                <a:cs typeface="Montserrat Medium"/>
                <a:sym typeface="Montserrat Medium"/>
                <a:hlinkClick r:id="rId4">
                  <a:extLst>
                    <a:ext uri="{A12FA001-AC4F-418D-AE19-62706E023703}">
                      <ahyp:hlinkClr xmlns:ahyp="http://schemas.microsoft.com/office/drawing/2018/hyperlinkcolor" xmlns="" val="tx"/>
                    </a:ext>
                  </a:extLst>
                </a:hlinkClick>
              </a:rPr>
              <a:t>t</a:t>
            </a:r>
            <a:r>
              <a:rPr lang="en-US" u="sng">
                <a:solidFill>
                  <a:srgbClr val="3A9BF3"/>
                </a:solidFill>
                <a:latin typeface="Montserrat Medium"/>
                <a:ea typeface="Montserrat Medium"/>
                <a:cs typeface="Montserrat Medium"/>
                <a:sym typeface="Montserrat Medium"/>
              </a:rPr>
              <a:t>https://github.com/camaraproject/Governance/blob/main/ProjectStructureAndRoles.md</a:t>
            </a:r>
            <a:endParaRPr i="0" u="none" strike="noStrike" cap="none">
              <a:solidFill>
                <a:srgbClr val="3A9BF3"/>
              </a:solidFill>
              <a:latin typeface="Montserrat Medium"/>
              <a:ea typeface="Montserrat Medium"/>
              <a:cs typeface="Montserrat Medium"/>
              <a:sym typeface="Montserrat Medium"/>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24"/>
        <p:cNvGrpSpPr/>
        <p:nvPr/>
      </p:nvGrpSpPr>
      <p:grpSpPr>
        <a:xfrm>
          <a:off x="0" y="0"/>
          <a:ext cx="0" cy="0"/>
          <a:chOff x="0" y="0"/>
          <a:chExt cx="0" cy="0"/>
        </a:xfrm>
      </p:grpSpPr>
      <p:sp>
        <p:nvSpPr>
          <p:cNvPr id="1025" name="Google Shape;1025;p40"/>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Benefit for operators to implement</a:t>
            </a:r>
            <a:br>
              <a:rPr lang="en-US"/>
            </a:br>
            <a:r>
              <a:rPr lang="en-US"/>
              <a:t>CAMARA APIs in their networks</a:t>
            </a:r>
            <a:endParaRPr/>
          </a:p>
        </p:txBody>
      </p:sp>
      <p:sp>
        <p:nvSpPr>
          <p:cNvPr id="1026" name="Google Shape;1026;p40"/>
          <p:cNvSpPr txBox="1">
            <a:spLocks noGrp="1"/>
          </p:cNvSpPr>
          <p:nvPr>
            <p:ph type="body" idx="1"/>
          </p:nvPr>
        </p:nvSpPr>
        <p:spPr>
          <a:xfrm>
            <a:off x="444373" y="1890346"/>
            <a:ext cx="10944225" cy="4124383"/>
          </a:xfrm>
          <a:prstGeom prst="rect">
            <a:avLst/>
          </a:prstGeom>
          <a:noFill/>
          <a:ln>
            <a:noFill/>
          </a:ln>
        </p:spPr>
        <p:txBody>
          <a:bodyPr spcFirstLastPara="1" wrap="square" lIns="0" tIns="0" rIns="0" bIns="0" anchor="t" anchorCtr="0">
            <a:noAutofit/>
          </a:bodyPr>
          <a:lstStyle/>
          <a:p>
            <a:pPr marL="0" lvl="0" indent="0" algn="l" rtl="0">
              <a:lnSpc>
                <a:spcPct val="104000"/>
              </a:lnSpc>
              <a:spcBef>
                <a:spcPts val="0"/>
              </a:spcBef>
              <a:spcAft>
                <a:spcPts val="0"/>
              </a:spcAft>
              <a:buClr>
                <a:schemeClr val="dk2"/>
              </a:buClr>
              <a:buSzPts val="1500"/>
              <a:buNone/>
            </a:pPr>
            <a:r>
              <a:rPr lang="en-US" sz="2000" dirty="0">
                <a:latin typeface="Montserrat Medium"/>
                <a:ea typeface="Montserrat Medium"/>
                <a:cs typeface="Montserrat Medium"/>
                <a:sym typeface="Montserrat Medium"/>
              </a:rPr>
              <a:t>Operators have made high investments </a:t>
            </a:r>
            <a:r>
              <a:rPr lang="en-US" sz="2000" dirty="0"/>
              <a:t>in</a:t>
            </a:r>
            <a:endParaRPr sz="2000" dirty="0"/>
          </a:p>
          <a:p>
            <a:pPr marL="285750" lvl="0" indent="-317500" algn="l" rtl="0">
              <a:lnSpc>
                <a:spcPct val="104000"/>
              </a:lnSpc>
              <a:spcBef>
                <a:spcPts val="1200"/>
              </a:spcBef>
              <a:spcAft>
                <a:spcPts val="0"/>
              </a:spcAft>
              <a:buClr>
                <a:srgbClr val="3A9BF3"/>
              </a:buClr>
              <a:buSzPts val="2000"/>
              <a:buFont typeface="Montserrat"/>
              <a:buChar char="•"/>
            </a:pPr>
            <a:r>
              <a:rPr lang="en-US" sz="2000" dirty="0"/>
              <a:t>Spectrum licenses</a:t>
            </a:r>
            <a:endParaRPr sz="2000" dirty="0"/>
          </a:p>
          <a:p>
            <a:pPr marL="285750" lvl="0" indent="-317500" algn="l" rtl="0">
              <a:lnSpc>
                <a:spcPct val="104000"/>
              </a:lnSpc>
              <a:spcBef>
                <a:spcPts val="1200"/>
              </a:spcBef>
              <a:spcAft>
                <a:spcPts val="0"/>
              </a:spcAft>
              <a:buClr>
                <a:srgbClr val="3A9BF3"/>
              </a:buClr>
              <a:buSzPts val="2000"/>
              <a:buFont typeface="Montserrat"/>
              <a:buChar char="•"/>
            </a:pPr>
            <a:r>
              <a:rPr lang="en-US" sz="2000" dirty="0"/>
              <a:t>Infrastructure (cell towers, </a:t>
            </a:r>
            <a:r>
              <a:rPr lang="en-US" sz="2000" dirty="0" err="1"/>
              <a:t>fibre</a:t>
            </a:r>
            <a:r>
              <a:rPr lang="en-US" sz="2000" dirty="0"/>
              <a:t>)</a:t>
            </a:r>
            <a:endParaRPr sz="2000" dirty="0"/>
          </a:p>
          <a:p>
            <a:pPr marL="0" lvl="0" indent="0" algn="l" rtl="0">
              <a:lnSpc>
                <a:spcPct val="104000"/>
              </a:lnSpc>
              <a:spcBef>
                <a:spcPts val="1200"/>
              </a:spcBef>
              <a:spcAft>
                <a:spcPts val="0"/>
              </a:spcAft>
              <a:buClr>
                <a:schemeClr val="dk2"/>
              </a:buClr>
              <a:buSzPts val="1500"/>
              <a:buNone/>
            </a:pPr>
            <a:r>
              <a:rPr lang="en-US" sz="2000" dirty="0">
                <a:latin typeface="Montserrat Medium"/>
                <a:ea typeface="Montserrat Medium"/>
                <a:cs typeface="Montserrat Medium"/>
                <a:sym typeface="Montserrat Medium"/>
              </a:rPr>
              <a:t>Operators haven‘t been successful </a:t>
            </a:r>
            <a:r>
              <a:rPr lang="en-US" sz="2000" dirty="0"/>
              <a:t>in </a:t>
            </a:r>
            <a:endParaRPr sz="2000" dirty="0"/>
          </a:p>
          <a:p>
            <a:pPr marL="285750" lvl="0" indent="-317500" algn="l" rtl="0">
              <a:lnSpc>
                <a:spcPct val="104000"/>
              </a:lnSpc>
              <a:spcBef>
                <a:spcPts val="1200"/>
              </a:spcBef>
              <a:spcAft>
                <a:spcPts val="0"/>
              </a:spcAft>
              <a:buClr>
                <a:srgbClr val="3A9BF3"/>
              </a:buClr>
              <a:buSzPts val="2000"/>
              <a:buFont typeface="Montserrat"/>
              <a:buChar char="•"/>
            </a:pPr>
            <a:r>
              <a:rPr lang="en-US" sz="2000" dirty="0"/>
              <a:t>Increasing prices for connectivity contracts</a:t>
            </a:r>
            <a:endParaRPr sz="2000" dirty="0"/>
          </a:p>
          <a:p>
            <a:pPr marL="0" lvl="0" indent="0" algn="l" rtl="0">
              <a:lnSpc>
                <a:spcPct val="104000"/>
              </a:lnSpc>
              <a:spcBef>
                <a:spcPts val="1200"/>
              </a:spcBef>
              <a:spcAft>
                <a:spcPts val="0"/>
              </a:spcAft>
              <a:buNone/>
            </a:pPr>
            <a:endParaRPr sz="100" dirty="0"/>
          </a:p>
          <a:p>
            <a:pPr marL="0" lvl="0" indent="0" algn="l" rtl="0">
              <a:lnSpc>
                <a:spcPct val="104000"/>
              </a:lnSpc>
              <a:spcBef>
                <a:spcPts val="1200"/>
              </a:spcBef>
              <a:spcAft>
                <a:spcPts val="0"/>
              </a:spcAft>
              <a:buClr>
                <a:schemeClr val="accent2"/>
              </a:buClr>
              <a:buSzPts val="1500"/>
              <a:buNone/>
            </a:pPr>
            <a:r>
              <a:rPr lang="en-US" sz="2000" b="1" dirty="0">
                <a:solidFill>
                  <a:schemeClr val="accent2"/>
                </a:solidFill>
              </a:rPr>
              <a:t>CAMARA APIs open opportunities</a:t>
            </a:r>
            <a:endParaRPr sz="2000" b="1" dirty="0">
              <a:solidFill>
                <a:schemeClr val="accent2"/>
              </a:solidFill>
            </a:endParaRPr>
          </a:p>
          <a:p>
            <a:pPr marL="285750" lvl="0" indent="-317500" algn="l" rtl="0">
              <a:lnSpc>
                <a:spcPct val="104000"/>
              </a:lnSpc>
              <a:spcBef>
                <a:spcPts val="1200"/>
              </a:spcBef>
              <a:spcAft>
                <a:spcPts val="0"/>
              </a:spcAft>
              <a:buClr>
                <a:srgbClr val="3A9BF3"/>
              </a:buClr>
              <a:buSzPts val="2000"/>
              <a:buFont typeface="Montserrat"/>
              <a:buChar char="•"/>
            </a:pPr>
            <a:r>
              <a:rPr lang="en-US" sz="2000" b="1" dirty="0">
                <a:solidFill>
                  <a:schemeClr val="accent2"/>
                </a:solidFill>
              </a:rPr>
              <a:t>To monetize the high investments</a:t>
            </a:r>
            <a:endParaRPr sz="2000" b="1" dirty="0">
              <a:solidFill>
                <a:schemeClr val="accent2"/>
              </a:solidFill>
            </a:endParaRPr>
          </a:p>
          <a:p>
            <a:pPr marL="285750" lvl="0" indent="-317500" algn="l" rtl="0">
              <a:lnSpc>
                <a:spcPct val="104000"/>
              </a:lnSpc>
              <a:spcBef>
                <a:spcPts val="1200"/>
              </a:spcBef>
              <a:spcAft>
                <a:spcPts val="0"/>
              </a:spcAft>
              <a:buClr>
                <a:srgbClr val="3A9BF3"/>
              </a:buClr>
              <a:buSzPts val="2000"/>
              <a:buFont typeface="Montserrat"/>
              <a:buChar char="•"/>
            </a:pPr>
            <a:r>
              <a:rPr lang="en-US" sz="2000" b="1" dirty="0">
                <a:solidFill>
                  <a:schemeClr val="accent2"/>
                </a:solidFill>
              </a:rPr>
              <a:t>To improve customer experience</a:t>
            </a:r>
            <a:endParaRPr sz="2000" b="1" dirty="0">
              <a:solidFill>
                <a:schemeClr val="accent2"/>
              </a:solidFill>
            </a:endParaRPr>
          </a:p>
          <a:p>
            <a:pPr marL="285750" lvl="0" indent="-317500" algn="l" rtl="0">
              <a:lnSpc>
                <a:spcPct val="104000"/>
              </a:lnSpc>
              <a:spcBef>
                <a:spcPts val="1200"/>
              </a:spcBef>
              <a:spcAft>
                <a:spcPts val="0"/>
              </a:spcAft>
              <a:buClr>
                <a:srgbClr val="3A9BF3"/>
              </a:buClr>
              <a:buSzPts val="2000"/>
              <a:buFont typeface="Montserrat"/>
              <a:buChar char="•"/>
            </a:pPr>
            <a:r>
              <a:rPr lang="en-US" sz="2000" b="1" dirty="0">
                <a:solidFill>
                  <a:schemeClr val="accent2"/>
                </a:solidFill>
              </a:rPr>
              <a:t>For market positioning</a:t>
            </a:r>
            <a:endParaRPr sz="2000" b="1" dirty="0">
              <a:solidFill>
                <a:schemeClr val="accent2"/>
              </a:solidFill>
            </a:endParaRPr>
          </a:p>
        </p:txBody>
      </p:sp>
      <p:pic>
        <p:nvPicPr>
          <p:cNvPr id="1027" name="Google Shape;1027;p40" descr="Ein Bild, das Grafiken, Clipart, Symbol, Grafikdesign enthält.&#10;&#10;Automatisch generierte Beschreibung"/>
          <p:cNvPicPr preferRelativeResize="0"/>
          <p:nvPr/>
        </p:nvPicPr>
        <p:blipFill rotWithShape="1">
          <a:blip r:embed="rId3">
            <a:alphaModFix/>
          </a:blip>
          <a:srcRect/>
          <a:stretch/>
        </p:blipFill>
        <p:spPr>
          <a:xfrm>
            <a:off x="6961437" y="2112644"/>
            <a:ext cx="3545436" cy="3545436"/>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p41"/>
          <p:cNvSpPr/>
          <p:nvPr/>
        </p:nvSpPr>
        <p:spPr>
          <a:xfrm>
            <a:off x="6012175" y="1726425"/>
            <a:ext cx="5181000" cy="4112400"/>
          </a:xfrm>
          <a:prstGeom prst="ellipse">
            <a:avLst/>
          </a:prstGeom>
          <a:noFill/>
          <a:ln w="19050" cap="flat" cmpd="sng">
            <a:solidFill>
              <a:srgbClr val="3A9BF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Montserrat Light"/>
              <a:buNone/>
            </a:pPr>
            <a:endParaRPr sz="1800">
              <a:solidFill>
                <a:schemeClr val="dk1"/>
              </a:solidFill>
              <a:latin typeface="Montserrat Light"/>
              <a:ea typeface="Montserrat Light"/>
              <a:cs typeface="Montserrat Light"/>
              <a:sym typeface="Montserrat Light"/>
            </a:endParaRPr>
          </a:p>
        </p:txBody>
      </p:sp>
      <p:sp>
        <p:nvSpPr>
          <p:cNvPr id="1035" name="Google Shape;1035;p41"/>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What have operators to do to</a:t>
            </a:r>
            <a:br>
              <a:rPr lang="en-US"/>
            </a:br>
            <a:r>
              <a:rPr lang="en-US"/>
              <a:t>implement Network APIs?</a:t>
            </a:r>
            <a:endParaRPr/>
          </a:p>
        </p:txBody>
      </p:sp>
      <p:sp>
        <p:nvSpPr>
          <p:cNvPr id="1036" name="Google Shape;1036;p41"/>
          <p:cNvSpPr txBox="1">
            <a:spLocks noGrp="1"/>
          </p:cNvSpPr>
          <p:nvPr>
            <p:ph type="body" idx="1"/>
          </p:nvPr>
        </p:nvSpPr>
        <p:spPr>
          <a:xfrm>
            <a:off x="444375" y="2079075"/>
            <a:ext cx="6466200" cy="2280600"/>
          </a:xfrm>
          <a:prstGeom prst="rect">
            <a:avLst/>
          </a:prstGeom>
          <a:noFill/>
          <a:ln>
            <a:noFill/>
          </a:ln>
        </p:spPr>
        <p:txBody>
          <a:bodyPr spcFirstLastPara="1" wrap="square" lIns="0" tIns="0" rIns="0" bIns="0" anchor="t" anchorCtr="0">
            <a:noAutofit/>
          </a:bodyPr>
          <a:lstStyle/>
          <a:p>
            <a:pPr marL="285750" lvl="0" indent="-311150" algn="l" rtl="0">
              <a:lnSpc>
                <a:spcPct val="104000"/>
              </a:lnSpc>
              <a:spcBef>
                <a:spcPts val="0"/>
              </a:spcBef>
              <a:spcAft>
                <a:spcPts val="0"/>
              </a:spcAft>
              <a:buClr>
                <a:srgbClr val="3A9BF3"/>
              </a:buClr>
              <a:buSzPts val="2000"/>
              <a:buFont typeface="Montserrat"/>
              <a:buChar char="•"/>
            </a:pPr>
            <a:r>
              <a:rPr lang="en-US" sz="2000" dirty="0">
                <a:latin typeface="Montserrat Medium"/>
                <a:ea typeface="Montserrat Medium"/>
                <a:cs typeface="Montserrat Medium"/>
                <a:sym typeface="Montserrat Medium"/>
              </a:rPr>
              <a:t>Implement CAMARA APIs based on the network capabilities</a:t>
            </a:r>
            <a:endParaRPr sz="2000" dirty="0">
              <a:latin typeface="Montserrat Medium"/>
              <a:ea typeface="Montserrat Medium"/>
              <a:cs typeface="Montserrat Medium"/>
              <a:sym typeface="Montserrat Medium"/>
            </a:endParaRPr>
          </a:p>
          <a:p>
            <a:pPr marL="285750" lvl="0" indent="-311150" algn="l" rtl="0">
              <a:lnSpc>
                <a:spcPct val="104000"/>
              </a:lnSpc>
              <a:spcBef>
                <a:spcPts val="1200"/>
              </a:spcBef>
              <a:spcAft>
                <a:spcPts val="0"/>
              </a:spcAft>
              <a:buClr>
                <a:srgbClr val="3A9BF3"/>
              </a:buClr>
              <a:buSzPts val="2000"/>
              <a:buFont typeface="Montserrat"/>
              <a:buChar char="•"/>
            </a:pPr>
            <a:r>
              <a:rPr lang="en-US" sz="2000" dirty="0">
                <a:latin typeface="Montserrat Medium"/>
                <a:ea typeface="Montserrat Medium"/>
                <a:cs typeface="Montserrat Medium"/>
                <a:sym typeface="Montserrat Medium"/>
              </a:rPr>
              <a:t>Implement an exposure infrastructure,</a:t>
            </a:r>
            <a:br>
              <a:rPr lang="en-US" sz="2000" dirty="0">
                <a:latin typeface="Montserrat Medium"/>
                <a:ea typeface="Montserrat Medium"/>
                <a:cs typeface="Montserrat Medium"/>
                <a:sym typeface="Montserrat Medium"/>
              </a:rPr>
            </a:br>
            <a:r>
              <a:rPr lang="en-US" sz="2000" dirty="0">
                <a:latin typeface="Montserrat Medium"/>
                <a:ea typeface="Montserrat Medium"/>
                <a:cs typeface="Montserrat Medium"/>
                <a:sym typeface="Montserrat Medium"/>
              </a:rPr>
              <a:t>with </a:t>
            </a:r>
            <a:r>
              <a:rPr lang="en-US" sz="2000" dirty="0" err="1">
                <a:latin typeface="Montserrat Medium"/>
                <a:ea typeface="Montserrat Medium"/>
                <a:cs typeface="Montserrat Medium"/>
                <a:sym typeface="Montserrat Medium"/>
              </a:rPr>
              <a:t>TMForum</a:t>
            </a:r>
            <a:r>
              <a:rPr lang="en-US" sz="2000" dirty="0">
                <a:latin typeface="Montserrat Medium"/>
                <a:ea typeface="Montserrat Medium"/>
                <a:cs typeface="Montserrat Medium"/>
                <a:sym typeface="Montserrat Medium"/>
              </a:rPr>
              <a:t> Operate APIs</a:t>
            </a:r>
            <a:endParaRPr sz="2000" dirty="0">
              <a:latin typeface="Montserrat Medium"/>
              <a:ea typeface="Montserrat Medium"/>
              <a:cs typeface="Montserrat Medium"/>
              <a:sym typeface="Montserrat Medium"/>
            </a:endParaRPr>
          </a:p>
          <a:p>
            <a:pPr marL="285750" lvl="0" indent="-311150" algn="l" rtl="0">
              <a:lnSpc>
                <a:spcPct val="104000"/>
              </a:lnSpc>
              <a:spcBef>
                <a:spcPts val="1200"/>
              </a:spcBef>
              <a:spcAft>
                <a:spcPts val="0"/>
              </a:spcAft>
              <a:buClr>
                <a:srgbClr val="3A9BF3"/>
              </a:buClr>
              <a:buSzPts val="2000"/>
              <a:buFont typeface="Montserrat"/>
              <a:buChar char="•"/>
            </a:pPr>
            <a:r>
              <a:rPr lang="en-US" sz="2000" dirty="0">
                <a:latin typeface="Montserrat Medium"/>
                <a:ea typeface="Montserrat Medium"/>
                <a:cs typeface="Montserrat Medium"/>
                <a:sym typeface="Montserrat Medium"/>
              </a:rPr>
              <a:t>Define commercial products</a:t>
            </a:r>
            <a:endParaRPr sz="2000" dirty="0">
              <a:latin typeface="Montserrat Medium"/>
              <a:ea typeface="Montserrat Medium"/>
              <a:cs typeface="Montserrat Medium"/>
              <a:sym typeface="Montserrat Medium"/>
            </a:endParaRPr>
          </a:p>
          <a:p>
            <a:pPr marL="285750" lvl="0" indent="-311150" algn="l" rtl="0">
              <a:lnSpc>
                <a:spcPct val="104000"/>
              </a:lnSpc>
              <a:spcBef>
                <a:spcPts val="1200"/>
              </a:spcBef>
              <a:spcAft>
                <a:spcPts val="0"/>
              </a:spcAft>
              <a:buClr>
                <a:srgbClr val="3A9BF3"/>
              </a:buClr>
              <a:buSzPts val="2000"/>
              <a:buFont typeface="Montserrat"/>
              <a:buChar char="•"/>
            </a:pPr>
            <a:r>
              <a:rPr lang="en-US" sz="2000" dirty="0">
                <a:latin typeface="Montserrat Medium"/>
                <a:ea typeface="Montserrat Medium"/>
                <a:cs typeface="Montserrat Medium"/>
                <a:sym typeface="Montserrat Medium"/>
              </a:rPr>
              <a:t>Sell it</a:t>
            </a:r>
            <a:endParaRPr sz="2000" dirty="0">
              <a:latin typeface="Montserrat Medium"/>
              <a:ea typeface="Montserrat Medium"/>
              <a:cs typeface="Montserrat Medium"/>
              <a:sym typeface="Montserrat Medium"/>
            </a:endParaRPr>
          </a:p>
        </p:txBody>
      </p:sp>
      <p:pic>
        <p:nvPicPr>
          <p:cNvPr id="1037" name="Google Shape;1037;p41" descr="Ein Bild, das Schrift, Grafiken, Grafikdesign, Screenshot enthält.&#10;&#10;Automatisch generierte Beschreibung"/>
          <p:cNvPicPr preferRelativeResize="0"/>
          <p:nvPr/>
        </p:nvPicPr>
        <p:blipFill rotWithShape="1">
          <a:blip r:embed="rId3">
            <a:alphaModFix/>
          </a:blip>
          <a:srcRect/>
          <a:stretch/>
        </p:blipFill>
        <p:spPr>
          <a:xfrm>
            <a:off x="7217926" y="2331626"/>
            <a:ext cx="2769487" cy="533186"/>
          </a:xfrm>
          <a:prstGeom prst="rect">
            <a:avLst/>
          </a:prstGeom>
          <a:noFill/>
          <a:ln>
            <a:noFill/>
          </a:ln>
        </p:spPr>
      </p:pic>
      <p:pic>
        <p:nvPicPr>
          <p:cNvPr id="1038" name="Google Shape;1038;p41"/>
          <p:cNvPicPr preferRelativeResize="0"/>
          <p:nvPr/>
        </p:nvPicPr>
        <p:blipFill rotWithShape="1">
          <a:blip r:embed="rId4">
            <a:alphaModFix/>
          </a:blip>
          <a:srcRect/>
          <a:stretch/>
        </p:blipFill>
        <p:spPr>
          <a:xfrm>
            <a:off x="7217922" y="4568923"/>
            <a:ext cx="2769491" cy="664678"/>
          </a:xfrm>
          <a:prstGeom prst="rect">
            <a:avLst/>
          </a:prstGeom>
          <a:noFill/>
          <a:ln>
            <a:noFill/>
          </a:ln>
        </p:spPr>
      </p:pic>
      <p:grpSp>
        <p:nvGrpSpPr>
          <p:cNvPr id="1039" name="Google Shape;1039;p41"/>
          <p:cNvGrpSpPr/>
          <p:nvPr/>
        </p:nvGrpSpPr>
        <p:grpSpPr>
          <a:xfrm>
            <a:off x="7278100" y="3305544"/>
            <a:ext cx="2649616" cy="946355"/>
            <a:chOff x="8401741" y="3522259"/>
            <a:chExt cx="1935722" cy="691376"/>
          </a:xfrm>
        </p:grpSpPr>
        <p:pic>
          <p:nvPicPr>
            <p:cNvPr id="1040" name="Google Shape;1040;p41" descr="Ein Bild, das Text, ClipArt enthält.&#10;&#10;Automatisch generierte Beschreibung"/>
            <p:cNvPicPr preferRelativeResize="0"/>
            <p:nvPr/>
          </p:nvPicPr>
          <p:blipFill rotWithShape="1">
            <a:blip r:embed="rId5">
              <a:alphaModFix/>
            </a:blip>
            <a:srcRect/>
            <a:stretch/>
          </p:blipFill>
          <p:spPr>
            <a:xfrm>
              <a:off x="8401741" y="3522259"/>
              <a:ext cx="1935722" cy="302513"/>
            </a:xfrm>
            <a:prstGeom prst="rect">
              <a:avLst/>
            </a:prstGeom>
            <a:noFill/>
            <a:ln>
              <a:noFill/>
            </a:ln>
          </p:spPr>
        </p:pic>
        <p:pic>
          <p:nvPicPr>
            <p:cNvPr id="1041" name="Google Shape;1041;p41"/>
            <p:cNvPicPr preferRelativeResize="0"/>
            <p:nvPr/>
          </p:nvPicPr>
          <p:blipFill rotWithShape="1">
            <a:blip r:embed="rId6">
              <a:alphaModFix/>
            </a:blip>
            <a:srcRect/>
            <a:stretch/>
          </p:blipFill>
          <p:spPr>
            <a:xfrm>
              <a:off x="8401741" y="3884927"/>
              <a:ext cx="1935722" cy="328708"/>
            </a:xfrm>
            <a:prstGeom prst="rect">
              <a:avLst/>
            </a:prstGeom>
            <a:noFill/>
            <a:ln>
              <a:noFill/>
            </a:ln>
          </p:spPr>
        </p:pic>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p42"/>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What have operators to do to</a:t>
            </a:r>
            <a:br>
              <a:rPr lang="en-US"/>
            </a:br>
            <a:r>
              <a:rPr lang="en-US"/>
              <a:t>implement Network APIs?</a:t>
            </a:r>
            <a:endParaRPr/>
          </a:p>
        </p:txBody>
      </p:sp>
      <p:cxnSp>
        <p:nvCxnSpPr>
          <p:cNvPr id="1049" name="Google Shape;1049;p42"/>
          <p:cNvCxnSpPr/>
          <p:nvPr/>
        </p:nvCxnSpPr>
        <p:spPr>
          <a:xfrm>
            <a:off x="2725155" y="3750435"/>
            <a:ext cx="0" cy="324000"/>
          </a:xfrm>
          <a:prstGeom prst="straightConnector1">
            <a:avLst/>
          </a:prstGeom>
          <a:noFill/>
          <a:ln w="19050" cap="flat" cmpd="sng">
            <a:solidFill>
              <a:srgbClr val="FF0000"/>
            </a:solidFill>
            <a:prstDash val="solid"/>
            <a:round/>
            <a:headEnd type="none" w="sm" len="sm"/>
            <a:tailEnd type="none" w="sm" len="sm"/>
          </a:ln>
        </p:spPr>
      </p:cxnSp>
      <p:sp>
        <p:nvSpPr>
          <p:cNvPr id="1050" name="Google Shape;1050;p42"/>
          <p:cNvSpPr/>
          <p:nvPr/>
        </p:nvSpPr>
        <p:spPr>
          <a:xfrm>
            <a:off x="430668" y="5470453"/>
            <a:ext cx="6972588" cy="709198"/>
          </a:xfrm>
          <a:prstGeom prst="roundRect">
            <a:avLst>
              <a:gd name="adj" fmla="val 16667"/>
            </a:avLst>
          </a:prstGeom>
          <a:solidFill>
            <a:srgbClr val="FFFFFF"/>
          </a:solidFill>
          <a:ln w="12700" cap="flat" cmpd="sng">
            <a:solidFill>
              <a:schemeClr val="accent3"/>
            </a:solidFill>
            <a:prstDash val="solid"/>
            <a:round/>
            <a:headEnd type="none" w="sm" len="sm"/>
            <a:tailEnd type="none" w="sm" len="sm"/>
          </a:ln>
        </p:spPr>
        <p:txBody>
          <a:bodyPr spcFirstLastPara="1" wrap="square" lIns="72000" tIns="0" rIns="72000" bIns="72000" anchor="t" anchorCtr="0">
            <a:noAutofit/>
          </a:bodyPr>
          <a:lstStyle/>
          <a:p>
            <a:pPr marL="0" marR="0" lvl="0" indent="0" algn="ctr" rtl="0">
              <a:lnSpc>
                <a:spcPct val="100000"/>
              </a:lnSpc>
              <a:spcBef>
                <a:spcPts val="0"/>
              </a:spcBef>
              <a:spcAft>
                <a:spcPts val="0"/>
              </a:spcAft>
              <a:buClr>
                <a:schemeClr val="accent3"/>
              </a:buClr>
              <a:buSzPts val="1400"/>
              <a:buFont typeface="Montserrat Light"/>
              <a:buNone/>
            </a:pPr>
            <a:r>
              <a:rPr lang="en-US" sz="1400" b="1" i="0" u="none" strike="noStrike" cap="none">
                <a:solidFill>
                  <a:schemeClr val="accent3"/>
                </a:solidFill>
                <a:latin typeface="Montserrat Light"/>
                <a:ea typeface="Montserrat Light"/>
                <a:cs typeface="Montserrat Light"/>
                <a:sym typeface="Montserrat Light"/>
              </a:rPr>
              <a:t>Network / Backend </a:t>
            </a:r>
            <a:endParaRPr/>
          </a:p>
        </p:txBody>
      </p:sp>
      <p:sp>
        <p:nvSpPr>
          <p:cNvPr id="1051" name="Google Shape;1051;p42"/>
          <p:cNvSpPr/>
          <p:nvPr/>
        </p:nvSpPr>
        <p:spPr>
          <a:xfrm>
            <a:off x="6061945" y="5771883"/>
            <a:ext cx="1274725" cy="366143"/>
          </a:xfrm>
          <a:prstGeom prst="roundRect">
            <a:avLst>
              <a:gd name="adj" fmla="val 16667"/>
            </a:avLst>
          </a:prstGeom>
          <a:noFill/>
          <a:ln w="12700" cap="flat" cmpd="sng">
            <a:solidFill>
              <a:schemeClr val="accent3"/>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3"/>
              </a:buClr>
              <a:buSzPts val="1050"/>
              <a:buFont typeface="Montserrat Light"/>
              <a:buNone/>
            </a:pPr>
            <a:r>
              <a:rPr lang="en-US" sz="1050" b="1">
                <a:solidFill>
                  <a:schemeClr val="accent3"/>
                </a:solidFill>
                <a:latin typeface="Montserrat Light"/>
                <a:ea typeface="Montserrat Light"/>
                <a:cs typeface="Montserrat Light"/>
                <a:sym typeface="Montserrat Light"/>
              </a:rPr>
              <a:t>Cloud Capabilities</a:t>
            </a:r>
            <a:endParaRPr sz="1050" b="0" i="0" u="none" strike="noStrike" cap="none">
              <a:solidFill>
                <a:schemeClr val="accent3"/>
              </a:solidFill>
              <a:latin typeface="Montserrat Light"/>
              <a:ea typeface="Montserrat Light"/>
              <a:cs typeface="Montserrat Light"/>
              <a:sym typeface="Montserrat Light"/>
            </a:endParaRPr>
          </a:p>
        </p:txBody>
      </p:sp>
      <p:sp>
        <p:nvSpPr>
          <p:cNvPr id="1052" name="Google Shape;1052;p42"/>
          <p:cNvSpPr/>
          <p:nvPr/>
        </p:nvSpPr>
        <p:spPr>
          <a:xfrm>
            <a:off x="475492" y="5761822"/>
            <a:ext cx="1886708" cy="367878"/>
          </a:xfrm>
          <a:prstGeom prst="roundRect">
            <a:avLst>
              <a:gd name="adj" fmla="val 16667"/>
            </a:avLst>
          </a:prstGeom>
          <a:noFill/>
          <a:ln w="12700" cap="flat" cmpd="sng">
            <a:solidFill>
              <a:schemeClr val="accent3"/>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3"/>
              </a:buClr>
              <a:buSzPts val="1050"/>
              <a:buFont typeface="Montserrat Light"/>
              <a:buNone/>
            </a:pPr>
            <a:r>
              <a:rPr lang="en-US" sz="1050" b="1" i="0" u="none" strike="noStrike" cap="none">
                <a:solidFill>
                  <a:schemeClr val="accent3"/>
                </a:solidFill>
                <a:latin typeface="Montserrat Light"/>
                <a:ea typeface="Montserrat Light"/>
                <a:cs typeface="Montserrat Light"/>
                <a:sym typeface="Montserrat Light"/>
              </a:rPr>
              <a:t>Mobile Network </a:t>
            </a:r>
            <a:r>
              <a:rPr lang="en-US" sz="1050" b="1">
                <a:solidFill>
                  <a:schemeClr val="accent3"/>
                </a:solidFill>
                <a:latin typeface="Montserrat Light"/>
                <a:ea typeface="Montserrat Light"/>
                <a:cs typeface="Montserrat Light"/>
                <a:sym typeface="Montserrat Light"/>
              </a:rPr>
              <a:t>C</a:t>
            </a:r>
            <a:r>
              <a:rPr lang="en-US" sz="1050" b="1" i="0" u="none" strike="noStrike" cap="none">
                <a:solidFill>
                  <a:schemeClr val="accent3"/>
                </a:solidFill>
                <a:latin typeface="Montserrat Light"/>
                <a:ea typeface="Montserrat Light"/>
                <a:cs typeface="Montserrat Light"/>
                <a:sym typeface="Montserrat Light"/>
              </a:rPr>
              <a:t>apabilities</a:t>
            </a:r>
            <a:endParaRPr sz="1050" b="0" i="0" u="none" strike="noStrike" cap="none">
              <a:solidFill>
                <a:schemeClr val="accent3"/>
              </a:solidFill>
              <a:latin typeface="Montserrat Light"/>
              <a:ea typeface="Montserrat Light"/>
              <a:cs typeface="Montserrat Light"/>
              <a:sym typeface="Montserrat Light"/>
            </a:endParaRPr>
          </a:p>
        </p:txBody>
      </p:sp>
      <p:sp>
        <p:nvSpPr>
          <p:cNvPr id="1053" name="Google Shape;1053;p42"/>
          <p:cNvSpPr/>
          <p:nvPr/>
        </p:nvSpPr>
        <p:spPr>
          <a:xfrm>
            <a:off x="4179559" y="3302835"/>
            <a:ext cx="193030" cy="172794"/>
          </a:xfrm>
          <a:prstGeom prst="rect">
            <a:avLst/>
          </a:prstGeom>
          <a:solidFill>
            <a:schemeClr val="dk2"/>
          </a:solidFill>
          <a:ln>
            <a:noFill/>
          </a:ln>
        </p:spPr>
        <p:txBody>
          <a:bodyPr spcFirstLastPara="1" wrap="square" lIns="72000" tIns="72000" rIns="72000" bIns="72000" anchor="ctr" anchorCtr="0">
            <a:noAutofit/>
          </a:bodyPr>
          <a:lstStyle/>
          <a:p>
            <a:pPr marL="0" marR="0" lvl="0" indent="0" algn="ctr" rtl="0">
              <a:lnSpc>
                <a:spcPct val="100000"/>
              </a:lnSpc>
              <a:spcBef>
                <a:spcPts val="0"/>
              </a:spcBef>
              <a:spcAft>
                <a:spcPts val="0"/>
              </a:spcAft>
              <a:buClr>
                <a:schemeClr val="lt1"/>
              </a:buClr>
              <a:buSzPts val="1800"/>
              <a:buFont typeface="Montserrat Light"/>
              <a:buNone/>
            </a:pPr>
            <a:endParaRPr sz="1800" b="0" i="0" u="none" strike="noStrike" cap="none">
              <a:solidFill>
                <a:srgbClr val="FFFFFF"/>
              </a:solidFill>
              <a:latin typeface="Montserrat Light"/>
              <a:ea typeface="Montserrat Light"/>
              <a:cs typeface="Montserrat Light"/>
              <a:sym typeface="Montserrat Light"/>
            </a:endParaRPr>
          </a:p>
        </p:txBody>
      </p:sp>
      <p:sp>
        <p:nvSpPr>
          <p:cNvPr id="1054" name="Google Shape;1054;p42"/>
          <p:cNvSpPr/>
          <p:nvPr/>
        </p:nvSpPr>
        <p:spPr>
          <a:xfrm>
            <a:off x="430669" y="2805662"/>
            <a:ext cx="3285737" cy="933751"/>
          </a:xfrm>
          <a:prstGeom prst="roundRect">
            <a:avLst>
              <a:gd name="adj" fmla="val 16667"/>
            </a:avLst>
          </a:prstGeom>
          <a:solidFill>
            <a:srgbClr val="FFFFFF"/>
          </a:solidFill>
          <a:ln w="12700" cap="flat" cmpd="sng">
            <a:solidFill>
              <a:schemeClr val="dk1"/>
            </a:solidFill>
            <a:prstDash val="solid"/>
            <a:miter lim="800000"/>
            <a:headEnd type="none" w="sm" len="sm"/>
            <a:tailEnd type="none" w="sm" len="sm"/>
          </a:ln>
        </p:spPr>
        <p:txBody>
          <a:bodyPr spcFirstLastPara="1" wrap="square" lIns="72000" tIns="72000" rIns="72000" bIns="72000" anchor="ctr" anchorCtr="0">
            <a:noAutofit/>
          </a:bodyPr>
          <a:lstStyle/>
          <a:p>
            <a:pPr marL="0" marR="0" lvl="0" indent="0" algn="ctr" rtl="0">
              <a:lnSpc>
                <a:spcPct val="100000"/>
              </a:lnSpc>
              <a:spcBef>
                <a:spcPts val="0"/>
              </a:spcBef>
              <a:spcAft>
                <a:spcPts val="0"/>
              </a:spcAft>
              <a:buClr>
                <a:schemeClr val="dk1"/>
              </a:buClr>
              <a:buSzPts val="1400"/>
              <a:buFont typeface="Montserrat Light"/>
              <a:buNone/>
            </a:pPr>
            <a:r>
              <a:rPr lang="en-US" sz="1400" b="1" i="0" u="none" strike="noStrike" cap="none">
                <a:solidFill>
                  <a:schemeClr val="dk1"/>
                </a:solidFill>
                <a:latin typeface="Montserrat Light"/>
                <a:ea typeface="Montserrat Light"/>
                <a:cs typeface="Montserrat Light"/>
                <a:sym typeface="Montserrat Light"/>
              </a:rPr>
              <a:t>Wholesale</a:t>
            </a:r>
            <a:r>
              <a:rPr lang="en-US" sz="1400" b="0" i="0" u="none" strike="noStrike" cap="none">
                <a:solidFill>
                  <a:schemeClr val="dk1"/>
                </a:solidFill>
                <a:latin typeface="Montserrat Light"/>
                <a:ea typeface="Montserrat Light"/>
                <a:cs typeface="Montserrat Light"/>
                <a:sym typeface="Montserrat Light"/>
              </a:rPr>
              <a:t> </a:t>
            </a:r>
            <a:endParaRPr sz="1400" b="0" i="0" u="none" strike="noStrike" cap="none">
              <a:solidFill>
                <a:schemeClr val="dk1"/>
              </a:solidFill>
              <a:latin typeface="Montserrat Light"/>
              <a:ea typeface="Montserrat Light"/>
              <a:cs typeface="Montserrat Light"/>
              <a:sym typeface="Montserrat Light"/>
            </a:endParaRPr>
          </a:p>
          <a:p>
            <a:pPr marL="0" marR="0" lvl="0" indent="0" algn="ctr" rtl="0">
              <a:lnSpc>
                <a:spcPct val="100000"/>
              </a:lnSpc>
              <a:spcBef>
                <a:spcPts val="0"/>
              </a:spcBef>
              <a:spcAft>
                <a:spcPts val="0"/>
              </a:spcAft>
              <a:buClr>
                <a:schemeClr val="dk1"/>
              </a:buClr>
              <a:buSzPts val="1400"/>
              <a:buFont typeface="Montserrat Light"/>
              <a:buNone/>
            </a:pPr>
            <a:r>
              <a:rPr lang="en-US" sz="1200" b="0" i="0" u="none" strike="noStrike" cap="none">
                <a:solidFill>
                  <a:schemeClr val="dk1"/>
                </a:solidFill>
                <a:latin typeface="Montserrat Light"/>
                <a:ea typeface="Montserrat Light"/>
                <a:cs typeface="Montserrat Light"/>
                <a:sym typeface="Montserrat Light"/>
              </a:rPr>
              <a:t>(Aggregators, Hyperscaler, SIs, ISVs)</a:t>
            </a:r>
            <a:endParaRPr sz="1500" b="0" i="0" u="none" strike="noStrike" cap="none">
              <a:solidFill>
                <a:schemeClr val="dk1"/>
              </a:solidFill>
              <a:latin typeface="Montserrat Light"/>
              <a:ea typeface="Montserrat Light"/>
              <a:cs typeface="Montserrat Light"/>
              <a:sym typeface="Montserrat Light"/>
            </a:endParaRPr>
          </a:p>
        </p:txBody>
      </p:sp>
      <p:sp>
        <p:nvSpPr>
          <p:cNvPr id="1055" name="Google Shape;1055;p42"/>
          <p:cNvSpPr/>
          <p:nvPr/>
        </p:nvSpPr>
        <p:spPr>
          <a:xfrm>
            <a:off x="2758610" y="4902143"/>
            <a:ext cx="3651314" cy="440051"/>
          </a:xfrm>
          <a:prstGeom prst="roundRect">
            <a:avLst>
              <a:gd name="adj" fmla="val 16667"/>
            </a:avLst>
          </a:prstGeom>
          <a:solidFill>
            <a:srgbClr val="FFFFFF"/>
          </a:solidFill>
          <a:ln w="12700" cap="flat" cmpd="sng">
            <a:solidFill>
              <a:schemeClr val="accent3"/>
            </a:solidFill>
            <a:prstDash val="solid"/>
            <a:round/>
            <a:headEnd type="none" w="sm" len="sm"/>
            <a:tailEnd type="none" w="sm" len="sm"/>
          </a:ln>
        </p:spPr>
        <p:txBody>
          <a:bodyPr spcFirstLastPara="1" wrap="square" lIns="72000" tIns="72000" rIns="72000" bIns="72000" anchor="ctr" anchorCtr="0">
            <a:noAutofit/>
          </a:bodyPr>
          <a:lstStyle/>
          <a:p>
            <a:pPr marL="0" marR="0" lvl="0" indent="0" algn="ctr" rtl="0">
              <a:lnSpc>
                <a:spcPct val="100000"/>
              </a:lnSpc>
              <a:spcBef>
                <a:spcPts val="0"/>
              </a:spcBef>
              <a:spcAft>
                <a:spcPts val="0"/>
              </a:spcAft>
              <a:buClr>
                <a:schemeClr val="accent3"/>
              </a:buClr>
              <a:buSzPts val="1400"/>
              <a:buFont typeface="Montserrat Light"/>
              <a:buNone/>
            </a:pPr>
            <a:r>
              <a:rPr lang="en-US" sz="1400" b="1" i="0" u="none" strike="noStrike" cap="none">
                <a:solidFill>
                  <a:schemeClr val="accent3"/>
                </a:solidFill>
                <a:latin typeface="Montserrat Light"/>
                <a:ea typeface="Montserrat Light"/>
                <a:cs typeface="Montserrat Light"/>
                <a:sym typeface="Montserrat Light"/>
              </a:rPr>
              <a:t>Internal API-Gateways</a:t>
            </a:r>
            <a:endParaRPr sz="1400" b="0" i="0" u="none" strike="noStrike" cap="none">
              <a:solidFill>
                <a:schemeClr val="accent3"/>
              </a:solidFill>
              <a:latin typeface="Montserrat Light"/>
              <a:ea typeface="Montserrat Light"/>
              <a:cs typeface="Montserrat Light"/>
              <a:sym typeface="Montserrat Light"/>
            </a:endParaRPr>
          </a:p>
        </p:txBody>
      </p:sp>
      <p:sp>
        <p:nvSpPr>
          <p:cNvPr id="1056" name="Google Shape;1056;p42"/>
          <p:cNvSpPr/>
          <p:nvPr/>
        </p:nvSpPr>
        <p:spPr>
          <a:xfrm>
            <a:off x="3977980" y="2812821"/>
            <a:ext cx="3390600" cy="933900"/>
          </a:xfrm>
          <a:prstGeom prst="roundRect">
            <a:avLst>
              <a:gd name="adj" fmla="val 16667"/>
            </a:avLst>
          </a:prstGeom>
          <a:solidFill>
            <a:schemeClr val="lt1"/>
          </a:solidFill>
          <a:ln w="19050" cap="flat" cmpd="sng">
            <a:solidFill>
              <a:schemeClr val="dk2"/>
            </a:solidFill>
            <a:prstDash val="solid"/>
            <a:round/>
            <a:headEnd type="none" w="sm" len="sm"/>
            <a:tailEnd type="none" w="sm" len="sm"/>
          </a:ln>
        </p:spPr>
        <p:txBody>
          <a:bodyPr spcFirstLastPara="1" wrap="square" lIns="72000" tIns="0" rIns="72000" bIns="72000" anchor="ctr" anchorCtr="0">
            <a:noAutofit/>
          </a:bodyPr>
          <a:lstStyle/>
          <a:p>
            <a:pPr marL="0" marR="0" lvl="0" indent="0" algn="ctr" rtl="0">
              <a:lnSpc>
                <a:spcPct val="100000"/>
              </a:lnSpc>
              <a:spcBef>
                <a:spcPts val="0"/>
              </a:spcBef>
              <a:spcAft>
                <a:spcPts val="0"/>
              </a:spcAft>
              <a:buClr>
                <a:schemeClr val="dk1"/>
              </a:buClr>
              <a:buSzPts val="1400"/>
              <a:buFont typeface="Montserrat Light"/>
              <a:buNone/>
            </a:pPr>
            <a:r>
              <a:rPr lang="en-US" sz="1400" b="1" i="0" u="none" strike="noStrike" cap="none">
                <a:solidFill>
                  <a:schemeClr val="dk1"/>
                </a:solidFill>
                <a:latin typeface="Montserrat Light"/>
                <a:ea typeface="Montserrat Light"/>
                <a:cs typeface="Montserrat Light"/>
                <a:sym typeface="Montserrat Light"/>
              </a:rPr>
              <a:t>Telco </a:t>
            </a:r>
            <a:r>
              <a:rPr lang="en-US" b="1">
                <a:solidFill>
                  <a:schemeClr val="dk1"/>
                </a:solidFill>
                <a:latin typeface="Montserrat Light"/>
                <a:ea typeface="Montserrat Light"/>
                <a:cs typeface="Montserrat Light"/>
                <a:sym typeface="Montserrat Light"/>
              </a:rPr>
              <a:t>P</a:t>
            </a:r>
            <a:r>
              <a:rPr lang="en-US" sz="1400" b="1" i="0" u="none" strike="noStrike" cap="none">
                <a:solidFill>
                  <a:schemeClr val="dk1"/>
                </a:solidFill>
                <a:latin typeface="Montserrat Light"/>
                <a:ea typeface="Montserrat Light"/>
                <a:cs typeface="Montserrat Light"/>
                <a:sym typeface="Montserrat Light"/>
              </a:rPr>
              <a:t>ortal </a:t>
            </a:r>
            <a:endParaRPr sz="1400" b="1" i="0" u="none" strike="noStrike" cap="none">
              <a:solidFill>
                <a:schemeClr val="dk1"/>
              </a:solidFill>
              <a:latin typeface="Montserrat Light"/>
              <a:ea typeface="Montserrat Light"/>
              <a:cs typeface="Montserrat Light"/>
              <a:sym typeface="Montserrat Light"/>
            </a:endParaRPr>
          </a:p>
          <a:p>
            <a:pPr marL="0" marR="0" lvl="0" indent="0" algn="ctr" rtl="0">
              <a:lnSpc>
                <a:spcPct val="100000"/>
              </a:lnSpc>
              <a:spcBef>
                <a:spcPts val="0"/>
              </a:spcBef>
              <a:spcAft>
                <a:spcPts val="0"/>
              </a:spcAft>
              <a:buClr>
                <a:schemeClr val="dk1"/>
              </a:buClr>
              <a:buSzPts val="1400"/>
              <a:buFont typeface="Montserrat Light"/>
              <a:buNone/>
            </a:pPr>
            <a:r>
              <a:rPr lang="en-US" sz="1200" i="0" u="none" strike="noStrike" cap="none">
                <a:solidFill>
                  <a:schemeClr val="dk1"/>
                </a:solidFill>
                <a:latin typeface="Montserrat Light"/>
                <a:ea typeface="Montserrat Light"/>
                <a:cs typeface="Montserrat Light"/>
                <a:sym typeface="Montserrat Light"/>
              </a:rPr>
              <a:t>(Enterprise Customers)</a:t>
            </a:r>
            <a:endParaRPr sz="1500"/>
          </a:p>
        </p:txBody>
      </p:sp>
      <p:cxnSp>
        <p:nvCxnSpPr>
          <p:cNvPr id="1057" name="Google Shape;1057;p42"/>
          <p:cNvCxnSpPr/>
          <p:nvPr/>
        </p:nvCxnSpPr>
        <p:spPr>
          <a:xfrm rot="10800000">
            <a:off x="4689553" y="4505046"/>
            <a:ext cx="0" cy="397097"/>
          </a:xfrm>
          <a:prstGeom prst="straightConnector1">
            <a:avLst/>
          </a:prstGeom>
          <a:noFill/>
          <a:ln w="19050" cap="flat" cmpd="sng">
            <a:solidFill>
              <a:schemeClr val="accent2"/>
            </a:solidFill>
            <a:prstDash val="solid"/>
            <a:round/>
            <a:headEnd type="none" w="sm" len="sm"/>
            <a:tailEnd type="none" w="sm" len="sm"/>
          </a:ln>
        </p:spPr>
      </p:cxnSp>
      <p:sp>
        <p:nvSpPr>
          <p:cNvPr id="1058" name="Google Shape;1058;p42"/>
          <p:cNvSpPr/>
          <p:nvPr/>
        </p:nvSpPr>
        <p:spPr>
          <a:xfrm>
            <a:off x="430668" y="4064995"/>
            <a:ext cx="6972588" cy="440051"/>
          </a:xfrm>
          <a:prstGeom prst="roundRect">
            <a:avLst>
              <a:gd name="adj" fmla="val 16667"/>
            </a:avLst>
          </a:prstGeom>
          <a:solidFill>
            <a:srgbClr val="FFFFFF"/>
          </a:solidFill>
          <a:ln w="19050" cap="flat" cmpd="sng">
            <a:solidFill>
              <a:schemeClr val="dk2"/>
            </a:solidFill>
            <a:prstDash val="solid"/>
            <a:round/>
            <a:headEnd type="none" w="sm" len="sm"/>
            <a:tailEnd type="none" w="sm" len="sm"/>
          </a:ln>
        </p:spPr>
        <p:txBody>
          <a:bodyPr spcFirstLastPara="1" wrap="square" lIns="72000" tIns="72000" rIns="72000" bIns="72000" anchor="ctr" anchorCtr="0">
            <a:noAutofit/>
          </a:bodyPr>
          <a:lstStyle/>
          <a:p>
            <a:pPr marL="0" marR="0" lvl="0" indent="0" algn="ctr" rtl="0">
              <a:lnSpc>
                <a:spcPct val="100000"/>
              </a:lnSpc>
              <a:spcBef>
                <a:spcPts val="0"/>
              </a:spcBef>
              <a:spcAft>
                <a:spcPts val="0"/>
              </a:spcAft>
              <a:buClr>
                <a:schemeClr val="dk1"/>
              </a:buClr>
              <a:buSzPts val="1400"/>
              <a:buFont typeface="Montserrat Light"/>
              <a:buNone/>
            </a:pPr>
            <a:r>
              <a:rPr lang="en-US" sz="1400" b="1" i="0" u="none" strike="noStrike" cap="none">
                <a:solidFill>
                  <a:schemeClr val="dk1"/>
                </a:solidFill>
                <a:latin typeface="Montserrat Light"/>
                <a:ea typeface="Montserrat Light"/>
                <a:cs typeface="Montserrat Light"/>
                <a:sym typeface="Montserrat Light"/>
              </a:rPr>
              <a:t>Service Exposure Platform (SEP)</a:t>
            </a:r>
            <a:endParaRPr/>
          </a:p>
        </p:txBody>
      </p:sp>
      <p:cxnSp>
        <p:nvCxnSpPr>
          <p:cNvPr id="1059" name="Google Shape;1059;p42"/>
          <p:cNvCxnSpPr/>
          <p:nvPr/>
        </p:nvCxnSpPr>
        <p:spPr>
          <a:xfrm>
            <a:off x="5899523" y="3750435"/>
            <a:ext cx="0" cy="324000"/>
          </a:xfrm>
          <a:prstGeom prst="straightConnector1">
            <a:avLst/>
          </a:prstGeom>
          <a:noFill/>
          <a:ln w="19050" cap="flat" cmpd="sng">
            <a:solidFill>
              <a:srgbClr val="FF0000"/>
            </a:solidFill>
            <a:prstDash val="solid"/>
            <a:round/>
            <a:headEnd type="none" w="sm" len="sm"/>
            <a:tailEnd type="none" w="sm" len="sm"/>
          </a:ln>
        </p:spPr>
      </p:cxnSp>
      <p:sp>
        <p:nvSpPr>
          <p:cNvPr id="1060" name="Google Shape;1060;p42"/>
          <p:cNvSpPr/>
          <p:nvPr/>
        </p:nvSpPr>
        <p:spPr>
          <a:xfrm>
            <a:off x="2524623" y="5760266"/>
            <a:ext cx="1886708" cy="367878"/>
          </a:xfrm>
          <a:prstGeom prst="roundRect">
            <a:avLst>
              <a:gd name="adj" fmla="val 16667"/>
            </a:avLst>
          </a:prstGeom>
          <a:noFill/>
          <a:ln w="12700" cap="flat" cmpd="sng">
            <a:solidFill>
              <a:schemeClr val="accent3"/>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3"/>
              </a:buClr>
              <a:buSzPts val="1050"/>
              <a:buFont typeface="Montserrat Light"/>
              <a:buNone/>
            </a:pPr>
            <a:r>
              <a:rPr lang="en-US" sz="1050" b="1">
                <a:solidFill>
                  <a:schemeClr val="accent3"/>
                </a:solidFill>
                <a:latin typeface="Montserrat Light"/>
                <a:ea typeface="Montserrat Light"/>
                <a:cs typeface="Montserrat Light"/>
                <a:sym typeface="Montserrat Light"/>
              </a:rPr>
              <a:t>Fixed Line </a:t>
            </a:r>
            <a:r>
              <a:rPr lang="en-US" sz="1050" b="1" i="0" u="none" strike="noStrike" cap="none">
                <a:solidFill>
                  <a:schemeClr val="accent3"/>
                </a:solidFill>
                <a:latin typeface="Montserrat Light"/>
                <a:ea typeface="Montserrat Light"/>
                <a:cs typeface="Montserrat Light"/>
                <a:sym typeface="Montserrat Light"/>
              </a:rPr>
              <a:t> Network </a:t>
            </a:r>
            <a:r>
              <a:rPr lang="en-US" sz="1050" b="1">
                <a:solidFill>
                  <a:schemeClr val="accent3"/>
                </a:solidFill>
                <a:latin typeface="Montserrat Light"/>
                <a:ea typeface="Montserrat Light"/>
                <a:cs typeface="Montserrat Light"/>
                <a:sym typeface="Montserrat Light"/>
              </a:rPr>
              <a:t>C</a:t>
            </a:r>
            <a:r>
              <a:rPr lang="en-US" sz="1050" b="1" i="0" u="none" strike="noStrike" cap="none">
                <a:solidFill>
                  <a:schemeClr val="accent3"/>
                </a:solidFill>
                <a:latin typeface="Montserrat Light"/>
                <a:ea typeface="Montserrat Light"/>
                <a:cs typeface="Montserrat Light"/>
                <a:sym typeface="Montserrat Light"/>
              </a:rPr>
              <a:t>apabilities</a:t>
            </a:r>
            <a:endParaRPr sz="1050" b="0" i="0" u="none" strike="noStrike" cap="none">
              <a:solidFill>
                <a:schemeClr val="accent3"/>
              </a:solidFill>
              <a:latin typeface="Montserrat Light"/>
              <a:ea typeface="Montserrat Light"/>
              <a:cs typeface="Montserrat Light"/>
              <a:sym typeface="Montserrat Light"/>
            </a:endParaRPr>
          </a:p>
        </p:txBody>
      </p:sp>
      <p:sp>
        <p:nvSpPr>
          <p:cNvPr id="1061" name="Google Shape;1061;p42"/>
          <p:cNvSpPr/>
          <p:nvPr/>
        </p:nvSpPr>
        <p:spPr>
          <a:xfrm>
            <a:off x="4573754" y="5762001"/>
            <a:ext cx="1325769" cy="366143"/>
          </a:xfrm>
          <a:prstGeom prst="roundRect">
            <a:avLst>
              <a:gd name="adj" fmla="val 16667"/>
            </a:avLst>
          </a:prstGeom>
          <a:noFill/>
          <a:ln w="12700" cap="flat" cmpd="sng">
            <a:solidFill>
              <a:schemeClr val="accent3"/>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3"/>
              </a:buClr>
              <a:buSzPts val="1050"/>
              <a:buFont typeface="Montserrat Light"/>
              <a:buNone/>
            </a:pPr>
            <a:r>
              <a:rPr lang="en-US" sz="1050" b="1">
                <a:solidFill>
                  <a:schemeClr val="accent3"/>
                </a:solidFill>
                <a:latin typeface="Montserrat Light"/>
                <a:ea typeface="Montserrat Light"/>
                <a:cs typeface="Montserrat Light"/>
                <a:sym typeface="Montserrat Light"/>
              </a:rPr>
              <a:t>Telco IT Capabilities</a:t>
            </a:r>
            <a:endParaRPr sz="1050" b="0" i="0" u="none" strike="noStrike" cap="none">
              <a:solidFill>
                <a:schemeClr val="accent3"/>
              </a:solidFill>
              <a:latin typeface="Montserrat Light"/>
              <a:ea typeface="Montserrat Light"/>
              <a:cs typeface="Montserrat Light"/>
              <a:sym typeface="Montserrat Light"/>
            </a:endParaRPr>
          </a:p>
        </p:txBody>
      </p:sp>
      <p:cxnSp>
        <p:nvCxnSpPr>
          <p:cNvPr id="1062" name="Google Shape;1062;p42"/>
          <p:cNvCxnSpPr/>
          <p:nvPr/>
        </p:nvCxnSpPr>
        <p:spPr>
          <a:xfrm rot="10800000">
            <a:off x="5289812" y="3746572"/>
            <a:ext cx="0" cy="331727"/>
          </a:xfrm>
          <a:prstGeom prst="straightConnector1">
            <a:avLst/>
          </a:prstGeom>
          <a:noFill/>
          <a:ln w="19050" cap="flat" cmpd="sng">
            <a:solidFill>
              <a:schemeClr val="accent2"/>
            </a:solidFill>
            <a:prstDash val="solid"/>
            <a:round/>
            <a:headEnd type="none" w="sm" len="sm"/>
            <a:tailEnd type="none" w="sm" len="sm"/>
          </a:ln>
        </p:spPr>
      </p:cxnSp>
      <p:cxnSp>
        <p:nvCxnSpPr>
          <p:cNvPr id="1063" name="Google Shape;1063;p42"/>
          <p:cNvCxnSpPr/>
          <p:nvPr/>
        </p:nvCxnSpPr>
        <p:spPr>
          <a:xfrm rot="10800000">
            <a:off x="2106154" y="3746572"/>
            <a:ext cx="0" cy="331727"/>
          </a:xfrm>
          <a:prstGeom prst="straightConnector1">
            <a:avLst/>
          </a:prstGeom>
          <a:noFill/>
          <a:ln w="19050" cap="flat" cmpd="sng">
            <a:solidFill>
              <a:schemeClr val="accent2"/>
            </a:solidFill>
            <a:prstDash val="solid"/>
            <a:round/>
            <a:headEnd type="none" w="sm" len="sm"/>
            <a:tailEnd type="none" w="sm" len="sm"/>
          </a:ln>
        </p:spPr>
      </p:cxnSp>
      <p:pic>
        <p:nvPicPr>
          <p:cNvPr id="1064" name="Google Shape;1064;p42" descr="Abzeichen mit einfarbiger Füllung"/>
          <p:cNvPicPr preferRelativeResize="0"/>
          <p:nvPr/>
        </p:nvPicPr>
        <p:blipFill rotWithShape="1">
          <a:blip r:embed="rId3">
            <a:alphaModFix/>
          </a:blip>
          <a:srcRect/>
          <a:stretch/>
        </p:blipFill>
        <p:spPr>
          <a:xfrm>
            <a:off x="5583255" y="2538817"/>
            <a:ext cx="180000" cy="180000"/>
          </a:xfrm>
          <a:prstGeom prst="rect">
            <a:avLst/>
          </a:prstGeom>
          <a:noFill/>
          <a:ln>
            <a:noFill/>
          </a:ln>
        </p:spPr>
      </p:pic>
      <p:pic>
        <p:nvPicPr>
          <p:cNvPr id="1065" name="Google Shape;1065;p42" descr="Marke 5 mit einfarbiger Füllung"/>
          <p:cNvPicPr preferRelativeResize="0"/>
          <p:nvPr/>
        </p:nvPicPr>
        <p:blipFill rotWithShape="1">
          <a:blip r:embed="rId4">
            <a:alphaModFix/>
          </a:blip>
          <a:srcRect/>
          <a:stretch/>
        </p:blipFill>
        <p:spPr>
          <a:xfrm>
            <a:off x="5516308" y="4613594"/>
            <a:ext cx="180000" cy="180000"/>
          </a:xfrm>
          <a:prstGeom prst="rect">
            <a:avLst/>
          </a:prstGeom>
          <a:noFill/>
          <a:ln>
            <a:noFill/>
          </a:ln>
        </p:spPr>
      </p:pic>
      <p:pic>
        <p:nvPicPr>
          <p:cNvPr id="1066" name="Google Shape;1066;p42" descr="Marke 1 mit einfarbiger Füllung"/>
          <p:cNvPicPr preferRelativeResize="0"/>
          <p:nvPr/>
        </p:nvPicPr>
        <p:blipFill rotWithShape="1">
          <a:blip r:embed="rId5">
            <a:alphaModFix/>
          </a:blip>
          <a:srcRect/>
          <a:stretch/>
        </p:blipFill>
        <p:spPr>
          <a:xfrm>
            <a:off x="5975518" y="3822435"/>
            <a:ext cx="180000" cy="180000"/>
          </a:xfrm>
          <a:prstGeom prst="rect">
            <a:avLst/>
          </a:prstGeom>
          <a:noFill/>
          <a:ln>
            <a:noFill/>
          </a:ln>
        </p:spPr>
      </p:pic>
      <p:pic>
        <p:nvPicPr>
          <p:cNvPr id="1067" name="Google Shape;1067;p42" descr="Marke 1 mit einfarbiger Füllung"/>
          <p:cNvPicPr preferRelativeResize="0"/>
          <p:nvPr/>
        </p:nvPicPr>
        <p:blipFill rotWithShape="1">
          <a:blip r:embed="rId5">
            <a:alphaModFix/>
          </a:blip>
          <a:srcRect/>
          <a:stretch/>
        </p:blipFill>
        <p:spPr>
          <a:xfrm>
            <a:off x="2798529" y="3822435"/>
            <a:ext cx="180000" cy="180000"/>
          </a:xfrm>
          <a:prstGeom prst="rect">
            <a:avLst/>
          </a:prstGeom>
          <a:noFill/>
          <a:ln>
            <a:noFill/>
          </a:ln>
        </p:spPr>
      </p:pic>
      <p:sp>
        <p:nvSpPr>
          <p:cNvPr id="1068" name="Google Shape;1068;p42"/>
          <p:cNvSpPr/>
          <p:nvPr/>
        </p:nvSpPr>
        <p:spPr>
          <a:xfrm>
            <a:off x="459097" y="2015038"/>
            <a:ext cx="6972588" cy="440051"/>
          </a:xfrm>
          <a:prstGeom prst="roundRect">
            <a:avLst>
              <a:gd name="adj" fmla="val 16667"/>
            </a:avLst>
          </a:prstGeom>
          <a:solidFill>
            <a:srgbClr val="FFFFFF"/>
          </a:solidFill>
          <a:ln w="19050" cap="flat" cmpd="sng">
            <a:solidFill>
              <a:srgbClr val="BFBFBF"/>
            </a:solidFill>
            <a:prstDash val="solid"/>
            <a:round/>
            <a:headEnd type="none" w="sm" len="sm"/>
            <a:tailEnd type="none" w="sm" len="sm"/>
          </a:ln>
        </p:spPr>
        <p:txBody>
          <a:bodyPr spcFirstLastPara="1" wrap="square" lIns="72000" tIns="72000" rIns="72000" bIns="72000" anchor="ctr" anchorCtr="0">
            <a:noAutofit/>
          </a:bodyPr>
          <a:lstStyle/>
          <a:p>
            <a:pPr marL="0" marR="0" lvl="0" indent="0" algn="ctr" rtl="0">
              <a:lnSpc>
                <a:spcPct val="100000"/>
              </a:lnSpc>
              <a:spcBef>
                <a:spcPts val="0"/>
              </a:spcBef>
              <a:spcAft>
                <a:spcPts val="0"/>
              </a:spcAft>
              <a:buClr>
                <a:schemeClr val="dk1"/>
              </a:buClr>
              <a:buSzPts val="1400"/>
              <a:buFont typeface="Montserrat Light"/>
              <a:buNone/>
            </a:pPr>
            <a:r>
              <a:rPr lang="en-US" sz="1400" b="1" i="0" u="none" strike="noStrike" cap="none" dirty="0">
                <a:solidFill>
                  <a:schemeClr val="dk1"/>
                </a:solidFill>
                <a:latin typeface="Montserrat Light"/>
                <a:ea typeface="Montserrat Light"/>
                <a:cs typeface="Montserrat Light"/>
                <a:sym typeface="Montserrat Light"/>
              </a:rPr>
              <a:t>API Customer</a:t>
            </a:r>
            <a:endParaRPr dirty="0"/>
          </a:p>
        </p:txBody>
      </p:sp>
      <p:pic>
        <p:nvPicPr>
          <p:cNvPr id="1069" name="Google Shape;1069;p42" descr="Abzeichen mit einfarbiger Füllung"/>
          <p:cNvPicPr preferRelativeResize="0"/>
          <p:nvPr/>
        </p:nvPicPr>
        <p:blipFill rotWithShape="1">
          <a:blip r:embed="rId3">
            <a:alphaModFix/>
          </a:blip>
          <a:srcRect/>
          <a:stretch/>
        </p:blipFill>
        <p:spPr>
          <a:xfrm>
            <a:off x="2016154" y="2538817"/>
            <a:ext cx="180000" cy="180000"/>
          </a:xfrm>
          <a:prstGeom prst="rect">
            <a:avLst/>
          </a:prstGeom>
          <a:noFill/>
          <a:ln>
            <a:noFill/>
          </a:ln>
        </p:spPr>
      </p:pic>
      <p:pic>
        <p:nvPicPr>
          <p:cNvPr id="1070" name="Google Shape;1070;p42" descr="Abzeichen mit einfarbiger Füllung"/>
          <p:cNvPicPr preferRelativeResize="0"/>
          <p:nvPr/>
        </p:nvPicPr>
        <p:blipFill rotWithShape="1">
          <a:blip r:embed="rId3">
            <a:alphaModFix/>
          </a:blip>
          <a:srcRect/>
          <a:stretch/>
        </p:blipFill>
        <p:spPr>
          <a:xfrm>
            <a:off x="3029322" y="3822435"/>
            <a:ext cx="180000" cy="180000"/>
          </a:xfrm>
          <a:prstGeom prst="rect">
            <a:avLst/>
          </a:prstGeom>
          <a:noFill/>
          <a:ln>
            <a:noFill/>
          </a:ln>
        </p:spPr>
      </p:pic>
      <p:pic>
        <p:nvPicPr>
          <p:cNvPr id="1071" name="Google Shape;1071;p42" descr="Abzeichen mit einfarbiger Füllung"/>
          <p:cNvPicPr preferRelativeResize="0"/>
          <p:nvPr/>
        </p:nvPicPr>
        <p:blipFill rotWithShape="1">
          <a:blip r:embed="rId3">
            <a:alphaModFix/>
          </a:blip>
          <a:srcRect/>
          <a:stretch/>
        </p:blipFill>
        <p:spPr>
          <a:xfrm>
            <a:off x="6184316" y="3822435"/>
            <a:ext cx="180000" cy="180000"/>
          </a:xfrm>
          <a:prstGeom prst="rect">
            <a:avLst/>
          </a:prstGeom>
          <a:noFill/>
          <a:ln>
            <a:noFill/>
          </a:ln>
        </p:spPr>
      </p:pic>
      <p:pic>
        <p:nvPicPr>
          <p:cNvPr id="1072" name="Google Shape;1072;p42" descr="Marke 3 mit einfarbiger Füllung"/>
          <p:cNvPicPr preferRelativeResize="0"/>
          <p:nvPr/>
        </p:nvPicPr>
        <p:blipFill rotWithShape="1">
          <a:blip r:embed="rId6">
            <a:alphaModFix/>
          </a:blip>
          <a:srcRect/>
          <a:stretch/>
        </p:blipFill>
        <p:spPr>
          <a:xfrm>
            <a:off x="5778200" y="2538817"/>
            <a:ext cx="180000" cy="180000"/>
          </a:xfrm>
          <a:prstGeom prst="rect">
            <a:avLst/>
          </a:prstGeom>
          <a:noFill/>
          <a:ln>
            <a:noFill/>
          </a:ln>
        </p:spPr>
      </p:pic>
      <p:pic>
        <p:nvPicPr>
          <p:cNvPr id="1073" name="Google Shape;1073;p42" descr="Marke 3 mit einfarbiger Füllung"/>
          <p:cNvPicPr preferRelativeResize="0"/>
          <p:nvPr/>
        </p:nvPicPr>
        <p:blipFill rotWithShape="1">
          <a:blip r:embed="rId6">
            <a:alphaModFix/>
          </a:blip>
          <a:srcRect/>
          <a:stretch/>
        </p:blipFill>
        <p:spPr>
          <a:xfrm>
            <a:off x="2228266" y="2538817"/>
            <a:ext cx="180000" cy="180000"/>
          </a:xfrm>
          <a:prstGeom prst="rect">
            <a:avLst/>
          </a:prstGeom>
          <a:noFill/>
          <a:ln>
            <a:noFill/>
          </a:ln>
        </p:spPr>
      </p:pic>
      <p:pic>
        <p:nvPicPr>
          <p:cNvPr id="1074" name="Google Shape;1074;p42" descr="Marke 3 mit einfarbiger Füllung"/>
          <p:cNvPicPr preferRelativeResize="0"/>
          <p:nvPr/>
        </p:nvPicPr>
        <p:blipFill rotWithShape="1">
          <a:blip r:embed="rId6">
            <a:alphaModFix/>
          </a:blip>
          <a:srcRect/>
          <a:stretch/>
        </p:blipFill>
        <p:spPr>
          <a:xfrm>
            <a:off x="3238646" y="3822435"/>
            <a:ext cx="180000" cy="180000"/>
          </a:xfrm>
          <a:prstGeom prst="rect">
            <a:avLst/>
          </a:prstGeom>
          <a:noFill/>
          <a:ln>
            <a:noFill/>
          </a:ln>
        </p:spPr>
      </p:pic>
      <p:pic>
        <p:nvPicPr>
          <p:cNvPr id="1075" name="Google Shape;1075;p42" descr="Marke 3 mit einfarbiger Füllung"/>
          <p:cNvPicPr preferRelativeResize="0"/>
          <p:nvPr/>
        </p:nvPicPr>
        <p:blipFill rotWithShape="1">
          <a:blip r:embed="rId6">
            <a:alphaModFix/>
          </a:blip>
          <a:srcRect/>
          <a:stretch/>
        </p:blipFill>
        <p:spPr>
          <a:xfrm>
            <a:off x="6392979" y="3822435"/>
            <a:ext cx="180000" cy="180000"/>
          </a:xfrm>
          <a:prstGeom prst="rect">
            <a:avLst/>
          </a:prstGeom>
          <a:noFill/>
          <a:ln>
            <a:noFill/>
          </a:ln>
        </p:spPr>
      </p:pic>
      <p:pic>
        <p:nvPicPr>
          <p:cNvPr id="1076" name="Google Shape;1076;p42" descr="Abzeichen mit einfarbiger Füllung"/>
          <p:cNvPicPr preferRelativeResize="0"/>
          <p:nvPr/>
        </p:nvPicPr>
        <p:blipFill rotWithShape="1">
          <a:blip r:embed="rId3">
            <a:alphaModFix/>
          </a:blip>
          <a:srcRect/>
          <a:stretch/>
        </p:blipFill>
        <p:spPr>
          <a:xfrm>
            <a:off x="5303869" y="4613594"/>
            <a:ext cx="180000" cy="180000"/>
          </a:xfrm>
          <a:prstGeom prst="rect">
            <a:avLst/>
          </a:prstGeom>
          <a:noFill/>
          <a:ln>
            <a:noFill/>
          </a:ln>
        </p:spPr>
      </p:pic>
      <p:cxnSp>
        <p:nvCxnSpPr>
          <p:cNvPr id="1077" name="Google Shape;1077;p42"/>
          <p:cNvCxnSpPr/>
          <p:nvPr/>
        </p:nvCxnSpPr>
        <p:spPr>
          <a:xfrm rot="10800000">
            <a:off x="5217833" y="4505046"/>
            <a:ext cx="0" cy="397097"/>
          </a:xfrm>
          <a:prstGeom prst="straightConnector1">
            <a:avLst/>
          </a:prstGeom>
          <a:noFill/>
          <a:ln w="19050" cap="flat" cmpd="sng">
            <a:solidFill>
              <a:srgbClr val="FBCCE2"/>
            </a:solidFill>
            <a:prstDash val="solid"/>
            <a:round/>
            <a:headEnd type="none" w="sm" len="sm"/>
            <a:tailEnd type="none" w="sm" len="sm"/>
          </a:ln>
        </p:spPr>
      </p:cxnSp>
      <p:cxnSp>
        <p:nvCxnSpPr>
          <p:cNvPr id="1078" name="Google Shape;1078;p42"/>
          <p:cNvCxnSpPr/>
          <p:nvPr/>
        </p:nvCxnSpPr>
        <p:spPr>
          <a:xfrm rot="10800000">
            <a:off x="4845446" y="2462954"/>
            <a:ext cx="0" cy="331727"/>
          </a:xfrm>
          <a:prstGeom prst="straightConnector1">
            <a:avLst/>
          </a:prstGeom>
          <a:noFill/>
          <a:ln w="19050" cap="flat" cmpd="sng">
            <a:solidFill>
              <a:schemeClr val="accent2"/>
            </a:solidFill>
            <a:prstDash val="solid"/>
            <a:round/>
            <a:headEnd type="none" w="sm" len="sm"/>
            <a:tailEnd type="none" w="sm" len="sm"/>
          </a:ln>
        </p:spPr>
      </p:cxnSp>
      <p:cxnSp>
        <p:nvCxnSpPr>
          <p:cNvPr id="1079" name="Google Shape;1079;p42"/>
          <p:cNvCxnSpPr/>
          <p:nvPr/>
        </p:nvCxnSpPr>
        <p:spPr>
          <a:xfrm rot="10800000">
            <a:off x="2980864" y="2462954"/>
            <a:ext cx="0" cy="331727"/>
          </a:xfrm>
          <a:prstGeom prst="straightConnector1">
            <a:avLst/>
          </a:prstGeom>
          <a:noFill/>
          <a:ln w="19050" cap="flat" cmpd="sng">
            <a:solidFill>
              <a:schemeClr val="accent2"/>
            </a:solidFill>
            <a:prstDash val="solid"/>
            <a:round/>
            <a:headEnd type="none" w="sm" len="sm"/>
            <a:tailEnd type="none" w="sm" len="sm"/>
          </a:ln>
        </p:spPr>
      </p:cxnSp>
      <p:pic>
        <p:nvPicPr>
          <p:cNvPr id="1080" name="Google Shape;1080;p42" descr="Marke 4 mit einfarbiger Füllung"/>
          <p:cNvPicPr preferRelativeResize="0"/>
          <p:nvPr/>
        </p:nvPicPr>
        <p:blipFill rotWithShape="1">
          <a:blip r:embed="rId7">
            <a:alphaModFix/>
          </a:blip>
          <a:srcRect/>
          <a:stretch/>
        </p:blipFill>
        <p:spPr>
          <a:xfrm>
            <a:off x="3028614" y="2538817"/>
            <a:ext cx="180000" cy="180000"/>
          </a:xfrm>
          <a:prstGeom prst="rect">
            <a:avLst/>
          </a:prstGeom>
          <a:noFill/>
          <a:ln>
            <a:noFill/>
          </a:ln>
        </p:spPr>
      </p:pic>
      <p:pic>
        <p:nvPicPr>
          <p:cNvPr id="1081" name="Google Shape;1081;p42" descr="Marke 4 mit einfarbiger Füllung"/>
          <p:cNvPicPr preferRelativeResize="0"/>
          <p:nvPr/>
        </p:nvPicPr>
        <p:blipFill rotWithShape="1">
          <a:blip r:embed="rId7">
            <a:alphaModFix/>
          </a:blip>
          <a:srcRect/>
          <a:stretch/>
        </p:blipFill>
        <p:spPr>
          <a:xfrm>
            <a:off x="4892379" y="2538817"/>
            <a:ext cx="180000" cy="180000"/>
          </a:xfrm>
          <a:prstGeom prst="rect">
            <a:avLst/>
          </a:prstGeom>
          <a:noFill/>
          <a:ln>
            <a:noFill/>
          </a:ln>
        </p:spPr>
      </p:pic>
      <p:pic>
        <p:nvPicPr>
          <p:cNvPr id="1082" name="Google Shape;1082;p42" descr="Marke 4 mit einfarbiger Füllung"/>
          <p:cNvPicPr preferRelativeResize="0"/>
          <p:nvPr/>
        </p:nvPicPr>
        <p:blipFill rotWithShape="1">
          <a:blip r:embed="rId7">
            <a:alphaModFix/>
          </a:blip>
          <a:srcRect/>
          <a:stretch/>
        </p:blipFill>
        <p:spPr>
          <a:xfrm>
            <a:off x="2155697" y="3822435"/>
            <a:ext cx="180000" cy="180000"/>
          </a:xfrm>
          <a:prstGeom prst="rect">
            <a:avLst/>
          </a:prstGeom>
          <a:noFill/>
          <a:ln>
            <a:noFill/>
          </a:ln>
        </p:spPr>
      </p:pic>
      <p:pic>
        <p:nvPicPr>
          <p:cNvPr id="1083" name="Google Shape;1083;p42" descr="Marke 4 mit einfarbiger Füllung"/>
          <p:cNvPicPr preferRelativeResize="0"/>
          <p:nvPr/>
        </p:nvPicPr>
        <p:blipFill rotWithShape="1">
          <a:blip r:embed="rId7">
            <a:alphaModFix/>
          </a:blip>
          <a:srcRect/>
          <a:stretch/>
        </p:blipFill>
        <p:spPr>
          <a:xfrm>
            <a:off x="5316068" y="3822435"/>
            <a:ext cx="180000" cy="180000"/>
          </a:xfrm>
          <a:prstGeom prst="rect">
            <a:avLst/>
          </a:prstGeom>
          <a:noFill/>
          <a:ln>
            <a:noFill/>
          </a:ln>
        </p:spPr>
      </p:pic>
      <p:pic>
        <p:nvPicPr>
          <p:cNvPr id="1084" name="Google Shape;1084;p42" descr="Marke 4 mit einfarbiger Füllung"/>
          <p:cNvPicPr preferRelativeResize="0"/>
          <p:nvPr/>
        </p:nvPicPr>
        <p:blipFill rotWithShape="1">
          <a:blip r:embed="rId7">
            <a:alphaModFix/>
          </a:blip>
          <a:srcRect/>
          <a:stretch/>
        </p:blipFill>
        <p:spPr>
          <a:xfrm>
            <a:off x="4712379" y="4613594"/>
            <a:ext cx="180000" cy="180000"/>
          </a:xfrm>
          <a:prstGeom prst="rect">
            <a:avLst/>
          </a:prstGeom>
          <a:noFill/>
          <a:ln>
            <a:noFill/>
          </a:ln>
        </p:spPr>
      </p:pic>
      <p:pic>
        <p:nvPicPr>
          <p:cNvPr id="1085" name="Google Shape;1085;p42" descr="Marke 6 mit einfarbiger Füllung"/>
          <p:cNvPicPr preferRelativeResize="0"/>
          <p:nvPr/>
        </p:nvPicPr>
        <p:blipFill rotWithShape="1">
          <a:blip r:embed="rId8">
            <a:alphaModFix/>
          </a:blip>
          <a:srcRect/>
          <a:stretch/>
        </p:blipFill>
        <p:spPr>
          <a:xfrm>
            <a:off x="5971945" y="2538817"/>
            <a:ext cx="180000" cy="180000"/>
          </a:xfrm>
          <a:prstGeom prst="rect">
            <a:avLst/>
          </a:prstGeom>
          <a:noFill/>
          <a:ln>
            <a:noFill/>
          </a:ln>
        </p:spPr>
      </p:pic>
      <p:pic>
        <p:nvPicPr>
          <p:cNvPr id="1086" name="Google Shape;1086;p42" descr="Marke 6 mit einfarbiger Füllung"/>
          <p:cNvPicPr preferRelativeResize="0"/>
          <p:nvPr/>
        </p:nvPicPr>
        <p:blipFill rotWithShape="1">
          <a:blip r:embed="rId8">
            <a:alphaModFix/>
          </a:blip>
          <a:srcRect/>
          <a:stretch/>
        </p:blipFill>
        <p:spPr>
          <a:xfrm>
            <a:off x="2448371" y="2538817"/>
            <a:ext cx="180000" cy="180000"/>
          </a:xfrm>
          <a:prstGeom prst="rect">
            <a:avLst/>
          </a:prstGeom>
          <a:noFill/>
          <a:ln>
            <a:noFill/>
          </a:ln>
        </p:spPr>
      </p:pic>
      <p:pic>
        <p:nvPicPr>
          <p:cNvPr id="1087" name="Google Shape;1087;p42" descr="Marke 6 mit einfarbiger Füllung"/>
          <p:cNvPicPr preferRelativeResize="0"/>
          <p:nvPr/>
        </p:nvPicPr>
        <p:blipFill rotWithShape="1">
          <a:blip r:embed="rId8">
            <a:alphaModFix/>
          </a:blip>
          <a:srcRect/>
          <a:stretch/>
        </p:blipFill>
        <p:spPr>
          <a:xfrm>
            <a:off x="3448537" y="3822435"/>
            <a:ext cx="180000" cy="180000"/>
          </a:xfrm>
          <a:prstGeom prst="rect">
            <a:avLst/>
          </a:prstGeom>
          <a:noFill/>
          <a:ln>
            <a:noFill/>
          </a:ln>
        </p:spPr>
      </p:pic>
      <p:pic>
        <p:nvPicPr>
          <p:cNvPr id="1088" name="Google Shape;1088;p42" descr="Marke 6 mit einfarbiger Füllung"/>
          <p:cNvPicPr preferRelativeResize="0"/>
          <p:nvPr/>
        </p:nvPicPr>
        <p:blipFill rotWithShape="1">
          <a:blip r:embed="rId8">
            <a:alphaModFix/>
          </a:blip>
          <a:srcRect/>
          <a:stretch/>
        </p:blipFill>
        <p:spPr>
          <a:xfrm>
            <a:off x="6617539" y="3822435"/>
            <a:ext cx="180000" cy="180000"/>
          </a:xfrm>
          <a:prstGeom prst="rect">
            <a:avLst/>
          </a:prstGeom>
          <a:noFill/>
          <a:ln>
            <a:noFill/>
          </a:ln>
        </p:spPr>
      </p:pic>
      <p:sp>
        <p:nvSpPr>
          <p:cNvPr id="1089" name="Google Shape;1089;p42"/>
          <p:cNvSpPr txBox="1"/>
          <p:nvPr/>
        </p:nvSpPr>
        <p:spPr>
          <a:xfrm>
            <a:off x="7616068" y="1935991"/>
            <a:ext cx="33702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400"/>
              <a:buFont typeface="Montserrat Medium"/>
              <a:buNone/>
            </a:pPr>
            <a:r>
              <a:rPr lang="en-US" sz="2000" i="0" u="none" strike="noStrike" cap="none">
                <a:solidFill>
                  <a:schemeClr val="dk2"/>
                </a:solidFill>
                <a:latin typeface="Montserrat Medium"/>
                <a:ea typeface="Montserrat Medium"/>
                <a:cs typeface="Montserrat Medium"/>
                <a:sym typeface="Montserrat Medium"/>
              </a:rPr>
              <a:t>Possible API workflows</a:t>
            </a:r>
            <a:endParaRPr sz="2000">
              <a:solidFill>
                <a:schemeClr val="dk2"/>
              </a:solidFill>
              <a:latin typeface="Montserrat Medium"/>
              <a:ea typeface="Montserrat Medium"/>
              <a:cs typeface="Montserrat Medium"/>
              <a:sym typeface="Montserrat Medium"/>
            </a:endParaRPr>
          </a:p>
        </p:txBody>
      </p:sp>
      <p:sp>
        <p:nvSpPr>
          <p:cNvPr id="1090" name="Google Shape;1090;p42"/>
          <p:cNvSpPr txBox="1"/>
          <p:nvPr/>
        </p:nvSpPr>
        <p:spPr>
          <a:xfrm>
            <a:off x="7616075" y="2406700"/>
            <a:ext cx="3162900" cy="2893059"/>
          </a:xfrm>
          <a:prstGeom prst="rect">
            <a:avLst/>
          </a:prstGeom>
          <a:noFill/>
          <a:ln>
            <a:noFill/>
          </a:ln>
        </p:spPr>
        <p:txBody>
          <a:bodyPr spcFirstLastPara="1" wrap="square" lIns="91425" tIns="45700" rIns="91425" bIns="45700" anchor="t" anchorCtr="0">
            <a:spAutoFit/>
          </a:bodyPr>
          <a:lstStyle/>
          <a:p>
            <a:pPr marL="228600" marR="0" lvl="0" indent="-241300" algn="l" rtl="0">
              <a:lnSpc>
                <a:spcPct val="100000"/>
              </a:lnSpc>
              <a:spcBef>
                <a:spcPts val="0"/>
              </a:spcBef>
              <a:spcAft>
                <a:spcPts val="0"/>
              </a:spcAft>
              <a:buClr>
                <a:schemeClr val="dk1"/>
              </a:buClr>
              <a:buSzPts val="1400"/>
              <a:buFont typeface="Montserrat"/>
              <a:buAutoNum type="arabicPeriod"/>
            </a:pPr>
            <a:r>
              <a:rPr lang="en-US" i="0" u="none" strike="noStrike" cap="none" dirty="0">
                <a:solidFill>
                  <a:schemeClr val="dk1"/>
                </a:solidFill>
                <a:latin typeface="Montserrat Light"/>
                <a:ea typeface="Montserrat Light"/>
                <a:cs typeface="Montserrat Light"/>
                <a:sym typeface="Montserrat Light"/>
              </a:rPr>
              <a:t>Catalog published from SEP   to portals</a:t>
            </a:r>
            <a:endParaRPr dirty="0">
              <a:latin typeface="Montserrat Light"/>
              <a:ea typeface="Montserrat Light"/>
              <a:cs typeface="Montserrat Light"/>
              <a:sym typeface="Montserrat Light"/>
            </a:endParaRPr>
          </a:p>
          <a:p>
            <a:pPr marL="228600" marR="0" lvl="0" indent="-241300" algn="l" rtl="0">
              <a:lnSpc>
                <a:spcPct val="100000"/>
              </a:lnSpc>
              <a:spcBef>
                <a:spcPts val="0"/>
              </a:spcBef>
              <a:spcAft>
                <a:spcPts val="0"/>
              </a:spcAft>
              <a:buClr>
                <a:schemeClr val="dk1"/>
              </a:buClr>
              <a:buSzPts val="1400"/>
              <a:buFont typeface="Montserrat"/>
              <a:buAutoNum type="arabicPeriod"/>
            </a:pPr>
            <a:r>
              <a:rPr lang="en-US" dirty="0">
                <a:solidFill>
                  <a:schemeClr val="dk1"/>
                </a:solidFill>
                <a:latin typeface="Montserrat Light"/>
                <a:ea typeface="Montserrat Light"/>
                <a:cs typeface="Montserrat Light"/>
                <a:sym typeface="Montserrat Light"/>
              </a:rPr>
              <a:t>Customer onboarding to SEP</a:t>
            </a:r>
            <a:endParaRPr i="0" u="none" strike="noStrike" cap="none" dirty="0">
              <a:solidFill>
                <a:schemeClr val="dk1"/>
              </a:solidFill>
              <a:latin typeface="Montserrat Light"/>
              <a:ea typeface="Montserrat Light"/>
              <a:cs typeface="Montserrat Light"/>
              <a:sym typeface="Montserrat Light"/>
            </a:endParaRPr>
          </a:p>
          <a:p>
            <a:pPr marL="228600" marR="0" lvl="0" indent="-241300" algn="l" rtl="0">
              <a:lnSpc>
                <a:spcPct val="100000"/>
              </a:lnSpc>
              <a:spcBef>
                <a:spcPts val="0"/>
              </a:spcBef>
              <a:spcAft>
                <a:spcPts val="0"/>
              </a:spcAft>
              <a:buClr>
                <a:schemeClr val="dk1"/>
              </a:buClr>
              <a:buSzPts val="1400"/>
              <a:buFont typeface="Montserrat"/>
              <a:buAutoNum type="arabicPeriod"/>
            </a:pPr>
            <a:r>
              <a:rPr lang="en-US" dirty="0">
                <a:solidFill>
                  <a:schemeClr val="dk1"/>
                </a:solidFill>
                <a:latin typeface="Montserrat Light"/>
                <a:ea typeface="Montserrat Light"/>
                <a:cs typeface="Montserrat Light"/>
                <a:sym typeface="Montserrat Light"/>
              </a:rPr>
              <a:t>Customer orders API, SEP sends credentials to access API</a:t>
            </a:r>
            <a:endParaRPr dirty="0">
              <a:latin typeface="Montserrat Light"/>
              <a:ea typeface="Montserrat Light"/>
              <a:cs typeface="Montserrat Light"/>
              <a:sym typeface="Montserrat Light"/>
            </a:endParaRPr>
          </a:p>
          <a:p>
            <a:pPr marL="228600" marR="0" lvl="0" indent="-241300" algn="l" rtl="0">
              <a:spcBef>
                <a:spcPts val="0"/>
              </a:spcBef>
              <a:spcAft>
                <a:spcPts val="0"/>
              </a:spcAft>
              <a:buClr>
                <a:schemeClr val="dk1"/>
              </a:buClr>
              <a:buSzPts val="1400"/>
              <a:buFont typeface="Montserrat"/>
              <a:buAutoNum type="arabicPeriod"/>
            </a:pPr>
            <a:r>
              <a:rPr lang="en-US" dirty="0">
                <a:solidFill>
                  <a:schemeClr val="dk1"/>
                </a:solidFill>
                <a:latin typeface="Montserrat Light"/>
                <a:ea typeface="Montserrat Light"/>
                <a:cs typeface="Montserrat Light"/>
                <a:sym typeface="Montserrat Light"/>
              </a:rPr>
              <a:t>If necessary SEP requests user consent for API.  Capacity management is done. Customer uses API. SEP performs metering and rating.</a:t>
            </a:r>
            <a:endParaRPr dirty="0">
              <a:latin typeface="Montserrat Light"/>
              <a:ea typeface="Montserrat Light"/>
              <a:cs typeface="Montserrat Light"/>
              <a:sym typeface="Montserrat Light"/>
            </a:endParaRPr>
          </a:p>
          <a:p>
            <a:pPr marL="228600" marR="0" lvl="0" indent="-241300" algn="l" rtl="0">
              <a:spcBef>
                <a:spcPts val="0"/>
              </a:spcBef>
              <a:spcAft>
                <a:spcPts val="0"/>
              </a:spcAft>
              <a:buClr>
                <a:schemeClr val="dk1"/>
              </a:buClr>
              <a:buSzPts val="1400"/>
              <a:buFont typeface="Montserrat"/>
              <a:buAutoNum type="arabicPeriod"/>
            </a:pPr>
            <a:r>
              <a:rPr lang="en-US" i="0" u="none" strike="noStrike" cap="none" dirty="0">
                <a:solidFill>
                  <a:schemeClr val="dk1"/>
                </a:solidFill>
                <a:latin typeface="Montserrat Light"/>
                <a:ea typeface="Montserrat Light"/>
                <a:cs typeface="Montserrat Light"/>
                <a:sym typeface="Montserrat Light"/>
              </a:rPr>
              <a:t>SEP </a:t>
            </a:r>
            <a:r>
              <a:rPr lang="en-US" i="0" u="none" strike="noStrike" cap="none" dirty="0" err="1">
                <a:solidFill>
                  <a:schemeClr val="dk1"/>
                </a:solidFill>
                <a:latin typeface="Montserrat Light"/>
                <a:ea typeface="Montserrat Light"/>
                <a:cs typeface="Montserrat Light"/>
                <a:sym typeface="Montserrat Light"/>
              </a:rPr>
              <a:t>initates</a:t>
            </a:r>
            <a:r>
              <a:rPr lang="en-US" i="0" u="none" strike="noStrike" cap="none" dirty="0">
                <a:solidFill>
                  <a:schemeClr val="dk1"/>
                </a:solidFill>
                <a:latin typeface="Montserrat Light"/>
                <a:ea typeface="Montserrat Light"/>
                <a:cs typeface="Montserrat Light"/>
                <a:sym typeface="Montserrat Light"/>
              </a:rPr>
              <a:t> billing for wholesale and retail</a:t>
            </a:r>
            <a:endParaRPr dirty="0">
              <a:latin typeface="Montserrat Light"/>
              <a:ea typeface="Montserrat Light"/>
              <a:cs typeface="Montserrat Light"/>
              <a:sym typeface="Montserrat Light"/>
            </a:endParaRPr>
          </a:p>
          <a:p>
            <a:pPr marL="228600" marR="0" lvl="0" indent="-241300" algn="l" rtl="0">
              <a:spcBef>
                <a:spcPts val="0"/>
              </a:spcBef>
              <a:spcAft>
                <a:spcPts val="0"/>
              </a:spcAft>
              <a:buClr>
                <a:schemeClr val="dk1"/>
              </a:buClr>
              <a:buSzPts val="1400"/>
              <a:buFont typeface="Montserrat"/>
              <a:buAutoNum type="arabicPeriod"/>
            </a:pPr>
            <a:r>
              <a:rPr lang="en-US" i="0" u="none" strike="noStrike" cap="none" dirty="0">
                <a:solidFill>
                  <a:schemeClr val="dk1"/>
                </a:solidFill>
                <a:latin typeface="Montserrat Light"/>
                <a:ea typeface="Montserrat Light"/>
                <a:cs typeface="Montserrat Light"/>
                <a:sym typeface="Montserrat Light"/>
              </a:rPr>
              <a:t>Customer offboarding</a:t>
            </a:r>
            <a:endParaRPr dirty="0">
              <a:latin typeface="Montserrat Light"/>
              <a:ea typeface="Montserrat Light"/>
              <a:cs typeface="Montserrat Light"/>
              <a:sym typeface="Montserrat Light"/>
            </a:endParaRPr>
          </a:p>
        </p:txBody>
      </p:sp>
      <p:sp>
        <p:nvSpPr>
          <p:cNvPr id="1091" name="Google Shape;1091;p42"/>
          <p:cNvSpPr/>
          <p:nvPr/>
        </p:nvSpPr>
        <p:spPr>
          <a:xfrm>
            <a:off x="7605875" y="5544400"/>
            <a:ext cx="3390600" cy="482100"/>
          </a:xfrm>
          <a:prstGeom prst="roundRect">
            <a:avLst>
              <a:gd name="adj" fmla="val 16667"/>
            </a:avLst>
          </a:prstGeom>
          <a:solidFill>
            <a:schemeClr val="dk2"/>
          </a:solidFill>
          <a:ln w="19050" cap="flat" cmpd="sng">
            <a:solidFill>
              <a:schemeClr val="dk2"/>
            </a:solidFill>
            <a:prstDash val="solid"/>
            <a:round/>
            <a:headEnd type="none" w="sm" len="sm"/>
            <a:tailEnd type="none" w="sm" len="sm"/>
          </a:ln>
        </p:spPr>
        <p:txBody>
          <a:bodyPr spcFirstLastPara="1" wrap="square" lIns="72000" tIns="72000" rIns="72000" bIns="72000" anchor="ctr" anchorCtr="0">
            <a:noAutofit/>
          </a:bodyPr>
          <a:lstStyle/>
          <a:p>
            <a:pPr marL="0" marR="0" lvl="0" indent="0" algn="ctr" rtl="0">
              <a:lnSpc>
                <a:spcPct val="100000"/>
              </a:lnSpc>
              <a:spcBef>
                <a:spcPts val="0"/>
              </a:spcBef>
              <a:spcAft>
                <a:spcPts val="0"/>
              </a:spcAft>
              <a:buClr>
                <a:schemeClr val="dk1"/>
              </a:buClr>
              <a:buSzPts val="1400"/>
              <a:buFont typeface="Montserrat Light"/>
              <a:buNone/>
            </a:pPr>
            <a:endParaRPr/>
          </a:p>
        </p:txBody>
      </p:sp>
      <p:cxnSp>
        <p:nvCxnSpPr>
          <p:cNvPr id="1092" name="Google Shape;1092;p42"/>
          <p:cNvCxnSpPr/>
          <p:nvPr/>
        </p:nvCxnSpPr>
        <p:spPr>
          <a:xfrm rot="10800000">
            <a:off x="7790775" y="5659445"/>
            <a:ext cx="0" cy="252000"/>
          </a:xfrm>
          <a:prstGeom prst="straightConnector1">
            <a:avLst/>
          </a:prstGeom>
          <a:noFill/>
          <a:ln w="19050" cap="flat" cmpd="sng">
            <a:solidFill>
              <a:schemeClr val="accent2"/>
            </a:solidFill>
            <a:prstDash val="solid"/>
            <a:round/>
            <a:headEnd type="none" w="sm" len="sm"/>
            <a:tailEnd type="none" w="sm" len="sm"/>
          </a:ln>
        </p:spPr>
      </p:cxnSp>
      <p:sp>
        <p:nvSpPr>
          <p:cNvPr id="1093" name="Google Shape;1093;p42"/>
          <p:cNvSpPr txBox="1"/>
          <p:nvPr/>
        </p:nvSpPr>
        <p:spPr>
          <a:xfrm>
            <a:off x="7808100" y="5647000"/>
            <a:ext cx="11181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a:solidFill>
                  <a:schemeClr val="lt1"/>
                </a:solidFill>
                <a:latin typeface="Montserrat Medium"/>
                <a:ea typeface="Montserrat Medium"/>
                <a:cs typeface="Montserrat Medium"/>
                <a:sym typeface="Montserrat Medium"/>
              </a:rPr>
              <a:t>Service API</a:t>
            </a:r>
            <a:endParaRPr sz="1200" i="0" u="none" strike="noStrike" cap="none">
              <a:solidFill>
                <a:schemeClr val="lt1"/>
              </a:solidFill>
              <a:latin typeface="Montserrat Medium"/>
              <a:ea typeface="Montserrat Medium"/>
              <a:cs typeface="Montserrat Medium"/>
              <a:sym typeface="Montserrat Medium"/>
            </a:endParaRPr>
          </a:p>
        </p:txBody>
      </p:sp>
      <p:cxnSp>
        <p:nvCxnSpPr>
          <p:cNvPr id="1095" name="Google Shape;1095;p42"/>
          <p:cNvCxnSpPr/>
          <p:nvPr/>
        </p:nvCxnSpPr>
        <p:spPr>
          <a:xfrm rot="10800000">
            <a:off x="8999088" y="5659445"/>
            <a:ext cx="0" cy="252000"/>
          </a:xfrm>
          <a:prstGeom prst="straightConnector1">
            <a:avLst/>
          </a:prstGeom>
          <a:noFill/>
          <a:ln w="19050" cap="flat" cmpd="sng">
            <a:solidFill>
              <a:schemeClr val="accent5"/>
            </a:solidFill>
            <a:prstDash val="solid"/>
            <a:round/>
            <a:headEnd type="none" w="sm" len="sm"/>
            <a:tailEnd type="none" w="sm" len="sm"/>
          </a:ln>
        </p:spPr>
      </p:cxnSp>
      <p:sp>
        <p:nvSpPr>
          <p:cNvPr id="1096" name="Google Shape;1096;p42"/>
          <p:cNvSpPr txBox="1"/>
          <p:nvPr/>
        </p:nvSpPr>
        <p:spPr>
          <a:xfrm>
            <a:off x="9016421" y="5647000"/>
            <a:ext cx="7347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a:solidFill>
                  <a:schemeClr val="lt1"/>
                </a:solidFill>
                <a:latin typeface="Montserrat Medium"/>
                <a:ea typeface="Montserrat Medium"/>
                <a:cs typeface="Montserrat Medium"/>
                <a:sym typeface="Montserrat Medium"/>
              </a:rPr>
              <a:t>IT API</a:t>
            </a:r>
            <a:endParaRPr sz="1200" i="0" u="none" strike="noStrike" cap="none">
              <a:solidFill>
                <a:schemeClr val="lt1"/>
              </a:solidFill>
              <a:latin typeface="Montserrat Medium"/>
              <a:ea typeface="Montserrat Medium"/>
              <a:cs typeface="Montserrat Medium"/>
              <a:sym typeface="Montserrat Medium"/>
            </a:endParaRPr>
          </a:p>
        </p:txBody>
      </p:sp>
      <p:cxnSp>
        <p:nvCxnSpPr>
          <p:cNvPr id="1097" name="Google Shape;1097;p42"/>
          <p:cNvCxnSpPr/>
          <p:nvPr/>
        </p:nvCxnSpPr>
        <p:spPr>
          <a:xfrm rot="10800000">
            <a:off x="9779275" y="5659445"/>
            <a:ext cx="0" cy="252000"/>
          </a:xfrm>
          <a:prstGeom prst="straightConnector1">
            <a:avLst/>
          </a:prstGeom>
          <a:noFill/>
          <a:ln w="19050" cap="flat" cmpd="sng">
            <a:solidFill>
              <a:srgbClr val="FF0000"/>
            </a:solidFill>
            <a:prstDash val="solid"/>
            <a:round/>
            <a:headEnd type="none" w="sm" len="sm"/>
            <a:tailEnd type="none" w="sm" len="sm"/>
          </a:ln>
        </p:spPr>
      </p:cxnSp>
      <p:sp>
        <p:nvSpPr>
          <p:cNvPr id="1098" name="Google Shape;1098;p42"/>
          <p:cNvSpPr txBox="1"/>
          <p:nvPr/>
        </p:nvSpPr>
        <p:spPr>
          <a:xfrm>
            <a:off x="9796600" y="5647000"/>
            <a:ext cx="11181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a:solidFill>
                  <a:schemeClr val="lt1"/>
                </a:solidFill>
                <a:latin typeface="Montserrat Medium"/>
                <a:ea typeface="Montserrat Medium"/>
                <a:cs typeface="Montserrat Medium"/>
                <a:sym typeface="Montserrat Medium"/>
              </a:rPr>
              <a:t>Operate API</a:t>
            </a:r>
            <a:endParaRPr sz="1200" i="0" u="none" strike="noStrike" cap="none">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02"/>
        <p:cNvGrpSpPr/>
        <p:nvPr/>
      </p:nvGrpSpPr>
      <p:grpSpPr>
        <a:xfrm>
          <a:off x="0" y="0"/>
          <a:ext cx="0" cy="0"/>
          <a:chOff x="0" y="0"/>
          <a:chExt cx="0" cy="0"/>
        </a:xfrm>
      </p:grpSpPr>
      <p:sp>
        <p:nvSpPr>
          <p:cNvPr id="1103" name="Google Shape;1103;p43"/>
          <p:cNvSpPr txBox="1">
            <a:spLocks noGrp="1"/>
          </p:cNvSpPr>
          <p:nvPr>
            <p:ph type="title"/>
          </p:nvPr>
        </p:nvSpPr>
        <p:spPr>
          <a:xfrm>
            <a:off x="422850" y="417173"/>
            <a:ext cx="10944300" cy="784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Benefit for operators</a:t>
            </a:r>
            <a:br>
              <a:rPr lang="en-US"/>
            </a:br>
            <a:r>
              <a:rPr lang="en-US"/>
              <a:t>to work in CAMARA</a:t>
            </a:r>
            <a:endParaRPr/>
          </a:p>
        </p:txBody>
      </p:sp>
      <p:sp>
        <p:nvSpPr>
          <p:cNvPr id="1104" name="Google Shape;1104;p43"/>
          <p:cNvSpPr txBox="1"/>
          <p:nvPr/>
        </p:nvSpPr>
        <p:spPr>
          <a:xfrm>
            <a:off x="500675" y="2671652"/>
            <a:ext cx="5126400" cy="2635593"/>
          </a:xfrm>
          <a:prstGeom prst="rect">
            <a:avLst/>
          </a:prstGeom>
          <a:solidFill>
            <a:srgbClr val="3A9BF3"/>
          </a:solidFill>
          <a:ln>
            <a:noFill/>
          </a:ln>
        </p:spPr>
        <p:txBody>
          <a:bodyPr spcFirstLastPara="1" wrap="square" lIns="228600" tIns="228600" rIns="228600" bIns="228600" anchor="t" anchorCtr="0">
            <a:spAutoFit/>
          </a:bodyPr>
          <a:lstStyle/>
          <a:p>
            <a:pPr marL="0" marR="0" lvl="0" indent="0" algn="l" rtl="0">
              <a:lnSpc>
                <a:spcPct val="115000"/>
              </a:lnSpc>
              <a:spcBef>
                <a:spcPts val="1400"/>
              </a:spcBef>
              <a:spcAft>
                <a:spcPts val="0"/>
              </a:spcAft>
              <a:buClr>
                <a:schemeClr val="dk1"/>
              </a:buClr>
              <a:buSzPts val="1100"/>
              <a:buFont typeface="Montserrat Light"/>
              <a:buNone/>
            </a:pPr>
            <a:r>
              <a:rPr lang="en-US" sz="2000" dirty="0">
                <a:solidFill>
                  <a:schemeClr val="lt1"/>
                </a:solidFill>
                <a:latin typeface="Montserrat Medium"/>
                <a:ea typeface="Montserrat Medium"/>
                <a:cs typeface="Montserrat Medium"/>
                <a:sym typeface="Montserrat Medium"/>
              </a:rPr>
              <a:t>Collaborative Innovation</a:t>
            </a:r>
            <a:endParaRPr sz="2000" dirty="0">
              <a:solidFill>
                <a:schemeClr val="lt1"/>
              </a:solidFill>
              <a:latin typeface="Montserrat Medium"/>
              <a:ea typeface="Montserrat Medium"/>
              <a:cs typeface="Montserrat Medium"/>
              <a:sym typeface="Montserrat Medium"/>
            </a:endParaRPr>
          </a:p>
          <a:p>
            <a:pPr marL="457200" marR="0" lvl="0" indent="-317500" algn="l" rtl="0">
              <a:lnSpc>
                <a:spcPct val="115000"/>
              </a:lnSpc>
              <a:spcBef>
                <a:spcPts val="1200"/>
              </a:spcBef>
              <a:spcAft>
                <a:spcPts val="0"/>
              </a:spcAft>
              <a:buClr>
                <a:schemeClr val="lt1"/>
              </a:buClr>
              <a:buSzPts val="1400"/>
              <a:buFont typeface="Montserrat Light"/>
              <a:buChar char="●"/>
            </a:pPr>
            <a:r>
              <a:rPr lang="en-US" dirty="0">
                <a:solidFill>
                  <a:schemeClr val="lt1"/>
                </a:solidFill>
                <a:latin typeface="Montserrat Light"/>
                <a:ea typeface="Montserrat Light"/>
                <a:cs typeface="Montserrat Light"/>
                <a:sym typeface="Montserrat Light"/>
              </a:rPr>
              <a:t>Industry Collaboration</a:t>
            </a:r>
            <a:endParaRPr dirty="0">
              <a:solidFill>
                <a:schemeClr val="lt1"/>
              </a:solidFill>
              <a:latin typeface="Montserrat Light"/>
              <a:ea typeface="Montserrat Light"/>
              <a:cs typeface="Montserrat Light"/>
              <a:sym typeface="Montserrat Light"/>
            </a:endParaRPr>
          </a:p>
          <a:p>
            <a:pPr marL="457200" marR="0" lvl="0" indent="-317500" algn="l" rtl="0">
              <a:lnSpc>
                <a:spcPct val="115000"/>
              </a:lnSpc>
              <a:spcBef>
                <a:spcPts val="0"/>
              </a:spcBef>
              <a:spcAft>
                <a:spcPts val="0"/>
              </a:spcAft>
              <a:buClr>
                <a:schemeClr val="lt1"/>
              </a:buClr>
              <a:buSzPts val="1400"/>
              <a:buFont typeface="Montserrat Light"/>
              <a:buChar char="●"/>
            </a:pPr>
            <a:r>
              <a:rPr lang="en-US" dirty="0">
                <a:solidFill>
                  <a:schemeClr val="lt1"/>
                </a:solidFill>
                <a:latin typeface="Montserrat Light"/>
                <a:ea typeface="Montserrat Light"/>
                <a:cs typeface="Montserrat Light"/>
                <a:sym typeface="Montserrat Light"/>
              </a:rPr>
              <a:t>Standardization: contribute to development of industry standards, ensuring interoperability and consistency across networks and services</a:t>
            </a:r>
            <a:endParaRPr dirty="0">
              <a:solidFill>
                <a:schemeClr val="lt1"/>
              </a:solidFill>
            </a:endParaRPr>
          </a:p>
          <a:p>
            <a:pPr marL="457200" marR="0" lvl="0" indent="-317500" algn="l" rtl="0">
              <a:lnSpc>
                <a:spcPct val="115000"/>
              </a:lnSpc>
              <a:spcBef>
                <a:spcPts val="0"/>
              </a:spcBef>
              <a:spcAft>
                <a:spcPts val="0"/>
              </a:spcAft>
              <a:buClr>
                <a:schemeClr val="lt1"/>
              </a:buClr>
              <a:buSzPts val="1400"/>
              <a:buFont typeface="Montserrat Light"/>
              <a:buChar char="●"/>
            </a:pPr>
            <a:r>
              <a:rPr lang="en-US" dirty="0">
                <a:solidFill>
                  <a:schemeClr val="lt1"/>
                </a:solidFill>
                <a:latin typeface="Montserrat Light"/>
                <a:ea typeface="Montserrat Light"/>
                <a:cs typeface="Montserrat Light"/>
                <a:sym typeface="Montserrat Light"/>
              </a:rPr>
              <a:t>Bring in your requirements!</a:t>
            </a:r>
          </a:p>
          <a:p>
            <a:pPr marL="457200" marR="0" lvl="0" indent="-317500" algn="l" rtl="0">
              <a:lnSpc>
                <a:spcPct val="115000"/>
              </a:lnSpc>
              <a:spcBef>
                <a:spcPts val="0"/>
              </a:spcBef>
              <a:spcAft>
                <a:spcPts val="0"/>
              </a:spcAft>
              <a:buClr>
                <a:schemeClr val="lt1"/>
              </a:buClr>
              <a:buSzPts val="1400"/>
              <a:buFont typeface="Montserrat Light"/>
              <a:buChar char="●"/>
            </a:pPr>
            <a:endParaRPr dirty="0">
              <a:solidFill>
                <a:schemeClr val="lt1"/>
              </a:solidFill>
              <a:latin typeface="Montserrat Light"/>
              <a:ea typeface="Montserrat Light"/>
              <a:cs typeface="Montserrat Light"/>
              <a:sym typeface="Montserrat Light"/>
            </a:endParaRPr>
          </a:p>
        </p:txBody>
      </p:sp>
      <p:sp>
        <p:nvSpPr>
          <p:cNvPr id="1105" name="Google Shape;1105;p43"/>
          <p:cNvSpPr txBox="1"/>
          <p:nvPr/>
        </p:nvSpPr>
        <p:spPr>
          <a:xfrm>
            <a:off x="5894999" y="1984949"/>
            <a:ext cx="5126400" cy="4066241"/>
          </a:xfrm>
          <a:prstGeom prst="rect">
            <a:avLst/>
          </a:prstGeom>
          <a:solidFill>
            <a:srgbClr val="3A9BF3"/>
          </a:solidFill>
          <a:ln>
            <a:noFill/>
          </a:ln>
        </p:spPr>
        <p:txBody>
          <a:bodyPr spcFirstLastPara="1" wrap="square" lIns="228600" tIns="228600" rIns="228600" bIns="228600" anchor="t" anchorCtr="0">
            <a:spAutoFit/>
          </a:bodyPr>
          <a:lstStyle/>
          <a:p>
            <a:pPr marL="0" marR="0" lvl="0" indent="0" algn="l" rtl="0">
              <a:lnSpc>
                <a:spcPct val="115000"/>
              </a:lnSpc>
              <a:spcBef>
                <a:spcPts val="1400"/>
              </a:spcBef>
              <a:spcAft>
                <a:spcPts val="0"/>
              </a:spcAft>
              <a:buClr>
                <a:schemeClr val="dk1"/>
              </a:buClr>
              <a:buSzPts val="1100"/>
              <a:buFont typeface="Montserrat Light"/>
              <a:buNone/>
            </a:pPr>
            <a:r>
              <a:rPr lang="en-US" sz="2000" b="0" dirty="0">
                <a:solidFill>
                  <a:schemeClr val="lt1"/>
                </a:solidFill>
                <a:latin typeface="Montserrat Medium"/>
                <a:ea typeface="Montserrat Medium"/>
                <a:cs typeface="Montserrat Medium"/>
                <a:sym typeface="Montserrat Medium"/>
              </a:rPr>
              <a:t>Networking and Partnerships</a:t>
            </a:r>
            <a:endParaRPr sz="2000" dirty="0">
              <a:solidFill>
                <a:schemeClr val="lt1"/>
              </a:solidFill>
            </a:endParaRPr>
          </a:p>
          <a:p>
            <a:pPr marL="457200" marR="0" lvl="0" indent="-317500" algn="l" rtl="0">
              <a:lnSpc>
                <a:spcPct val="115000"/>
              </a:lnSpc>
              <a:spcBef>
                <a:spcPts val="1200"/>
              </a:spcBef>
              <a:spcAft>
                <a:spcPts val="0"/>
              </a:spcAft>
              <a:buClr>
                <a:schemeClr val="lt1"/>
              </a:buClr>
              <a:buSzPts val="1400"/>
              <a:buFont typeface="Montserrat Light"/>
              <a:buChar char="●"/>
            </a:pPr>
            <a:r>
              <a:rPr lang="en-US" b="0" dirty="0">
                <a:solidFill>
                  <a:schemeClr val="lt1"/>
                </a:solidFill>
                <a:latin typeface="Montserrat Light"/>
                <a:ea typeface="Montserrat Light"/>
                <a:cs typeface="Montserrat Light"/>
                <a:sym typeface="Montserrat Light"/>
              </a:rPr>
              <a:t>Access to a growing global network of industry leaders</a:t>
            </a:r>
            <a:endParaRPr dirty="0">
              <a:solidFill>
                <a:schemeClr val="lt1"/>
              </a:solidFill>
            </a:endParaRPr>
          </a:p>
          <a:p>
            <a:pPr marL="457200" marR="0" lvl="0" indent="-317500" algn="l" rtl="0">
              <a:lnSpc>
                <a:spcPct val="115000"/>
              </a:lnSpc>
              <a:spcBef>
                <a:spcPts val="0"/>
              </a:spcBef>
              <a:spcAft>
                <a:spcPts val="0"/>
              </a:spcAft>
              <a:buClr>
                <a:schemeClr val="lt1"/>
              </a:buClr>
              <a:buSzPts val="1400"/>
              <a:buFont typeface="Montserrat Light"/>
              <a:buChar char="●"/>
            </a:pPr>
            <a:r>
              <a:rPr lang="en-US" b="0" dirty="0">
                <a:solidFill>
                  <a:schemeClr val="lt1"/>
                </a:solidFill>
                <a:latin typeface="Montserrat Light"/>
                <a:ea typeface="Montserrat Light"/>
                <a:cs typeface="Montserrat Light"/>
                <a:sym typeface="Montserrat Light"/>
              </a:rPr>
              <a:t>Technological Advancements</a:t>
            </a:r>
            <a:endParaRPr dirty="0">
              <a:solidFill>
                <a:schemeClr val="lt1"/>
              </a:solidFill>
            </a:endParaRPr>
          </a:p>
          <a:p>
            <a:pPr marL="457200" marR="0" lvl="0" indent="-317500" algn="l" rtl="0">
              <a:lnSpc>
                <a:spcPct val="115000"/>
              </a:lnSpc>
              <a:spcBef>
                <a:spcPts val="0"/>
              </a:spcBef>
              <a:spcAft>
                <a:spcPts val="0"/>
              </a:spcAft>
              <a:buClr>
                <a:schemeClr val="lt1"/>
              </a:buClr>
              <a:buSzPts val="1400"/>
              <a:buFont typeface="Montserrat Light"/>
              <a:buChar char="●"/>
            </a:pPr>
            <a:r>
              <a:rPr lang="en-US" b="0" dirty="0">
                <a:solidFill>
                  <a:schemeClr val="lt1"/>
                </a:solidFill>
                <a:latin typeface="Montserrat Light"/>
                <a:ea typeface="Montserrat Light"/>
                <a:cs typeface="Montserrat Light"/>
                <a:sym typeface="Montserrat Light"/>
              </a:rPr>
              <a:t>Knowledge Exchange</a:t>
            </a:r>
            <a:endParaRPr b="0" dirty="0">
              <a:solidFill>
                <a:schemeClr val="lt1"/>
              </a:solidFill>
              <a:latin typeface="Montserrat Light"/>
              <a:ea typeface="Montserrat Light"/>
              <a:cs typeface="Montserrat Light"/>
              <a:sym typeface="Montserrat Light"/>
            </a:endParaRPr>
          </a:p>
          <a:p>
            <a:pPr marL="0" marR="0" lvl="0" indent="0" algn="l" rtl="0">
              <a:lnSpc>
                <a:spcPct val="115000"/>
              </a:lnSpc>
              <a:spcBef>
                <a:spcPts val="1400"/>
              </a:spcBef>
              <a:spcAft>
                <a:spcPts val="0"/>
              </a:spcAft>
              <a:buClr>
                <a:schemeClr val="dk1"/>
              </a:buClr>
              <a:buSzPts val="1100"/>
              <a:buFont typeface="Montserrat Light"/>
              <a:buNone/>
            </a:pPr>
            <a:r>
              <a:rPr lang="en-US" sz="2000" b="0" dirty="0">
                <a:solidFill>
                  <a:schemeClr val="lt1"/>
                </a:solidFill>
                <a:latin typeface="Montserrat Medium"/>
                <a:ea typeface="Montserrat Medium"/>
                <a:cs typeface="Montserrat Medium"/>
                <a:sym typeface="Montserrat Medium"/>
              </a:rPr>
              <a:t>Shared Resources</a:t>
            </a:r>
            <a:endParaRPr sz="2000" dirty="0">
              <a:solidFill>
                <a:schemeClr val="lt1"/>
              </a:solidFill>
            </a:endParaRPr>
          </a:p>
          <a:p>
            <a:pPr marL="457200" marR="0" lvl="0" indent="-317500" algn="l" rtl="0">
              <a:lnSpc>
                <a:spcPct val="115000"/>
              </a:lnSpc>
              <a:spcBef>
                <a:spcPts val="1200"/>
              </a:spcBef>
              <a:spcAft>
                <a:spcPts val="0"/>
              </a:spcAft>
              <a:buClr>
                <a:schemeClr val="lt1"/>
              </a:buClr>
              <a:buSzPts val="1400"/>
              <a:buFont typeface="Montserrat Light"/>
              <a:buChar char="●"/>
            </a:pPr>
            <a:r>
              <a:rPr lang="en-US" b="0" dirty="0">
                <a:solidFill>
                  <a:schemeClr val="lt1"/>
                </a:solidFill>
                <a:latin typeface="Montserrat Light"/>
                <a:ea typeface="Montserrat Light"/>
                <a:cs typeface="Montserrat Light"/>
                <a:sym typeface="Montserrat Light"/>
              </a:rPr>
              <a:t>Collaborative projects often lead to cost savings through shared resources and reduced duplication of efforts</a:t>
            </a:r>
            <a:endParaRPr dirty="0">
              <a:solidFill>
                <a:schemeClr val="lt1"/>
              </a:solidFill>
            </a:endParaRPr>
          </a:p>
          <a:p>
            <a:pPr marL="457200" marR="0" lvl="0" indent="-317500" algn="l" rtl="0">
              <a:lnSpc>
                <a:spcPct val="115000"/>
              </a:lnSpc>
              <a:spcBef>
                <a:spcPts val="0"/>
              </a:spcBef>
              <a:spcAft>
                <a:spcPts val="0"/>
              </a:spcAft>
              <a:buClr>
                <a:schemeClr val="lt1"/>
              </a:buClr>
              <a:buSzPts val="1400"/>
              <a:buFont typeface="Montserrat Light"/>
              <a:buChar char="●"/>
            </a:pPr>
            <a:r>
              <a:rPr lang="en-US" b="0" dirty="0">
                <a:solidFill>
                  <a:schemeClr val="lt1"/>
                </a:solidFill>
                <a:latin typeface="Montserrat Light"/>
                <a:ea typeface="Montserrat Light"/>
                <a:cs typeface="Montserrat Light"/>
                <a:sym typeface="Montserrat Light"/>
              </a:rPr>
              <a:t>Benefit from the collective research efforts</a:t>
            </a:r>
          </a:p>
          <a:p>
            <a:pPr marL="457200" marR="0" lvl="0" indent="-317500" algn="l" rtl="0">
              <a:lnSpc>
                <a:spcPct val="115000"/>
              </a:lnSpc>
              <a:spcBef>
                <a:spcPts val="0"/>
              </a:spcBef>
              <a:spcAft>
                <a:spcPts val="0"/>
              </a:spcAft>
              <a:buClr>
                <a:schemeClr val="lt1"/>
              </a:buClr>
              <a:buSzPts val="1400"/>
              <a:buFont typeface="Montserrat Light"/>
              <a:buChar char="●"/>
            </a:pPr>
            <a:endParaRPr dirty="0">
              <a:solidFill>
                <a:schemeClr val="lt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p44"/>
          <p:cNvSpPr txBox="1">
            <a:spLocks noGrp="1"/>
          </p:cNvSpPr>
          <p:nvPr>
            <p:ph type="title"/>
          </p:nvPr>
        </p:nvSpPr>
        <p:spPr>
          <a:xfrm>
            <a:off x="434125" y="441611"/>
            <a:ext cx="10944300" cy="784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Benefit for operators</a:t>
            </a:r>
            <a:br>
              <a:rPr lang="en-US"/>
            </a:br>
            <a:r>
              <a:rPr lang="en-US"/>
              <a:t>to work in CAMARA</a:t>
            </a:r>
            <a:endParaRPr/>
          </a:p>
        </p:txBody>
      </p:sp>
      <p:sp>
        <p:nvSpPr>
          <p:cNvPr id="1112" name="Google Shape;1112;p44"/>
          <p:cNvSpPr txBox="1"/>
          <p:nvPr/>
        </p:nvSpPr>
        <p:spPr>
          <a:xfrm>
            <a:off x="434125" y="2205785"/>
            <a:ext cx="83889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Montserrat Light"/>
              <a:buNone/>
            </a:pPr>
            <a:r>
              <a:rPr lang="en-US" sz="2000" dirty="0">
                <a:solidFill>
                  <a:schemeClr val="dk2"/>
                </a:solidFill>
                <a:latin typeface="Montserrat Medium"/>
                <a:ea typeface="Montserrat Medium"/>
                <a:cs typeface="Montserrat Medium"/>
                <a:sym typeface="Montserrat Medium"/>
              </a:rPr>
              <a:t>Why Join CAMARA as a sponsor /member?</a:t>
            </a:r>
            <a:endParaRPr sz="2000" dirty="0">
              <a:solidFill>
                <a:schemeClr val="dk2"/>
              </a:solidFill>
              <a:latin typeface="Montserrat Medium"/>
              <a:ea typeface="Montserrat Medium"/>
              <a:cs typeface="Montserrat Medium"/>
              <a:sym typeface="Montserrat Medium"/>
            </a:endParaRPr>
          </a:p>
        </p:txBody>
      </p:sp>
      <p:sp>
        <p:nvSpPr>
          <p:cNvPr id="1113" name="Google Shape;1113;p44"/>
          <p:cNvSpPr/>
          <p:nvPr/>
        </p:nvSpPr>
        <p:spPr>
          <a:xfrm>
            <a:off x="434125" y="2960475"/>
            <a:ext cx="3026400" cy="1090200"/>
          </a:xfrm>
          <a:prstGeom prst="roundRect">
            <a:avLst>
              <a:gd name="adj" fmla="val 16667"/>
            </a:avLst>
          </a:prstGeom>
          <a:solidFill>
            <a:srgbClr val="3A9BF3"/>
          </a:solidFill>
          <a:ln w="9525" cap="flat" cmpd="sng">
            <a:solidFill>
              <a:srgbClr val="CFE2F3"/>
            </a:solidFill>
            <a:prstDash val="solid"/>
            <a:round/>
            <a:headEnd type="none" w="sm" len="sm"/>
            <a:tailEnd type="none" w="sm" len="sm"/>
          </a:ln>
        </p:spPr>
        <p:txBody>
          <a:bodyPr spcFirstLastPara="1" wrap="square" lIns="228600" tIns="228600" rIns="228600" bIns="228600" anchor="ctr" anchorCtr="0">
            <a:noAutofit/>
          </a:bodyPr>
          <a:lstStyle/>
          <a:p>
            <a:pPr marL="0" marR="0" lvl="0" indent="0" algn="ctr" rtl="0">
              <a:spcBef>
                <a:spcPts val="0"/>
              </a:spcBef>
              <a:spcAft>
                <a:spcPts val="0"/>
              </a:spcAft>
              <a:buClr>
                <a:schemeClr val="dk1"/>
              </a:buClr>
              <a:buSzPts val="1500"/>
              <a:buFont typeface="Montserrat Light"/>
              <a:buNone/>
            </a:pPr>
            <a:r>
              <a:rPr lang="en-US">
                <a:solidFill>
                  <a:schemeClr val="lt1"/>
                </a:solidFill>
                <a:latin typeface="Montserrat Medium"/>
                <a:ea typeface="Montserrat Medium"/>
                <a:cs typeface="Montserrat Medium"/>
                <a:sym typeface="Montserrat Medium"/>
              </a:rPr>
              <a:t>Seat on the Governing Board to influence CAMARA strategy</a:t>
            </a:r>
            <a:endParaRPr>
              <a:solidFill>
                <a:schemeClr val="lt1"/>
              </a:solidFill>
              <a:latin typeface="Montserrat Medium"/>
              <a:ea typeface="Montserrat Medium"/>
              <a:cs typeface="Montserrat Medium"/>
              <a:sym typeface="Montserrat Medium"/>
            </a:endParaRPr>
          </a:p>
        </p:txBody>
      </p:sp>
      <p:sp>
        <p:nvSpPr>
          <p:cNvPr id="1114" name="Google Shape;1114;p44"/>
          <p:cNvSpPr/>
          <p:nvPr/>
        </p:nvSpPr>
        <p:spPr>
          <a:xfrm>
            <a:off x="4200575" y="2960475"/>
            <a:ext cx="3026400" cy="1090200"/>
          </a:xfrm>
          <a:prstGeom prst="roundRect">
            <a:avLst>
              <a:gd name="adj" fmla="val 16667"/>
            </a:avLst>
          </a:prstGeom>
          <a:solidFill>
            <a:srgbClr val="3A9BF3"/>
          </a:solidFill>
          <a:ln>
            <a:noFill/>
          </a:ln>
        </p:spPr>
        <p:txBody>
          <a:bodyPr spcFirstLastPara="1" wrap="square" lIns="228600" tIns="228600" rIns="228600" bIns="228600" anchor="ctr" anchorCtr="0">
            <a:noAutofit/>
          </a:bodyPr>
          <a:lstStyle/>
          <a:p>
            <a:pPr marL="0" marR="0" lvl="0" indent="0" algn="ctr" rtl="0">
              <a:spcBef>
                <a:spcPts val="0"/>
              </a:spcBef>
              <a:spcAft>
                <a:spcPts val="0"/>
              </a:spcAft>
              <a:buClr>
                <a:schemeClr val="dk1"/>
              </a:buClr>
              <a:buSzPts val="1500"/>
              <a:buFont typeface="Montserrat Light"/>
              <a:buNone/>
            </a:pPr>
            <a:r>
              <a:rPr lang="en-US">
                <a:solidFill>
                  <a:schemeClr val="lt1"/>
                </a:solidFill>
                <a:latin typeface="Montserrat Medium"/>
                <a:ea typeface="Montserrat Medium"/>
                <a:cs typeface="Montserrat Medium"/>
                <a:sym typeface="Montserrat Medium"/>
              </a:rPr>
              <a:t>Elevate your Brand</a:t>
            </a:r>
            <a:endParaRPr>
              <a:solidFill>
                <a:schemeClr val="lt1"/>
              </a:solidFill>
              <a:latin typeface="Montserrat Medium"/>
              <a:ea typeface="Montserrat Medium"/>
              <a:cs typeface="Montserrat Medium"/>
              <a:sym typeface="Montserrat Medium"/>
            </a:endParaRPr>
          </a:p>
        </p:txBody>
      </p:sp>
      <p:sp>
        <p:nvSpPr>
          <p:cNvPr id="1115" name="Google Shape;1115;p44"/>
          <p:cNvSpPr/>
          <p:nvPr/>
        </p:nvSpPr>
        <p:spPr>
          <a:xfrm>
            <a:off x="434125" y="4478001"/>
            <a:ext cx="3026400" cy="992100"/>
          </a:xfrm>
          <a:prstGeom prst="roundRect">
            <a:avLst>
              <a:gd name="adj" fmla="val 16667"/>
            </a:avLst>
          </a:prstGeom>
          <a:solidFill>
            <a:srgbClr val="3A9BF3"/>
          </a:solidFill>
          <a:ln>
            <a:noFill/>
          </a:ln>
        </p:spPr>
        <p:txBody>
          <a:bodyPr spcFirstLastPara="1" wrap="square" lIns="228600" tIns="228600" rIns="228600" bIns="228600" anchor="ctr" anchorCtr="0">
            <a:noAutofit/>
          </a:bodyPr>
          <a:lstStyle/>
          <a:p>
            <a:pPr marL="0" marR="0" lvl="0" indent="0" algn="ctr" rtl="0">
              <a:spcBef>
                <a:spcPts val="0"/>
              </a:spcBef>
              <a:spcAft>
                <a:spcPts val="0"/>
              </a:spcAft>
              <a:buClr>
                <a:schemeClr val="dk1"/>
              </a:buClr>
              <a:buSzPts val="1500"/>
              <a:buFont typeface="Montserrat Light"/>
              <a:buNone/>
            </a:pPr>
            <a:r>
              <a:rPr lang="en-US">
                <a:solidFill>
                  <a:schemeClr val="lt1"/>
                </a:solidFill>
                <a:latin typeface="Montserrat Medium"/>
                <a:ea typeface="Montserrat Medium"/>
                <a:cs typeface="Montserrat Medium"/>
                <a:sym typeface="Montserrat Medium"/>
              </a:rPr>
              <a:t>Discounts on Linux Foundation events &amp; programs</a:t>
            </a:r>
            <a:endParaRPr>
              <a:solidFill>
                <a:schemeClr val="lt1"/>
              </a:solidFill>
              <a:latin typeface="Montserrat Medium"/>
              <a:ea typeface="Montserrat Medium"/>
              <a:cs typeface="Montserrat Medium"/>
              <a:sym typeface="Montserrat Medium"/>
            </a:endParaRPr>
          </a:p>
        </p:txBody>
      </p:sp>
      <p:sp>
        <p:nvSpPr>
          <p:cNvPr id="1116" name="Google Shape;1116;p44"/>
          <p:cNvSpPr/>
          <p:nvPr/>
        </p:nvSpPr>
        <p:spPr>
          <a:xfrm>
            <a:off x="7967025" y="4478001"/>
            <a:ext cx="3026400" cy="992100"/>
          </a:xfrm>
          <a:prstGeom prst="roundRect">
            <a:avLst>
              <a:gd name="adj" fmla="val 16667"/>
            </a:avLst>
          </a:prstGeom>
          <a:solidFill>
            <a:srgbClr val="3A9BF3"/>
          </a:solidFill>
          <a:ln>
            <a:noFill/>
          </a:ln>
        </p:spPr>
        <p:txBody>
          <a:bodyPr spcFirstLastPara="1" wrap="square" lIns="228600" tIns="228600" rIns="228600" bIns="228600" anchor="ctr" anchorCtr="0">
            <a:noAutofit/>
          </a:bodyPr>
          <a:lstStyle/>
          <a:p>
            <a:pPr marL="0" marR="0" lvl="0" indent="0" algn="ctr" rtl="0">
              <a:spcBef>
                <a:spcPts val="0"/>
              </a:spcBef>
              <a:spcAft>
                <a:spcPts val="0"/>
              </a:spcAft>
              <a:buClr>
                <a:schemeClr val="dk1"/>
              </a:buClr>
              <a:buSzPts val="1500"/>
              <a:buFont typeface="Montserrat Light"/>
              <a:buNone/>
            </a:pPr>
            <a:r>
              <a:rPr lang="en-US">
                <a:solidFill>
                  <a:schemeClr val="lt1"/>
                </a:solidFill>
                <a:latin typeface="Montserrat Medium"/>
                <a:ea typeface="Montserrat Medium"/>
                <a:cs typeface="Montserrat Medium"/>
                <a:sym typeface="Montserrat Medium"/>
              </a:rPr>
              <a:t>Platform to showcase thought leadership </a:t>
            </a:r>
            <a:endParaRPr>
              <a:solidFill>
                <a:schemeClr val="lt1"/>
              </a:solidFill>
              <a:latin typeface="Montserrat Medium"/>
              <a:ea typeface="Montserrat Medium"/>
              <a:cs typeface="Montserrat Medium"/>
              <a:sym typeface="Montserrat Medium"/>
            </a:endParaRPr>
          </a:p>
        </p:txBody>
      </p:sp>
      <p:sp>
        <p:nvSpPr>
          <p:cNvPr id="1117" name="Google Shape;1117;p44"/>
          <p:cNvSpPr/>
          <p:nvPr/>
        </p:nvSpPr>
        <p:spPr>
          <a:xfrm>
            <a:off x="4200575" y="4478001"/>
            <a:ext cx="3026400" cy="992100"/>
          </a:xfrm>
          <a:prstGeom prst="roundRect">
            <a:avLst>
              <a:gd name="adj" fmla="val 16667"/>
            </a:avLst>
          </a:prstGeom>
          <a:solidFill>
            <a:srgbClr val="3A9BF3"/>
          </a:solidFill>
          <a:ln>
            <a:noFill/>
          </a:ln>
        </p:spPr>
        <p:txBody>
          <a:bodyPr spcFirstLastPara="1" wrap="square" lIns="228600" tIns="228600" rIns="228600" bIns="228600" anchor="ctr" anchorCtr="0">
            <a:noAutofit/>
          </a:bodyPr>
          <a:lstStyle/>
          <a:p>
            <a:pPr marL="0" marR="0" lvl="0" indent="0" algn="ctr" rtl="0">
              <a:spcBef>
                <a:spcPts val="0"/>
              </a:spcBef>
              <a:spcAft>
                <a:spcPts val="0"/>
              </a:spcAft>
              <a:buClr>
                <a:schemeClr val="dk1"/>
              </a:buClr>
              <a:buSzPts val="1500"/>
              <a:buFont typeface="Montserrat Light"/>
              <a:buNone/>
            </a:pPr>
            <a:r>
              <a:rPr lang="en-US">
                <a:solidFill>
                  <a:schemeClr val="lt1"/>
                </a:solidFill>
                <a:latin typeface="Montserrat Medium"/>
                <a:ea typeface="Montserrat Medium"/>
                <a:cs typeface="Montserrat Medium"/>
                <a:sym typeface="Montserrat Medium"/>
              </a:rPr>
              <a:t>Help ensure the Project continues to provide needed governance &amp; infrastructure</a:t>
            </a:r>
            <a:endParaRPr>
              <a:solidFill>
                <a:schemeClr val="lt1"/>
              </a:solidFill>
              <a:latin typeface="Montserrat Medium"/>
              <a:ea typeface="Montserrat Medium"/>
              <a:cs typeface="Montserrat Medium"/>
              <a:sym typeface="Montserrat Medium"/>
            </a:endParaRPr>
          </a:p>
        </p:txBody>
      </p:sp>
      <p:sp>
        <p:nvSpPr>
          <p:cNvPr id="1118" name="Google Shape;1118;p44"/>
          <p:cNvSpPr/>
          <p:nvPr/>
        </p:nvSpPr>
        <p:spPr>
          <a:xfrm>
            <a:off x="7967025" y="2960475"/>
            <a:ext cx="3026400" cy="1090200"/>
          </a:xfrm>
          <a:prstGeom prst="roundRect">
            <a:avLst>
              <a:gd name="adj" fmla="val 16667"/>
            </a:avLst>
          </a:prstGeom>
          <a:solidFill>
            <a:srgbClr val="3A9BF3"/>
          </a:solidFill>
          <a:ln>
            <a:noFill/>
          </a:ln>
        </p:spPr>
        <p:txBody>
          <a:bodyPr spcFirstLastPara="1" wrap="square" lIns="228600" tIns="228600" rIns="228600" bIns="228600" anchor="ctr" anchorCtr="0">
            <a:noAutofit/>
          </a:bodyPr>
          <a:lstStyle/>
          <a:p>
            <a:pPr marL="0" marR="0" lvl="0" indent="0" algn="ctr" rtl="0">
              <a:spcBef>
                <a:spcPts val="0"/>
              </a:spcBef>
              <a:spcAft>
                <a:spcPts val="0"/>
              </a:spcAft>
              <a:buClr>
                <a:schemeClr val="dk1"/>
              </a:buClr>
              <a:buSzPts val="1500"/>
              <a:buFont typeface="Montserrat Light"/>
              <a:buNone/>
            </a:pPr>
            <a:r>
              <a:rPr lang="en-US">
                <a:solidFill>
                  <a:schemeClr val="lt1"/>
                </a:solidFill>
                <a:latin typeface="Montserrat Medium"/>
                <a:ea typeface="Montserrat Medium"/>
                <a:cs typeface="Montserrat Medium"/>
                <a:sym typeface="Montserrat Medium"/>
              </a:rPr>
              <a:t>Signal Support &amp; Commitment to open API development</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sp>
        <p:nvSpPr>
          <p:cNvPr id="1125" name="Google Shape;1125;p45"/>
          <p:cNvSpPr txBox="1"/>
          <p:nvPr/>
        </p:nvSpPr>
        <p:spPr>
          <a:xfrm>
            <a:off x="444375" y="1760550"/>
            <a:ext cx="10614300" cy="3679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000"/>
              </a:spcBef>
              <a:spcAft>
                <a:spcPts val="0"/>
              </a:spcAft>
              <a:buClr>
                <a:schemeClr val="dk1"/>
              </a:buClr>
              <a:buSzPts val="1100"/>
              <a:buFont typeface="Montserrat Light"/>
              <a:buNone/>
            </a:pPr>
            <a:r>
              <a:rPr lang="en-US" sz="2000" dirty="0">
                <a:solidFill>
                  <a:schemeClr val="dk2"/>
                </a:solidFill>
                <a:latin typeface="Montserrat Medium"/>
                <a:ea typeface="Montserrat Medium"/>
                <a:cs typeface="Montserrat Medium"/>
                <a:sym typeface="Montserrat Medium"/>
              </a:rPr>
              <a:t>Individuals and organizations who are application developers / API consumers (e.g. enterprises and startups), aggregators, cloud operators, telco operators, network equipment vendors, system integrators, and software vendors are welcome to join CAMARA.</a:t>
            </a:r>
            <a:endParaRPr sz="2000" dirty="0">
              <a:solidFill>
                <a:schemeClr val="dk2"/>
              </a:solidFill>
              <a:latin typeface="Montserrat Medium"/>
              <a:ea typeface="Montserrat Medium"/>
              <a:cs typeface="Montserrat Medium"/>
              <a:sym typeface="Montserrat Medium"/>
            </a:endParaRPr>
          </a:p>
          <a:p>
            <a:pPr marL="0" marR="0" lvl="0" indent="0" algn="l" rtl="0">
              <a:lnSpc>
                <a:spcPct val="115000"/>
              </a:lnSpc>
              <a:spcBef>
                <a:spcPts val="1200"/>
              </a:spcBef>
              <a:spcAft>
                <a:spcPts val="0"/>
              </a:spcAft>
              <a:buClr>
                <a:schemeClr val="dk1"/>
              </a:buClr>
              <a:buSzPts val="1100"/>
              <a:buFont typeface="Montserrat Light"/>
              <a:buNone/>
            </a:pPr>
            <a:endParaRPr sz="1600" dirty="0">
              <a:solidFill>
                <a:srgbClr val="222222"/>
              </a:solidFill>
              <a:latin typeface="Montserrat Light"/>
              <a:ea typeface="Montserrat Light"/>
              <a:cs typeface="Montserrat Light"/>
              <a:sym typeface="Montserrat Light"/>
            </a:endParaRPr>
          </a:p>
          <a:p>
            <a:pPr marL="0" marR="0" lvl="0" indent="0" algn="l" rtl="0">
              <a:lnSpc>
                <a:spcPct val="115000"/>
              </a:lnSpc>
              <a:spcBef>
                <a:spcPts val="1200"/>
              </a:spcBef>
              <a:spcAft>
                <a:spcPts val="0"/>
              </a:spcAft>
              <a:buClr>
                <a:schemeClr val="dk1"/>
              </a:buClr>
              <a:buSzPts val="1100"/>
              <a:buFont typeface="Montserrat Light"/>
              <a:buNone/>
            </a:pPr>
            <a:r>
              <a:rPr lang="en-US" dirty="0">
                <a:solidFill>
                  <a:srgbClr val="222222"/>
                </a:solidFill>
                <a:latin typeface="Montserrat Light"/>
                <a:ea typeface="Montserrat Light"/>
                <a:cs typeface="Montserrat Light"/>
                <a:sym typeface="Montserrat Light"/>
              </a:rPr>
              <a:t>For organizations:</a:t>
            </a:r>
            <a:endParaRPr dirty="0">
              <a:solidFill>
                <a:srgbClr val="222222"/>
              </a:solidFill>
              <a:latin typeface="Montserrat Light"/>
              <a:ea typeface="Montserrat Light"/>
              <a:cs typeface="Montserrat Light"/>
              <a:sym typeface="Montserrat Light"/>
            </a:endParaRPr>
          </a:p>
          <a:p>
            <a:pPr marL="457200" marR="0" lvl="0" indent="-317500" algn="l" rtl="0">
              <a:lnSpc>
                <a:spcPct val="115000"/>
              </a:lnSpc>
              <a:spcBef>
                <a:spcPts val="1000"/>
              </a:spcBef>
              <a:spcAft>
                <a:spcPts val="0"/>
              </a:spcAft>
              <a:buClr>
                <a:srgbClr val="3A9BF3"/>
              </a:buClr>
              <a:buSzPts val="1400"/>
              <a:buFont typeface="Montserrat Light"/>
              <a:buChar char="●"/>
            </a:pPr>
            <a:r>
              <a:rPr lang="en-US" dirty="0">
                <a:solidFill>
                  <a:srgbClr val="222222"/>
                </a:solidFill>
                <a:latin typeface="Montserrat Light"/>
                <a:ea typeface="Montserrat Light"/>
                <a:cs typeface="Montserrat Light"/>
                <a:sym typeface="Montserrat Light"/>
              </a:rPr>
              <a:t>If you are interested to show your logo on the CAMARA website as </a:t>
            </a:r>
            <a:r>
              <a:rPr lang="en-US" dirty="0">
                <a:solidFill>
                  <a:schemeClr val="dk2"/>
                </a:solidFill>
                <a:latin typeface="Montserrat Medium"/>
                <a:ea typeface="Montserrat Medium"/>
                <a:cs typeface="Montserrat Medium"/>
                <a:sym typeface="Montserrat Medium"/>
              </a:rPr>
              <a:t>“Participating Organization”</a:t>
            </a:r>
            <a:r>
              <a:rPr lang="en-US" dirty="0">
                <a:solidFill>
                  <a:srgbClr val="222222"/>
                </a:solidFill>
                <a:latin typeface="Montserrat Light"/>
                <a:ea typeface="Montserrat Light"/>
                <a:cs typeface="Montserrat Light"/>
                <a:sym typeface="Montserrat Light"/>
              </a:rPr>
              <a:t>  send a .SVG version of it to </a:t>
            </a:r>
            <a:r>
              <a:rPr lang="en-US" dirty="0">
                <a:solidFill>
                  <a:srgbClr val="3A9BF3"/>
                </a:solidFill>
                <a:latin typeface="Montserrat Medium"/>
                <a:ea typeface="Montserrat Medium"/>
                <a:cs typeface="Montserrat Medium"/>
                <a:sym typeface="Montserrat Medium"/>
              </a:rPr>
              <a:t>adm@lists.camaraproject.org</a:t>
            </a:r>
            <a:r>
              <a:rPr lang="en-US" dirty="0">
                <a:solidFill>
                  <a:srgbClr val="222222"/>
                </a:solidFill>
                <a:latin typeface="Montserrat Light"/>
                <a:ea typeface="Montserrat Light"/>
                <a:cs typeface="Montserrat Light"/>
                <a:sym typeface="Montserrat Light"/>
              </a:rPr>
              <a:t>. Participation is free, without any fees or obligations.</a:t>
            </a:r>
            <a:endParaRPr dirty="0">
              <a:solidFill>
                <a:srgbClr val="222222"/>
              </a:solidFill>
              <a:latin typeface="Montserrat Light"/>
              <a:ea typeface="Montserrat Light"/>
              <a:cs typeface="Montserrat Light"/>
              <a:sym typeface="Montserrat Light"/>
            </a:endParaRPr>
          </a:p>
          <a:p>
            <a:pPr marL="457200" marR="0" lvl="0" indent="-317500" algn="l" rtl="0">
              <a:lnSpc>
                <a:spcPct val="115000"/>
              </a:lnSpc>
              <a:spcBef>
                <a:spcPts val="0"/>
              </a:spcBef>
              <a:spcAft>
                <a:spcPts val="0"/>
              </a:spcAft>
              <a:buClr>
                <a:srgbClr val="3A9BF3"/>
              </a:buClr>
              <a:buSzPts val="1400"/>
              <a:buFont typeface="Montserrat Light"/>
              <a:buChar char="●"/>
            </a:pPr>
            <a:r>
              <a:rPr lang="en-US" dirty="0">
                <a:solidFill>
                  <a:srgbClr val="222222"/>
                </a:solidFill>
                <a:latin typeface="Montserrat Light"/>
                <a:ea typeface="Montserrat Light"/>
                <a:cs typeface="Montserrat Light"/>
                <a:sym typeface="Montserrat Light"/>
              </a:rPr>
              <a:t>If you would like to become a </a:t>
            </a:r>
            <a:r>
              <a:rPr lang="en-US" dirty="0">
                <a:solidFill>
                  <a:schemeClr val="dk2"/>
                </a:solidFill>
                <a:latin typeface="Montserrat Medium"/>
                <a:ea typeface="Montserrat Medium"/>
                <a:cs typeface="Montserrat Medium"/>
                <a:sym typeface="Montserrat Medium"/>
              </a:rPr>
              <a:t>CAMARA sponsor</a:t>
            </a:r>
            <a:r>
              <a:rPr lang="en-US" dirty="0">
                <a:solidFill>
                  <a:srgbClr val="222222"/>
                </a:solidFill>
                <a:latin typeface="Montserrat Medium"/>
                <a:ea typeface="Montserrat Medium"/>
                <a:cs typeface="Montserrat Medium"/>
                <a:sym typeface="Montserrat Medium"/>
              </a:rPr>
              <a:t> </a:t>
            </a:r>
            <a:r>
              <a:rPr lang="en-US" dirty="0">
                <a:solidFill>
                  <a:srgbClr val="222222"/>
                </a:solidFill>
                <a:latin typeface="Montserrat Light"/>
                <a:ea typeface="Montserrat Light"/>
                <a:cs typeface="Montserrat Light"/>
                <a:sym typeface="Montserrat Light"/>
              </a:rPr>
              <a:t>please don’t hesitate to use the </a:t>
            </a:r>
            <a:r>
              <a:rPr lang="en-US" u="sng" dirty="0">
                <a:solidFill>
                  <a:srgbClr val="3A9BF3"/>
                </a:solidFill>
                <a:latin typeface="Montserrat Medium"/>
                <a:ea typeface="Montserrat Medium"/>
                <a:cs typeface="Montserrat Medium"/>
                <a:sym typeface="Montserrat Medium"/>
                <a:hlinkClick r:id="rId3">
                  <a:extLst>
                    <a:ext uri="{A12FA001-AC4F-418D-AE19-62706E023703}">
                      <ahyp:hlinkClr xmlns:ahyp="http://schemas.microsoft.com/office/drawing/2018/hyperlinkcolor" xmlns="" val="tx"/>
                    </a:ext>
                  </a:extLst>
                </a:hlinkClick>
              </a:rPr>
              <a:t>enrollment link</a:t>
            </a:r>
            <a:r>
              <a:rPr lang="en-US" dirty="0">
                <a:solidFill>
                  <a:srgbClr val="222222"/>
                </a:solidFill>
                <a:latin typeface="Montserrat Light"/>
                <a:ea typeface="Montserrat Light"/>
                <a:cs typeface="Montserrat Light"/>
                <a:sym typeface="Montserrat Light"/>
              </a:rPr>
              <a:t>. The cost is depending on the kind of membership and the number of employees.</a:t>
            </a:r>
            <a:endParaRPr dirty="0">
              <a:solidFill>
                <a:srgbClr val="222222"/>
              </a:solidFill>
              <a:latin typeface="Montserrat Light"/>
              <a:ea typeface="Montserrat Light"/>
              <a:cs typeface="Montserrat Light"/>
              <a:sym typeface="Montserrat Light"/>
            </a:endParaRPr>
          </a:p>
          <a:p>
            <a:pPr marL="457200" marR="0" lvl="0" indent="-317500" algn="l" rtl="0">
              <a:lnSpc>
                <a:spcPct val="115000"/>
              </a:lnSpc>
              <a:spcBef>
                <a:spcPts val="0"/>
              </a:spcBef>
              <a:spcAft>
                <a:spcPts val="0"/>
              </a:spcAft>
              <a:buClr>
                <a:srgbClr val="3A9BF3"/>
              </a:buClr>
              <a:buSzPts val="1400"/>
              <a:buFont typeface="Montserrat Light"/>
              <a:buChar char="●"/>
            </a:pPr>
            <a:r>
              <a:rPr lang="en-US" dirty="0">
                <a:solidFill>
                  <a:srgbClr val="222222"/>
                </a:solidFill>
                <a:latin typeface="Montserrat Light"/>
                <a:ea typeface="Montserrat Light"/>
                <a:cs typeface="Montserrat Light"/>
                <a:sym typeface="Montserrat Light"/>
              </a:rPr>
              <a:t>Associate Members of The Linux Foundation can also join as </a:t>
            </a:r>
            <a:r>
              <a:rPr lang="en-US" dirty="0">
                <a:solidFill>
                  <a:schemeClr val="dk2"/>
                </a:solidFill>
                <a:latin typeface="Montserrat Medium"/>
                <a:ea typeface="Montserrat Medium"/>
                <a:cs typeface="Montserrat Medium"/>
                <a:sym typeface="Montserrat Medium"/>
              </a:rPr>
              <a:t>"Associating organization"</a:t>
            </a:r>
            <a:r>
              <a:rPr lang="en-US" dirty="0">
                <a:solidFill>
                  <a:srgbClr val="222222"/>
                </a:solidFill>
                <a:latin typeface="Montserrat Light"/>
                <a:ea typeface="Montserrat Light"/>
                <a:cs typeface="Montserrat Light"/>
                <a:sym typeface="Montserrat Light"/>
              </a:rPr>
              <a:t> for free, without any fees or obligations.</a:t>
            </a:r>
            <a:endParaRPr dirty="0">
              <a:solidFill>
                <a:srgbClr val="222222"/>
              </a:solidFill>
              <a:latin typeface="Montserrat Light"/>
              <a:ea typeface="Montserrat Light"/>
              <a:cs typeface="Montserrat Light"/>
              <a:sym typeface="Montserrat Light"/>
            </a:endParaRPr>
          </a:p>
          <a:p>
            <a:pPr marL="0" marR="0" lvl="0" indent="0" algn="l" rtl="0">
              <a:spcBef>
                <a:spcPts val="0"/>
              </a:spcBef>
              <a:spcAft>
                <a:spcPts val="0"/>
              </a:spcAft>
              <a:buClr>
                <a:schemeClr val="dk1"/>
              </a:buClr>
              <a:buSzPts val="1600"/>
              <a:buFont typeface="Montserrat Light"/>
              <a:buNone/>
            </a:pPr>
            <a:endParaRPr sz="1600" dirty="0">
              <a:solidFill>
                <a:srgbClr val="004750"/>
              </a:solidFill>
              <a:latin typeface="Montserrat Light"/>
              <a:ea typeface="Montserrat Light"/>
              <a:cs typeface="Montserrat Light"/>
              <a:sym typeface="Montserrat Light"/>
            </a:endParaRPr>
          </a:p>
        </p:txBody>
      </p:sp>
      <p:sp>
        <p:nvSpPr>
          <p:cNvPr id="1126" name="Google Shape;1126;p45"/>
          <p:cNvSpPr txBox="1">
            <a:spLocks noGrp="1"/>
          </p:cNvSpPr>
          <p:nvPr>
            <p:ph type="title"/>
          </p:nvPr>
        </p:nvSpPr>
        <p:spPr>
          <a:xfrm>
            <a:off x="444373" y="413152"/>
            <a:ext cx="10944300" cy="784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Operators Getting Started</a:t>
            </a:r>
            <a:br>
              <a:rPr lang="en-US"/>
            </a:br>
            <a:r>
              <a:rPr lang="en-US"/>
              <a:t>with CAMARA</a:t>
            </a:r>
            <a:endParaRPr sz="28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24">
          <a:extLst>
            <a:ext uri="{FF2B5EF4-FFF2-40B4-BE49-F238E27FC236}">
              <a16:creationId xmlns:a16="http://schemas.microsoft.com/office/drawing/2014/main" xmlns="" id="{DD055127-3F7B-B580-20A8-1A0B41D510F7}"/>
            </a:ext>
          </a:extLst>
        </p:cNvPr>
        <p:cNvGrpSpPr/>
        <p:nvPr/>
      </p:nvGrpSpPr>
      <p:grpSpPr>
        <a:xfrm>
          <a:off x="0" y="0"/>
          <a:ext cx="0" cy="0"/>
          <a:chOff x="0" y="0"/>
          <a:chExt cx="0" cy="0"/>
        </a:xfrm>
      </p:grpSpPr>
      <p:sp>
        <p:nvSpPr>
          <p:cNvPr id="1126" name="Google Shape;1126;p45">
            <a:extLst>
              <a:ext uri="{FF2B5EF4-FFF2-40B4-BE49-F238E27FC236}">
                <a16:creationId xmlns:a16="http://schemas.microsoft.com/office/drawing/2014/main" xmlns="" id="{D96F9AF2-2C08-A91C-A911-39C2576B1AC7}"/>
              </a:ext>
            </a:extLst>
          </p:cNvPr>
          <p:cNvSpPr txBox="1">
            <a:spLocks noGrp="1"/>
          </p:cNvSpPr>
          <p:nvPr>
            <p:ph type="title"/>
          </p:nvPr>
        </p:nvSpPr>
        <p:spPr>
          <a:xfrm>
            <a:off x="444373" y="413152"/>
            <a:ext cx="10944300" cy="784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Operators Getting Started</a:t>
            </a:r>
            <a:br>
              <a:rPr lang="en-US"/>
            </a:br>
            <a:r>
              <a:rPr lang="en-US"/>
              <a:t>with CAMARA</a:t>
            </a:r>
            <a:endParaRPr sz="2800"/>
          </a:p>
        </p:txBody>
      </p:sp>
      <p:pic>
        <p:nvPicPr>
          <p:cNvPr id="3" name="Grafik 2">
            <a:extLst>
              <a:ext uri="{FF2B5EF4-FFF2-40B4-BE49-F238E27FC236}">
                <a16:creationId xmlns:a16="http://schemas.microsoft.com/office/drawing/2014/main" xmlns="" id="{45B6C80D-546B-0956-CD23-D8433C7F3DE4}"/>
              </a:ext>
            </a:extLst>
          </p:cNvPr>
          <p:cNvPicPr>
            <a:picLocks noChangeAspect="1"/>
          </p:cNvPicPr>
          <p:nvPr/>
        </p:nvPicPr>
        <p:blipFill>
          <a:blip r:embed="rId3"/>
          <a:stretch>
            <a:fillRect/>
          </a:stretch>
        </p:blipFill>
        <p:spPr>
          <a:xfrm>
            <a:off x="3427487" y="1771650"/>
            <a:ext cx="7353150" cy="4527959"/>
          </a:xfrm>
          <a:prstGeom prst="rect">
            <a:avLst/>
          </a:prstGeom>
          <a:ln w="3175">
            <a:solidFill>
              <a:schemeClr val="tx1"/>
            </a:solidFill>
          </a:ln>
        </p:spPr>
      </p:pic>
      <p:sp>
        <p:nvSpPr>
          <p:cNvPr id="4" name="Google Shape;1112;p44">
            <a:extLst>
              <a:ext uri="{FF2B5EF4-FFF2-40B4-BE49-F238E27FC236}">
                <a16:creationId xmlns:a16="http://schemas.microsoft.com/office/drawing/2014/main" xmlns="" id="{1B9EB6DE-AB47-62F8-CF50-42F04B84B375}"/>
              </a:ext>
            </a:extLst>
          </p:cNvPr>
          <p:cNvSpPr txBox="1"/>
          <p:nvPr/>
        </p:nvSpPr>
        <p:spPr>
          <a:xfrm>
            <a:off x="444373" y="2348660"/>
            <a:ext cx="2585300" cy="283150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Montserrat Light"/>
              <a:buNone/>
            </a:pPr>
            <a:r>
              <a:rPr lang="en-US" sz="2000" dirty="0">
                <a:solidFill>
                  <a:schemeClr val="dk2"/>
                </a:solidFill>
                <a:latin typeface="Montserrat Medium"/>
                <a:ea typeface="Montserrat Medium"/>
                <a:cs typeface="Montserrat Medium"/>
                <a:sym typeface="Montserrat Medium"/>
              </a:rPr>
              <a:t>Why Organizations Join CAMARA?</a:t>
            </a:r>
          </a:p>
          <a:p>
            <a:pPr marL="0" marR="0" lvl="0" indent="0" algn="l" rtl="0">
              <a:lnSpc>
                <a:spcPct val="100000"/>
              </a:lnSpc>
              <a:spcBef>
                <a:spcPts val="0"/>
              </a:spcBef>
              <a:spcAft>
                <a:spcPts val="0"/>
              </a:spcAft>
              <a:buClr>
                <a:srgbClr val="000000"/>
              </a:buClr>
              <a:buSzPts val="1400"/>
              <a:buFont typeface="Montserrat Light"/>
              <a:buNone/>
            </a:pPr>
            <a:endParaRPr lang="en-US" sz="2000" dirty="0">
              <a:solidFill>
                <a:schemeClr val="dk2"/>
              </a:solidFill>
              <a:latin typeface="Montserrat Medium"/>
              <a:ea typeface="Montserrat Medium"/>
              <a:cs typeface="Montserrat Medium"/>
              <a:sym typeface="Montserrat Medium"/>
            </a:endParaRPr>
          </a:p>
          <a:p>
            <a:pPr marL="0" marR="0" lvl="0" indent="0" algn="l" rtl="0">
              <a:lnSpc>
                <a:spcPct val="100000"/>
              </a:lnSpc>
              <a:spcBef>
                <a:spcPts val="0"/>
              </a:spcBef>
              <a:spcAft>
                <a:spcPts val="0"/>
              </a:spcAft>
              <a:buClr>
                <a:srgbClr val="000000"/>
              </a:buClr>
              <a:buSzPts val="1400"/>
              <a:buFont typeface="Montserrat Light"/>
              <a:buNone/>
            </a:pPr>
            <a:r>
              <a:rPr lang="en-US" dirty="0">
                <a:solidFill>
                  <a:schemeClr val="dk2"/>
                </a:solidFill>
                <a:latin typeface="Montserrat Medium"/>
                <a:ea typeface="Montserrat Medium"/>
                <a:cs typeface="Montserrat Medium"/>
                <a:sym typeface="Montserrat Medium"/>
              </a:rPr>
              <a:t>Aside from having a seat at the collaborative table to shape the future of the open telco API ecosystem, organizations join CAMARA as a sponsoring member to:</a:t>
            </a:r>
            <a:endParaRPr dirty="0">
              <a:solidFill>
                <a:schemeClr val="dk2"/>
              </a:solidFill>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24682908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24">
          <a:extLst>
            <a:ext uri="{FF2B5EF4-FFF2-40B4-BE49-F238E27FC236}">
              <a16:creationId xmlns:a16="http://schemas.microsoft.com/office/drawing/2014/main" xmlns="" id="{5A84747C-84C7-5E00-FD1B-A39C72C6BF1B}"/>
            </a:ext>
          </a:extLst>
        </p:cNvPr>
        <p:cNvGrpSpPr/>
        <p:nvPr/>
      </p:nvGrpSpPr>
      <p:grpSpPr>
        <a:xfrm>
          <a:off x="0" y="0"/>
          <a:ext cx="0" cy="0"/>
          <a:chOff x="0" y="0"/>
          <a:chExt cx="0" cy="0"/>
        </a:xfrm>
      </p:grpSpPr>
      <p:sp>
        <p:nvSpPr>
          <p:cNvPr id="1126" name="Google Shape;1126;p45">
            <a:extLst>
              <a:ext uri="{FF2B5EF4-FFF2-40B4-BE49-F238E27FC236}">
                <a16:creationId xmlns:a16="http://schemas.microsoft.com/office/drawing/2014/main" xmlns="" id="{1693AD7E-BD2F-28D5-D94D-4578D4B84852}"/>
              </a:ext>
            </a:extLst>
          </p:cNvPr>
          <p:cNvSpPr txBox="1">
            <a:spLocks noGrp="1"/>
          </p:cNvSpPr>
          <p:nvPr>
            <p:ph type="title"/>
          </p:nvPr>
        </p:nvSpPr>
        <p:spPr>
          <a:xfrm>
            <a:off x="444373" y="413152"/>
            <a:ext cx="10944300" cy="784500"/>
          </a:xfrm>
          <a:prstGeom prst="rect">
            <a:avLst/>
          </a:prstGeom>
          <a:noFill/>
          <a:ln>
            <a:noFill/>
          </a:ln>
        </p:spPr>
        <p:txBody>
          <a:bodyPr spcFirstLastPara="1" wrap="square" lIns="91425" tIns="45700" rIns="91425" bIns="45700" anchor="t" anchorCtr="0">
            <a:noAutofit/>
          </a:bodyPr>
          <a:lstStyle/>
          <a:p>
            <a:pPr lvl="0"/>
            <a:r>
              <a:rPr lang="en-US" dirty="0"/>
              <a:t>CAMARA Membership Benefits</a:t>
            </a:r>
            <a:br>
              <a:rPr lang="en-US" dirty="0"/>
            </a:br>
            <a:r>
              <a:rPr lang="en-US" dirty="0"/>
              <a:t>Overview</a:t>
            </a:r>
            <a:endParaRPr sz="2800" dirty="0"/>
          </a:p>
        </p:txBody>
      </p:sp>
      <p:sp>
        <p:nvSpPr>
          <p:cNvPr id="2" name="Google Shape;1346;g3c2ecee819f_0_102">
            <a:extLst>
              <a:ext uri="{FF2B5EF4-FFF2-40B4-BE49-F238E27FC236}">
                <a16:creationId xmlns:a16="http://schemas.microsoft.com/office/drawing/2014/main" xmlns="" id="{161BDB98-C17C-66C5-A070-2F988DDD943E}"/>
              </a:ext>
            </a:extLst>
          </p:cNvPr>
          <p:cNvSpPr/>
          <p:nvPr/>
        </p:nvSpPr>
        <p:spPr>
          <a:xfrm>
            <a:off x="601211" y="1471500"/>
            <a:ext cx="2185800" cy="292994"/>
          </a:xfrm>
          <a:prstGeom prst="roundRect">
            <a:avLst>
              <a:gd name="adj" fmla="val 0"/>
            </a:avLst>
          </a:prstGeom>
          <a:solidFill>
            <a:srgbClr val="0B476F"/>
          </a:solidFill>
          <a:ln>
            <a:noFill/>
          </a:ln>
          <a:effectLst>
            <a:outerShdw blurRad="400149" algn="ctr" rotWithShape="0">
              <a:srgbClr val="000000">
                <a:alpha val="20000"/>
              </a:srgbClr>
            </a:outerShdw>
          </a:effectLst>
        </p:spPr>
        <p:txBody>
          <a:bodyPr spcFirstLastPara="1" wrap="square" lIns="76825" tIns="38400" rIns="76825" bIns="38400" anchor="ctr" anchorCtr="0">
            <a:spAutoFit/>
          </a:bodyPr>
          <a:lstStyle/>
          <a:p>
            <a:pPr marL="0" marR="0" lvl="0" indent="0" algn="ctr" rtl="0">
              <a:lnSpc>
                <a:spcPct val="100000"/>
              </a:lnSpc>
              <a:spcBef>
                <a:spcPts val="0"/>
              </a:spcBef>
              <a:spcAft>
                <a:spcPts val="0"/>
              </a:spcAft>
              <a:buNone/>
            </a:pPr>
            <a:r>
              <a:rPr lang="en-US" sz="1400" b="1">
                <a:solidFill>
                  <a:srgbClr val="FFFFFF"/>
                </a:solidFill>
                <a:latin typeface="Montserrat Light" panose="00000400000000000000" pitchFamily="2" charset="0"/>
                <a:ea typeface="Montserrat"/>
                <a:cs typeface="Montserrat"/>
                <a:sym typeface="Montserrat"/>
              </a:rPr>
              <a:t>Collaborate for Impact</a:t>
            </a:r>
            <a:endParaRPr sz="1400" b="1" i="0" u="none" strike="noStrike" cap="none">
              <a:solidFill>
                <a:srgbClr val="FFFFFF"/>
              </a:solidFill>
              <a:latin typeface="Montserrat Light" panose="00000400000000000000" pitchFamily="2" charset="0"/>
              <a:ea typeface="Montserrat"/>
              <a:cs typeface="Montserrat"/>
              <a:sym typeface="Montserrat"/>
            </a:endParaRPr>
          </a:p>
        </p:txBody>
      </p:sp>
      <p:sp>
        <p:nvSpPr>
          <p:cNvPr id="4" name="Google Shape;1347;g3c2ecee819f_0_102">
            <a:extLst>
              <a:ext uri="{FF2B5EF4-FFF2-40B4-BE49-F238E27FC236}">
                <a16:creationId xmlns:a16="http://schemas.microsoft.com/office/drawing/2014/main" xmlns="" id="{D7E0DEB4-FF86-BC06-A345-A384C7A6F0ED}"/>
              </a:ext>
            </a:extLst>
          </p:cNvPr>
          <p:cNvSpPr txBox="1"/>
          <p:nvPr/>
        </p:nvSpPr>
        <p:spPr>
          <a:xfrm>
            <a:off x="601211" y="1942064"/>
            <a:ext cx="2185798" cy="2846933"/>
          </a:xfrm>
          <a:prstGeom prst="rect">
            <a:avLst/>
          </a:prstGeom>
          <a:noFill/>
          <a:ln>
            <a:noFill/>
          </a:ln>
        </p:spPr>
        <p:txBody>
          <a:bodyPr spcFirstLastPara="1" wrap="square" lIns="0" tIns="0" rIns="0" bIns="0" anchor="t" anchorCtr="0">
            <a:spAutoFit/>
          </a:bodyPr>
          <a:lstStyle/>
          <a:p>
            <a:pPr marL="85725" lvl="0" indent="-85725" algn="l" rtl="0">
              <a:spcAft>
                <a:spcPts val="500"/>
              </a:spcAft>
              <a:buClr>
                <a:srgbClr val="2C92D5"/>
              </a:buClr>
              <a:buSzPts val="1000"/>
              <a:buFont typeface="Open Sans"/>
              <a:buChar char="●"/>
            </a:pPr>
            <a:r>
              <a:rPr lang="en-US" sz="1000" b="1" dirty="0">
                <a:latin typeface="Montserrat Light" panose="00000400000000000000" pitchFamily="2" charset="0"/>
                <a:ea typeface="Montserrat"/>
                <a:cs typeface="Montserrat"/>
                <a:sym typeface="Montserrat"/>
              </a:rPr>
              <a:t>Shape the future: </a:t>
            </a:r>
            <a:r>
              <a:rPr lang="en-US" sz="1000" dirty="0">
                <a:latin typeface="Montserrat Light" panose="00000400000000000000" pitchFamily="2" charset="0"/>
                <a:ea typeface="Montserrat"/>
                <a:cs typeface="Montserrat"/>
                <a:sym typeface="Montserrat"/>
              </a:rPr>
              <a:t>Influence marketing &amp; event strategies</a:t>
            </a:r>
            <a:endParaRPr sz="1000" dirty="0">
              <a:latin typeface="Montserrat Light" panose="00000400000000000000" pitchFamily="2" charset="0"/>
              <a:ea typeface="Montserrat"/>
              <a:cs typeface="Montserrat"/>
              <a:sym typeface="Montserrat"/>
            </a:endParaRPr>
          </a:p>
          <a:p>
            <a:pPr marL="85725" lvl="0" indent="-85725" algn="l" rtl="0">
              <a:spcAft>
                <a:spcPts val="500"/>
              </a:spcAft>
              <a:buClr>
                <a:srgbClr val="2C92D5"/>
              </a:buClr>
              <a:buSzPts val="1000"/>
              <a:buFont typeface="Open Sans"/>
              <a:buChar char="●"/>
            </a:pPr>
            <a:r>
              <a:rPr lang="en-US" sz="1000" b="1" dirty="0">
                <a:latin typeface="Montserrat Light" panose="00000400000000000000" pitchFamily="2" charset="0"/>
                <a:ea typeface="Montserrat"/>
                <a:cs typeface="Montserrat"/>
                <a:sym typeface="Montserrat"/>
              </a:rPr>
              <a:t>Lead the way: </a:t>
            </a:r>
            <a:r>
              <a:rPr lang="en-US" sz="1000" dirty="0">
                <a:latin typeface="Montserrat Light" panose="00000400000000000000" pitchFamily="2" charset="0"/>
                <a:ea typeface="Montserrat"/>
                <a:cs typeface="Montserrat"/>
                <a:sym typeface="Montserrat"/>
              </a:rPr>
              <a:t>Access thought leadership opportunities</a:t>
            </a:r>
            <a:endParaRPr sz="1000" dirty="0">
              <a:latin typeface="Montserrat Light" panose="00000400000000000000" pitchFamily="2" charset="0"/>
              <a:ea typeface="Montserrat"/>
              <a:cs typeface="Montserrat"/>
              <a:sym typeface="Montserrat"/>
            </a:endParaRPr>
          </a:p>
          <a:p>
            <a:pPr marL="85725" lvl="0" indent="-85725" algn="l" rtl="0">
              <a:spcAft>
                <a:spcPts val="500"/>
              </a:spcAft>
              <a:buClr>
                <a:srgbClr val="2C92D5"/>
              </a:buClr>
              <a:buSzPts val="1000"/>
              <a:buFont typeface="Open Sans"/>
              <a:buChar char="●"/>
            </a:pPr>
            <a:r>
              <a:rPr lang="en-US" sz="1000" b="1" dirty="0">
                <a:latin typeface="Montserrat Light" panose="00000400000000000000" pitchFamily="2" charset="0"/>
                <a:ea typeface="Montserrat"/>
                <a:cs typeface="Montserrat"/>
                <a:sym typeface="Montserrat"/>
              </a:rPr>
              <a:t>Exclusive events: </a:t>
            </a:r>
            <a:r>
              <a:rPr lang="en-US" sz="1000" dirty="0">
                <a:latin typeface="Montserrat Light" panose="00000400000000000000" pitchFamily="2" charset="0"/>
                <a:ea typeface="Montserrat"/>
                <a:cs typeface="Montserrat"/>
                <a:sym typeface="Montserrat"/>
              </a:rPr>
              <a:t>Attend and plan member-only events</a:t>
            </a:r>
            <a:endParaRPr sz="1000" dirty="0">
              <a:latin typeface="Montserrat Light" panose="00000400000000000000" pitchFamily="2" charset="0"/>
              <a:ea typeface="Montserrat"/>
              <a:cs typeface="Montserrat"/>
              <a:sym typeface="Montserrat"/>
            </a:endParaRPr>
          </a:p>
          <a:p>
            <a:pPr marL="85725" lvl="0" indent="-85725" algn="l" rtl="0">
              <a:spcAft>
                <a:spcPts val="500"/>
              </a:spcAft>
              <a:buClr>
                <a:srgbClr val="2C92D5"/>
              </a:buClr>
              <a:buSzPts val="1000"/>
              <a:buFont typeface="Open Sans"/>
              <a:buChar char="●"/>
            </a:pPr>
            <a:r>
              <a:rPr lang="en-US" sz="1000" b="1" dirty="0">
                <a:solidFill>
                  <a:schemeClr val="dk1"/>
                </a:solidFill>
                <a:latin typeface="Montserrat Light" panose="00000400000000000000" pitchFamily="2" charset="0"/>
                <a:ea typeface="Montserrat"/>
                <a:cs typeface="Montserrat"/>
                <a:sym typeface="Montserrat"/>
              </a:rPr>
              <a:t>Collaboration with major players:</a:t>
            </a:r>
            <a:r>
              <a:rPr lang="en-US" sz="1000" dirty="0">
                <a:solidFill>
                  <a:schemeClr val="dk1"/>
                </a:solidFill>
                <a:latin typeface="Montserrat Light" panose="00000400000000000000" pitchFamily="2" charset="0"/>
                <a:ea typeface="Montserrat"/>
                <a:cs typeface="Montserrat"/>
                <a:sym typeface="Montserrat"/>
              </a:rPr>
              <a:t> Work alongside telcos, </a:t>
            </a:r>
            <a:r>
              <a:rPr lang="en-US" sz="1000" dirty="0" err="1">
                <a:solidFill>
                  <a:schemeClr val="dk1"/>
                </a:solidFill>
                <a:latin typeface="Montserrat Light" panose="00000400000000000000" pitchFamily="2" charset="0"/>
                <a:ea typeface="Montserrat"/>
                <a:cs typeface="Montserrat"/>
                <a:sym typeface="Montserrat"/>
              </a:rPr>
              <a:t>hyperscalers</a:t>
            </a:r>
            <a:r>
              <a:rPr lang="en-US" sz="1000" dirty="0">
                <a:solidFill>
                  <a:schemeClr val="dk1"/>
                </a:solidFill>
                <a:latin typeface="Montserrat Light" panose="00000400000000000000" pitchFamily="2" charset="0"/>
                <a:ea typeface="Montserrat"/>
                <a:cs typeface="Montserrat"/>
                <a:sym typeface="Montserrat"/>
              </a:rPr>
              <a:t>, and developers in a neutral, open-source environment</a:t>
            </a:r>
            <a:endParaRPr sz="1000" dirty="0">
              <a:latin typeface="Montserrat Light" panose="00000400000000000000" pitchFamily="2" charset="0"/>
              <a:ea typeface="Montserrat"/>
              <a:cs typeface="Montserrat"/>
              <a:sym typeface="Montserrat"/>
            </a:endParaRPr>
          </a:p>
          <a:p>
            <a:pPr marL="85725" lvl="0" indent="-85725" algn="l" rtl="0">
              <a:spcAft>
                <a:spcPts val="500"/>
              </a:spcAft>
              <a:buClr>
                <a:srgbClr val="2C92D5"/>
              </a:buClr>
              <a:buSzPts val="1000"/>
              <a:buFont typeface="Open Sans"/>
              <a:buChar char="●"/>
            </a:pPr>
            <a:r>
              <a:rPr lang="en-US" sz="1000" b="1" dirty="0">
                <a:latin typeface="Montserrat Light" panose="00000400000000000000" pitchFamily="2" charset="0"/>
                <a:ea typeface="Montserrat"/>
                <a:cs typeface="Montserrat"/>
                <a:sym typeface="Montserrat"/>
              </a:rPr>
              <a:t>Visibility: </a:t>
            </a:r>
            <a:r>
              <a:rPr lang="en-US" sz="1000" dirty="0">
                <a:latin typeface="Montserrat Light" panose="00000400000000000000" pitchFamily="2" charset="0"/>
                <a:ea typeface="Montserrat"/>
                <a:cs typeface="Montserrat"/>
                <a:sym typeface="Montserrat"/>
              </a:rPr>
              <a:t>Feature in research reports and the speakers’ bureau</a:t>
            </a:r>
            <a:endParaRPr sz="1000" dirty="0">
              <a:latin typeface="Montserrat Light" panose="00000400000000000000" pitchFamily="2" charset="0"/>
              <a:ea typeface="Montserrat"/>
              <a:cs typeface="Montserrat"/>
              <a:sym typeface="Montserrat"/>
            </a:endParaRPr>
          </a:p>
          <a:p>
            <a:pPr marL="85725" lvl="0" indent="-85725" algn="l" rtl="0">
              <a:spcAft>
                <a:spcPts val="500"/>
              </a:spcAft>
              <a:buClr>
                <a:srgbClr val="2C92D5"/>
              </a:buClr>
              <a:buSzPts val="1000"/>
              <a:buFont typeface="Open Sans"/>
              <a:buChar char="●"/>
            </a:pPr>
            <a:r>
              <a:rPr lang="en-US" sz="1000" b="1" dirty="0">
                <a:latin typeface="Montserrat Light" panose="00000400000000000000" pitchFamily="2" charset="0"/>
                <a:ea typeface="Montserrat"/>
                <a:cs typeface="Montserrat"/>
                <a:sym typeface="Montserrat"/>
              </a:rPr>
              <a:t>Amplify your brand: </a:t>
            </a:r>
            <a:r>
              <a:rPr lang="en-US" sz="1000" dirty="0">
                <a:latin typeface="Montserrat Light" panose="00000400000000000000" pitchFamily="2" charset="0"/>
                <a:ea typeface="Montserrat"/>
                <a:cs typeface="Montserrat"/>
                <a:sym typeface="Montserrat"/>
              </a:rPr>
              <a:t>Get broad exposure across CAMARA and ecosystem</a:t>
            </a:r>
            <a:endParaRPr sz="1000" dirty="0">
              <a:solidFill>
                <a:srgbClr val="000000"/>
              </a:solidFill>
              <a:latin typeface="Montserrat Light" panose="00000400000000000000" pitchFamily="2" charset="0"/>
              <a:ea typeface="Montserrat"/>
              <a:cs typeface="Montserrat"/>
              <a:sym typeface="Montserrat"/>
            </a:endParaRPr>
          </a:p>
        </p:txBody>
      </p:sp>
      <p:sp>
        <p:nvSpPr>
          <p:cNvPr id="5" name="Google Shape;1348;g3c2ecee819f_0_102">
            <a:extLst>
              <a:ext uri="{FF2B5EF4-FFF2-40B4-BE49-F238E27FC236}">
                <a16:creationId xmlns:a16="http://schemas.microsoft.com/office/drawing/2014/main" xmlns="" id="{5BA3C08B-35D9-8124-7633-643950511C2F}"/>
              </a:ext>
            </a:extLst>
          </p:cNvPr>
          <p:cNvSpPr txBox="1"/>
          <p:nvPr/>
        </p:nvSpPr>
        <p:spPr>
          <a:xfrm>
            <a:off x="3166221" y="1942064"/>
            <a:ext cx="2185798" cy="3244478"/>
          </a:xfrm>
          <a:prstGeom prst="rect">
            <a:avLst/>
          </a:prstGeom>
          <a:noFill/>
          <a:ln>
            <a:noFill/>
          </a:ln>
        </p:spPr>
        <p:txBody>
          <a:bodyPr spcFirstLastPara="1" wrap="square" lIns="0" tIns="0" rIns="0" bIns="0" anchor="t" anchorCtr="0">
            <a:spAutoFit/>
          </a:bodyPr>
          <a:lstStyle/>
          <a:p>
            <a:pPr marL="85725" lvl="0" indent="-85725" algn="l" rtl="0">
              <a:spcAft>
                <a:spcPts val="500"/>
              </a:spcAft>
              <a:buClr>
                <a:srgbClr val="2C92D5"/>
              </a:buClr>
              <a:buSzPts val="1000"/>
              <a:buFont typeface="Open Sans"/>
              <a:buChar char="●"/>
            </a:pPr>
            <a:r>
              <a:rPr lang="en-US" sz="1000" b="1" dirty="0">
                <a:latin typeface="Montserrat Light" panose="00000400000000000000" pitchFamily="2" charset="0"/>
                <a:ea typeface="Open Sans"/>
                <a:cs typeface="Open Sans"/>
                <a:sym typeface="Open Sans"/>
              </a:rPr>
              <a:t>Lead the industry: </a:t>
            </a:r>
            <a:r>
              <a:rPr lang="en-US" sz="1000" dirty="0">
                <a:latin typeface="Montserrat Light" panose="00000400000000000000" pitchFamily="2" charset="0"/>
                <a:ea typeface="Open Sans"/>
                <a:cs typeface="Open Sans"/>
                <a:sym typeface="Open Sans"/>
              </a:rPr>
              <a:t>Secure a seat </a:t>
            </a:r>
            <a:r>
              <a:rPr lang="en-US" sz="1000" dirty="0">
                <a:latin typeface="Montserrat Light" panose="00000400000000000000" pitchFamily="2" charset="0"/>
                <a:ea typeface="Montserrat"/>
                <a:cs typeface="Montserrat"/>
                <a:sym typeface="Montserrat"/>
              </a:rPr>
              <a:t>on the Governing Board</a:t>
            </a:r>
            <a:endParaRPr sz="1000" dirty="0">
              <a:latin typeface="Montserrat Light" panose="00000400000000000000" pitchFamily="2" charset="0"/>
              <a:ea typeface="Montserrat"/>
              <a:cs typeface="Montserrat"/>
              <a:sym typeface="Montserrat"/>
            </a:endParaRPr>
          </a:p>
          <a:p>
            <a:pPr marL="85725" lvl="0" indent="-85725" algn="l" rtl="0">
              <a:spcAft>
                <a:spcPts val="500"/>
              </a:spcAft>
              <a:buClr>
                <a:srgbClr val="2C92D5"/>
              </a:buClr>
              <a:buSzPts val="1000"/>
              <a:buFont typeface="Open Sans"/>
              <a:buChar char="●"/>
            </a:pPr>
            <a:r>
              <a:rPr lang="en-US" sz="1000" b="1" dirty="0">
                <a:solidFill>
                  <a:schemeClr val="dk1"/>
                </a:solidFill>
                <a:latin typeface="Montserrat Light" panose="00000400000000000000" pitchFamily="2" charset="0"/>
                <a:ea typeface="Montserrat"/>
                <a:cs typeface="Montserrat"/>
                <a:sym typeface="Montserrat"/>
              </a:rPr>
              <a:t>Drive global interoperability: </a:t>
            </a:r>
            <a:r>
              <a:rPr lang="en-US" sz="1000" dirty="0">
                <a:solidFill>
                  <a:schemeClr val="dk1"/>
                </a:solidFill>
                <a:latin typeface="Montserrat Light" panose="00000400000000000000" pitchFamily="2" charset="0"/>
                <a:ea typeface="Montserrat"/>
                <a:cs typeface="Montserrat"/>
                <a:sym typeface="Montserrat"/>
              </a:rPr>
              <a:t>Help ensure your organization's needs are considered in the push toward standardized, interoperable APIs across networks and regions</a:t>
            </a:r>
            <a:endParaRPr sz="1000" dirty="0">
              <a:latin typeface="Montserrat Light" panose="00000400000000000000" pitchFamily="2" charset="0"/>
              <a:ea typeface="Montserrat"/>
              <a:cs typeface="Montserrat"/>
              <a:sym typeface="Montserrat"/>
            </a:endParaRPr>
          </a:p>
          <a:p>
            <a:pPr marL="85725" lvl="0" indent="-85725" algn="l" rtl="0">
              <a:spcAft>
                <a:spcPts val="500"/>
              </a:spcAft>
              <a:buClr>
                <a:srgbClr val="2C92D5"/>
              </a:buClr>
              <a:buSzPts val="1000"/>
              <a:buFont typeface="Open Sans"/>
              <a:buChar char="●"/>
            </a:pPr>
            <a:r>
              <a:rPr lang="en-US" sz="1000" b="1" dirty="0">
                <a:solidFill>
                  <a:schemeClr val="dk1"/>
                </a:solidFill>
                <a:latin typeface="Montserrat Light" panose="00000400000000000000" pitchFamily="2" charset="0"/>
                <a:ea typeface="Montserrat"/>
                <a:cs typeface="Montserrat"/>
                <a:sym typeface="Montserrat"/>
              </a:rPr>
              <a:t>Early access to new APIs and features:</a:t>
            </a:r>
            <a:r>
              <a:rPr lang="en-US" sz="1000" dirty="0">
                <a:solidFill>
                  <a:schemeClr val="dk1"/>
                </a:solidFill>
                <a:latin typeface="Montserrat Light" panose="00000400000000000000" pitchFamily="2" charset="0"/>
                <a:ea typeface="Montserrat"/>
                <a:cs typeface="Montserrat"/>
                <a:sym typeface="Montserrat"/>
              </a:rPr>
              <a:t> Stay ahead of the market by testing and deploying APIs before general release</a:t>
            </a:r>
            <a:endParaRPr sz="1000" dirty="0">
              <a:solidFill>
                <a:schemeClr val="dk1"/>
              </a:solidFill>
              <a:latin typeface="Montserrat Light" panose="00000400000000000000" pitchFamily="2" charset="0"/>
              <a:ea typeface="Montserrat"/>
              <a:cs typeface="Montserrat"/>
              <a:sym typeface="Montserrat"/>
            </a:endParaRPr>
          </a:p>
          <a:p>
            <a:pPr marL="85725" lvl="0" indent="-85725" algn="l" rtl="0">
              <a:spcAft>
                <a:spcPts val="500"/>
              </a:spcAft>
              <a:buClr>
                <a:srgbClr val="2C92D5"/>
              </a:buClr>
              <a:buSzPts val="1000"/>
              <a:buFont typeface="Open Sans"/>
              <a:buChar char="●"/>
            </a:pPr>
            <a:r>
              <a:rPr lang="en-US" sz="1000" b="1" dirty="0">
                <a:latin typeface="Montserrat Light" panose="00000400000000000000" pitchFamily="2" charset="0"/>
                <a:ea typeface="Montserrat"/>
                <a:cs typeface="Montserrat"/>
                <a:sym typeface="Montserrat"/>
              </a:rPr>
              <a:t>Strategic planning: </a:t>
            </a:r>
            <a:r>
              <a:rPr lang="en-US" sz="1000" dirty="0">
                <a:latin typeface="Montserrat Light" panose="00000400000000000000" pitchFamily="2" charset="0"/>
                <a:ea typeface="Montserrat"/>
                <a:cs typeface="Montserrat"/>
                <a:sym typeface="Montserrat"/>
              </a:rPr>
              <a:t>Shape long-term goals on the Strategic Planning Committee</a:t>
            </a:r>
            <a:endParaRPr sz="1000" dirty="0">
              <a:latin typeface="Montserrat Light" panose="00000400000000000000" pitchFamily="2" charset="0"/>
              <a:ea typeface="Montserrat"/>
              <a:cs typeface="Montserrat"/>
              <a:sym typeface="Montserrat"/>
            </a:endParaRPr>
          </a:p>
          <a:p>
            <a:pPr marL="85725" lvl="0" indent="-85725" algn="l" rtl="0">
              <a:spcAft>
                <a:spcPts val="500"/>
              </a:spcAft>
              <a:buClr>
                <a:srgbClr val="2C92D5"/>
              </a:buClr>
              <a:buSzPts val="1000"/>
              <a:buFont typeface="Open Sans"/>
              <a:buChar char="●"/>
            </a:pPr>
            <a:r>
              <a:rPr lang="en-US" sz="1000" b="1" dirty="0">
                <a:solidFill>
                  <a:schemeClr val="dk1"/>
                </a:solidFill>
                <a:latin typeface="Montserrat Light" panose="00000400000000000000" pitchFamily="2" charset="0"/>
                <a:ea typeface="Montserrat"/>
                <a:cs typeface="Montserrat"/>
                <a:sym typeface="Montserrat"/>
              </a:rPr>
              <a:t>Expand ecosystem reach:</a:t>
            </a:r>
            <a:r>
              <a:rPr lang="en-US" sz="1000" dirty="0">
                <a:solidFill>
                  <a:schemeClr val="dk1"/>
                </a:solidFill>
                <a:latin typeface="Montserrat Light" panose="00000400000000000000" pitchFamily="2" charset="0"/>
                <a:ea typeface="Montserrat"/>
                <a:cs typeface="Montserrat"/>
                <a:sym typeface="Montserrat"/>
              </a:rPr>
              <a:t> Position your company at the center of a global developer and network provider community</a:t>
            </a:r>
            <a:endParaRPr sz="1000" dirty="0">
              <a:latin typeface="Montserrat Light" panose="00000400000000000000" pitchFamily="2" charset="0"/>
              <a:ea typeface="Montserrat"/>
              <a:cs typeface="Montserrat"/>
              <a:sym typeface="Montserrat"/>
            </a:endParaRPr>
          </a:p>
        </p:txBody>
      </p:sp>
      <p:sp>
        <p:nvSpPr>
          <p:cNvPr id="6" name="Google Shape;1349;g3c2ecee819f_0_102">
            <a:extLst>
              <a:ext uri="{FF2B5EF4-FFF2-40B4-BE49-F238E27FC236}">
                <a16:creationId xmlns:a16="http://schemas.microsoft.com/office/drawing/2014/main" xmlns="" id="{4BFCC698-94A9-E20D-F556-E95ACB9FFA17}"/>
              </a:ext>
            </a:extLst>
          </p:cNvPr>
          <p:cNvSpPr/>
          <p:nvPr/>
        </p:nvSpPr>
        <p:spPr>
          <a:xfrm>
            <a:off x="3168445" y="1471500"/>
            <a:ext cx="2185800" cy="292994"/>
          </a:xfrm>
          <a:prstGeom prst="roundRect">
            <a:avLst>
              <a:gd name="adj" fmla="val 0"/>
            </a:avLst>
          </a:prstGeom>
          <a:solidFill>
            <a:srgbClr val="1068A2"/>
          </a:solidFill>
          <a:ln>
            <a:noFill/>
          </a:ln>
          <a:effectLst>
            <a:outerShdw blurRad="400149" algn="ctr" rotWithShape="0">
              <a:srgbClr val="000000">
                <a:alpha val="20000"/>
              </a:srgbClr>
            </a:outerShdw>
          </a:effectLst>
        </p:spPr>
        <p:txBody>
          <a:bodyPr spcFirstLastPara="1" wrap="square" lIns="76825" tIns="38400" rIns="76825" bIns="38400" anchor="ctr" anchorCtr="0">
            <a:spAutoFit/>
          </a:bodyPr>
          <a:lstStyle/>
          <a:p>
            <a:pPr marL="0" lvl="0" indent="0" algn="ctr" rtl="0">
              <a:spcBef>
                <a:spcPts val="0"/>
              </a:spcBef>
              <a:spcAft>
                <a:spcPts val="0"/>
              </a:spcAft>
              <a:buNone/>
            </a:pPr>
            <a:r>
              <a:rPr lang="en-US" sz="1400" b="1">
                <a:solidFill>
                  <a:schemeClr val="lt1"/>
                </a:solidFill>
                <a:latin typeface="Montserrat Light" panose="00000400000000000000" pitchFamily="2" charset="0"/>
                <a:ea typeface="Montserrat"/>
                <a:cs typeface="Montserrat"/>
                <a:sym typeface="Montserrat"/>
              </a:rPr>
              <a:t>Drive Business Growth</a:t>
            </a:r>
            <a:endParaRPr sz="1400" b="1">
              <a:solidFill>
                <a:srgbClr val="FFFFFF"/>
              </a:solidFill>
              <a:latin typeface="Montserrat Light" panose="00000400000000000000" pitchFamily="2" charset="0"/>
              <a:ea typeface="Montserrat"/>
              <a:cs typeface="Montserrat"/>
              <a:sym typeface="Montserrat"/>
            </a:endParaRPr>
          </a:p>
        </p:txBody>
      </p:sp>
      <p:sp>
        <p:nvSpPr>
          <p:cNvPr id="7" name="Google Shape;1350;g3c2ecee819f_0_102">
            <a:extLst>
              <a:ext uri="{FF2B5EF4-FFF2-40B4-BE49-F238E27FC236}">
                <a16:creationId xmlns:a16="http://schemas.microsoft.com/office/drawing/2014/main" xmlns="" id="{09EBA21E-E46A-7B74-22DC-EF6B36C6B20E}"/>
              </a:ext>
            </a:extLst>
          </p:cNvPr>
          <p:cNvSpPr txBox="1"/>
          <p:nvPr/>
        </p:nvSpPr>
        <p:spPr>
          <a:xfrm>
            <a:off x="5741746" y="1942064"/>
            <a:ext cx="2257156" cy="4044697"/>
          </a:xfrm>
          <a:prstGeom prst="rect">
            <a:avLst/>
          </a:prstGeom>
          <a:noFill/>
          <a:ln>
            <a:noFill/>
          </a:ln>
        </p:spPr>
        <p:txBody>
          <a:bodyPr spcFirstLastPara="1" wrap="square" lIns="0" tIns="0" rIns="0" bIns="0" anchor="t" anchorCtr="0">
            <a:spAutoFit/>
          </a:bodyPr>
          <a:lstStyle/>
          <a:p>
            <a:pPr marL="85725" lvl="0" indent="-85725" algn="l" rtl="0">
              <a:spcAft>
                <a:spcPts val="500"/>
              </a:spcAft>
              <a:buClr>
                <a:srgbClr val="2C92D5"/>
              </a:buClr>
              <a:buSzPct val="63636"/>
              <a:buFont typeface="Open Sans"/>
              <a:buChar char="●"/>
            </a:pPr>
            <a:r>
              <a:rPr lang="en-US" sz="1100" b="1" dirty="0">
                <a:solidFill>
                  <a:schemeClr val="dk1"/>
                </a:solidFill>
                <a:latin typeface="Montserrat Light" panose="00000400000000000000" pitchFamily="2" charset="0"/>
                <a:ea typeface="Montserrat"/>
                <a:cs typeface="Montserrat"/>
                <a:sym typeface="Montserrat"/>
              </a:rPr>
              <a:t>Priority input on policies and licensing: </a:t>
            </a:r>
            <a:r>
              <a:rPr lang="en-US" sz="1100" dirty="0">
                <a:solidFill>
                  <a:schemeClr val="dk1"/>
                </a:solidFill>
                <a:latin typeface="Montserrat Light" panose="00000400000000000000" pitchFamily="2" charset="0"/>
                <a:ea typeface="Montserrat"/>
                <a:cs typeface="Montserrat"/>
                <a:sym typeface="Montserrat"/>
              </a:rPr>
              <a:t>Help define the rules and frameworks that govern CAMARA's operations and contributions</a:t>
            </a:r>
            <a:endParaRPr sz="700" dirty="0">
              <a:latin typeface="Montserrat Light" panose="00000400000000000000" pitchFamily="2" charset="0"/>
              <a:ea typeface="Montserrat"/>
              <a:cs typeface="Montserrat"/>
              <a:sym typeface="Montserrat"/>
            </a:endParaRPr>
          </a:p>
          <a:p>
            <a:pPr marL="85725" lvl="0" indent="-85725" algn="l" rtl="0">
              <a:spcAft>
                <a:spcPts val="500"/>
              </a:spcAft>
              <a:buClr>
                <a:srgbClr val="2C92D5"/>
              </a:buClr>
              <a:buSzPct val="100000"/>
              <a:buFont typeface="Open Sans"/>
              <a:buChar char="●"/>
            </a:pPr>
            <a:r>
              <a:rPr lang="en-US" sz="1100" b="1" dirty="0">
                <a:latin typeface="Montserrat Light" panose="00000400000000000000" pitchFamily="2" charset="0"/>
                <a:ea typeface="Montserrat"/>
                <a:cs typeface="Montserrat"/>
                <a:sym typeface="Montserrat"/>
              </a:rPr>
              <a:t>Strategic seats: </a:t>
            </a:r>
            <a:r>
              <a:rPr lang="en-US" sz="1100" dirty="0">
                <a:latin typeface="Montserrat Light" panose="00000400000000000000" pitchFamily="2" charset="0"/>
                <a:ea typeface="Montserrat"/>
                <a:cs typeface="Montserrat"/>
                <a:sym typeface="Montserrat"/>
              </a:rPr>
              <a:t>Join Outreach, Governing Board, and other committees as a voting member</a:t>
            </a:r>
            <a:endParaRPr sz="1100" dirty="0">
              <a:latin typeface="Montserrat Light" panose="00000400000000000000" pitchFamily="2" charset="0"/>
              <a:ea typeface="Montserrat"/>
              <a:cs typeface="Montserrat"/>
              <a:sym typeface="Montserrat"/>
            </a:endParaRPr>
          </a:p>
          <a:p>
            <a:pPr marL="85725" lvl="0" indent="-85725" algn="l" rtl="0">
              <a:spcAft>
                <a:spcPts val="500"/>
              </a:spcAft>
              <a:buClr>
                <a:srgbClr val="2C92D5"/>
              </a:buClr>
              <a:buSzPct val="100000"/>
              <a:buFont typeface="Open Sans"/>
              <a:buChar char="●"/>
            </a:pPr>
            <a:r>
              <a:rPr lang="en-US" sz="1100" b="1" dirty="0">
                <a:solidFill>
                  <a:schemeClr val="dk1"/>
                </a:solidFill>
                <a:latin typeface="Montserrat Light" panose="00000400000000000000" pitchFamily="2" charset="0"/>
                <a:ea typeface="Montserrat"/>
                <a:cs typeface="Montserrat"/>
                <a:sym typeface="Montserrat"/>
              </a:rPr>
              <a:t>Shape API development: </a:t>
            </a:r>
            <a:r>
              <a:rPr lang="en-US" sz="1100" dirty="0">
                <a:solidFill>
                  <a:schemeClr val="dk1"/>
                </a:solidFill>
                <a:latin typeface="Montserrat Light" panose="00000400000000000000" pitchFamily="2" charset="0"/>
                <a:ea typeface="Montserrat"/>
                <a:cs typeface="Montserrat"/>
                <a:sym typeface="Montserrat"/>
              </a:rPr>
              <a:t>Gain a voice in defining, prioritizing, and evolving the CAMARA APIs that align with GSMA Open Gateway and network operator needs</a:t>
            </a:r>
            <a:endParaRPr sz="1100" dirty="0">
              <a:latin typeface="Montserrat Light" panose="00000400000000000000" pitchFamily="2" charset="0"/>
              <a:ea typeface="Montserrat"/>
              <a:cs typeface="Montserrat"/>
              <a:sym typeface="Montserrat"/>
            </a:endParaRPr>
          </a:p>
          <a:p>
            <a:pPr marL="85725" lvl="0" indent="-85725" algn="l" rtl="0">
              <a:spcAft>
                <a:spcPts val="500"/>
              </a:spcAft>
              <a:buClr>
                <a:srgbClr val="2C92D5"/>
              </a:buClr>
              <a:buSzPct val="100000"/>
              <a:buFont typeface="Open Sans"/>
              <a:buChar char="●"/>
            </a:pPr>
            <a:r>
              <a:rPr lang="en-US" sz="1100" b="1" dirty="0">
                <a:latin typeface="Montserrat Light" panose="00000400000000000000" pitchFamily="2" charset="0"/>
                <a:ea typeface="Montserrat"/>
                <a:cs typeface="Montserrat"/>
                <a:sym typeface="Montserrat"/>
              </a:rPr>
              <a:t>Member discounts: </a:t>
            </a:r>
            <a:r>
              <a:rPr lang="en-US" sz="1100" dirty="0">
                <a:latin typeface="Montserrat Light" panose="00000400000000000000" pitchFamily="2" charset="0"/>
                <a:ea typeface="Montserrat"/>
                <a:cs typeface="Montserrat"/>
                <a:sym typeface="Montserrat"/>
              </a:rPr>
              <a:t>Save on LF events, training, and more</a:t>
            </a:r>
            <a:endParaRPr sz="1100" dirty="0">
              <a:latin typeface="Montserrat Light" panose="00000400000000000000" pitchFamily="2" charset="0"/>
              <a:ea typeface="Montserrat"/>
              <a:cs typeface="Montserrat"/>
              <a:sym typeface="Montserrat"/>
            </a:endParaRPr>
          </a:p>
          <a:p>
            <a:pPr marL="85725" lvl="0" indent="-85725" algn="l" rtl="0">
              <a:spcAft>
                <a:spcPts val="500"/>
              </a:spcAft>
              <a:buClr>
                <a:srgbClr val="2C92D5"/>
              </a:buClr>
              <a:buSzPct val="100000"/>
              <a:buFont typeface="Open Sans"/>
              <a:buChar char="●"/>
            </a:pPr>
            <a:r>
              <a:rPr lang="en-US" sz="1100" b="1" dirty="0">
                <a:solidFill>
                  <a:schemeClr val="dk1"/>
                </a:solidFill>
                <a:latin typeface="Montserrat Light" panose="00000400000000000000" pitchFamily="2" charset="0"/>
                <a:ea typeface="Montserrat"/>
                <a:cs typeface="Montserrat"/>
                <a:sym typeface="Montserrat"/>
              </a:rPr>
              <a:t>Access to roadmap discussions: </a:t>
            </a:r>
            <a:r>
              <a:rPr lang="en-US" sz="1100" dirty="0">
                <a:solidFill>
                  <a:schemeClr val="dk1"/>
                </a:solidFill>
                <a:latin typeface="Montserrat Light" panose="00000400000000000000" pitchFamily="2" charset="0"/>
                <a:ea typeface="Montserrat"/>
                <a:cs typeface="Montserrat"/>
                <a:sym typeface="Montserrat"/>
              </a:rPr>
              <a:t>Participate in strategic planning and early access to upcoming features and initiatives</a:t>
            </a:r>
            <a:endParaRPr sz="1100" dirty="0">
              <a:latin typeface="Montserrat Light" panose="00000400000000000000" pitchFamily="2" charset="0"/>
              <a:ea typeface="Montserrat"/>
              <a:cs typeface="Montserrat"/>
              <a:sym typeface="Montserrat"/>
            </a:endParaRPr>
          </a:p>
        </p:txBody>
      </p:sp>
      <p:sp>
        <p:nvSpPr>
          <p:cNvPr id="8" name="Google Shape;1351;g3c2ecee819f_0_102">
            <a:extLst>
              <a:ext uri="{FF2B5EF4-FFF2-40B4-BE49-F238E27FC236}">
                <a16:creationId xmlns:a16="http://schemas.microsoft.com/office/drawing/2014/main" xmlns="" id="{CFDE3459-3356-C96B-E94E-6B1CC6C167B8}"/>
              </a:ext>
            </a:extLst>
          </p:cNvPr>
          <p:cNvSpPr/>
          <p:nvPr/>
        </p:nvSpPr>
        <p:spPr>
          <a:xfrm>
            <a:off x="5752816" y="1363779"/>
            <a:ext cx="2185800" cy="508437"/>
          </a:xfrm>
          <a:prstGeom prst="roundRect">
            <a:avLst>
              <a:gd name="adj" fmla="val 0"/>
            </a:avLst>
          </a:prstGeom>
          <a:solidFill>
            <a:srgbClr val="016CCB"/>
          </a:solidFill>
          <a:ln>
            <a:noFill/>
          </a:ln>
          <a:effectLst>
            <a:outerShdw blurRad="400149" algn="ctr" rotWithShape="0">
              <a:srgbClr val="000000">
                <a:alpha val="20000"/>
              </a:srgbClr>
            </a:outerShdw>
          </a:effectLst>
        </p:spPr>
        <p:txBody>
          <a:bodyPr spcFirstLastPara="1" wrap="square" lIns="76825" tIns="38400" rIns="76825" bIns="38400" anchor="ctr" anchorCtr="0">
            <a:spAutoFit/>
          </a:bodyPr>
          <a:lstStyle/>
          <a:p>
            <a:pPr marL="0" lvl="0" indent="0" algn="ctr" rtl="0">
              <a:spcBef>
                <a:spcPts val="0"/>
              </a:spcBef>
              <a:spcAft>
                <a:spcPts val="0"/>
              </a:spcAft>
              <a:buNone/>
            </a:pPr>
            <a:r>
              <a:rPr lang="en-US" sz="1400" b="1">
                <a:solidFill>
                  <a:schemeClr val="lt1"/>
                </a:solidFill>
                <a:latin typeface="Montserrat Light" panose="00000400000000000000" pitchFamily="2" charset="0"/>
                <a:ea typeface="Montserrat"/>
                <a:cs typeface="Montserrat"/>
                <a:sym typeface="Montserrat"/>
              </a:rPr>
              <a:t>Exclusive Access &amp; Privileges</a:t>
            </a:r>
            <a:endParaRPr sz="1400" b="1">
              <a:solidFill>
                <a:srgbClr val="FFFFFF"/>
              </a:solidFill>
              <a:latin typeface="Montserrat Light" panose="00000400000000000000" pitchFamily="2" charset="0"/>
              <a:ea typeface="Montserrat"/>
              <a:cs typeface="Montserrat"/>
              <a:sym typeface="Montserrat"/>
            </a:endParaRPr>
          </a:p>
        </p:txBody>
      </p:sp>
      <p:sp>
        <p:nvSpPr>
          <p:cNvPr id="9" name="Google Shape;1352;g3c2ecee819f_0_102">
            <a:extLst>
              <a:ext uri="{FF2B5EF4-FFF2-40B4-BE49-F238E27FC236}">
                <a16:creationId xmlns:a16="http://schemas.microsoft.com/office/drawing/2014/main" xmlns="" id="{D390865F-5163-16C6-D673-D4EA6BEA036F}"/>
              </a:ext>
            </a:extLst>
          </p:cNvPr>
          <p:cNvSpPr/>
          <p:nvPr/>
        </p:nvSpPr>
        <p:spPr>
          <a:xfrm>
            <a:off x="8876181" y="1471500"/>
            <a:ext cx="2185800" cy="292994"/>
          </a:xfrm>
          <a:prstGeom prst="roundRect">
            <a:avLst>
              <a:gd name="adj" fmla="val 0"/>
            </a:avLst>
          </a:prstGeom>
          <a:solidFill>
            <a:schemeClr val="accent3"/>
          </a:solidFill>
          <a:ln>
            <a:noFill/>
          </a:ln>
          <a:effectLst>
            <a:outerShdw blurRad="400149" algn="ctr" rotWithShape="0">
              <a:srgbClr val="000000">
                <a:alpha val="20000"/>
              </a:srgbClr>
            </a:outerShdw>
          </a:effectLst>
        </p:spPr>
        <p:txBody>
          <a:bodyPr spcFirstLastPara="1" wrap="square" lIns="76825" tIns="38400" rIns="76825" bIns="38400" anchor="ctr" anchorCtr="0">
            <a:spAutoFit/>
          </a:bodyPr>
          <a:lstStyle/>
          <a:p>
            <a:pPr marL="0" marR="0" lvl="0" indent="0" algn="ctr" rtl="0">
              <a:lnSpc>
                <a:spcPct val="100000"/>
              </a:lnSpc>
              <a:spcBef>
                <a:spcPts val="0"/>
              </a:spcBef>
              <a:spcAft>
                <a:spcPts val="0"/>
              </a:spcAft>
              <a:buNone/>
            </a:pPr>
            <a:r>
              <a:rPr lang="en-US" sz="1400" b="1">
                <a:solidFill>
                  <a:srgbClr val="FFFFFF"/>
                </a:solidFill>
                <a:latin typeface="Montserrat Light" panose="00000400000000000000" pitchFamily="2" charset="0"/>
                <a:ea typeface="Montserrat"/>
                <a:cs typeface="Montserrat"/>
                <a:sym typeface="Montserrat"/>
              </a:rPr>
              <a:t>Collaborate for Projects</a:t>
            </a:r>
            <a:endParaRPr sz="1400" b="1" i="0" u="none" strike="noStrike" cap="none">
              <a:solidFill>
                <a:srgbClr val="FFFFFF"/>
              </a:solidFill>
              <a:latin typeface="Montserrat Light" panose="00000400000000000000" pitchFamily="2" charset="0"/>
              <a:ea typeface="Montserrat"/>
              <a:cs typeface="Montserrat"/>
              <a:sym typeface="Montserrat"/>
            </a:endParaRPr>
          </a:p>
        </p:txBody>
      </p:sp>
      <p:grpSp>
        <p:nvGrpSpPr>
          <p:cNvPr id="10" name="Google Shape;1354;g3c2ecee819f_0_102">
            <a:extLst>
              <a:ext uri="{FF2B5EF4-FFF2-40B4-BE49-F238E27FC236}">
                <a16:creationId xmlns:a16="http://schemas.microsoft.com/office/drawing/2014/main" xmlns="" id="{F53B50B3-BDB6-D17E-59B5-695E016CE6D2}"/>
              </a:ext>
            </a:extLst>
          </p:cNvPr>
          <p:cNvGrpSpPr/>
          <p:nvPr/>
        </p:nvGrpSpPr>
        <p:grpSpPr>
          <a:xfrm>
            <a:off x="724623" y="5843936"/>
            <a:ext cx="7112582" cy="87018"/>
            <a:chOff x="1108600" y="4513825"/>
            <a:chExt cx="4119325" cy="70800"/>
          </a:xfrm>
        </p:grpSpPr>
        <p:cxnSp>
          <p:nvCxnSpPr>
            <p:cNvPr id="11" name="Google Shape;1355;g3c2ecee819f_0_102">
              <a:extLst>
                <a:ext uri="{FF2B5EF4-FFF2-40B4-BE49-F238E27FC236}">
                  <a16:creationId xmlns:a16="http://schemas.microsoft.com/office/drawing/2014/main" xmlns="" id="{91F16F82-D46D-69CF-6FD1-36F145546765}"/>
                </a:ext>
              </a:extLst>
            </p:cNvPr>
            <p:cNvCxnSpPr/>
            <p:nvPr/>
          </p:nvCxnSpPr>
          <p:spPr>
            <a:xfrm>
              <a:off x="1108625" y="4584025"/>
              <a:ext cx="4119300" cy="600"/>
            </a:xfrm>
            <a:prstGeom prst="bentConnector3">
              <a:avLst>
                <a:gd name="adj1" fmla="val 50000"/>
              </a:avLst>
            </a:prstGeom>
            <a:noFill/>
            <a:ln w="12000" cap="flat" cmpd="sng">
              <a:solidFill>
                <a:schemeClr val="dk2"/>
              </a:solidFill>
              <a:prstDash val="solid"/>
              <a:round/>
              <a:headEnd type="none" w="med" len="med"/>
              <a:tailEnd type="none" w="med" len="med"/>
            </a:ln>
          </p:spPr>
        </p:cxnSp>
        <p:cxnSp>
          <p:nvCxnSpPr>
            <p:cNvPr id="12" name="Google Shape;1356;g3c2ecee819f_0_102">
              <a:extLst>
                <a:ext uri="{FF2B5EF4-FFF2-40B4-BE49-F238E27FC236}">
                  <a16:creationId xmlns:a16="http://schemas.microsoft.com/office/drawing/2014/main" xmlns="" id="{C8215DD7-E97C-3326-9A13-C7FB023F3EA3}"/>
                </a:ext>
              </a:extLst>
            </p:cNvPr>
            <p:cNvCxnSpPr/>
            <p:nvPr/>
          </p:nvCxnSpPr>
          <p:spPr>
            <a:xfrm rot="10800000">
              <a:off x="1108600" y="4513825"/>
              <a:ext cx="0" cy="70800"/>
            </a:xfrm>
            <a:prstGeom prst="straightConnector1">
              <a:avLst/>
            </a:prstGeom>
            <a:noFill/>
            <a:ln w="12000" cap="flat" cmpd="sng">
              <a:solidFill>
                <a:schemeClr val="dk2"/>
              </a:solidFill>
              <a:prstDash val="solid"/>
              <a:round/>
              <a:headEnd type="none" w="med" len="med"/>
              <a:tailEnd type="none" w="med" len="med"/>
            </a:ln>
          </p:spPr>
        </p:cxnSp>
        <p:cxnSp>
          <p:nvCxnSpPr>
            <p:cNvPr id="13" name="Google Shape;1357;g3c2ecee819f_0_102">
              <a:extLst>
                <a:ext uri="{FF2B5EF4-FFF2-40B4-BE49-F238E27FC236}">
                  <a16:creationId xmlns:a16="http://schemas.microsoft.com/office/drawing/2014/main" xmlns="" id="{D6DA5BFA-6667-59E8-1DBB-9C184D4F5B6C}"/>
                </a:ext>
              </a:extLst>
            </p:cNvPr>
            <p:cNvCxnSpPr/>
            <p:nvPr/>
          </p:nvCxnSpPr>
          <p:spPr>
            <a:xfrm rot="10800000">
              <a:off x="5223400" y="4513825"/>
              <a:ext cx="0" cy="70800"/>
            </a:xfrm>
            <a:prstGeom prst="straightConnector1">
              <a:avLst/>
            </a:prstGeom>
            <a:noFill/>
            <a:ln w="12000" cap="flat" cmpd="sng">
              <a:solidFill>
                <a:schemeClr val="dk2"/>
              </a:solidFill>
              <a:prstDash val="solid"/>
              <a:round/>
              <a:headEnd type="none" w="med" len="med"/>
              <a:tailEnd type="none" w="med" len="med"/>
            </a:ln>
          </p:spPr>
        </p:cxnSp>
      </p:grpSp>
      <p:sp>
        <p:nvSpPr>
          <p:cNvPr id="14" name="Google Shape;1358;g3c2ecee819f_0_102">
            <a:extLst>
              <a:ext uri="{FF2B5EF4-FFF2-40B4-BE49-F238E27FC236}">
                <a16:creationId xmlns:a16="http://schemas.microsoft.com/office/drawing/2014/main" xmlns="" id="{46CF4874-9E2B-2C7E-A990-0E2DC47BBA77}"/>
              </a:ext>
            </a:extLst>
          </p:cNvPr>
          <p:cNvSpPr txBox="1"/>
          <p:nvPr/>
        </p:nvSpPr>
        <p:spPr>
          <a:xfrm>
            <a:off x="1687464" y="5855286"/>
            <a:ext cx="5196461" cy="632810"/>
          </a:xfrm>
          <a:prstGeom prst="rect">
            <a:avLst/>
          </a:prstGeom>
          <a:noFill/>
          <a:ln>
            <a:noFill/>
          </a:ln>
        </p:spPr>
        <p:txBody>
          <a:bodyPr spcFirstLastPara="1" wrap="square" lIns="115225" tIns="115225" rIns="115225" bIns="115225" anchor="t" anchorCtr="0">
            <a:spAutoFit/>
          </a:bodyPr>
          <a:lstStyle/>
          <a:p>
            <a:pPr marL="0" lvl="0" indent="0" algn="ctr" rtl="0">
              <a:spcBef>
                <a:spcPts val="0"/>
              </a:spcBef>
              <a:spcAft>
                <a:spcPts val="0"/>
              </a:spcAft>
              <a:buNone/>
            </a:pPr>
            <a:r>
              <a:rPr lang="en-US" sz="1300" b="1" dirty="0">
                <a:solidFill>
                  <a:srgbClr val="CC0000"/>
                </a:solidFill>
                <a:latin typeface="Montserrat Light" panose="00000400000000000000" pitchFamily="2" charset="0"/>
                <a:ea typeface="Montserrat"/>
                <a:cs typeface="Montserrat"/>
                <a:sym typeface="Montserrat"/>
              </a:rPr>
              <a:t>Member-Only Benefits </a:t>
            </a:r>
            <a:endParaRPr sz="1300" b="1" dirty="0">
              <a:solidFill>
                <a:srgbClr val="CC0000"/>
              </a:solidFill>
              <a:latin typeface="Montserrat Light" panose="00000400000000000000" pitchFamily="2" charset="0"/>
              <a:ea typeface="Montserrat"/>
              <a:cs typeface="Montserrat"/>
              <a:sym typeface="Montserrat"/>
            </a:endParaRPr>
          </a:p>
          <a:p>
            <a:pPr marL="0" lvl="0" indent="0" algn="ctr" rtl="0">
              <a:spcBef>
                <a:spcPts val="0"/>
              </a:spcBef>
              <a:spcAft>
                <a:spcPts val="0"/>
              </a:spcAft>
              <a:buNone/>
            </a:pPr>
            <a:r>
              <a:rPr lang="en-US" sz="1300" b="1" dirty="0">
                <a:solidFill>
                  <a:srgbClr val="CC0000"/>
                </a:solidFill>
                <a:latin typeface="Montserrat Light" panose="00000400000000000000" pitchFamily="2" charset="0"/>
                <a:ea typeface="Montserrat"/>
                <a:cs typeface="Montserrat"/>
                <a:sym typeface="Montserrat"/>
              </a:rPr>
              <a:t>(Non-Code Focus: Collaboration &amp; Growth</a:t>
            </a:r>
            <a:r>
              <a:rPr lang="en-US" sz="1300" b="1" dirty="0">
                <a:solidFill>
                  <a:srgbClr val="CC0000"/>
                </a:solidFill>
                <a:latin typeface="Montserrat Light" panose="00000400000000000000" pitchFamily="2" charset="0"/>
                <a:ea typeface="Open Sans"/>
                <a:cs typeface="Open Sans"/>
                <a:sym typeface="Open Sans"/>
              </a:rPr>
              <a:t>)</a:t>
            </a:r>
            <a:endParaRPr sz="1300" b="1" dirty="0">
              <a:solidFill>
                <a:srgbClr val="CC0000"/>
              </a:solidFill>
              <a:latin typeface="Montserrat Light" panose="00000400000000000000" pitchFamily="2" charset="0"/>
              <a:ea typeface="Open Sans"/>
              <a:cs typeface="Open Sans"/>
              <a:sym typeface="Open Sans"/>
            </a:endParaRPr>
          </a:p>
        </p:txBody>
      </p:sp>
      <p:sp>
        <p:nvSpPr>
          <p:cNvPr id="15" name="Google Shape;1359;g3c2ecee819f_0_102">
            <a:extLst>
              <a:ext uri="{FF2B5EF4-FFF2-40B4-BE49-F238E27FC236}">
                <a16:creationId xmlns:a16="http://schemas.microsoft.com/office/drawing/2014/main" xmlns="" id="{D9242315-6EF3-9DAB-9827-1BBAE3FFA5F2}"/>
              </a:ext>
            </a:extLst>
          </p:cNvPr>
          <p:cNvSpPr txBox="1"/>
          <p:nvPr/>
        </p:nvSpPr>
        <p:spPr>
          <a:xfrm>
            <a:off x="8893329" y="1935445"/>
            <a:ext cx="2168652" cy="1885131"/>
          </a:xfrm>
          <a:prstGeom prst="rect">
            <a:avLst/>
          </a:prstGeom>
          <a:noFill/>
          <a:ln>
            <a:noFill/>
          </a:ln>
        </p:spPr>
        <p:txBody>
          <a:bodyPr spcFirstLastPara="1" wrap="square" lIns="0" tIns="0" rIns="0" bIns="0" anchor="t" anchorCtr="0">
            <a:spAutoFit/>
          </a:bodyPr>
          <a:lstStyle/>
          <a:p>
            <a:pPr marL="85725" lvl="0" indent="-85725" algn="l" rtl="0">
              <a:spcAft>
                <a:spcPts val="500"/>
              </a:spcAft>
              <a:buClr>
                <a:srgbClr val="2C92D5"/>
              </a:buClr>
              <a:buSzPts val="1000"/>
              <a:buFont typeface="Open Sans"/>
              <a:buChar char="●"/>
            </a:pPr>
            <a:r>
              <a:rPr lang="en-US" sz="1000" b="1" dirty="0">
                <a:latin typeface="Montserrat Light" panose="00000400000000000000" pitchFamily="2" charset="0"/>
                <a:ea typeface="Montserrat"/>
                <a:cs typeface="Montserrat"/>
                <a:sym typeface="Montserrat"/>
              </a:rPr>
              <a:t>Engage with the community:                </a:t>
            </a:r>
            <a:r>
              <a:rPr lang="en-US" sz="1000" dirty="0">
                <a:latin typeface="Montserrat Light" panose="00000400000000000000" pitchFamily="2" charset="0"/>
                <a:ea typeface="Montserrat"/>
                <a:cs typeface="Montserrat"/>
                <a:sym typeface="Montserrat"/>
              </a:rPr>
              <a:t>Participate in TSC calls, </a:t>
            </a:r>
            <a:r>
              <a:rPr lang="en-US" sz="1000" dirty="0" err="1">
                <a:latin typeface="Montserrat Light" panose="00000400000000000000" pitchFamily="2" charset="0"/>
                <a:ea typeface="Montserrat"/>
                <a:cs typeface="Montserrat"/>
                <a:sym typeface="Montserrat"/>
              </a:rPr>
              <a:t>Zulip</a:t>
            </a:r>
            <a:r>
              <a:rPr lang="en-US" sz="1000" dirty="0">
                <a:latin typeface="Montserrat Light" panose="00000400000000000000" pitchFamily="2" charset="0"/>
                <a:ea typeface="Montserrat"/>
                <a:cs typeface="Montserrat"/>
                <a:sym typeface="Montserrat"/>
              </a:rPr>
              <a:t> channels, and other community forums</a:t>
            </a:r>
            <a:endParaRPr sz="1000" dirty="0">
              <a:latin typeface="Montserrat Light" panose="00000400000000000000" pitchFamily="2" charset="0"/>
              <a:ea typeface="Montserrat"/>
              <a:cs typeface="Montserrat"/>
              <a:sym typeface="Montserrat"/>
            </a:endParaRPr>
          </a:p>
          <a:p>
            <a:pPr marL="85725" lvl="0" indent="-85725" algn="l" rtl="0">
              <a:spcAft>
                <a:spcPts val="500"/>
              </a:spcAft>
              <a:buClr>
                <a:srgbClr val="2C92D5"/>
              </a:buClr>
              <a:buSzPts val="1000"/>
              <a:buFont typeface="Open Sans"/>
              <a:buChar char="●"/>
            </a:pPr>
            <a:r>
              <a:rPr lang="en-US" sz="1000" b="1" dirty="0">
                <a:latin typeface="Montserrat Light" panose="00000400000000000000" pitchFamily="2" charset="0"/>
                <a:ea typeface="Montserrat"/>
                <a:cs typeface="Montserrat"/>
                <a:sym typeface="Montserrat"/>
              </a:rPr>
              <a:t>Collaborate on code projects: </a:t>
            </a:r>
            <a:r>
              <a:rPr lang="en-US" sz="1000" dirty="0">
                <a:latin typeface="Montserrat Light" panose="00000400000000000000" pitchFamily="2" charset="0"/>
                <a:ea typeface="Montserrat"/>
                <a:cs typeface="Montserrat"/>
                <a:sym typeface="Montserrat"/>
              </a:rPr>
              <a:t>                  Contribute to and innovate within various API Working Groups and Sub Projects</a:t>
            </a:r>
            <a:endParaRPr sz="1000" dirty="0">
              <a:latin typeface="Montserrat Light" panose="00000400000000000000" pitchFamily="2" charset="0"/>
              <a:ea typeface="Montserrat"/>
              <a:cs typeface="Montserrat"/>
              <a:sym typeface="Montserrat"/>
            </a:endParaRPr>
          </a:p>
          <a:p>
            <a:pPr marL="85725" lvl="0" indent="-85725" algn="l" rtl="0">
              <a:spcAft>
                <a:spcPts val="500"/>
              </a:spcAft>
              <a:buClr>
                <a:srgbClr val="2C92D5"/>
              </a:buClr>
              <a:buSzPts val="1000"/>
              <a:buFont typeface="Open Sans"/>
              <a:buChar char="●"/>
            </a:pPr>
            <a:r>
              <a:rPr lang="en-US" sz="1000" b="1" dirty="0">
                <a:latin typeface="Montserrat Light" panose="00000400000000000000" pitchFamily="2" charset="0"/>
                <a:ea typeface="Montserrat"/>
                <a:cs typeface="Montserrat"/>
                <a:sym typeface="Montserrat"/>
              </a:rPr>
              <a:t>Workstream participation:  </a:t>
            </a:r>
            <a:r>
              <a:rPr lang="en-US" sz="1000" dirty="0">
                <a:latin typeface="Montserrat Light" panose="00000400000000000000" pitchFamily="2" charset="0"/>
                <a:ea typeface="Montserrat"/>
                <a:cs typeface="Montserrat"/>
                <a:sym typeface="Montserrat"/>
              </a:rPr>
              <a:t>Get involved in workstreams to drive development forward</a:t>
            </a:r>
            <a:endParaRPr sz="1000" dirty="0">
              <a:latin typeface="Montserrat Light" panose="00000400000000000000" pitchFamily="2" charset="0"/>
              <a:ea typeface="Montserrat"/>
              <a:cs typeface="Montserrat"/>
              <a:sym typeface="Montserrat"/>
            </a:endParaRPr>
          </a:p>
        </p:txBody>
      </p:sp>
      <p:grpSp>
        <p:nvGrpSpPr>
          <p:cNvPr id="16" name="Google Shape;1360;g3c2ecee819f_0_102">
            <a:extLst>
              <a:ext uri="{FF2B5EF4-FFF2-40B4-BE49-F238E27FC236}">
                <a16:creationId xmlns:a16="http://schemas.microsoft.com/office/drawing/2014/main" xmlns="" id="{83CBD281-1069-0E47-4324-69379D50D0C9}"/>
              </a:ext>
            </a:extLst>
          </p:cNvPr>
          <p:cNvGrpSpPr/>
          <p:nvPr/>
        </p:nvGrpSpPr>
        <p:grpSpPr>
          <a:xfrm>
            <a:off x="8908475" y="3831170"/>
            <a:ext cx="2089372" cy="92291"/>
            <a:chOff x="7166875" y="4436725"/>
            <a:chExt cx="1658100" cy="73200"/>
          </a:xfrm>
        </p:grpSpPr>
        <p:cxnSp>
          <p:nvCxnSpPr>
            <p:cNvPr id="17" name="Google Shape;1361;g3c2ecee819f_0_102">
              <a:extLst>
                <a:ext uri="{FF2B5EF4-FFF2-40B4-BE49-F238E27FC236}">
                  <a16:creationId xmlns:a16="http://schemas.microsoft.com/office/drawing/2014/main" xmlns="" id="{A536C472-92E0-F2E7-2046-ECC8CC735DFA}"/>
                </a:ext>
              </a:extLst>
            </p:cNvPr>
            <p:cNvCxnSpPr/>
            <p:nvPr/>
          </p:nvCxnSpPr>
          <p:spPr>
            <a:xfrm>
              <a:off x="7166875" y="4509325"/>
              <a:ext cx="1658100" cy="600"/>
            </a:xfrm>
            <a:prstGeom prst="bentConnector3">
              <a:avLst>
                <a:gd name="adj1" fmla="val 50000"/>
              </a:avLst>
            </a:prstGeom>
            <a:noFill/>
            <a:ln w="12000" cap="flat" cmpd="sng">
              <a:solidFill>
                <a:schemeClr val="dk2"/>
              </a:solidFill>
              <a:prstDash val="solid"/>
              <a:round/>
              <a:headEnd type="none" w="med" len="med"/>
              <a:tailEnd type="none" w="med" len="med"/>
            </a:ln>
          </p:spPr>
        </p:cxnSp>
        <p:cxnSp>
          <p:nvCxnSpPr>
            <p:cNvPr id="18" name="Google Shape;1362;g3c2ecee819f_0_102">
              <a:extLst>
                <a:ext uri="{FF2B5EF4-FFF2-40B4-BE49-F238E27FC236}">
                  <a16:creationId xmlns:a16="http://schemas.microsoft.com/office/drawing/2014/main" xmlns="" id="{1A46D563-A5EF-88CE-CCCD-417A33B10CAD}"/>
                </a:ext>
              </a:extLst>
            </p:cNvPr>
            <p:cNvCxnSpPr/>
            <p:nvPr/>
          </p:nvCxnSpPr>
          <p:spPr>
            <a:xfrm rot="10800000">
              <a:off x="7166875" y="4437625"/>
              <a:ext cx="0" cy="70800"/>
            </a:xfrm>
            <a:prstGeom prst="straightConnector1">
              <a:avLst/>
            </a:prstGeom>
            <a:noFill/>
            <a:ln w="12000" cap="flat" cmpd="sng">
              <a:solidFill>
                <a:schemeClr val="dk2"/>
              </a:solidFill>
              <a:prstDash val="solid"/>
              <a:round/>
              <a:headEnd type="none" w="med" len="med"/>
              <a:tailEnd type="none" w="med" len="med"/>
            </a:ln>
          </p:spPr>
        </p:cxnSp>
        <p:cxnSp>
          <p:nvCxnSpPr>
            <p:cNvPr id="19" name="Google Shape;1363;g3c2ecee819f_0_102">
              <a:extLst>
                <a:ext uri="{FF2B5EF4-FFF2-40B4-BE49-F238E27FC236}">
                  <a16:creationId xmlns:a16="http://schemas.microsoft.com/office/drawing/2014/main" xmlns="" id="{FE2A8D0D-4C14-847C-2AC4-79CDAEAE60CD}"/>
                </a:ext>
              </a:extLst>
            </p:cNvPr>
            <p:cNvCxnSpPr/>
            <p:nvPr/>
          </p:nvCxnSpPr>
          <p:spPr>
            <a:xfrm rot="10800000">
              <a:off x="8820600" y="4436725"/>
              <a:ext cx="0" cy="70800"/>
            </a:xfrm>
            <a:prstGeom prst="straightConnector1">
              <a:avLst/>
            </a:prstGeom>
            <a:noFill/>
            <a:ln w="12000" cap="flat" cmpd="sng">
              <a:solidFill>
                <a:schemeClr val="dk2"/>
              </a:solidFill>
              <a:prstDash val="solid"/>
              <a:round/>
              <a:headEnd type="none" w="med" len="med"/>
              <a:tailEnd type="none" w="med" len="med"/>
            </a:ln>
          </p:spPr>
        </p:cxnSp>
      </p:grpSp>
      <p:sp>
        <p:nvSpPr>
          <p:cNvPr id="20" name="Google Shape;1364;g3c2ecee819f_0_102">
            <a:extLst>
              <a:ext uri="{FF2B5EF4-FFF2-40B4-BE49-F238E27FC236}">
                <a16:creationId xmlns:a16="http://schemas.microsoft.com/office/drawing/2014/main" xmlns="" id="{2F4AC976-F381-02A2-4DFE-1911C1F2451B}"/>
              </a:ext>
            </a:extLst>
          </p:cNvPr>
          <p:cNvSpPr txBox="1"/>
          <p:nvPr/>
        </p:nvSpPr>
        <p:spPr>
          <a:xfrm>
            <a:off x="8496402" y="3923461"/>
            <a:ext cx="2913000" cy="632810"/>
          </a:xfrm>
          <a:prstGeom prst="rect">
            <a:avLst/>
          </a:prstGeom>
          <a:noFill/>
          <a:ln>
            <a:noFill/>
          </a:ln>
        </p:spPr>
        <p:txBody>
          <a:bodyPr spcFirstLastPara="1" wrap="square" lIns="115225" tIns="115225" rIns="115225" bIns="115225" anchor="t" anchorCtr="0">
            <a:spAutoFit/>
          </a:bodyPr>
          <a:lstStyle/>
          <a:p>
            <a:pPr marL="0" lvl="0" indent="0" algn="ctr" rtl="0">
              <a:spcBef>
                <a:spcPts val="0"/>
              </a:spcBef>
              <a:spcAft>
                <a:spcPts val="0"/>
              </a:spcAft>
              <a:buNone/>
            </a:pPr>
            <a:r>
              <a:rPr lang="en-US" sz="1300" b="1" dirty="0">
                <a:solidFill>
                  <a:srgbClr val="434343"/>
                </a:solidFill>
                <a:latin typeface="Montserrat Light" panose="00000400000000000000" pitchFamily="2" charset="0"/>
                <a:ea typeface="Montserrat"/>
                <a:cs typeface="Montserrat"/>
                <a:sym typeface="Montserrat"/>
              </a:rPr>
              <a:t>Free to All Organizations </a:t>
            </a:r>
            <a:endParaRPr sz="1300" b="1" dirty="0">
              <a:solidFill>
                <a:srgbClr val="434343"/>
              </a:solidFill>
              <a:latin typeface="Montserrat Light" panose="00000400000000000000" pitchFamily="2" charset="0"/>
              <a:ea typeface="Montserrat"/>
              <a:cs typeface="Montserrat"/>
              <a:sym typeface="Montserrat"/>
            </a:endParaRPr>
          </a:p>
          <a:p>
            <a:pPr marL="0" lvl="0" indent="0" algn="ctr" rtl="0">
              <a:spcBef>
                <a:spcPts val="0"/>
              </a:spcBef>
              <a:spcAft>
                <a:spcPts val="0"/>
              </a:spcAft>
              <a:buNone/>
            </a:pPr>
            <a:r>
              <a:rPr lang="en-US" sz="1300" b="1" dirty="0">
                <a:solidFill>
                  <a:srgbClr val="434343"/>
                </a:solidFill>
                <a:latin typeface="Montserrat Light" panose="00000400000000000000" pitchFamily="2" charset="0"/>
                <a:ea typeface="Montserrat"/>
                <a:cs typeface="Montserrat"/>
                <a:sym typeface="Montserrat"/>
              </a:rPr>
              <a:t>(Code Involvement)</a:t>
            </a:r>
            <a:endParaRPr sz="1300" b="1" dirty="0">
              <a:solidFill>
                <a:srgbClr val="434343"/>
              </a:solidFill>
              <a:latin typeface="Montserrat Light" panose="00000400000000000000" pitchFamily="2" charset="0"/>
              <a:ea typeface="Montserrat"/>
              <a:cs typeface="Montserrat"/>
              <a:sym typeface="Montserrat"/>
            </a:endParaRPr>
          </a:p>
        </p:txBody>
      </p:sp>
      <p:cxnSp>
        <p:nvCxnSpPr>
          <p:cNvPr id="21" name="Google Shape;1365;g3c2ecee819f_0_102">
            <a:extLst>
              <a:ext uri="{FF2B5EF4-FFF2-40B4-BE49-F238E27FC236}">
                <a16:creationId xmlns:a16="http://schemas.microsoft.com/office/drawing/2014/main" xmlns="" id="{D1DDE8F9-8D6C-E717-0483-51EE419197F5}"/>
              </a:ext>
            </a:extLst>
          </p:cNvPr>
          <p:cNvCxnSpPr/>
          <p:nvPr/>
        </p:nvCxnSpPr>
        <p:spPr>
          <a:xfrm>
            <a:off x="8415972" y="1375597"/>
            <a:ext cx="0" cy="4677300"/>
          </a:xfrm>
          <a:prstGeom prst="straightConnector1">
            <a:avLst/>
          </a:prstGeom>
          <a:noFill/>
          <a:ln w="12000"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27885488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24">
          <a:extLst>
            <a:ext uri="{FF2B5EF4-FFF2-40B4-BE49-F238E27FC236}">
              <a16:creationId xmlns:a16="http://schemas.microsoft.com/office/drawing/2014/main" xmlns="" id="{015C80B3-B678-D6AF-44D0-AEF19DB36A04}"/>
            </a:ext>
          </a:extLst>
        </p:cNvPr>
        <p:cNvGrpSpPr/>
        <p:nvPr/>
      </p:nvGrpSpPr>
      <p:grpSpPr>
        <a:xfrm>
          <a:off x="0" y="0"/>
          <a:ext cx="0" cy="0"/>
          <a:chOff x="0" y="0"/>
          <a:chExt cx="0" cy="0"/>
        </a:xfrm>
      </p:grpSpPr>
      <p:sp>
        <p:nvSpPr>
          <p:cNvPr id="1126" name="Google Shape;1126;p45">
            <a:extLst>
              <a:ext uri="{FF2B5EF4-FFF2-40B4-BE49-F238E27FC236}">
                <a16:creationId xmlns:a16="http://schemas.microsoft.com/office/drawing/2014/main" xmlns="" id="{C3B702F1-29EF-8A61-885C-540D37C4E389}"/>
              </a:ext>
            </a:extLst>
          </p:cNvPr>
          <p:cNvSpPr txBox="1">
            <a:spLocks noGrp="1"/>
          </p:cNvSpPr>
          <p:nvPr>
            <p:ph type="title"/>
          </p:nvPr>
        </p:nvSpPr>
        <p:spPr>
          <a:xfrm>
            <a:off x="444373" y="413152"/>
            <a:ext cx="10944300" cy="784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dirty="0"/>
              <a:t>Top 10 Reasons to Join as a Member</a:t>
            </a:r>
            <a:endParaRPr sz="2800" dirty="0"/>
          </a:p>
        </p:txBody>
      </p:sp>
      <p:sp>
        <p:nvSpPr>
          <p:cNvPr id="2" name="Google Shape;1371;g3c2ecee819f_0_126">
            <a:extLst>
              <a:ext uri="{FF2B5EF4-FFF2-40B4-BE49-F238E27FC236}">
                <a16:creationId xmlns:a16="http://schemas.microsoft.com/office/drawing/2014/main" xmlns="" id="{63063540-2542-9BD8-EB06-E9DB59D6555B}"/>
              </a:ext>
            </a:extLst>
          </p:cNvPr>
          <p:cNvSpPr txBox="1"/>
          <p:nvPr/>
        </p:nvSpPr>
        <p:spPr>
          <a:xfrm>
            <a:off x="444372" y="1743419"/>
            <a:ext cx="10826543" cy="4112224"/>
          </a:xfrm>
          <a:prstGeom prst="rect">
            <a:avLst/>
          </a:prstGeom>
          <a:noFill/>
          <a:ln>
            <a:noFill/>
          </a:ln>
        </p:spPr>
        <p:txBody>
          <a:bodyPr spcFirstLastPara="1" wrap="square" lIns="115225" tIns="115225" rIns="115225" bIns="115225" anchor="t" anchorCtr="0">
            <a:spAutoFit/>
          </a:bodyPr>
          <a:lstStyle/>
          <a:p>
            <a:pPr marL="0" lvl="0" indent="0" algn="l" rtl="0">
              <a:lnSpc>
                <a:spcPct val="115000"/>
              </a:lnSpc>
              <a:spcBef>
                <a:spcPts val="1800"/>
              </a:spcBef>
              <a:spcAft>
                <a:spcPts val="0"/>
              </a:spcAft>
              <a:buNone/>
            </a:pPr>
            <a:r>
              <a:rPr lang="en-US" dirty="0">
                <a:solidFill>
                  <a:schemeClr val="dk1"/>
                </a:solidFill>
                <a:latin typeface="Montserrat SemiBold" panose="00000700000000000000" pitchFamily="2" charset="0"/>
                <a:ea typeface="Montserrat"/>
                <a:cs typeface="Montserrat"/>
                <a:sym typeface="Montserrat"/>
              </a:rPr>
              <a:t>Influence Global API Standards: </a:t>
            </a:r>
            <a:r>
              <a:rPr lang="en-US" dirty="0">
                <a:solidFill>
                  <a:schemeClr val="dk1"/>
                </a:solidFill>
                <a:latin typeface="Montserrat Light" panose="00000400000000000000" pitchFamily="2" charset="0"/>
                <a:ea typeface="Montserrat"/>
                <a:cs typeface="Montserrat"/>
                <a:sym typeface="Montserrat"/>
              </a:rPr>
              <a:t>Shape the development of open, telco-exposed APIs aligned with the GSMA Open Gateway initiative - ensuring your business needs are reflected in global standards.</a:t>
            </a:r>
            <a:endParaRPr dirty="0">
              <a:solidFill>
                <a:schemeClr val="dk1"/>
              </a:solidFill>
              <a:latin typeface="Montserrat Light" panose="00000400000000000000" pitchFamily="2" charset="0"/>
              <a:ea typeface="Montserrat"/>
              <a:cs typeface="Montserrat"/>
              <a:sym typeface="Montserrat"/>
            </a:endParaRPr>
          </a:p>
          <a:p>
            <a:pPr marL="0" lvl="0" indent="0" algn="l" rtl="0">
              <a:lnSpc>
                <a:spcPct val="115000"/>
              </a:lnSpc>
              <a:spcBef>
                <a:spcPts val="1800"/>
              </a:spcBef>
              <a:spcAft>
                <a:spcPts val="0"/>
              </a:spcAft>
              <a:buNone/>
            </a:pPr>
            <a:r>
              <a:rPr lang="en-US" dirty="0">
                <a:solidFill>
                  <a:schemeClr val="dk1"/>
                </a:solidFill>
                <a:latin typeface="Montserrat SemiBold" panose="00000700000000000000" pitchFamily="2" charset="0"/>
                <a:sym typeface="Montserrat"/>
              </a:rPr>
              <a:t>Accelerate Service Innovation: </a:t>
            </a:r>
            <a:r>
              <a:rPr lang="en-US" dirty="0">
                <a:solidFill>
                  <a:schemeClr val="dk1"/>
                </a:solidFill>
                <a:latin typeface="Montserrat Light" panose="00000400000000000000" pitchFamily="2" charset="0"/>
                <a:ea typeface="Montserrat"/>
                <a:cs typeface="Montserrat"/>
                <a:sym typeface="Montserrat"/>
              </a:rPr>
              <a:t>Leverage standardized APIs to unlock network capabilities (e.g., </a:t>
            </a:r>
            <a:r>
              <a:rPr lang="en-US" dirty="0" err="1">
                <a:solidFill>
                  <a:schemeClr val="dk1"/>
                </a:solidFill>
                <a:latin typeface="Montserrat Light" panose="00000400000000000000" pitchFamily="2" charset="0"/>
                <a:ea typeface="Montserrat"/>
                <a:cs typeface="Montserrat"/>
                <a:sym typeface="Montserrat"/>
              </a:rPr>
              <a:t>QoD</a:t>
            </a:r>
            <a:r>
              <a:rPr lang="en-US" dirty="0">
                <a:solidFill>
                  <a:schemeClr val="dk1"/>
                </a:solidFill>
                <a:latin typeface="Montserrat Light" panose="00000400000000000000" pitchFamily="2" charset="0"/>
                <a:ea typeface="Montserrat"/>
                <a:cs typeface="Montserrat"/>
                <a:sym typeface="Montserrat"/>
              </a:rPr>
              <a:t>, device location, slicing) and build differentiated digital services faster.</a:t>
            </a:r>
            <a:endParaRPr dirty="0">
              <a:solidFill>
                <a:schemeClr val="dk1"/>
              </a:solidFill>
              <a:latin typeface="Montserrat Light" panose="00000400000000000000" pitchFamily="2" charset="0"/>
              <a:ea typeface="Montserrat"/>
              <a:cs typeface="Montserrat"/>
              <a:sym typeface="Montserrat"/>
            </a:endParaRPr>
          </a:p>
          <a:p>
            <a:pPr marL="0" lvl="0" indent="0" algn="l" rtl="0">
              <a:lnSpc>
                <a:spcPct val="115000"/>
              </a:lnSpc>
              <a:spcBef>
                <a:spcPts val="1800"/>
              </a:spcBef>
              <a:spcAft>
                <a:spcPts val="0"/>
              </a:spcAft>
              <a:buNone/>
            </a:pPr>
            <a:r>
              <a:rPr lang="en-US" dirty="0">
                <a:solidFill>
                  <a:schemeClr val="dk1"/>
                </a:solidFill>
                <a:latin typeface="Montserrat SemiBold" panose="00000700000000000000" pitchFamily="2" charset="0"/>
                <a:sym typeface="Montserrat"/>
              </a:rPr>
              <a:t>Collaborate with Industry Leaders: </a:t>
            </a:r>
            <a:r>
              <a:rPr lang="en-US" dirty="0">
                <a:solidFill>
                  <a:schemeClr val="dk1"/>
                </a:solidFill>
                <a:latin typeface="Montserrat Light" panose="00000400000000000000" pitchFamily="2" charset="0"/>
                <a:ea typeface="Montserrat"/>
                <a:cs typeface="Montserrat"/>
                <a:sym typeface="Montserrat"/>
              </a:rPr>
              <a:t>Develop personal relationships with thought leaders (including executives, architects, program manager, engineers, and more) from a global community of telecom operators, </a:t>
            </a:r>
            <a:r>
              <a:rPr lang="en-US" dirty="0" err="1">
                <a:solidFill>
                  <a:schemeClr val="dk1"/>
                </a:solidFill>
                <a:latin typeface="Montserrat Light" panose="00000400000000000000" pitchFamily="2" charset="0"/>
                <a:ea typeface="Montserrat"/>
                <a:cs typeface="Montserrat"/>
                <a:sym typeface="Montserrat"/>
              </a:rPr>
              <a:t>hyperscalers</a:t>
            </a:r>
            <a:r>
              <a:rPr lang="en-US" dirty="0">
                <a:solidFill>
                  <a:schemeClr val="dk1"/>
                </a:solidFill>
                <a:latin typeface="Montserrat Light" panose="00000400000000000000" pitchFamily="2" charset="0"/>
                <a:ea typeface="Montserrat"/>
                <a:cs typeface="Montserrat"/>
                <a:sym typeface="Montserrat"/>
              </a:rPr>
              <a:t>, and aggregators, and enterprises all working together to bridge networks and applications through open source.</a:t>
            </a:r>
            <a:endParaRPr dirty="0">
              <a:solidFill>
                <a:schemeClr val="dk1"/>
              </a:solidFill>
              <a:latin typeface="Montserrat Light" panose="00000400000000000000" pitchFamily="2" charset="0"/>
              <a:ea typeface="Montserrat"/>
              <a:cs typeface="Montserrat"/>
              <a:sym typeface="Montserrat"/>
            </a:endParaRPr>
          </a:p>
          <a:p>
            <a:pPr marL="0" lvl="0" indent="0" algn="l" rtl="0">
              <a:lnSpc>
                <a:spcPct val="115000"/>
              </a:lnSpc>
              <a:spcBef>
                <a:spcPts val="1800"/>
              </a:spcBef>
              <a:spcAft>
                <a:spcPts val="0"/>
              </a:spcAft>
              <a:buNone/>
            </a:pPr>
            <a:r>
              <a:rPr lang="en-US" dirty="0">
                <a:solidFill>
                  <a:schemeClr val="dk1"/>
                </a:solidFill>
                <a:latin typeface="Montserrat SemiBold" panose="00000700000000000000" pitchFamily="2" charset="0"/>
                <a:sym typeface="Montserrat"/>
              </a:rPr>
              <a:t>Set the Open Telco API Development Strategy: </a:t>
            </a:r>
            <a:r>
              <a:rPr lang="en-US" dirty="0">
                <a:solidFill>
                  <a:schemeClr val="dk1"/>
                </a:solidFill>
                <a:latin typeface="Montserrat Light" panose="00000400000000000000" pitchFamily="2" charset="0"/>
                <a:ea typeface="Montserrat"/>
                <a:cs typeface="Montserrat"/>
                <a:sym typeface="Montserrat"/>
              </a:rPr>
              <a:t>Participate in building an ecosystem that makes it easier for developers to consume network capabilities - growing adoption and monetization of your services.</a:t>
            </a:r>
            <a:endParaRPr dirty="0">
              <a:solidFill>
                <a:schemeClr val="dk1"/>
              </a:solidFill>
              <a:latin typeface="Montserrat Light" panose="00000400000000000000" pitchFamily="2" charset="0"/>
              <a:ea typeface="Montserrat"/>
              <a:cs typeface="Montserrat"/>
              <a:sym typeface="Montserrat"/>
            </a:endParaRPr>
          </a:p>
          <a:p>
            <a:pPr marL="0" lvl="0" indent="0" algn="l" rtl="0">
              <a:lnSpc>
                <a:spcPct val="115000"/>
              </a:lnSpc>
              <a:spcBef>
                <a:spcPts val="1800"/>
              </a:spcBef>
              <a:spcAft>
                <a:spcPts val="0"/>
              </a:spcAft>
              <a:buNone/>
            </a:pPr>
            <a:r>
              <a:rPr lang="en-US" dirty="0">
                <a:solidFill>
                  <a:schemeClr val="dk1"/>
                </a:solidFill>
                <a:latin typeface="Montserrat SemiBold" panose="00000700000000000000" pitchFamily="2" charset="0"/>
                <a:sym typeface="Montserrat"/>
              </a:rPr>
              <a:t>Gain Early Access to APIs and Roadmaps</a:t>
            </a:r>
            <a:r>
              <a:rPr lang="en-US" b="1" dirty="0">
                <a:solidFill>
                  <a:schemeClr val="dk1"/>
                </a:solidFill>
                <a:latin typeface="Montserrat Light" panose="00000400000000000000" pitchFamily="2" charset="0"/>
                <a:ea typeface="Montserrat"/>
                <a:cs typeface="Montserrat"/>
                <a:sym typeface="Montserrat"/>
              </a:rPr>
              <a:t>:</a:t>
            </a:r>
            <a:r>
              <a:rPr lang="en-US" dirty="0">
                <a:solidFill>
                  <a:schemeClr val="dk1"/>
                </a:solidFill>
                <a:latin typeface="Montserrat Light" panose="00000400000000000000" pitchFamily="2" charset="0"/>
                <a:ea typeface="Montserrat"/>
                <a:cs typeface="Montserrat"/>
                <a:sym typeface="Montserrat"/>
              </a:rPr>
              <a:t> Stay ahead of the market with insider access to early-stage APIs, technical roadmaps, and experimental features.</a:t>
            </a:r>
            <a:endParaRPr dirty="0">
              <a:solidFill>
                <a:srgbClr val="434343"/>
              </a:solidFill>
              <a:latin typeface="Montserrat Light" panose="00000400000000000000" pitchFamily="2" charset="0"/>
              <a:ea typeface="Open Sans"/>
              <a:cs typeface="Open Sans"/>
              <a:sym typeface="Open Sans"/>
            </a:endParaRPr>
          </a:p>
        </p:txBody>
      </p:sp>
    </p:spTree>
    <p:extLst>
      <p:ext uri="{BB962C8B-B14F-4D97-AF65-F5344CB8AC3E}">
        <p14:creationId xmlns:p14="http://schemas.microsoft.com/office/powerpoint/2010/main" val="3260697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24">
          <a:extLst>
            <a:ext uri="{FF2B5EF4-FFF2-40B4-BE49-F238E27FC236}">
              <a16:creationId xmlns:a16="http://schemas.microsoft.com/office/drawing/2014/main" xmlns="" id="{47108996-3B40-BE88-55CF-0CE9E573C3E3}"/>
            </a:ext>
          </a:extLst>
        </p:cNvPr>
        <p:cNvGrpSpPr/>
        <p:nvPr/>
      </p:nvGrpSpPr>
      <p:grpSpPr>
        <a:xfrm>
          <a:off x="0" y="0"/>
          <a:ext cx="0" cy="0"/>
          <a:chOff x="0" y="0"/>
          <a:chExt cx="0" cy="0"/>
        </a:xfrm>
      </p:grpSpPr>
      <p:sp>
        <p:nvSpPr>
          <p:cNvPr id="1126" name="Google Shape;1126;p45">
            <a:extLst>
              <a:ext uri="{FF2B5EF4-FFF2-40B4-BE49-F238E27FC236}">
                <a16:creationId xmlns:a16="http://schemas.microsoft.com/office/drawing/2014/main" xmlns="" id="{1238A84A-9A61-87F3-2D42-15A9B92DB03E}"/>
              </a:ext>
            </a:extLst>
          </p:cNvPr>
          <p:cNvSpPr txBox="1">
            <a:spLocks noGrp="1"/>
          </p:cNvSpPr>
          <p:nvPr>
            <p:ph type="title"/>
          </p:nvPr>
        </p:nvSpPr>
        <p:spPr>
          <a:xfrm>
            <a:off x="444373" y="413152"/>
            <a:ext cx="10944300" cy="784500"/>
          </a:xfrm>
          <a:prstGeom prst="rect">
            <a:avLst/>
          </a:prstGeom>
          <a:noFill/>
          <a:ln>
            <a:noFill/>
          </a:ln>
        </p:spPr>
        <p:txBody>
          <a:bodyPr spcFirstLastPara="1" wrap="square" lIns="91425" tIns="45700" rIns="91425" bIns="45700" anchor="t" anchorCtr="0">
            <a:noAutofit/>
          </a:bodyPr>
          <a:lstStyle/>
          <a:p>
            <a:pPr lvl="0"/>
            <a:r>
              <a:rPr lang="en-US" dirty="0"/>
              <a:t>Top 10 Reasons to Join as a Member</a:t>
            </a:r>
            <a:endParaRPr sz="2800" dirty="0"/>
          </a:p>
        </p:txBody>
      </p:sp>
      <p:sp>
        <p:nvSpPr>
          <p:cNvPr id="2" name="Google Shape;1378;g3c2ecee819f_0_132">
            <a:extLst>
              <a:ext uri="{FF2B5EF4-FFF2-40B4-BE49-F238E27FC236}">
                <a16:creationId xmlns:a16="http://schemas.microsoft.com/office/drawing/2014/main" xmlns="" id="{D717ECE5-CC11-D30B-7DDC-BBEC2161F59B}"/>
              </a:ext>
            </a:extLst>
          </p:cNvPr>
          <p:cNvSpPr txBox="1"/>
          <p:nvPr/>
        </p:nvSpPr>
        <p:spPr>
          <a:xfrm>
            <a:off x="444373" y="1694874"/>
            <a:ext cx="10826543" cy="4376912"/>
          </a:xfrm>
          <a:prstGeom prst="rect">
            <a:avLst/>
          </a:prstGeom>
          <a:noFill/>
          <a:ln>
            <a:noFill/>
          </a:ln>
        </p:spPr>
        <p:txBody>
          <a:bodyPr spcFirstLastPara="1" wrap="square" lIns="115225" tIns="115225" rIns="115225" bIns="115225" anchor="t" anchorCtr="0">
            <a:spAutoFit/>
          </a:bodyPr>
          <a:lstStyle/>
          <a:p>
            <a:pPr marL="0" lvl="0" indent="0" algn="l" rtl="0">
              <a:lnSpc>
                <a:spcPct val="115000"/>
              </a:lnSpc>
              <a:spcBef>
                <a:spcPts val="1800"/>
              </a:spcBef>
              <a:spcAft>
                <a:spcPts val="0"/>
              </a:spcAft>
              <a:buClr>
                <a:schemeClr val="dk1"/>
              </a:buClr>
              <a:buSzPts val="1400"/>
              <a:buFont typeface="Arial"/>
              <a:buNone/>
            </a:pPr>
            <a:r>
              <a:rPr lang="en-US" dirty="0">
                <a:solidFill>
                  <a:schemeClr val="dk1"/>
                </a:solidFill>
                <a:latin typeface="Montserrat SemiBold" panose="00000700000000000000" pitchFamily="2" charset="0"/>
                <a:sym typeface="Open Sans"/>
              </a:rPr>
              <a:t>Expand Business Opportunities: </a:t>
            </a:r>
            <a:r>
              <a:rPr lang="en-US" dirty="0">
                <a:solidFill>
                  <a:schemeClr val="dk1"/>
                </a:solidFill>
                <a:latin typeface="Montserrat Light" panose="00000400000000000000" pitchFamily="2" charset="0"/>
                <a:ea typeface="Open Sans"/>
                <a:cs typeface="Open Sans"/>
                <a:sym typeface="Open Sans"/>
              </a:rPr>
              <a:t>Enable cross-operator, cross-border deployment of your services by building once and scaling globally with consistent APIs.</a:t>
            </a:r>
            <a:endParaRPr dirty="0">
              <a:solidFill>
                <a:schemeClr val="dk1"/>
              </a:solidFill>
              <a:latin typeface="Montserrat Light" panose="00000400000000000000" pitchFamily="2" charset="0"/>
              <a:ea typeface="Open Sans"/>
              <a:cs typeface="Open Sans"/>
              <a:sym typeface="Open Sans"/>
            </a:endParaRPr>
          </a:p>
          <a:p>
            <a:pPr marL="0" lvl="0" indent="0" algn="l" rtl="0">
              <a:lnSpc>
                <a:spcPct val="115000"/>
              </a:lnSpc>
              <a:spcBef>
                <a:spcPts val="1800"/>
              </a:spcBef>
              <a:spcAft>
                <a:spcPts val="0"/>
              </a:spcAft>
              <a:buClr>
                <a:schemeClr val="dk1"/>
              </a:buClr>
              <a:buSzPts val="1400"/>
              <a:buFont typeface="Arial"/>
              <a:buNone/>
            </a:pPr>
            <a:r>
              <a:rPr lang="en-US" dirty="0">
                <a:solidFill>
                  <a:schemeClr val="dk1"/>
                </a:solidFill>
                <a:latin typeface="Montserrat SemiBold" panose="00000700000000000000" pitchFamily="2" charset="0"/>
                <a:sym typeface="Open Sans"/>
              </a:rPr>
              <a:t>Boost Visibility and Brand Recognition: </a:t>
            </a:r>
            <a:r>
              <a:rPr lang="en-US" dirty="0">
                <a:solidFill>
                  <a:schemeClr val="dk1"/>
                </a:solidFill>
                <a:latin typeface="Montserrat Light" panose="00000400000000000000" pitchFamily="2" charset="0"/>
                <a:ea typeface="Open Sans"/>
                <a:cs typeface="Open Sans"/>
                <a:sym typeface="Open Sans"/>
              </a:rPr>
              <a:t>Access co-marketing opportunities, including event participation, case studies, webinars, and blog posts - highlighting your leadership in telco innovation.</a:t>
            </a:r>
            <a:endParaRPr dirty="0">
              <a:solidFill>
                <a:schemeClr val="dk1"/>
              </a:solidFill>
              <a:latin typeface="Montserrat Light" panose="00000400000000000000" pitchFamily="2" charset="0"/>
              <a:ea typeface="Open Sans"/>
              <a:cs typeface="Open Sans"/>
              <a:sym typeface="Open Sans"/>
            </a:endParaRPr>
          </a:p>
          <a:p>
            <a:pPr marL="0" lvl="0" indent="0" algn="l" rtl="0">
              <a:lnSpc>
                <a:spcPct val="115000"/>
              </a:lnSpc>
              <a:spcBef>
                <a:spcPts val="1800"/>
              </a:spcBef>
              <a:spcAft>
                <a:spcPts val="0"/>
              </a:spcAft>
              <a:buNone/>
            </a:pPr>
            <a:r>
              <a:rPr lang="en-US" dirty="0">
                <a:solidFill>
                  <a:schemeClr val="dk1"/>
                </a:solidFill>
                <a:latin typeface="Montserrat SemiBold" panose="00000700000000000000" pitchFamily="2" charset="0"/>
                <a:sym typeface="Open Sans"/>
              </a:rPr>
              <a:t>Participate in Governance and Leadership: </a:t>
            </a:r>
            <a:r>
              <a:rPr lang="en-US" dirty="0">
                <a:solidFill>
                  <a:srgbClr val="434343"/>
                </a:solidFill>
                <a:latin typeface="Montserrat Light" panose="00000400000000000000" pitchFamily="2" charset="0"/>
                <a:ea typeface="Open Sans Medium"/>
                <a:cs typeface="Open Sans Medium"/>
                <a:sym typeface="Open Sans Medium"/>
              </a:rPr>
              <a:t>A voting membership on the CAMARA Governing Board enables you to Influence the direction of the open telco API ecosystem align with your business  strategy. </a:t>
            </a:r>
            <a:endParaRPr dirty="0">
              <a:solidFill>
                <a:schemeClr val="dk1"/>
              </a:solidFill>
              <a:latin typeface="Montserrat Light" panose="00000400000000000000" pitchFamily="2" charset="0"/>
              <a:ea typeface="Open Sans"/>
              <a:cs typeface="Open Sans"/>
              <a:sym typeface="Open Sans"/>
            </a:endParaRPr>
          </a:p>
          <a:p>
            <a:pPr marL="0" lvl="0" indent="0" algn="l" rtl="0">
              <a:lnSpc>
                <a:spcPct val="115000"/>
              </a:lnSpc>
              <a:spcBef>
                <a:spcPts val="1800"/>
              </a:spcBef>
              <a:spcAft>
                <a:spcPts val="0"/>
              </a:spcAft>
              <a:buNone/>
            </a:pPr>
            <a:r>
              <a:rPr lang="en-US" dirty="0">
                <a:solidFill>
                  <a:schemeClr val="dk1"/>
                </a:solidFill>
                <a:latin typeface="Montserrat SemiBold" panose="00000700000000000000" pitchFamily="2" charset="0"/>
                <a:sym typeface="Open Sans"/>
              </a:rPr>
              <a:t>Align with Other Open Source Projects and Industry Initiatives: </a:t>
            </a:r>
            <a:r>
              <a:rPr lang="en-US" dirty="0">
                <a:solidFill>
                  <a:srgbClr val="434343"/>
                </a:solidFill>
                <a:latin typeface="Montserrat Light" panose="00000400000000000000" pitchFamily="2" charset="0"/>
                <a:ea typeface="Open Sans Medium"/>
                <a:cs typeface="Open Sans Medium"/>
                <a:sym typeface="Open Sans Medium"/>
              </a:rPr>
              <a:t>Collaborate easily and directly with other Linux Foundation projects such as LF Networking, CNCF, Sylva and more, as well as </a:t>
            </a:r>
            <a:r>
              <a:rPr lang="en-US" dirty="0">
                <a:solidFill>
                  <a:schemeClr val="dk1"/>
                </a:solidFill>
                <a:latin typeface="Montserrat Light" panose="00000400000000000000" pitchFamily="2" charset="0"/>
                <a:ea typeface="Open Sans"/>
                <a:cs typeface="Open Sans"/>
                <a:sym typeface="Open Sans"/>
              </a:rPr>
              <a:t>major industry bodies like GSMA, </a:t>
            </a:r>
            <a:r>
              <a:rPr lang="en-US" dirty="0" err="1">
                <a:solidFill>
                  <a:schemeClr val="dk1"/>
                </a:solidFill>
                <a:latin typeface="Montserrat Light" panose="00000400000000000000" pitchFamily="2" charset="0"/>
                <a:ea typeface="Open Sans"/>
                <a:cs typeface="Open Sans"/>
                <a:sym typeface="Open Sans"/>
              </a:rPr>
              <a:t>TMForum</a:t>
            </a:r>
            <a:r>
              <a:rPr lang="en-US" dirty="0">
                <a:solidFill>
                  <a:schemeClr val="dk1"/>
                </a:solidFill>
                <a:latin typeface="Montserrat Light" panose="00000400000000000000" pitchFamily="2" charset="0"/>
                <a:ea typeface="Open Sans"/>
                <a:cs typeface="Open Sans"/>
                <a:sym typeface="Open Sans"/>
              </a:rPr>
              <a:t>, MEF, </a:t>
            </a:r>
            <a:r>
              <a:rPr lang="en-US" dirty="0" err="1">
                <a:solidFill>
                  <a:schemeClr val="dk1"/>
                </a:solidFill>
                <a:latin typeface="Montserrat Light" panose="00000400000000000000" pitchFamily="2" charset="0"/>
                <a:ea typeface="Open Sans"/>
                <a:cs typeface="Open Sans"/>
                <a:sym typeface="Open Sans"/>
              </a:rPr>
              <a:t>CPaaSaa</a:t>
            </a:r>
            <a:r>
              <a:rPr lang="en-US" dirty="0">
                <a:solidFill>
                  <a:schemeClr val="dk1"/>
                </a:solidFill>
                <a:latin typeface="Montserrat Light" panose="00000400000000000000" pitchFamily="2" charset="0"/>
                <a:ea typeface="Open Sans"/>
                <a:cs typeface="Open Sans"/>
                <a:sym typeface="Open Sans"/>
              </a:rPr>
              <a:t> (and more) - position your organization at the center of the open telco APi movement.</a:t>
            </a:r>
            <a:br>
              <a:rPr lang="en-US" dirty="0">
                <a:solidFill>
                  <a:schemeClr val="dk1"/>
                </a:solidFill>
                <a:latin typeface="Montserrat Light" panose="00000400000000000000" pitchFamily="2" charset="0"/>
                <a:ea typeface="Open Sans"/>
                <a:cs typeface="Open Sans"/>
                <a:sym typeface="Open Sans"/>
              </a:rPr>
            </a:br>
            <a:endParaRPr b="1" dirty="0">
              <a:solidFill>
                <a:srgbClr val="434343"/>
              </a:solidFill>
              <a:latin typeface="Montserrat Light" panose="00000400000000000000" pitchFamily="2" charset="0"/>
              <a:ea typeface="Open Sans"/>
              <a:cs typeface="Open Sans"/>
              <a:sym typeface="Open Sans"/>
            </a:endParaRPr>
          </a:p>
          <a:p>
            <a:pPr marL="0" lvl="0" indent="0" algn="l" rtl="0">
              <a:lnSpc>
                <a:spcPct val="115000"/>
              </a:lnSpc>
              <a:spcBef>
                <a:spcPts val="0"/>
              </a:spcBef>
              <a:spcAft>
                <a:spcPts val="0"/>
              </a:spcAft>
              <a:buNone/>
            </a:pPr>
            <a:r>
              <a:rPr lang="en-US" dirty="0">
                <a:solidFill>
                  <a:schemeClr val="dk1"/>
                </a:solidFill>
                <a:latin typeface="Montserrat SemiBold" panose="00000700000000000000" pitchFamily="2" charset="0"/>
                <a:sym typeface="Open Sans"/>
              </a:rPr>
              <a:t>Elevate Your Organization’s Industry Perception within </a:t>
            </a:r>
            <a:r>
              <a:rPr lang="en-US">
                <a:solidFill>
                  <a:schemeClr val="dk1"/>
                </a:solidFill>
                <a:latin typeface="Montserrat SemiBold" panose="00000700000000000000" pitchFamily="2" charset="0"/>
                <a:sym typeface="Open Sans"/>
              </a:rPr>
              <a:t>the Telco </a:t>
            </a:r>
            <a:r>
              <a:rPr lang="en-US" dirty="0">
                <a:solidFill>
                  <a:schemeClr val="dk1"/>
                </a:solidFill>
                <a:latin typeface="Montserrat SemiBold" panose="00000700000000000000" pitchFamily="2" charset="0"/>
                <a:sym typeface="Open Sans"/>
              </a:rPr>
              <a:t>API Ecosystem: </a:t>
            </a:r>
            <a:r>
              <a:rPr lang="en-US" dirty="0">
                <a:solidFill>
                  <a:schemeClr val="dk1"/>
                </a:solidFill>
                <a:latin typeface="Montserrat Light" panose="00000400000000000000" pitchFamily="2" charset="0"/>
                <a:ea typeface="Open Sans Medium"/>
                <a:cs typeface="Open Sans Medium"/>
                <a:sym typeface="Open Sans Medium"/>
              </a:rPr>
              <a:t>Joining the CAMARA Board sends the message that you are a technology leader  within a technology on the precipice of unlocking new monetization opportunities. Your absence could be  perceived as reluctance to adopt this new technology disruption. </a:t>
            </a:r>
            <a:endParaRPr dirty="0">
              <a:solidFill>
                <a:srgbClr val="434343"/>
              </a:solidFill>
              <a:latin typeface="Montserrat Light" panose="00000400000000000000" pitchFamily="2" charset="0"/>
              <a:ea typeface="Open Sans"/>
              <a:cs typeface="Open Sans"/>
              <a:sym typeface="Open Sans"/>
            </a:endParaRPr>
          </a:p>
        </p:txBody>
      </p:sp>
    </p:spTree>
    <p:extLst>
      <p:ext uri="{BB962C8B-B14F-4D97-AF65-F5344CB8AC3E}">
        <p14:creationId xmlns:p14="http://schemas.microsoft.com/office/powerpoint/2010/main" val="18505363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32"/>
        <p:cNvGrpSpPr/>
        <p:nvPr/>
      </p:nvGrpSpPr>
      <p:grpSpPr>
        <a:xfrm>
          <a:off x="0" y="0"/>
          <a:ext cx="0" cy="0"/>
          <a:chOff x="0" y="0"/>
          <a:chExt cx="0" cy="0"/>
        </a:xfrm>
      </p:grpSpPr>
      <p:sp>
        <p:nvSpPr>
          <p:cNvPr id="1133" name="Google Shape;1133;p46"/>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Montserrat Light"/>
              <a:buNone/>
            </a:pPr>
            <a:r>
              <a:rPr lang="en-US"/>
              <a:t>CAMARA</a:t>
            </a:r>
            <a:br>
              <a:rPr lang="en-US"/>
            </a:br>
            <a:r>
              <a:rPr lang="en-US"/>
              <a:t>Where are we going next…</a:t>
            </a:r>
            <a:endParaRPr/>
          </a:p>
        </p:txBody>
      </p:sp>
      <p:sp>
        <p:nvSpPr>
          <p:cNvPr id="1134" name="Google Shape;1134;p46"/>
          <p:cNvSpPr/>
          <p:nvPr/>
        </p:nvSpPr>
        <p:spPr>
          <a:xfrm>
            <a:off x="3028051" y="2320900"/>
            <a:ext cx="7586100" cy="870300"/>
          </a:xfrm>
          <a:prstGeom prst="rect">
            <a:avLst/>
          </a:prstGeom>
          <a:solidFill>
            <a:srgbClr val="FFBFAB"/>
          </a:solidFill>
          <a:ln>
            <a:noFill/>
          </a:ln>
        </p:spPr>
        <p:txBody>
          <a:bodyPr spcFirstLastPara="1" wrap="square" lIns="180000" tIns="45700" rIns="36000" bIns="45700" anchor="ctr" anchorCtr="0">
            <a:noAutofit/>
          </a:bodyPr>
          <a:lstStyle/>
          <a:p>
            <a:pPr marL="0" marR="0" lvl="0" indent="0" algn="l" rtl="0">
              <a:spcBef>
                <a:spcPts val="0"/>
              </a:spcBef>
              <a:spcAft>
                <a:spcPts val="0"/>
              </a:spcAft>
              <a:buNone/>
            </a:pPr>
            <a:r>
              <a:rPr lang="en-US" sz="2000" dirty="0" smtClean="0">
                <a:solidFill>
                  <a:schemeClr val="dk2"/>
                </a:solidFill>
                <a:latin typeface="Montserrat Light"/>
                <a:ea typeface="Montserrat Light"/>
                <a:cs typeface="Montserrat Light"/>
                <a:sym typeface="Montserrat Light"/>
              </a:rPr>
              <a:t>Stabilize APIs </a:t>
            </a:r>
            <a:r>
              <a:rPr lang="en-US" sz="2000" dirty="0">
                <a:solidFill>
                  <a:schemeClr val="dk2"/>
                </a:solidFill>
                <a:latin typeface="Montserrat Light"/>
                <a:ea typeface="Montserrat Light"/>
                <a:cs typeface="Montserrat Light"/>
                <a:sym typeface="Montserrat Light"/>
              </a:rPr>
              <a:t>and roadmap sync across CSPs, Aggregators and </a:t>
            </a:r>
            <a:r>
              <a:rPr lang="en-US" sz="2000" dirty="0" err="1">
                <a:solidFill>
                  <a:schemeClr val="dk2"/>
                </a:solidFill>
                <a:latin typeface="Montserrat Light"/>
                <a:ea typeface="Montserrat Light"/>
                <a:cs typeface="Montserrat Light"/>
                <a:sym typeface="Montserrat Light"/>
              </a:rPr>
              <a:t>Hyperscalers</a:t>
            </a:r>
            <a:endParaRPr sz="2000" dirty="0">
              <a:solidFill>
                <a:schemeClr val="dk2"/>
              </a:solidFill>
            </a:endParaRPr>
          </a:p>
        </p:txBody>
      </p:sp>
      <p:sp>
        <p:nvSpPr>
          <p:cNvPr id="1135" name="Google Shape;1135;p46"/>
          <p:cNvSpPr/>
          <p:nvPr/>
        </p:nvSpPr>
        <p:spPr>
          <a:xfrm>
            <a:off x="3028050" y="3388300"/>
            <a:ext cx="7586100" cy="870300"/>
          </a:xfrm>
          <a:prstGeom prst="rect">
            <a:avLst/>
          </a:prstGeom>
          <a:solidFill>
            <a:srgbClr val="FFBFAB"/>
          </a:solidFill>
          <a:ln>
            <a:noFill/>
          </a:ln>
        </p:spPr>
        <p:txBody>
          <a:bodyPr spcFirstLastPara="1" wrap="square" lIns="180000" tIns="45700" rIns="36000" bIns="45700" anchor="ctr" anchorCtr="0">
            <a:noAutofit/>
          </a:bodyPr>
          <a:lstStyle/>
          <a:p>
            <a:pPr marL="0" marR="0" lvl="0" indent="0" algn="l" rtl="0">
              <a:spcBef>
                <a:spcPts val="0"/>
              </a:spcBef>
              <a:spcAft>
                <a:spcPts val="0"/>
              </a:spcAft>
              <a:buNone/>
            </a:pPr>
            <a:r>
              <a:rPr lang="en-US" sz="2000">
                <a:solidFill>
                  <a:schemeClr val="dk2"/>
                </a:solidFill>
                <a:latin typeface="Montserrat Light"/>
                <a:ea typeface="Montserrat Light"/>
                <a:cs typeface="Montserrat Light"/>
                <a:sym typeface="Montserrat Light"/>
              </a:rPr>
              <a:t>API lifecycle management consistency,</a:t>
            </a:r>
            <a:endParaRPr sz="2000">
              <a:solidFill>
                <a:schemeClr val="dk2"/>
              </a:solidFill>
            </a:endParaRPr>
          </a:p>
          <a:p>
            <a:pPr marL="0" marR="0" lvl="0" indent="0" algn="l" rtl="0">
              <a:spcBef>
                <a:spcPts val="0"/>
              </a:spcBef>
              <a:spcAft>
                <a:spcPts val="0"/>
              </a:spcAft>
              <a:buNone/>
            </a:pPr>
            <a:r>
              <a:rPr lang="en-US" sz="2000">
                <a:solidFill>
                  <a:schemeClr val="dk2"/>
                </a:solidFill>
                <a:latin typeface="Montserrat Light"/>
                <a:ea typeface="Montserrat Light"/>
                <a:cs typeface="Montserrat Light"/>
                <a:sym typeface="Montserrat Light"/>
              </a:rPr>
              <a:t>Documentation of API versioning and availability globally</a:t>
            </a:r>
            <a:r>
              <a:rPr lang="en-US" sz="1800">
                <a:solidFill>
                  <a:schemeClr val="dk2"/>
                </a:solidFill>
                <a:latin typeface="Montserrat Light"/>
                <a:ea typeface="Montserrat Light"/>
                <a:cs typeface="Montserrat Light"/>
                <a:sym typeface="Montserrat Light"/>
              </a:rPr>
              <a:t> </a:t>
            </a:r>
            <a:endParaRPr>
              <a:solidFill>
                <a:schemeClr val="dk2"/>
              </a:solidFill>
            </a:endParaRPr>
          </a:p>
        </p:txBody>
      </p:sp>
      <p:sp>
        <p:nvSpPr>
          <p:cNvPr id="1136" name="Google Shape;1136;p46"/>
          <p:cNvSpPr/>
          <p:nvPr/>
        </p:nvSpPr>
        <p:spPr>
          <a:xfrm>
            <a:off x="3028051" y="4455725"/>
            <a:ext cx="7586100" cy="870300"/>
          </a:xfrm>
          <a:prstGeom prst="rect">
            <a:avLst/>
          </a:prstGeom>
          <a:solidFill>
            <a:srgbClr val="FFBFAB"/>
          </a:solidFill>
          <a:ln>
            <a:noFill/>
          </a:ln>
        </p:spPr>
        <p:txBody>
          <a:bodyPr spcFirstLastPara="1" wrap="square" lIns="180000" tIns="45700" rIns="36000" bIns="45700" anchor="ctr" anchorCtr="0">
            <a:noAutofit/>
          </a:bodyPr>
          <a:lstStyle/>
          <a:p>
            <a:pPr marL="0" marR="0" lvl="0" indent="0" algn="l" rtl="0">
              <a:spcBef>
                <a:spcPts val="0"/>
              </a:spcBef>
              <a:spcAft>
                <a:spcPts val="0"/>
              </a:spcAft>
              <a:buNone/>
            </a:pPr>
            <a:r>
              <a:rPr lang="en-US" sz="2000" dirty="0">
                <a:solidFill>
                  <a:schemeClr val="dk2"/>
                </a:solidFill>
                <a:latin typeface="Montserrat Light"/>
                <a:ea typeface="Montserrat Light"/>
                <a:cs typeface="Montserrat Light"/>
                <a:sym typeface="Montserrat Light"/>
              </a:rPr>
              <a:t>Drive API Adoption (application developers and operators)</a:t>
            </a:r>
            <a:endParaRPr sz="2000" dirty="0">
              <a:solidFill>
                <a:schemeClr val="dk2"/>
              </a:solidFill>
            </a:endParaRPr>
          </a:p>
        </p:txBody>
      </p:sp>
      <p:sp>
        <p:nvSpPr>
          <p:cNvPr id="1137" name="Google Shape;1137;p46"/>
          <p:cNvSpPr/>
          <p:nvPr/>
        </p:nvSpPr>
        <p:spPr>
          <a:xfrm>
            <a:off x="1009203" y="2320899"/>
            <a:ext cx="1412400" cy="870300"/>
          </a:xfrm>
          <a:prstGeom prst="rect">
            <a:avLst/>
          </a:prstGeom>
          <a:solidFill>
            <a:srgbClr val="FFBFAB"/>
          </a:solidFill>
          <a:ln>
            <a:noFill/>
          </a:ln>
        </p:spPr>
        <p:txBody>
          <a:bodyPr spcFirstLastPara="1" wrap="square" lIns="72000" tIns="45700" rIns="36000" bIns="45700" anchor="ctr" anchorCtr="0">
            <a:noAutofit/>
          </a:bodyPr>
          <a:lstStyle/>
          <a:p>
            <a:pPr marL="0" marR="0" lvl="0" indent="0" algn="ctr" rtl="0">
              <a:spcBef>
                <a:spcPts val="0"/>
              </a:spcBef>
              <a:spcAft>
                <a:spcPts val="0"/>
              </a:spcAft>
              <a:buNone/>
            </a:pPr>
            <a:r>
              <a:rPr lang="en-US" sz="4400">
                <a:solidFill>
                  <a:schemeClr val="dk2"/>
                </a:solidFill>
                <a:latin typeface="Montserrat Light"/>
                <a:ea typeface="Montserrat Light"/>
                <a:cs typeface="Montserrat Light"/>
                <a:sym typeface="Montserrat Light"/>
              </a:rPr>
              <a:t>1</a:t>
            </a:r>
            <a:endParaRPr>
              <a:solidFill>
                <a:schemeClr val="dk2"/>
              </a:solidFill>
            </a:endParaRPr>
          </a:p>
        </p:txBody>
      </p:sp>
      <p:sp>
        <p:nvSpPr>
          <p:cNvPr id="1138" name="Google Shape;1138;p46"/>
          <p:cNvSpPr/>
          <p:nvPr/>
        </p:nvSpPr>
        <p:spPr>
          <a:xfrm>
            <a:off x="1009203" y="3388311"/>
            <a:ext cx="1412400" cy="870300"/>
          </a:xfrm>
          <a:prstGeom prst="rect">
            <a:avLst/>
          </a:prstGeom>
          <a:solidFill>
            <a:srgbClr val="FFBFAB"/>
          </a:solidFill>
          <a:ln>
            <a:noFill/>
          </a:ln>
        </p:spPr>
        <p:txBody>
          <a:bodyPr spcFirstLastPara="1" wrap="square" lIns="72000" tIns="45700" rIns="36000" bIns="45700" anchor="ctr" anchorCtr="0">
            <a:noAutofit/>
          </a:bodyPr>
          <a:lstStyle/>
          <a:p>
            <a:pPr marL="0" marR="0" lvl="0" indent="0" algn="ctr" rtl="0">
              <a:spcBef>
                <a:spcPts val="0"/>
              </a:spcBef>
              <a:spcAft>
                <a:spcPts val="0"/>
              </a:spcAft>
              <a:buNone/>
            </a:pPr>
            <a:r>
              <a:rPr lang="en-US" sz="4400">
                <a:solidFill>
                  <a:schemeClr val="dk2"/>
                </a:solidFill>
                <a:latin typeface="Montserrat Light"/>
                <a:ea typeface="Montserrat Light"/>
                <a:cs typeface="Montserrat Light"/>
                <a:sym typeface="Montserrat Light"/>
              </a:rPr>
              <a:t>2</a:t>
            </a:r>
            <a:endParaRPr>
              <a:solidFill>
                <a:schemeClr val="dk2"/>
              </a:solidFill>
            </a:endParaRPr>
          </a:p>
        </p:txBody>
      </p:sp>
      <p:sp>
        <p:nvSpPr>
          <p:cNvPr id="1139" name="Google Shape;1139;p46"/>
          <p:cNvSpPr/>
          <p:nvPr/>
        </p:nvSpPr>
        <p:spPr>
          <a:xfrm>
            <a:off x="1009202" y="4455723"/>
            <a:ext cx="1412400" cy="870300"/>
          </a:xfrm>
          <a:prstGeom prst="rect">
            <a:avLst/>
          </a:prstGeom>
          <a:solidFill>
            <a:srgbClr val="FFBFAB"/>
          </a:solidFill>
          <a:ln>
            <a:noFill/>
          </a:ln>
        </p:spPr>
        <p:txBody>
          <a:bodyPr spcFirstLastPara="1" wrap="square" lIns="72000" tIns="45700" rIns="36000" bIns="45700" anchor="ctr" anchorCtr="0">
            <a:noAutofit/>
          </a:bodyPr>
          <a:lstStyle/>
          <a:p>
            <a:pPr marL="0" marR="0" lvl="0" indent="0" algn="ctr" rtl="0">
              <a:spcBef>
                <a:spcPts val="0"/>
              </a:spcBef>
              <a:spcAft>
                <a:spcPts val="0"/>
              </a:spcAft>
              <a:buNone/>
            </a:pPr>
            <a:r>
              <a:rPr lang="en-US" sz="4400">
                <a:solidFill>
                  <a:schemeClr val="dk2"/>
                </a:solidFill>
                <a:latin typeface="Montserrat Light"/>
                <a:ea typeface="Montserrat Light"/>
                <a:cs typeface="Montserrat Light"/>
                <a:sym typeface="Montserrat Light"/>
              </a:rPr>
              <a:t>3</a:t>
            </a:r>
            <a:endParaRPr>
              <a:solidFill>
                <a:schemeClr val="dk2"/>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45"/>
        <p:cNvGrpSpPr/>
        <p:nvPr/>
      </p:nvGrpSpPr>
      <p:grpSpPr>
        <a:xfrm>
          <a:off x="0" y="0"/>
          <a:ext cx="0" cy="0"/>
          <a:chOff x="0" y="0"/>
          <a:chExt cx="0" cy="0"/>
        </a:xfrm>
      </p:grpSpPr>
      <p:pic>
        <p:nvPicPr>
          <p:cNvPr id="1146" name="Google Shape;1146;p47"/>
          <p:cNvPicPr preferRelativeResize="0"/>
          <p:nvPr/>
        </p:nvPicPr>
        <p:blipFill rotWithShape="1">
          <a:blip r:embed="rId3">
            <a:alphaModFix/>
          </a:blip>
          <a:srcRect/>
          <a:stretch/>
        </p:blipFill>
        <p:spPr>
          <a:xfrm>
            <a:off x="7954800" y="2357975"/>
            <a:ext cx="3556550" cy="3556550"/>
          </a:xfrm>
          <a:prstGeom prst="rect">
            <a:avLst/>
          </a:prstGeom>
          <a:noFill/>
          <a:ln>
            <a:noFill/>
          </a:ln>
        </p:spPr>
      </p:pic>
      <p:sp>
        <p:nvSpPr>
          <p:cNvPr id="1147" name="Google Shape;1147;p47"/>
          <p:cNvSpPr txBox="1">
            <a:spLocks noGrp="1"/>
          </p:cNvSpPr>
          <p:nvPr>
            <p:ph type="title"/>
          </p:nvPr>
        </p:nvSpPr>
        <p:spPr>
          <a:xfrm>
            <a:off x="444373" y="413152"/>
            <a:ext cx="10944225" cy="7845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FFFFFF"/>
              </a:buClr>
              <a:buSzPts val="2800"/>
              <a:buFont typeface="Montserrat Light"/>
              <a:buNone/>
            </a:pPr>
            <a:r>
              <a:rPr lang="en-US" sz="2800">
                <a:solidFill>
                  <a:srgbClr val="FFFFFF"/>
                </a:solidFill>
              </a:rPr>
              <a:t>CAMARA</a:t>
            </a:r>
            <a:br>
              <a:rPr lang="en-US" sz="2800">
                <a:solidFill>
                  <a:srgbClr val="FFFFFF"/>
                </a:solidFill>
              </a:rPr>
            </a:br>
            <a:r>
              <a:rPr lang="en-US" sz="2800">
                <a:solidFill>
                  <a:srgbClr val="FFFFFF"/>
                </a:solidFill>
              </a:rPr>
              <a:t>Contacts</a:t>
            </a:r>
            <a:endParaRPr/>
          </a:p>
        </p:txBody>
      </p:sp>
      <p:sp>
        <p:nvSpPr>
          <p:cNvPr id="1148" name="Google Shape;1148;p47"/>
          <p:cNvSpPr txBox="1">
            <a:spLocks noGrp="1"/>
          </p:cNvSpPr>
          <p:nvPr>
            <p:ph type="body" idx="1"/>
          </p:nvPr>
        </p:nvSpPr>
        <p:spPr>
          <a:xfrm>
            <a:off x="444375" y="2011075"/>
            <a:ext cx="7711500" cy="4124400"/>
          </a:xfrm>
          <a:prstGeom prst="rect">
            <a:avLst/>
          </a:prstGeom>
          <a:noFill/>
          <a:ln>
            <a:noFill/>
          </a:ln>
        </p:spPr>
        <p:txBody>
          <a:bodyPr spcFirstLastPara="1" wrap="square" lIns="0" tIns="0" rIns="0" bIns="0" anchor="t" anchorCtr="0">
            <a:noAutofit/>
          </a:bodyPr>
          <a:lstStyle/>
          <a:p>
            <a:pPr marL="0" lvl="0" indent="0" algn="l" rtl="0">
              <a:lnSpc>
                <a:spcPct val="104000"/>
              </a:lnSpc>
              <a:spcBef>
                <a:spcPts val="0"/>
              </a:spcBef>
              <a:spcAft>
                <a:spcPts val="0"/>
              </a:spcAft>
              <a:buClr>
                <a:schemeClr val="dk2"/>
              </a:buClr>
              <a:buSzPts val="1300"/>
              <a:buNone/>
            </a:pPr>
            <a:r>
              <a:rPr lang="en-US" sz="1200" dirty="0">
                <a:latin typeface="Montserrat Medium"/>
                <a:ea typeface="Montserrat Medium"/>
                <a:cs typeface="Montserrat Medium"/>
                <a:sym typeface="Montserrat Medium"/>
              </a:rPr>
              <a:t>Individuals and organizations from application developers / API consumers (e.g. enterprises and startups), aggregators, cloud operators, telco operators, network equipment vendors, system integrators, and software vendors are welcome to join CAMARA.  </a:t>
            </a:r>
            <a:endParaRPr sz="1200" dirty="0"/>
          </a:p>
          <a:p>
            <a:pPr marL="0" lvl="0" indent="0" algn="l" rtl="0">
              <a:lnSpc>
                <a:spcPct val="104000"/>
              </a:lnSpc>
              <a:spcBef>
                <a:spcPts val="1200"/>
              </a:spcBef>
              <a:spcAft>
                <a:spcPts val="0"/>
              </a:spcAft>
              <a:buClr>
                <a:schemeClr val="dk2"/>
              </a:buClr>
              <a:buSzPts val="1300"/>
              <a:buNone/>
            </a:pPr>
            <a:r>
              <a:rPr lang="en-US" sz="1200" dirty="0"/>
              <a:t>To access CAMARA technical resources like API definitions, API specifications or API code just visit the </a:t>
            </a:r>
            <a:r>
              <a:rPr lang="en-US" sz="1200" u="sng" dirty="0">
                <a:solidFill>
                  <a:schemeClr val="hlink"/>
                </a:solidFill>
                <a:latin typeface="Montserrat Medium"/>
                <a:ea typeface="Montserrat Medium"/>
                <a:cs typeface="Montserrat Medium"/>
                <a:sym typeface="Montserrat Medium"/>
                <a:hlinkClick r:id="rId4"/>
              </a:rPr>
              <a:t>CAMARA GitHub</a:t>
            </a:r>
            <a:r>
              <a:rPr lang="en-US" sz="1200" dirty="0"/>
              <a:t>. All resources are reachable without any prerequisite. To create issues and start contributing to CAMARA you need a free GitHub account without any further prerequisite. This participation is free, without any fees or obligation to work.</a:t>
            </a:r>
            <a:endParaRPr sz="1200" dirty="0"/>
          </a:p>
          <a:p>
            <a:pPr marL="0" lvl="0" indent="0" algn="l" rtl="0">
              <a:lnSpc>
                <a:spcPct val="104000"/>
              </a:lnSpc>
              <a:spcBef>
                <a:spcPts val="1200"/>
              </a:spcBef>
              <a:spcAft>
                <a:spcPts val="0"/>
              </a:spcAft>
              <a:buClr>
                <a:schemeClr val="dk2"/>
              </a:buClr>
              <a:buSzPts val="1300"/>
              <a:buNone/>
            </a:pPr>
            <a:r>
              <a:rPr lang="en-US" sz="1200" dirty="0"/>
              <a:t>If you are interested to be included in the CAMARA communication, please subscribe to </a:t>
            </a:r>
            <a:r>
              <a:rPr lang="en-US" sz="1200" u="sng" dirty="0">
                <a:solidFill>
                  <a:schemeClr val="hlink"/>
                </a:solidFill>
                <a:latin typeface="Montserrat Medium"/>
                <a:ea typeface="Montserrat Medium"/>
                <a:cs typeface="Montserrat Medium"/>
                <a:sym typeface="Montserrat Medium"/>
                <a:hlinkClick r:id="rId5"/>
              </a:rPr>
              <a:t>all+subscribe@lists.camaraproject.org</a:t>
            </a:r>
            <a:r>
              <a:rPr lang="en-US" sz="1200" dirty="0"/>
              <a:t>.  You may unsubscribe from CAMARA and these communications at any time. Participation is free.</a:t>
            </a:r>
            <a:endParaRPr sz="1200" dirty="0"/>
          </a:p>
          <a:p>
            <a:pPr marL="0" lvl="0" indent="0" algn="l" rtl="0">
              <a:lnSpc>
                <a:spcPct val="104000"/>
              </a:lnSpc>
              <a:spcBef>
                <a:spcPts val="1200"/>
              </a:spcBef>
              <a:spcAft>
                <a:spcPts val="0"/>
              </a:spcAft>
              <a:buClr>
                <a:schemeClr val="dk2"/>
              </a:buClr>
              <a:buSzPts val="1300"/>
              <a:buNone/>
            </a:pPr>
            <a:r>
              <a:rPr lang="en-US" sz="1200" dirty="0"/>
              <a:t>If you are interested to show your logo on the CAMARA website as “Participating Organization” you can send it to </a:t>
            </a:r>
            <a:r>
              <a:rPr lang="en-US" sz="1200" u="sng" dirty="0">
                <a:solidFill>
                  <a:schemeClr val="hlink"/>
                </a:solidFill>
                <a:latin typeface="Montserrat Medium"/>
                <a:ea typeface="Montserrat Medium"/>
                <a:cs typeface="Montserrat Medium"/>
                <a:sym typeface="Montserrat Medium"/>
                <a:hlinkClick r:id="rId6"/>
              </a:rPr>
              <a:t>adm@lists.camaraproject.org</a:t>
            </a:r>
            <a:r>
              <a:rPr lang="en-US" sz="1200" dirty="0"/>
              <a:t>. Participation is also free.</a:t>
            </a:r>
            <a:endParaRPr sz="1200" dirty="0"/>
          </a:p>
          <a:p>
            <a:pPr marL="0" lvl="0" indent="0" algn="l" rtl="0">
              <a:lnSpc>
                <a:spcPct val="104000"/>
              </a:lnSpc>
              <a:spcBef>
                <a:spcPts val="1200"/>
              </a:spcBef>
              <a:spcAft>
                <a:spcPts val="0"/>
              </a:spcAft>
              <a:buClr>
                <a:schemeClr val="dk2"/>
              </a:buClr>
              <a:buSzPts val="1300"/>
              <a:buNone/>
            </a:pPr>
            <a:r>
              <a:rPr lang="en-US" sz="1200" dirty="0"/>
              <a:t>If you would like to join as CAMARA sponsor or associating organization,  please don’t hesitate to use the enrollment link </a:t>
            </a:r>
            <a:r>
              <a:rPr lang="en-US" sz="1200" u="sng" dirty="0">
                <a:solidFill>
                  <a:schemeClr val="hlink"/>
                </a:solidFill>
                <a:latin typeface="Montserrat Medium"/>
                <a:ea typeface="Montserrat Medium"/>
                <a:cs typeface="Montserrat Medium"/>
                <a:sym typeface="Montserrat Medium"/>
                <a:hlinkClick r:id="rId7"/>
              </a:rPr>
              <a:t>https://enrollment.lfx.linuxfoundation.org/?project=camarafund</a:t>
            </a:r>
            <a:r>
              <a:rPr lang="en-US" sz="1200" dirty="0"/>
              <a:t>. Cost is depending on the kind of membership and the number of employees.</a:t>
            </a:r>
            <a:endParaRPr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154"/>
        <p:cNvGrpSpPr/>
        <p:nvPr/>
      </p:nvGrpSpPr>
      <p:grpSpPr>
        <a:xfrm>
          <a:off x="0" y="0"/>
          <a:ext cx="0" cy="0"/>
          <a:chOff x="0" y="0"/>
          <a:chExt cx="0" cy="0"/>
        </a:xfrm>
      </p:grpSpPr>
      <p:sp>
        <p:nvSpPr>
          <p:cNvPr id="1155" name="Google Shape;1155;p48"/>
          <p:cNvSpPr/>
          <p:nvPr/>
        </p:nvSpPr>
        <p:spPr>
          <a:xfrm>
            <a:off x="-175" y="-125"/>
            <a:ext cx="11522100" cy="6484800"/>
          </a:xfrm>
          <a:prstGeom prst="rect">
            <a:avLst/>
          </a:prstGeom>
          <a:solidFill>
            <a:srgbClr val="FFFFFF">
              <a:alpha val="1518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Light"/>
              <a:ea typeface="Montserrat Light"/>
              <a:cs typeface="Montserrat Light"/>
              <a:sym typeface="Montserrat Light"/>
            </a:endParaRPr>
          </a:p>
        </p:txBody>
      </p:sp>
      <p:pic>
        <p:nvPicPr>
          <p:cNvPr id="1156" name="Google Shape;1156;p48" descr="Ein Bild, das Text, Clipart enthält.&#10;&#10;Automatisch generierte Beschreibung"/>
          <p:cNvPicPr preferRelativeResize="0"/>
          <p:nvPr/>
        </p:nvPicPr>
        <p:blipFill rotWithShape="1">
          <a:blip r:embed="rId3">
            <a:alphaModFix/>
          </a:blip>
          <a:srcRect/>
          <a:stretch/>
        </p:blipFill>
        <p:spPr>
          <a:xfrm>
            <a:off x="2745035" y="2661812"/>
            <a:ext cx="6032002" cy="1161290"/>
          </a:xfrm>
          <a:prstGeom prst="rect">
            <a:avLst/>
          </a:prstGeom>
          <a:noFill/>
          <a:ln>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STATUS" val="Without Space"/>
</p:tagLst>
</file>

<file path=ppt/tags/tag3.xml><?xml version="1.0" encoding="utf-8"?>
<p:tagLst xmlns:a="http://schemas.openxmlformats.org/drawingml/2006/main" xmlns:r="http://schemas.openxmlformats.org/officeDocument/2006/relationships" xmlns:p="http://schemas.openxmlformats.org/presentationml/2006/main">
  <p:tag name="STATUS" val="Without Space"/>
</p:tagLst>
</file>

<file path=ppt/tags/tag4.xml><?xml version="1.0" encoding="utf-8"?>
<p:tagLst xmlns:a="http://schemas.openxmlformats.org/drawingml/2006/main" xmlns:r="http://schemas.openxmlformats.org/officeDocument/2006/relationships" xmlns:p="http://schemas.openxmlformats.org/presentationml/2006/main">
  <p:tag name="STATUS" val="Without Space"/>
</p:tagLst>
</file>

<file path=ppt/tags/tag5.xml><?xml version="1.0" encoding="utf-8"?>
<p:tagLst xmlns:a="http://schemas.openxmlformats.org/drawingml/2006/main" xmlns:r="http://schemas.openxmlformats.org/officeDocument/2006/relationships" xmlns:p="http://schemas.openxmlformats.org/presentationml/2006/main">
  <p:tag name="STATUS" val="Without Space"/>
</p:tagLst>
</file>

<file path=ppt/tags/tag6.xml><?xml version="1.0" encoding="utf-8"?>
<p:tagLst xmlns:a="http://schemas.openxmlformats.org/drawingml/2006/main" xmlns:r="http://schemas.openxmlformats.org/officeDocument/2006/relationships" xmlns:p="http://schemas.openxmlformats.org/presentationml/2006/main">
  <p:tag name="STATUS" val="Without Space"/>
</p:tagLst>
</file>

<file path=ppt/tags/tag7.xml><?xml version="1.0" encoding="utf-8"?>
<p:tagLst xmlns:a="http://schemas.openxmlformats.org/drawingml/2006/main" xmlns:r="http://schemas.openxmlformats.org/officeDocument/2006/relationships" xmlns:p="http://schemas.openxmlformats.org/presentationml/2006/main">
  <p:tag name="STATUS" val="Without Space"/>
</p:tagLst>
</file>

<file path=ppt/tags/tag8.xml><?xml version="1.0" encoding="utf-8"?>
<p:tagLst xmlns:a="http://schemas.openxmlformats.org/drawingml/2006/main" xmlns:r="http://schemas.openxmlformats.org/officeDocument/2006/relationships" xmlns:p="http://schemas.openxmlformats.org/presentationml/2006/main">
  <p:tag name="STATUS" val="Without Space"/>
</p:tagLst>
</file>

<file path=ppt/tags/tag9.xml><?xml version="1.0" encoding="utf-8"?>
<p:tagLst xmlns:a="http://schemas.openxmlformats.org/drawingml/2006/main" xmlns:r="http://schemas.openxmlformats.org/officeDocument/2006/relationships" xmlns:p="http://schemas.openxmlformats.org/presentationml/2006/main">
  <p:tag name="STATUS" val="Without Space"/>
</p:tagLst>
</file>

<file path=ppt/tags/tag10.xml><?xml version="1.0" encoding="utf-8"?>
<p:tagLst xmlns:a="http://schemas.openxmlformats.org/drawingml/2006/main" xmlns:r="http://schemas.openxmlformats.org/officeDocument/2006/relationships" xmlns:p="http://schemas.openxmlformats.org/presentationml/2006/main">
  <p:tag name="STATUS" val="Without Space"/>
</p:tagLst>
</file>

<file path=ppt/tags/tag11.xml><?xml version="1.0" encoding="utf-8"?>
<p:tagLst xmlns:a="http://schemas.openxmlformats.org/drawingml/2006/main" xmlns:r="http://schemas.openxmlformats.org/officeDocument/2006/relationships" xmlns:p="http://schemas.openxmlformats.org/presentationml/2006/main">
  <p:tag name="STATUS" val="Without Space"/>
</p:tagLst>
</file>

<file path=ppt/tags/tag12.xml><?xml version="1.0" encoding="utf-8"?>
<p:tagLst xmlns:a="http://schemas.openxmlformats.org/drawingml/2006/main" xmlns:r="http://schemas.openxmlformats.org/officeDocument/2006/relationships" xmlns:p="http://schemas.openxmlformats.org/presentationml/2006/main">
  <p:tag name="STATUS" val="Without Space"/>
</p:tagLst>
</file>

<file path=ppt/tags/tag13.xml><?xml version="1.0" encoding="utf-8"?>
<p:tagLst xmlns:a="http://schemas.openxmlformats.org/drawingml/2006/main" xmlns:r="http://schemas.openxmlformats.org/officeDocument/2006/relationships" xmlns:p="http://schemas.openxmlformats.org/presentationml/2006/main">
  <p:tag name="STATUS" val="Without Space"/>
</p:tagLst>
</file>

<file path=ppt/tags/tag14.xml><?xml version="1.0" encoding="utf-8"?>
<p:tagLst xmlns:a="http://schemas.openxmlformats.org/drawingml/2006/main" xmlns:r="http://schemas.openxmlformats.org/officeDocument/2006/relationships" xmlns:p="http://schemas.openxmlformats.org/presentationml/2006/main">
  <p:tag name="STATUS" val="Without Space"/>
</p:tagLst>
</file>

<file path=ppt/tags/tag15.xml><?xml version="1.0" encoding="utf-8"?>
<p:tagLst xmlns:a="http://schemas.openxmlformats.org/drawingml/2006/main" xmlns:r="http://schemas.openxmlformats.org/officeDocument/2006/relationships" xmlns:p="http://schemas.openxmlformats.org/presentationml/2006/main">
  <p:tag name="STATUS" val="Without Space"/>
</p:tagLst>
</file>

<file path=ppt/tags/tag16.xml><?xml version="1.0" encoding="utf-8"?>
<p:tagLst xmlns:a="http://schemas.openxmlformats.org/drawingml/2006/main" xmlns:r="http://schemas.openxmlformats.org/officeDocument/2006/relationships" xmlns:p="http://schemas.openxmlformats.org/presentationml/2006/main">
  <p:tag name="STATUS" val="Without Space"/>
</p:tagLst>
</file>

<file path=ppt/tags/tag17.xml><?xml version="1.0" encoding="utf-8"?>
<p:tagLst xmlns:a="http://schemas.openxmlformats.org/drawingml/2006/main" xmlns:r="http://schemas.openxmlformats.org/officeDocument/2006/relationships" xmlns:p="http://schemas.openxmlformats.org/presentationml/2006/main">
  <p:tag name="STATUS" val="Without Space"/>
</p:tagLst>
</file>

<file path=ppt/tags/tag18.xml><?xml version="1.0" encoding="utf-8"?>
<p:tagLst xmlns:a="http://schemas.openxmlformats.org/drawingml/2006/main" xmlns:r="http://schemas.openxmlformats.org/officeDocument/2006/relationships" xmlns:p="http://schemas.openxmlformats.org/presentationml/2006/main">
  <p:tag name="STATUS" val="Without Space"/>
</p:tagLst>
</file>

<file path=ppt/tags/tag19.xml><?xml version="1.0" encoding="utf-8"?>
<p:tagLst xmlns:a="http://schemas.openxmlformats.org/drawingml/2006/main" xmlns:r="http://schemas.openxmlformats.org/officeDocument/2006/relationships" xmlns:p="http://schemas.openxmlformats.org/presentationml/2006/main">
  <p:tag name="STATUS" val="Without Space"/>
</p:tagLst>
</file>

<file path=ppt/tags/tag20.xml><?xml version="1.0" encoding="utf-8"?>
<p:tagLst xmlns:a="http://schemas.openxmlformats.org/drawingml/2006/main" xmlns:r="http://schemas.openxmlformats.org/officeDocument/2006/relationships" xmlns:p="http://schemas.openxmlformats.org/presentationml/2006/main">
  <p:tag name="STATUS" val="Without Space"/>
</p:tagLst>
</file>

<file path=ppt/tags/tag21.xml><?xml version="1.0" encoding="utf-8"?>
<p:tagLst xmlns:a="http://schemas.openxmlformats.org/drawingml/2006/main" xmlns:r="http://schemas.openxmlformats.org/officeDocument/2006/relationships" xmlns:p="http://schemas.openxmlformats.org/presentationml/2006/main">
  <p:tag name="STATUS" val="Without Space"/>
</p:tagLst>
</file>

<file path=ppt/tags/tag22.xml><?xml version="1.0" encoding="utf-8"?>
<p:tagLst xmlns:a="http://schemas.openxmlformats.org/drawingml/2006/main" xmlns:r="http://schemas.openxmlformats.org/officeDocument/2006/relationships" xmlns:p="http://schemas.openxmlformats.org/presentationml/2006/main">
  <p:tag name="STATUS" val="Without Space"/>
</p:tagLst>
</file>

<file path=ppt/tags/tag23.xml><?xml version="1.0" encoding="utf-8"?>
<p:tagLst xmlns:a="http://schemas.openxmlformats.org/drawingml/2006/main" xmlns:r="http://schemas.openxmlformats.org/officeDocument/2006/relationships" xmlns:p="http://schemas.openxmlformats.org/presentationml/2006/main">
  <p:tag name="STATUS" val="Without Spac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tecon_Master">
  <a:themeElements>
    <a:clrScheme name="2FB8AE">
      <a:dk1>
        <a:srgbClr val="000000"/>
      </a:dk1>
      <a:lt1>
        <a:srgbClr val="FFFFFF"/>
      </a:lt1>
      <a:dk2>
        <a:srgbClr val="404041"/>
      </a:dk2>
      <a:lt2>
        <a:srgbClr val="EEEEEE"/>
      </a:lt2>
      <a:accent1>
        <a:srgbClr val="06C5F8"/>
      </a:accent1>
      <a:accent2>
        <a:srgbClr val="3A9BF3"/>
      </a:accent2>
      <a:accent3>
        <a:srgbClr val="2FB8AE"/>
      </a:accent3>
      <a:accent4>
        <a:srgbClr val="BECA41"/>
      </a:accent4>
      <a:accent5>
        <a:srgbClr val="FDBF11"/>
      </a:accent5>
      <a:accent6>
        <a:srgbClr val="E21075"/>
      </a:accent6>
      <a:hlink>
        <a:srgbClr val="3A9BF3"/>
      </a:hlink>
      <a:folHlink>
        <a:srgbClr val="3A9BF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
  <a:themeElements>
    <a:clrScheme name="Larissa">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97396690-0b91-46d2-ad5a-06f45914e19c">
      <UserInfo>
        <DisplayName/>
        <AccountId xsi:nil="true"/>
        <AccountType/>
      </UserInfo>
    </SharedWithUsers>
    <lcf76f155ced4ddcb4097134ff3c332f xmlns="6126070c-0864-4b03-b2dc-aab5d8c39348">
      <Terms xmlns="http://schemas.microsoft.com/office/infopath/2007/PartnerControls"/>
    </lcf76f155ced4ddcb4097134ff3c332f>
    <TaxCatchAll xmlns="97396690-0b91-46d2-ad5a-06f45914e19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044AD662EB7A25499208DD4235E5F8D6" ma:contentTypeVersion="19" ma:contentTypeDescription="Ein neues Dokument erstellen." ma:contentTypeScope="" ma:versionID="d44e70eff341f7f71d59fdab5f8c1d8c">
  <xsd:schema xmlns:xsd="http://www.w3.org/2001/XMLSchema" xmlns:xs="http://www.w3.org/2001/XMLSchema" xmlns:p="http://schemas.microsoft.com/office/2006/metadata/properties" xmlns:ns2="6126070c-0864-4b03-b2dc-aab5d8c39348" xmlns:ns3="97396690-0b91-46d2-ad5a-06f45914e19c" targetNamespace="http://schemas.microsoft.com/office/2006/metadata/properties" ma:root="true" ma:fieldsID="fe175ce22c645d17e43c333049234c1e" ns2:_="" ns3:_="">
    <xsd:import namespace="6126070c-0864-4b03-b2dc-aab5d8c39348"/>
    <xsd:import namespace="97396690-0b91-46d2-ad5a-06f45914e19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DateTaken"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26070c-0864-4b03-b2dc-aab5d8c393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Bildmarkierungen" ma:readOnly="false" ma:fieldId="{5cf76f15-5ced-4ddc-b409-7134ff3c332f}" ma:taxonomyMulti="true" ma:sspId="55a6c181-b3a6-4e6d-958a-84db063416a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396690-0b91-46d2-ad5a-06f45914e19c" elementFormDefault="qualified">
    <xsd:import namespace="http://schemas.microsoft.com/office/2006/documentManagement/types"/>
    <xsd:import namespace="http://schemas.microsoft.com/office/infopath/2007/PartnerControls"/>
    <xsd:element name="SharedWithUsers" ma:index="14"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Freigegeben für - Details" ma:internalName="SharedWithDetails" ma:readOnly="true">
      <xsd:simpleType>
        <xsd:restriction base="dms:Note">
          <xsd:maxLength value="255"/>
        </xsd:restriction>
      </xsd:simpleType>
    </xsd:element>
    <xsd:element name="TaxCatchAll" ma:index="23" nillable="true" ma:displayName="Taxonomy Catch All Column" ma:hidden="true" ma:list="{fee948aa-5406-442d-a9f3-76bef890740c}" ma:internalName="TaxCatchAll" ma:showField="CatchAllData" ma:web="97396690-0b91-46d2-ad5a-06f45914e19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67C0F8D-A252-49B9-983B-188AC3C05FD2}">
  <ds:schemaRefs>
    <ds:schemaRef ds:uri="http://schemas.microsoft.com/office/2006/metadata/properties"/>
    <ds:schemaRef ds:uri="http://purl.org/dc/elements/1.1/"/>
    <ds:schemaRef ds:uri="http://purl.org/dc/terms/"/>
    <ds:schemaRef ds:uri="http://schemas.microsoft.com/office/2006/documentManagement/types"/>
    <ds:schemaRef ds:uri="http://schemas.openxmlformats.org/package/2006/metadata/core-properties"/>
    <ds:schemaRef ds:uri="6126070c-0864-4b03-b2dc-aab5d8c39348"/>
    <ds:schemaRef ds:uri="http://purl.org/dc/dcmitype/"/>
    <ds:schemaRef ds:uri="97396690-0b91-46d2-ad5a-06f45914e19c"/>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3BDBB6BB-77DD-480B-AC80-7D465B9A431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126070c-0864-4b03-b2dc-aab5d8c39348"/>
    <ds:schemaRef ds:uri="97396690-0b91-46d2-ad5a-06f45914e19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35588EC-3781-46FD-80D5-FC9557F681B5}">
  <ds:schemaRefs>
    <ds:schemaRef ds:uri="http://schemas.microsoft.com/sharepoint/v3/contenttype/forms"/>
  </ds:schemaRefs>
</ds:datastoreItem>
</file>

<file path=docMetadata/LabelInfo.xml><?xml version="1.0" encoding="utf-8"?>
<clbl:labelList xmlns:clbl="http://schemas.microsoft.com/office/2020/mipLabelMetadata">
  <clbl:label id="{318d5a02-de49-494f-bca6-8cc7c6ee8afa}" enabled="1" method="Standard" siteId="{fff42215-33cc-4701-a7fb-f38baa787f53}" contentBits="0" removed="0"/>
</clbl:labelList>
</file>

<file path=docProps/app.xml><?xml version="1.0" encoding="utf-8"?>
<Properties xmlns="http://schemas.openxmlformats.org/officeDocument/2006/extended-properties" xmlns:vt="http://schemas.openxmlformats.org/officeDocument/2006/docPropsVTypes">
  <TotalTime>0</TotalTime>
  <Words>4426</Words>
  <Application>Microsoft Office PowerPoint</Application>
  <PresentationFormat>Benutzerdefiniert</PresentationFormat>
  <Paragraphs>790</Paragraphs>
  <Slides>63</Slides>
  <Notes>62</Notes>
  <HiddenSlides>0</HiddenSlides>
  <MMClips>0</MMClips>
  <ScaleCrop>false</ScaleCrop>
  <HeadingPairs>
    <vt:vector size="8" baseType="variant">
      <vt:variant>
        <vt:lpstr>Verwendete Schriftarten</vt:lpstr>
      </vt:variant>
      <vt:variant>
        <vt:i4>13</vt:i4>
      </vt:variant>
      <vt:variant>
        <vt:lpstr>Design</vt:lpstr>
      </vt:variant>
      <vt:variant>
        <vt:i4>1</vt:i4>
      </vt:variant>
      <vt:variant>
        <vt:lpstr>Eingebettete OLE-Server</vt:lpstr>
      </vt:variant>
      <vt:variant>
        <vt:i4>1</vt:i4>
      </vt:variant>
      <vt:variant>
        <vt:lpstr>Folientitel</vt:lpstr>
      </vt:variant>
      <vt:variant>
        <vt:i4>63</vt:i4>
      </vt:variant>
    </vt:vector>
  </HeadingPairs>
  <TitlesOfParts>
    <vt:vector size="78" baseType="lpstr">
      <vt:lpstr>Open Sans Medium</vt:lpstr>
      <vt:lpstr>Montserrat ExtraBold</vt:lpstr>
      <vt:lpstr>Wingdings</vt:lpstr>
      <vt:lpstr>Montserrat Light</vt:lpstr>
      <vt:lpstr>Calibri</vt:lpstr>
      <vt:lpstr>Leelawadee UI Semilight</vt:lpstr>
      <vt:lpstr>Montserrat SemiBold</vt:lpstr>
      <vt:lpstr>Montserrat</vt:lpstr>
      <vt:lpstr>Montserrat Medium</vt:lpstr>
      <vt:lpstr>Arial</vt:lpstr>
      <vt:lpstr>Times New Roman</vt:lpstr>
      <vt:lpstr>Open Sans</vt:lpstr>
      <vt:lpstr>Noto Sans Symbols</vt:lpstr>
      <vt:lpstr>Detecon_Master</vt:lpstr>
      <vt:lpstr>thinkcell Folie</vt:lpstr>
      <vt:lpstr>PowerPoint-Präsentation</vt:lpstr>
      <vt:lpstr>Content of the CAMARA presentation</vt:lpstr>
      <vt:lpstr>APIs enabling seamless access to Telco network capabilities</vt:lpstr>
      <vt:lpstr>What is the CAMARA Project? Key problems we try to solve</vt:lpstr>
      <vt:lpstr>Key problems we try to solve  Consistency Benefit</vt:lpstr>
      <vt:lpstr>Key problems we try to solve Simplicity Benefit</vt:lpstr>
      <vt:lpstr>CAMARA Open Source</vt:lpstr>
      <vt:lpstr>CAMARA Scope</vt:lpstr>
      <vt:lpstr>CAMARA Scope</vt:lpstr>
      <vt:lpstr>CAMARA – Scope / Collaboration with Open Gateway and TM Forum</vt:lpstr>
      <vt:lpstr>CAMARA – Scope / Collaboration with Open Gateway and TM Forum</vt:lpstr>
      <vt:lpstr>CAMARA – Scope / Collaboration with Open Gateway and TM Forum</vt:lpstr>
      <vt:lpstr>Role of CAMARA, Open Gateway and aggregators</vt:lpstr>
      <vt:lpstr>CAMARA Scope</vt:lpstr>
      <vt:lpstr>CAMARA API  Distribution Options</vt:lpstr>
      <vt:lpstr>What is different now in comparison to former API exposure trials?</vt:lpstr>
      <vt:lpstr>CAMARA Where we started…</vt:lpstr>
      <vt:lpstr>CAMARA … and where we are now</vt:lpstr>
      <vt:lpstr>CAMARA Logos </vt:lpstr>
      <vt:lpstr>Release Management Motivation and Benefits</vt:lpstr>
      <vt:lpstr>Release Management Release Cycle</vt:lpstr>
      <vt:lpstr>CAMARA Fall 25 meta-release 60 #total CAMARA APIs</vt:lpstr>
      <vt:lpstr>CAMARA API Overview</vt:lpstr>
      <vt:lpstr>API Descriptions</vt:lpstr>
      <vt:lpstr>How CAMARA Works</vt:lpstr>
      <vt:lpstr>CAMARA / Open Gateway API Showcases</vt:lpstr>
      <vt:lpstr>CAMARA / Open Gateway API public launch status</vt:lpstr>
      <vt:lpstr>CAMARA / Open Gateway API public launch status</vt:lpstr>
      <vt:lpstr>5G network capabilities Introduction </vt:lpstr>
      <vt:lpstr>5G network capabilities Introduction</vt:lpstr>
      <vt:lpstr>Potential Business Use Cases</vt:lpstr>
      <vt:lpstr>Anti Fraud APIs</vt:lpstr>
      <vt:lpstr>The API ecosystem – Current status and challenges</vt:lpstr>
      <vt:lpstr>The API ecosystem –  Prepare for agentic AI</vt:lpstr>
      <vt:lpstr>The API ecosystem – Current status and challenges</vt:lpstr>
      <vt:lpstr>Products - Building blocks</vt:lpstr>
      <vt:lpstr>AI does not solve the telco dilemma</vt:lpstr>
      <vt:lpstr>APIs and AI – The intersection</vt:lpstr>
      <vt:lpstr>In Concert: Bridging AI Systems and Network Infrastructure through MCP</vt:lpstr>
      <vt:lpstr>In Concert: Bridging AI Systems and Network Infrastructure through MCP</vt:lpstr>
      <vt:lpstr>Benefit for developers to use CAMARA APIs</vt:lpstr>
      <vt:lpstr>Developers Getting Started with CAMARA APIs</vt:lpstr>
      <vt:lpstr>Developers Getting Started with CAMARA APIs</vt:lpstr>
      <vt:lpstr>Developers Getting Started with CAMARA APIs</vt:lpstr>
      <vt:lpstr>Developers Getting Started with CAMARA APIs</vt:lpstr>
      <vt:lpstr>Benefit for developers to work in CAMARA</vt:lpstr>
      <vt:lpstr>Joining CAMARA as Developer</vt:lpstr>
      <vt:lpstr>Joining CAMARA as Developer</vt:lpstr>
      <vt:lpstr>Joining a Sub Project as Developer</vt:lpstr>
      <vt:lpstr>Contributing to CAMARA</vt:lpstr>
      <vt:lpstr>Benefit for operators to implement CAMARA APIs in their networks</vt:lpstr>
      <vt:lpstr>What have operators to do to implement Network APIs?</vt:lpstr>
      <vt:lpstr>What have operators to do to implement Network APIs?</vt:lpstr>
      <vt:lpstr>Benefit for operators to work in CAMARA</vt:lpstr>
      <vt:lpstr>Benefit for operators to work in CAMARA</vt:lpstr>
      <vt:lpstr>Operators Getting Started with CAMARA</vt:lpstr>
      <vt:lpstr>Operators Getting Started with CAMARA</vt:lpstr>
      <vt:lpstr>CAMARA Membership Benefits Overview</vt:lpstr>
      <vt:lpstr>Top 10 Reasons to Join as a Member</vt:lpstr>
      <vt:lpstr>Top 10 Reasons to Join as a Member</vt:lpstr>
      <vt:lpstr>CAMARA Where are we going next…</vt:lpstr>
      <vt:lpstr>CAMARA Contacts</vt:lpstr>
      <vt:lpstr>PowerPoint-Präsentation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Kümmerle, Markus</dc:creator>
  <cp:lastModifiedBy>Microsoft-Konto</cp:lastModifiedBy>
  <cp:revision>38</cp:revision>
  <cp:lastPrinted>2025-08-05T13:26:17Z</cp:lastPrinted>
  <dcterms:created xsi:type="dcterms:W3CDTF">2023-03-22T16:25:12Z</dcterms:created>
  <dcterms:modified xsi:type="dcterms:W3CDTF">2026-10-29T07:09:47Z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0x010100044AD662EB7A25499208DD4235E5F8D6</vt:lpwstr>
  </property>
</Properties>
</file>